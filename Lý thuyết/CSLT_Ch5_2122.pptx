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34"/>
  </p:notesMasterIdLst>
  <p:sldIdLst>
    <p:sldId id="256" r:id="rId2"/>
    <p:sldId id="286" r:id="rId3"/>
    <p:sldId id="257" r:id="rId4"/>
    <p:sldId id="261" r:id="rId5"/>
    <p:sldId id="262" r:id="rId6"/>
    <p:sldId id="263" r:id="rId7"/>
    <p:sldId id="264" r:id="rId8"/>
    <p:sldId id="265" r:id="rId9"/>
    <p:sldId id="266" r:id="rId10"/>
    <p:sldId id="267" r:id="rId11"/>
    <p:sldId id="268" r:id="rId12"/>
    <p:sldId id="269" r:id="rId13"/>
    <p:sldId id="270" r:id="rId14"/>
    <p:sldId id="258" r:id="rId15"/>
    <p:sldId id="271" r:id="rId16"/>
    <p:sldId id="272" r:id="rId17"/>
    <p:sldId id="273" r:id="rId18"/>
    <p:sldId id="274" r:id="rId19"/>
    <p:sldId id="275" r:id="rId20"/>
    <p:sldId id="276" r:id="rId21"/>
    <p:sldId id="277" r:id="rId22"/>
    <p:sldId id="278" r:id="rId23"/>
    <p:sldId id="279" r:id="rId24"/>
    <p:sldId id="259" r:id="rId25"/>
    <p:sldId id="280" r:id="rId26"/>
    <p:sldId id="281" r:id="rId27"/>
    <p:sldId id="282" r:id="rId28"/>
    <p:sldId id="260" r:id="rId29"/>
    <p:sldId id="283" r:id="rId30"/>
    <p:sldId id="284" r:id="rId31"/>
    <p:sldId id="285" r:id="rId32"/>
    <p:sldId id="28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p:scale>
          <a:sx n="75" d="100"/>
          <a:sy n="75" d="100"/>
        </p:scale>
        <p:origin x="-1134" y="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21074C-C349-4A51-B6F6-E39AEDE94F19}" type="datetimeFigureOut">
              <a:rPr lang="en-US" smtClean="0"/>
              <a:t>9/4/2019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FA0F9A-F7C7-483E-AFD6-50D34753328C}" type="slidenum">
              <a:rPr lang="en-US" smtClean="0"/>
              <a:t>‹#›</a:t>
            </a:fld>
            <a:endParaRPr lang="en-US"/>
          </a:p>
        </p:txBody>
      </p:sp>
    </p:spTree>
    <p:extLst>
      <p:ext uri="{BB962C8B-B14F-4D97-AF65-F5344CB8AC3E}">
        <p14:creationId xmlns:p14="http://schemas.microsoft.com/office/powerpoint/2010/main" val="3881398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01AAE672-BAB4-45C1-8484-073A95FC0907}"/>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111A5591-6836-4B30-9C32-2830EE47BD88}"/>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 xmlns:a16="http://schemas.microsoft.com/office/drawing/2014/main" id="{265023F3-7050-46A4-941F-8237249BB511}"/>
              </a:ext>
            </a:extLst>
          </p:cNvPr>
          <p:cNvSpPr/>
          <p:nvPr userDrawn="1"/>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 xmlns:a16="http://schemas.microsoft.com/office/drawing/2014/main" id="{1CF8A648-706A-4C15-9F0D-0BF35AB5D6CF}"/>
              </a:ext>
            </a:extLst>
          </p:cNvPr>
          <p:cNvSpPr/>
          <p:nvPr userDrawn="1"/>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22373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spTree>
    <p:extLst>
      <p:ext uri="{BB962C8B-B14F-4D97-AF65-F5344CB8AC3E}">
        <p14:creationId xmlns:p14="http://schemas.microsoft.com/office/powerpoint/2010/main" val="1114599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Continue">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 y="286604"/>
            <a:ext cx="8503920" cy="6202998"/>
          </a:xfrm>
          <a:solidFill>
            <a:schemeClr val="bg1"/>
          </a:solidFill>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spTree>
    <p:extLst>
      <p:ext uri="{BB962C8B-B14F-4D97-AF65-F5344CB8AC3E}">
        <p14:creationId xmlns:p14="http://schemas.microsoft.com/office/powerpoint/2010/main" val="1465420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463550" indent="-354013">
              <a:buFont typeface="+mj-lt"/>
              <a:buAutoNum type="arabicPeriod"/>
              <a:defRPr/>
            </a:lvl1pPr>
            <a:lvl2pPr marL="682625" indent="-182563">
              <a:defRPr/>
            </a:lvl2pPr>
          </a:lstStyle>
          <a:p>
            <a:pPr lvl="0"/>
            <a:r>
              <a:rPr lang="en-US"/>
              <a:t>Edit Master text styles</a:t>
            </a:r>
          </a:p>
          <a:p>
            <a:pPr lvl="1"/>
            <a:r>
              <a:rPr lang="en-US"/>
              <a:t>Second level</a:t>
            </a:r>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spTree>
    <p:extLst>
      <p:ext uri="{BB962C8B-B14F-4D97-AF65-F5344CB8AC3E}">
        <p14:creationId xmlns:p14="http://schemas.microsoft.com/office/powerpoint/2010/main" val="1738424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sp>
        <p:nvSpPr>
          <p:cNvPr id="7" name="Text Placeholder 6">
            <a:extLst>
              <a:ext uri="{FF2B5EF4-FFF2-40B4-BE49-F238E27FC236}">
                <a16:creationId xmlns="" xmlns:a16="http://schemas.microsoft.com/office/drawing/2014/main" id="{F7E83F0D-D4CB-442C-8E99-49ACD7B7C7A5}"/>
              </a:ext>
            </a:extLst>
          </p:cNvPr>
          <p:cNvSpPr>
            <a:spLocks noGrp="1"/>
          </p:cNvSpPr>
          <p:nvPr>
            <p:ph type="body" sz="quarter" idx="13"/>
          </p:nvPr>
        </p:nvSpPr>
        <p:spPr>
          <a:xfrm>
            <a:off x="320040" y="1097280"/>
            <a:ext cx="8503920" cy="5394960"/>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Tree>
    <p:extLst>
      <p:ext uri="{BB962C8B-B14F-4D97-AF65-F5344CB8AC3E}">
        <p14:creationId xmlns:p14="http://schemas.microsoft.com/office/powerpoint/2010/main" val="1353767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nd Code Continue">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4DD49FA1-CEA8-40A6-AC1C-457224027556}"/>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E7DA0163-616C-4ECA-B06C-DB88D64CFCAB}"/>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Mảng</a:t>
            </a:r>
            <a:endParaRPr lang="en-US"/>
          </a:p>
        </p:txBody>
      </p:sp>
      <p:sp>
        <p:nvSpPr>
          <p:cNvPr id="9" name="Slide Number Placeholder 8"/>
          <p:cNvSpPr>
            <a:spLocks noGrp="1"/>
          </p:cNvSpPr>
          <p:nvPr>
            <p:ph type="sldNum" sz="quarter" idx="12"/>
          </p:nvPr>
        </p:nvSpPr>
        <p:spPr/>
        <p:txBody>
          <a:bodyPr/>
          <a:lstStyle/>
          <a:p>
            <a:fld id="{B09C6C27-D58C-4EFE-B9E3-C62B6FE31098}" type="slidenum">
              <a:rPr lang="en-US" smtClean="0"/>
              <a:t>‹#›</a:t>
            </a:fld>
            <a:endParaRPr lang="en-US"/>
          </a:p>
        </p:txBody>
      </p:sp>
      <p:sp>
        <p:nvSpPr>
          <p:cNvPr id="6" name="Text Placeholder 6">
            <a:extLst>
              <a:ext uri="{FF2B5EF4-FFF2-40B4-BE49-F238E27FC236}">
                <a16:creationId xmlns="" xmlns:a16="http://schemas.microsoft.com/office/drawing/2014/main" id="{05645F34-6E0F-4748-9093-E1F6BBF3FAE8}"/>
              </a:ext>
            </a:extLst>
          </p:cNvPr>
          <p:cNvSpPr>
            <a:spLocks noGrp="1"/>
          </p:cNvSpPr>
          <p:nvPr>
            <p:ph type="body" sz="quarter" idx="13"/>
          </p:nvPr>
        </p:nvSpPr>
        <p:spPr>
          <a:xfrm>
            <a:off x="320040" y="341194"/>
            <a:ext cx="8503920" cy="6151046"/>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
        <p:nvSpPr>
          <p:cNvPr id="7" name="Rectangle 6">
            <a:extLst>
              <a:ext uri="{FF2B5EF4-FFF2-40B4-BE49-F238E27FC236}">
                <a16:creationId xmlns="" xmlns:a16="http://schemas.microsoft.com/office/drawing/2014/main" id="{B1B91D72-DE2C-4116-A37B-CC4B00D57004}"/>
              </a:ext>
            </a:extLst>
          </p:cNvPr>
          <p:cNvSpPr/>
          <p:nvPr userDrawn="1"/>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 xmlns:a16="http://schemas.microsoft.com/office/drawing/2014/main" id="{CBF8E438-92B6-42D0-B164-F184F48AC07C}"/>
              </a:ext>
            </a:extLst>
          </p:cNvPr>
          <p:cNvSpPr/>
          <p:nvPr userDrawn="1"/>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01912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10" name="Rectangle 9">
            <a:extLst>
              <a:ext uri="{FF2B5EF4-FFF2-40B4-BE49-F238E27FC236}">
                <a16:creationId xmlns="" xmlns:a16="http://schemas.microsoft.com/office/drawing/2014/main" id="{EFF6DF65-3E76-4AEB-9DAF-98EAC99554E2}"/>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8530575F-4C62-4C92-8BDC-F5B9E97A3D4D}"/>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 xmlns:a16="http://schemas.microsoft.com/office/drawing/2014/main" id="{0B0940CF-4C2D-4B6A-86F9-4F58A858F3C3}"/>
              </a:ext>
            </a:extLst>
          </p:cNvPr>
          <p:cNvSpPr/>
          <p:nvPr userDrawn="1"/>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 xmlns:a16="http://schemas.microsoft.com/office/drawing/2014/main" id="{4A658832-9EB4-4487-A7C7-7B1FF285712A}"/>
              </a:ext>
            </a:extLst>
          </p:cNvPr>
          <p:cNvSpPr/>
          <p:nvPr userDrawn="1"/>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68746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20040" y="286604"/>
            <a:ext cx="8503920" cy="73152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20040" y="1097280"/>
            <a:ext cx="4160520" cy="53949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097280"/>
            <a:ext cx="4160520" cy="53949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vi-VN"/>
              <a:t>Cơ sở lập trình - Mảng</a:t>
            </a:r>
            <a:endParaRPr lang="en-US"/>
          </a:p>
        </p:txBody>
      </p:sp>
      <p:sp>
        <p:nvSpPr>
          <p:cNvPr id="7" name="Slide Number Placeholder 6"/>
          <p:cNvSpPr>
            <a:spLocks noGrp="1"/>
          </p:cNvSpPr>
          <p:nvPr>
            <p:ph type="sldNum" sz="quarter" idx="12"/>
          </p:nvPr>
        </p:nvSpPr>
        <p:spPr/>
        <p:txBody>
          <a:bodyPr/>
          <a:lstStyle/>
          <a:p>
            <a:fld id="{B09C6C27-D58C-4EFE-B9E3-C62B6FE31098}" type="slidenum">
              <a:rPr lang="en-US" smtClean="0"/>
              <a:t>‹#›</a:t>
            </a:fld>
            <a:endParaRPr lang="en-US"/>
          </a:p>
        </p:txBody>
      </p:sp>
    </p:spTree>
    <p:extLst>
      <p:ext uri="{BB962C8B-B14F-4D97-AF65-F5344CB8AC3E}">
        <p14:creationId xmlns:p14="http://schemas.microsoft.com/office/powerpoint/2010/main" val="273922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vi-VN"/>
              <a:t>Cơ sở lập trình - Mảng</a:t>
            </a:r>
            <a:endParaRPr lang="en-US"/>
          </a:p>
        </p:txBody>
      </p:sp>
      <p:sp>
        <p:nvSpPr>
          <p:cNvPr id="5" name="Slide Number Placeholder 4"/>
          <p:cNvSpPr>
            <a:spLocks noGrp="1"/>
          </p:cNvSpPr>
          <p:nvPr>
            <p:ph type="sldNum" sz="quarter" idx="12"/>
          </p:nvPr>
        </p:nvSpPr>
        <p:spPr/>
        <p:txBody>
          <a:bodyPr/>
          <a:lstStyle/>
          <a:p>
            <a:fld id="{B09C6C27-D58C-4EFE-B9E3-C62B6FE31098}" type="slidenum">
              <a:rPr lang="en-US" smtClean="0"/>
              <a:t>‹#›</a:t>
            </a:fld>
            <a:endParaRPr lang="en-US"/>
          </a:p>
        </p:txBody>
      </p:sp>
    </p:spTree>
    <p:extLst>
      <p:ext uri="{BB962C8B-B14F-4D97-AF65-F5344CB8AC3E}">
        <p14:creationId xmlns:p14="http://schemas.microsoft.com/office/powerpoint/2010/main" val="3983265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4DD49FA1-CEA8-40A6-AC1C-457224027556}"/>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E7DA0163-616C-4ECA-B06C-DB88D64CFCAB}"/>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Mảng</a:t>
            </a:r>
            <a:endParaRPr lang="en-US"/>
          </a:p>
        </p:txBody>
      </p:sp>
      <p:sp>
        <p:nvSpPr>
          <p:cNvPr id="9" name="Slide Number Placeholder 8"/>
          <p:cNvSpPr>
            <a:spLocks noGrp="1"/>
          </p:cNvSpPr>
          <p:nvPr>
            <p:ph type="sldNum" sz="quarter" idx="12"/>
          </p:nvPr>
        </p:nvSpPr>
        <p:spPr/>
        <p:txBody>
          <a:bodyPr/>
          <a:lstStyle/>
          <a:p>
            <a:fld id="{B09C6C27-D58C-4EFE-B9E3-C62B6FE31098}" type="slidenum">
              <a:rPr lang="en-US" smtClean="0"/>
              <a:t>‹#›</a:t>
            </a:fld>
            <a:endParaRPr lang="en-US"/>
          </a:p>
        </p:txBody>
      </p:sp>
      <p:sp>
        <p:nvSpPr>
          <p:cNvPr id="6" name="Rectangle 5">
            <a:extLst>
              <a:ext uri="{FF2B5EF4-FFF2-40B4-BE49-F238E27FC236}">
                <a16:creationId xmlns="" xmlns:a16="http://schemas.microsoft.com/office/drawing/2014/main" id="{BE9F4531-CE05-45B5-84E9-41D6987D4693}"/>
              </a:ext>
            </a:extLst>
          </p:cNvPr>
          <p:cNvSpPr/>
          <p:nvPr userDrawn="1"/>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 xmlns:a16="http://schemas.microsoft.com/office/drawing/2014/main" id="{65BB3B62-3B16-401E-A4FF-E2F1F7CDB308}"/>
              </a:ext>
            </a:extLst>
          </p:cNvPr>
          <p:cNvSpPr/>
          <p:nvPr userDrawn="1"/>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1136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vi-VN"/>
              <a:t>Cơ sở lập trình - Mảng</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09C6C27-D58C-4EFE-B9E3-C62B6FE31098}" type="slidenum">
              <a:rPr lang="en-US" smtClean="0"/>
              <a:t>‹#›</a:t>
            </a:fld>
            <a:endParaRPr lang="en-US"/>
          </a:p>
        </p:txBody>
      </p:sp>
    </p:spTree>
    <p:extLst>
      <p:ext uri="{BB962C8B-B14F-4D97-AF65-F5344CB8AC3E}">
        <p14:creationId xmlns:p14="http://schemas.microsoft.com/office/powerpoint/2010/main" val="2953811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vi-VN"/>
              <a:t>Cơ sở lập trình - Mảng</a:t>
            </a:r>
            <a:endParaRPr lang="en-US"/>
          </a:p>
        </p:txBody>
      </p:sp>
      <p:sp>
        <p:nvSpPr>
          <p:cNvPr id="7" name="Slide Number Placeholder 6"/>
          <p:cNvSpPr>
            <a:spLocks noGrp="1"/>
          </p:cNvSpPr>
          <p:nvPr>
            <p:ph type="sldNum" sz="quarter" idx="12"/>
          </p:nvPr>
        </p:nvSpPr>
        <p:spPr/>
        <p:txBody>
          <a:bodyPr/>
          <a:lstStyle/>
          <a:p>
            <a:fld id="{B09C6C27-D58C-4EFE-B9E3-C62B6FE31098}" type="slidenum">
              <a:rPr lang="en-US" smtClean="0"/>
              <a:t>‹#›</a:t>
            </a:fld>
            <a:endParaRPr lang="en-US"/>
          </a:p>
        </p:txBody>
      </p:sp>
    </p:spTree>
    <p:extLst>
      <p:ext uri="{BB962C8B-B14F-4D97-AF65-F5344CB8AC3E}">
        <p14:creationId xmlns:p14="http://schemas.microsoft.com/office/powerpoint/2010/main" val="1475973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spTree>
    <p:extLst>
      <p:ext uri="{BB962C8B-B14F-4D97-AF65-F5344CB8AC3E}">
        <p14:creationId xmlns:p14="http://schemas.microsoft.com/office/powerpoint/2010/main" val="1308205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9" name="Rectangle 8">
            <a:extLst>
              <a:ext uri="{FF2B5EF4-FFF2-40B4-BE49-F238E27FC236}">
                <a16:creationId xmlns="" xmlns:a16="http://schemas.microsoft.com/office/drawing/2014/main" id="{416DE08D-D735-4990-80B8-5CBF011DC467}"/>
              </a:ext>
            </a:extLst>
          </p:cNvPr>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 xmlns:a16="http://schemas.microsoft.com/office/drawing/2014/main" id="{E40AE3D1-A298-4B99-8DD0-636DD70C3D4C}"/>
              </a:ext>
            </a:extLst>
          </p:cNvPr>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sp>
        <p:nvSpPr>
          <p:cNvPr id="8" name="Rectangle 7">
            <a:extLst>
              <a:ext uri="{FF2B5EF4-FFF2-40B4-BE49-F238E27FC236}">
                <a16:creationId xmlns="" xmlns:a16="http://schemas.microsoft.com/office/drawing/2014/main" id="{4CF9D423-97D8-4A03-826E-BB50155E1CF0}"/>
              </a:ext>
            </a:extLst>
          </p:cNvPr>
          <p:cNvSpPr/>
          <p:nvPr userDrawn="1"/>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3E04DAA1-9BC8-4DDE-80C9-F759263FF23D}"/>
              </a:ext>
            </a:extLst>
          </p:cNvPr>
          <p:cNvSpPr/>
          <p:nvPr userDrawn="1"/>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42209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vi-VN"/>
              <a:t>Cơ sở lập trình - Mảng</a:t>
            </a:r>
            <a:endParaRPr lang="en-US"/>
          </a:p>
        </p:txBody>
      </p:sp>
      <p:sp>
        <p:nvSpPr>
          <p:cNvPr id="6" name="Slide Number Placeholder 5"/>
          <p:cNvSpPr>
            <a:spLocks noGrp="1"/>
          </p:cNvSpPr>
          <p:nvPr>
            <p:ph type="sldNum" sz="quarter" idx="12"/>
          </p:nvPr>
        </p:nvSpPr>
        <p:spPr/>
        <p:txBody>
          <a:bodyPr/>
          <a:lstStyle/>
          <a:p>
            <a:fld id="{B09C6C27-D58C-4EFE-B9E3-C62B6FE31098}" type="slidenum">
              <a:rPr lang="en-US" smtClean="0"/>
              <a:t>‹#›</a:t>
            </a:fld>
            <a:endParaRPr lang="en-US"/>
          </a:p>
        </p:txBody>
      </p:sp>
      <p:sp>
        <p:nvSpPr>
          <p:cNvPr id="7" name="Text Placeholder 6">
            <a:extLst>
              <a:ext uri="{FF2B5EF4-FFF2-40B4-BE49-F238E27FC236}">
                <a16:creationId xmlns="" xmlns:a16="http://schemas.microsoft.com/office/drawing/2014/main" id="{F7E83F0D-D4CB-442C-8E99-49ACD7B7C7A5}"/>
              </a:ext>
            </a:extLst>
          </p:cNvPr>
          <p:cNvSpPr>
            <a:spLocks noGrp="1"/>
          </p:cNvSpPr>
          <p:nvPr>
            <p:ph type="body" sz="quarter" idx="13"/>
          </p:nvPr>
        </p:nvSpPr>
        <p:spPr>
          <a:xfrm>
            <a:off x="320040" y="1097280"/>
            <a:ext cx="8503920" cy="5394960"/>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Tree>
    <p:extLst>
      <p:ext uri="{BB962C8B-B14F-4D97-AF65-F5344CB8AC3E}">
        <p14:creationId xmlns:p14="http://schemas.microsoft.com/office/powerpoint/2010/main" val="11432516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itle and Code Continue">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4DD49FA1-CEA8-40A6-AC1C-457224027556}"/>
              </a:ext>
            </a:extLst>
          </p:cNvPr>
          <p:cNvSpPr/>
          <p:nvPr userDrawn="1"/>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E7DA0163-616C-4ECA-B06C-DB88D64CFCAB}"/>
              </a:ext>
            </a:extLst>
          </p:cNvPr>
          <p:cNvSpPr/>
          <p:nvPr userDrawn="1"/>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vi-VN"/>
              <a:t>Cơ sở lập trình - Mảng</a:t>
            </a:r>
            <a:endParaRPr lang="en-US"/>
          </a:p>
        </p:txBody>
      </p:sp>
      <p:sp>
        <p:nvSpPr>
          <p:cNvPr id="9" name="Slide Number Placeholder 8"/>
          <p:cNvSpPr>
            <a:spLocks noGrp="1"/>
          </p:cNvSpPr>
          <p:nvPr>
            <p:ph type="sldNum" sz="quarter" idx="12"/>
          </p:nvPr>
        </p:nvSpPr>
        <p:spPr/>
        <p:txBody>
          <a:bodyPr/>
          <a:lstStyle/>
          <a:p>
            <a:fld id="{B09C6C27-D58C-4EFE-B9E3-C62B6FE31098}" type="slidenum">
              <a:rPr lang="en-US" smtClean="0"/>
              <a:t>‹#›</a:t>
            </a:fld>
            <a:endParaRPr lang="en-US"/>
          </a:p>
        </p:txBody>
      </p:sp>
      <p:sp>
        <p:nvSpPr>
          <p:cNvPr id="6" name="Text Placeholder 6">
            <a:extLst>
              <a:ext uri="{FF2B5EF4-FFF2-40B4-BE49-F238E27FC236}">
                <a16:creationId xmlns="" xmlns:a16="http://schemas.microsoft.com/office/drawing/2014/main" id="{05645F34-6E0F-4748-9093-E1F6BBF3FAE8}"/>
              </a:ext>
            </a:extLst>
          </p:cNvPr>
          <p:cNvSpPr>
            <a:spLocks noGrp="1"/>
          </p:cNvSpPr>
          <p:nvPr>
            <p:ph type="body" sz="quarter" idx="13"/>
          </p:nvPr>
        </p:nvSpPr>
        <p:spPr>
          <a:xfrm>
            <a:off x="320040" y="341194"/>
            <a:ext cx="8503920" cy="6151046"/>
          </a:xfrm>
        </p:spPr>
        <p:txBody>
          <a:bodyPr>
            <a:normAutofit/>
          </a:bodyPr>
          <a:lstStyle>
            <a:lvl1pPr marL="0" indent="0">
              <a:lnSpc>
                <a:spcPct val="100000"/>
              </a:lnSpc>
              <a:spcBef>
                <a:spcPts val="0"/>
              </a:spcBef>
              <a:buNone/>
              <a:defRPr sz="2200">
                <a:latin typeface="Consolas" panose="020B0609020204030204" pitchFamily="49" charset="0"/>
              </a:defRPr>
            </a:lvl1pPr>
          </a:lstStyle>
          <a:p>
            <a:pPr lvl="0"/>
            <a:r>
              <a:rPr lang="en-US"/>
              <a:t>Edit Master text styles</a:t>
            </a:r>
          </a:p>
        </p:txBody>
      </p:sp>
    </p:spTree>
    <p:extLst>
      <p:ext uri="{BB962C8B-B14F-4D97-AF65-F5344CB8AC3E}">
        <p14:creationId xmlns:p14="http://schemas.microsoft.com/office/powerpoint/2010/main" val="3421372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583680"/>
            <a:ext cx="9144001" cy="274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511740"/>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20040" y="286604"/>
            <a:ext cx="8503920" cy="73152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20040" y="1094642"/>
            <a:ext cx="8503920" cy="53949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27547" y="6525388"/>
            <a:ext cx="6095139" cy="313171"/>
          </a:xfrm>
          <a:prstGeom prst="rect">
            <a:avLst/>
          </a:prstGeom>
        </p:spPr>
        <p:txBody>
          <a:bodyPr vert="horz" lIns="91440" tIns="45720" rIns="91440" bIns="45720" rtlCol="0" anchor="ctr"/>
          <a:lstStyle>
            <a:lvl1pPr algn="l">
              <a:defRPr sz="900" cap="all" baseline="0">
                <a:solidFill>
                  <a:srgbClr val="FFFFFF"/>
                </a:solidFill>
              </a:defRPr>
            </a:lvl1pPr>
          </a:lstStyle>
          <a:p>
            <a:r>
              <a:rPr lang="vi-VN"/>
              <a:t>Cơ sở lập trình - Mảng</a:t>
            </a:r>
            <a:endParaRPr lang="en-US"/>
          </a:p>
        </p:txBody>
      </p:sp>
      <p:sp>
        <p:nvSpPr>
          <p:cNvPr id="6" name="Slide Number Placeholder 5"/>
          <p:cNvSpPr>
            <a:spLocks noGrp="1"/>
          </p:cNvSpPr>
          <p:nvPr>
            <p:ph type="sldNum" sz="quarter" idx="4"/>
          </p:nvPr>
        </p:nvSpPr>
        <p:spPr>
          <a:xfrm>
            <a:off x="7425344" y="6525388"/>
            <a:ext cx="1418405" cy="313171"/>
          </a:xfrm>
          <a:prstGeom prst="rect">
            <a:avLst/>
          </a:prstGeom>
        </p:spPr>
        <p:txBody>
          <a:bodyPr vert="horz" lIns="91440" tIns="45720" rIns="91440" bIns="45720" rtlCol="0" anchor="ctr"/>
          <a:lstStyle>
            <a:lvl1pPr algn="r">
              <a:defRPr sz="1050">
                <a:solidFill>
                  <a:srgbClr val="FFFFFF"/>
                </a:solidFill>
              </a:defRPr>
            </a:lvl1pPr>
          </a:lstStyle>
          <a:p>
            <a:fld id="{B09C6C27-D58C-4EFE-B9E3-C62B6FE31098}" type="slidenum">
              <a:rPr lang="en-US" smtClean="0"/>
              <a:t>‹#›</a:t>
            </a:fld>
            <a:endParaRPr lang="en-US"/>
          </a:p>
        </p:txBody>
      </p:sp>
      <p:cxnSp>
        <p:nvCxnSpPr>
          <p:cNvPr id="10" name="Straight Connector 9"/>
          <p:cNvCxnSpPr/>
          <p:nvPr/>
        </p:nvCxnSpPr>
        <p:spPr>
          <a:xfrm>
            <a:off x="411480" y="1028159"/>
            <a:ext cx="83210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4621397"/>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697" r:id="rId15"/>
    <p:sldLayoutId id="2147483698" r:id="rId16"/>
  </p:sldLayoutIdLst>
  <p:hf hdr="0" dt="0"/>
  <p:txStyles>
    <p:titleStyle>
      <a:lvl1pPr algn="l" defTabSz="914400" rtl="0" eaLnBrk="1" latinLnBrk="0" hangingPunct="1">
        <a:lnSpc>
          <a:spcPct val="85000"/>
        </a:lnSpc>
        <a:spcBef>
          <a:spcPct val="0"/>
        </a:spcBef>
        <a:buNone/>
        <a:defRPr sz="3600" kern="1200" spc="-50" baseline="0">
          <a:solidFill>
            <a:schemeClr val="tx1">
              <a:lumMod val="95000"/>
              <a:lumOff val="5000"/>
            </a:schemeClr>
          </a:solidFill>
          <a:latin typeface="+mj-lt"/>
          <a:ea typeface="+mj-ea"/>
          <a:cs typeface="+mj-cs"/>
        </a:defRPr>
      </a:lvl1pPr>
    </p:titleStyle>
    <p:bodyStyle>
      <a:lvl1pPr marL="287338" indent="-177800" algn="l" defTabSz="914400" rtl="0" eaLnBrk="1" latinLnBrk="0" hangingPunct="1">
        <a:lnSpc>
          <a:spcPct val="90000"/>
        </a:lnSpc>
        <a:spcBef>
          <a:spcPts val="600"/>
        </a:spcBef>
        <a:spcAft>
          <a:spcPts val="0"/>
        </a:spcAft>
        <a:buClr>
          <a:schemeClr val="accent2">
            <a:lumMod val="75000"/>
          </a:schemeClr>
        </a:buClr>
        <a:buSzPct val="100000"/>
        <a:buFont typeface="Arial" panose="020B0604020202020204" pitchFamily="34" charset="0"/>
        <a:buChar char="•"/>
        <a:defRPr sz="2600" kern="1200">
          <a:solidFill>
            <a:schemeClr val="tx1">
              <a:lumMod val="95000"/>
              <a:lumOff val="5000"/>
            </a:schemeClr>
          </a:solidFill>
          <a:latin typeface="+mn-lt"/>
          <a:ea typeface="+mn-ea"/>
          <a:cs typeface="+mn-cs"/>
        </a:defRPr>
      </a:lvl1pPr>
      <a:lvl2pPr marL="519113" indent="-182563" algn="l" defTabSz="914400" rtl="0" eaLnBrk="1" latinLnBrk="0" hangingPunct="1">
        <a:lnSpc>
          <a:spcPct val="90000"/>
        </a:lnSpc>
        <a:spcBef>
          <a:spcPts val="200"/>
        </a:spcBef>
        <a:spcAft>
          <a:spcPts val="400"/>
        </a:spcAft>
        <a:buClr>
          <a:schemeClr val="accent1">
            <a:lumMod val="75000"/>
          </a:schemeClr>
        </a:buClr>
        <a:buSzPct val="70000"/>
        <a:buFont typeface="Wingdings" panose="05000000000000000000" pitchFamily="2" charset="2"/>
        <a:buChar char="§"/>
        <a:defRPr sz="2400" kern="1200">
          <a:solidFill>
            <a:schemeClr val="tx1">
              <a:lumMod val="95000"/>
              <a:lumOff val="5000"/>
            </a:schemeClr>
          </a:solidFill>
          <a:latin typeface="+mn-lt"/>
          <a:ea typeface="+mn-ea"/>
          <a:cs typeface="+mn-cs"/>
        </a:defRPr>
      </a:lvl2pPr>
      <a:lvl3pPr marL="736600" indent="-182563"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95000"/>
              <a:lumOff val="5000"/>
            </a:schemeClr>
          </a:solidFill>
          <a:latin typeface="+mn-lt"/>
          <a:ea typeface="+mn-ea"/>
          <a:cs typeface="+mn-cs"/>
        </a:defRPr>
      </a:lvl3pPr>
      <a:lvl4pPr marL="341313" indent="0" algn="l"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95000"/>
              <a:lumOff val="5000"/>
            </a:schemeClr>
          </a:solidFill>
          <a:latin typeface="+mn-lt"/>
          <a:ea typeface="+mn-ea"/>
          <a:cs typeface="+mn-cs"/>
        </a:defRPr>
      </a:lvl4pPr>
      <a:lvl5pPr marL="341313" indent="0" algn="l" defTabSz="914400" rtl="0" eaLnBrk="1" latinLnBrk="0" hangingPunct="1">
        <a:lnSpc>
          <a:spcPct val="90000"/>
        </a:lnSpc>
        <a:spcBef>
          <a:spcPts val="600"/>
        </a:spcBef>
        <a:spcAft>
          <a:spcPts val="600"/>
        </a:spcAft>
        <a:buClr>
          <a:schemeClr val="accent1"/>
        </a:buClr>
        <a:buFont typeface="Calibri" pitchFamily="34" charset="0"/>
        <a:buNone/>
        <a:defRPr sz="2400" kern="1200">
          <a:solidFill>
            <a:schemeClr val="tx1">
              <a:lumMod val="95000"/>
              <a:lumOff val="5000"/>
            </a:schemeClr>
          </a:solidFill>
          <a:latin typeface="Consolas" panose="020B0609020204030204" pitchFamily="49"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4DCBFF-8C23-4DBF-8E2E-CA9E0FFDD5E3}"/>
              </a:ext>
            </a:extLst>
          </p:cNvPr>
          <p:cNvSpPr>
            <a:spLocks noGrp="1"/>
          </p:cNvSpPr>
          <p:nvPr>
            <p:ph type="ctrTitle"/>
          </p:nvPr>
        </p:nvSpPr>
        <p:spPr/>
        <p:txBody>
          <a:bodyPr/>
          <a:lstStyle/>
          <a:p>
            <a:r>
              <a:rPr lang="en-US"/>
              <a:t>Mảng</a:t>
            </a:r>
          </a:p>
        </p:txBody>
      </p:sp>
      <p:sp>
        <p:nvSpPr>
          <p:cNvPr id="3" name="Subtitle 2">
            <a:extLst>
              <a:ext uri="{FF2B5EF4-FFF2-40B4-BE49-F238E27FC236}">
                <a16:creationId xmlns="" xmlns:a16="http://schemas.microsoft.com/office/drawing/2014/main" id="{125ECE8E-73C1-4BF0-BAB7-07AB749C7654}"/>
              </a:ext>
            </a:extLst>
          </p:cNvPr>
          <p:cNvSpPr>
            <a:spLocks noGrp="1"/>
          </p:cNvSpPr>
          <p:nvPr>
            <p:ph type="subTitle" idx="1"/>
          </p:nvPr>
        </p:nvSpPr>
        <p:spPr/>
        <p:txBody>
          <a:bodyPr>
            <a:normAutofit/>
          </a:bodyPr>
          <a:lstStyle/>
          <a:p>
            <a:pPr algn="r">
              <a:spcBef>
                <a:spcPts val="200"/>
              </a:spcBef>
            </a:pPr>
            <a:r>
              <a:rPr lang="en-US" sz="1800" b="1" i="1"/>
              <a:t>Khoa công nghệ thông tin </a:t>
            </a:r>
          </a:p>
          <a:p>
            <a:pPr algn="r">
              <a:spcBef>
                <a:spcPts val="200"/>
              </a:spcBef>
            </a:pPr>
            <a:r>
              <a:rPr lang="en-US" sz="1800" b="1" i="1"/>
              <a:t>Trường Đại học mở </a:t>
            </a:r>
            <a:r>
              <a:rPr lang="en-US" sz="1800" b="1" i="1" smtClean="0"/>
              <a:t>tphcm</a:t>
            </a:r>
            <a:endParaRPr lang="en-US" sz="1800" b="1" i="1"/>
          </a:p>
        </p:txBody>
      </p:sp>
    </p:spTree>
    <p:extLst>
      <p:ext uri="{BB962C8B-B14F-4D97-AF65-F5344CB8AC3E}">
        <p14:creationId xmlns:p14="http://schemas.microsoft.com/office/powerpoint/2010/main" val="131212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67CE4F-F87E-4085-BFA8-1D0392D39ED8}"/>
              </a:ext>
            </a:extLst>
          </p:cNvPr>
          <p:cNvSpPr>
            <a:spLocks noGrp="1"/>
          </p:cNvSpPr>
          <p:nvPr>
            <p:ph type="title"/>
          </p:nvPr>
        </p:nvSpPr>
        <p:spPr/>
        <p:txBody>
          <a:bodyPr/>
          <a:lstStyle/>
          <a:p>
            <a:r>
              <a:rPr lang="en-US"/>
              <a:t>Mục tiêu</a:t>
            </a:r>
          </a:p>
        </p:txBody>
      </p:sp>
      <p:sp>
        <p:nvSpPr>
          <p:cNvPr id="3" name="Content Placeholder 2">
            <a:extLst>
              <a:ext uri="{FF2B5EF4-FFF2-40B4-BE49-F238E27FC236}">
                <a16:creationId xmlns="" xmlns:a16="http://schemas.microsoft.com/office/drawing/2014/main" id="{276EF492-1E0D-4AC0-BA0B-A7640E7AA392}"/>
              </a:ext>
            </a:extLst>
          </p:cNvPr>
          <p:cNvSpPr>
            <a:spLocks noGrp="1"/>
          </p:cNvSpPr>
          <p:nvPr>
            <p:ph idx="1"/>
          </p:nvPr>
        </p:nvSpPr>
        <p:spPr/>
        <p:txBody>
          <a:bodyPr/>
          <a:lstStyle/>
          <a:p>
            <a:pPr algn="just"/>
            <a:r>
              <a:rPr lang="vi-VN"/>
              <a:t>Biết cách sử dụng cấu trúc mảng để lưu trữ một tập hợp dữ liệu.</a:t>
            </a:r>
          </a:p>
          <a:p>
            <a:pPr algn="just"/>
            <a:r>
              <a:rPr lang="vi-VN"/>
              <a:t>Biết cách khai báo, khởi tạo và nhập/xuất từng giá trị trong mảng.</a:t>
            </a:r>
          </a:p>
          <a:p>
            <a:pPr algn="just"/>
            <a:r>
              <a:rPr lang="vi-VN"/>
              <a:t>Biết cách dùng câu lệnh lặp để truy cập đến từng giá trị trong mảng.</a:t>
            </a:r>
          </a:p>
          <a:p>
            <a:pPr algn="just"/>
            <a:r>
              <a:rPr lang="vi-VN"/>
              <a:t>Biết một số thao tác cơ bản trên mảng như tìm kiếm, tính toán với các giá trị dữ liệu, kiểm tra tính chất mảng, thêm/xóa các giá trị…</a:t>
            </a:r>
          </a:p>
          <a:p>
            <a:pPr algn="just"/>
            <a:r>
              <a:rPr lang="vi-VN"/>
              <a:t>Biết cách truyền mảng dữ liệu cho hàm.</a:t>
            </a:r>
            <a:endParaRPr lang="en-US"/>
          </a:p>
        </p:txBody>
      </p:sp>
      <p:sp>
        <p:nvSpPr>
          <p:cNvPr id="4" name="Footer Placeholder 3">
            <a:extLst>
              <a:ext uri="{FF2B5EF4-FFF2-40B4-BE49-F238E27FC236}">
                <a16:creationId xmlns="" xmlns:a16="http://schemas.microsoft.com/office/drawing/2014/main" id="{D902F6B5-3A1E-481D-BD68-4F428B738986}"/>
              </a:ext>
            </a:extLst>
          </p:cNvPr>
          <p:cNvSpPr>
            <a:spLocks noGrp="1"/>
          </p:cNvSpPr>
          <p:nvPr>
            <p:ph type="ftr" sz="quarter" idx="11"/>
          </p:nvPr>
        </p:nvSpPr>
        <p:spPr/>
        <p:txBody>
          <a:bodyPr/>
          <a:lstStyle/>
          <a:p>
            <a:r>
              <a:rPr lang="vi-VN"/>
              <a:t>Cơ sở lập trình - Mảng</a:t>
            </a:r>
            <a:endParaRPr lang="en-US"/>
          </a:p>
        </p:txBody>
      </p:sp>
      <p:sp>
        <p:nvSpPr>
          <p:cNvPr id="5" name="Slide Number Placeholder 4">
            <a:extLst>
              <a:ext uri="{FF2B5EF4-FFF2-40B4-BE49-F238E27FC236}">
                <a16:creationId xmlns="" xmlns:a16="http://schemas.microsoft.com/office/drawing/2014/main" id="{93CB0464-B669-4FA0-BE14-C4D2AAE2B0AD}"/>
              </a:ext>
            </a:extLst>
          </p:cNvPr>
          <p:cNvSpPr>
            <a:spLocks noGrp="1"/>
          </p:cNvSpPr>
          <p:nvPr>
            <p:ph type="sldNum" sz="quarter" idx="12"/>
          </p:nvPr>
        </p:nvSpPr>
        <p:spPr/>
        <p:txBody>
          <a:bodyPr/>
          <a:lstStyle/>
          <a:p>
            <a:fld id="{B09C6C27-D58C-4EFE-B9E3-C62B6FE31098}" type="slidenum">
              <a:rPr lang="en-US" smtClean="0"/>
              <a:t>2</a:t>
            </a:fld>
            <a:endParaRPr lang="en-US"/>
          </a:p>
        </p:txBody>
      </p:sp>
    </p:spTree>
    <p:extLst>
      <p:ext uri="{BB962C8B-B14F-4D97-AF65-F5344CB8AC3E}">
        <p14:creationId xmlns:p14="http://schemas.microsoft.com/office/powerpoint/2010/main" val="2932969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6641480-BF51-4B95-BB4D-BFC0602AC508}"/>
              </a:ext>
            </a:extLst>
          </p:cNvPr>
          <p:cNvSpPr>
            <a:spLocks noGrp="1"/>
          </p:cNvSpPr>
          <p:nvPr>
            <p:ph type="title"/>
          </p:nvPr>
        </p:nvSpPr>
        <p:spPr/>
        <p:txBody>
          <a:bodyPr/>
          <a:lstStyle/>
          <a:p>
            <a:r>
              <a:rPr lang="en-US"/>
              <a:t>Nội dung</a:t>
            </a:r>
          </a:p>
        </p:txBody>
      </p:sp>
      <p:sp>
        <p:nvSpPr>
          <p:cNvPr id="5" name="Content Placeholder 4">
            <a:extLst>
              <a:ext uri="{FF2B5EF4-FFF2-40B4-BE49-F238E27FC236}">
                <a16:creationId xmlns="" xmlns:a16="http://schemas.microsoft.com/office/drawing/2014/main" id="{146458E1-74EE-413C-9BFE-9F4477B48504}"/>
              </a:ext>
            </a:extLst>
          </p:cNvPr>
          <p:cNvSpPr>
            <a:spLocks noGrp="1"/>
          </p:cNvSpPr>
          <p:nvPr>
            <p:ph idx="1"/>
          </p:nvPr>
        </p:nvSpPr>
        <p:spPr/>
        <p:txBody>
          <a:bodyPr/>
          <a:lstStyle/>
          <a:p>
            <a:r>
              <a:rPr lang="en-US"/>
              <a:t>Mảng</a:t>
            </a:r>
          </a:p>
          <a:p>
            <a:pPr lvl="1"/>
            <a:r>
              <a:rPr lang="en-US"/>
              <a:t>Khái niệm</a:t>
            </a:r>
          </a:p>
          <a:p>
            <a:pPr lvl="1"/>
            <a:r>
              <a:rPr lang="en-US"/>
              <a:t>Khai báo mảng</a:t>
            </a:r>
          </a:p>
          <a:p>
            <a:pPr lvl="1"/>
            <a:r>
              <a:rPr lang="en-US"/>
              <a:t>Khởi tạo mảng khi khai báo</a:t>
            </a:r>
          </a:p>
          <a:p>
            <a:pPr lvl="1"/>
            <a:r>
              <a:rPr lang="en-US"/>
              <a:t>Truy xuất các giá trị trong mảng</a:t>
            </a:r>
          </a:p>
          <a:p>
            <a:r>
              <a:rPr lang="en-US">
                <a:solidFill>
                  <a:schemeClr val="tx1">
                    <a:lumMod val="50000"/>
                    <a:lumOff val="50000"/>
                  </a:schemeClr>
                </a:solidFill>
              </a:rPr>
              <a:t>Các thao tác trên mảng</a:t>
            </a:r>
          </a:p>
          <a:p>
            <a:r>
              <a:rPr lang="en-US">
                <a:solidFill>
                  <a:schemeClr val="tx1">
                    <a:lumMod val="50000"/>
                    <a:lumOff val="50000"/>
                  </a:schemeClr>
                </a:solidFill>
              </a:rPr>
              <a:t>Một số l</a:t>
            </a:r>
            <a:r>
              <a:rPr lang="vi-VN">
                <a:solidFill>
                  <a:schemeClr val="tx1">
                    <a:lumMod val="50000"/>
                    <a:lumOff val="50000"/>
                  </a:schemeClr>
                </a:solidFill>
              </a:rPr>
              <a:t>ư</a:t>
            </a:r>
            <a:r>
              <a:rPr lang="en-US">
                <a:solidFill>
                  <a:schemeClr val="tx1">
                    <a:lumMod val="50000"/>
                    <a:lumOff val="50000"/>
                  </a:schemeClr>
                </a:solidFill>
              </a:rPr>
              <a:t>u ý</a:t>
            </a:r>
          </a:p>
          <a:p>
            <a:r>
              <a:rPr lang="en-US">
                <a:solidFill>
                  <a:schemeClr val="tx1">
                    <a:lumMod val="50000"/>
                    <a:lumOff val="50000"/>
                  </a:schemeClr>
                </a:solidFill>
              </a:rPr>
              <a:t>Truyền mảng cho hàm</a:t>
            </a:r>
          </a:p>
        </p:txBody>
      </p:sp>
      <p:sp>
        <p:nvSpPr>
          <p:cNvPr id="2" name="Footer Placeholder 1">
            <a:extLst>
              <a:ext uri="{FF2B5EF4-FFF2-40B4-BE49-F238E27FC236}">
                <a16:creationId xmlns="" xmlns:a16="http://schemas.microsoft.com/office/drawing/2014/main" id="{D584493D-4F40-42BB-8049-AD43DFC2F87F}"/>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80A3F45A-A9C9-4072-B367-9AB784116698}"/>
              </a:ext>
            </a:extLst>
          </p:cNvPr>
          <p:cNvSpPr>
            <a:spLocks noGrp="1"/>
          </p:cNvSpPr>
          <p:nvPr>
            <p:ph type="sldNum" sz="quarter" idx="12"/>
          </p:nvPr>
        </p:nvSpPr>
        <p:spPr/>
        <p:txBody>
          <a:bodyPr/>
          <a:lstStyle/>
          <a:p>
            <a:fld id="{B09C6C27-D58C-4EFE-B9E3-C62B6FE31098}" type="slidenum">
              <a:rPr lang="en-US" smtClean="0"/>
              <a:t>3</a:t>
            </a:fld>
            <a:endParaRPr lang="en-US"/>
          </a:p>
        </p:txBody>
      </p:sp>
    </p:spTree>
    <p:extLst>
      <p:ext uri="{BB962C8B-B14F-4D97-AF65-F5344CB8AC3E}">
        <p14:creationId xmlns:p14="http://schemas.microsoft.com/office/powerpoint/2010/main" val="244476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6EA9228D-A4B2-42DD-9D1E-9326381A733F}"/>
              </a:ext>
            </a:extLst>
          </p:cNvPr>
          <p:cNvSpPr>
            <a:spLocks noGrp="1"/>
          </p:cNvSpPr>
          <p:nvPr>
            <p:ph type="title"/>
          </p:nvPr>
        </p:nvSpPr>
        <p:spPr/>
        <p:txBody>
          <a:bodyPr/>
          <a:lstStyle/>
          <a:p>
            <a:r>
              <a:rPr lang="en-US"/>
              <a:t>Khái niệm</a:t>
            </a:r>
          </a:p>
        </p:txBody>
      </p:sp>
      <p:sp>
        <p:nvSpPr>
          <p:cNvPr id="5" name="Content Placeholder 4">
            <a:extLst>
              <a:ext uri="{FF2B5EF4-FFF2-40B4-BE49-F238E27FC236}">
                <a16:creationId xmlns="" xmlns:a16="http://schemas.microsoft.com/office/drawing/2014/main" id="{0D61F162-D67D-4405-9BB1-FFB21FBFBF5E}"/>
              </a:ext>
            </a:extLst>
          </p:cNvPr>
          <p:cNvSpPr>
            <a:spLocks noGrp="1"/>
          </p:cNvSpPr>
          <p:nvPr>
            <p:ph idx="1"/>
          </p:nvPr>
        </p:nvSpPr>
        <p:spPr/>
        <p:txBody>
          <a:bodyPr/>
          <a:lstStyle/>
          <a:p>
            <a:pPr algn="just"/>
            <a:r>
              <a:rPr lang="vi-VN">
                <a:solidFill>
                  <a:srgbClr val="0000FF"/>
                </a:solidFill>
              </a:rPr>
              <a:t>Mảng/Dãy</a:t>
            </a:r>
            <a:r>
              <a:rPr lang="vi-VN"/>
              <a:t> (array) là một tập hợp gồm các phần tử có cùng kiểu dữ liệu, được lưu trữ tại các vị trí liên tục trong bộ nhớ.</a:t>
            </a:r>
            <a:endParaRPr lang="en-US"/>
          </a:p>
          <a:p>
            <a:endParaRPr lang="en-US"/>
          </a:p>
          <a:p>
            <a:endParaRPr lang="en-US"/>
          </a:p>
          <a:p>
            <a:endParaRPr lang="en-US"/>
          </a:p>
          <a:p>
            <a:endParaRPr lang="en-US"/>
          </a:p>
          <a:p>
            <a:endParaRPr lang="en-US"/>
          </a:p>
          <a:p>
            <a:endParaRPr lang="en-US"/>
          </a:p>
          <a:p>
            <a:endParaRPr lang="en-US"/>
          </a:p>
          <a:p>
            <a:endParaRPr lang="en-US"/>
          </a:p>
          <a:p>
            <a:endParaRPr lang="en-US"/>
          </a:p>
          <a:p>
            <a:r>
              <a:rPr lang="en-US"/>
              <a:t>Ví dụ mảng số nguyên, mảng số thực, mảng ký tự...</a:t>
            </a:r>
          </a:p>
        </p:txBody>
      </p:sp>
      <p:pic>
        <p:nvPicPr>
          <p:cNvPr id="7" name="Picture 6">
            <a:extLst>
              <a:ext uri="{FF2B5EF4-FFF2-40B4-BE49-F238E27FC236}">
                <a16:creationId xmlns="" xmlns:a16="http://schemas.microsoft.com/office/drawing/2014/main" id="{CC71988F-0653-431A-A841-AFF7F49D8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794" y="1874764"/>
            <a:ext cx="1481456" cy="3834716"/>
          </a:xfrm>
          <a:prstGeom prst="rect">
            <a:avLst/>
          </a:prstGeom>
        </p:spPr>
      </p:pic>
      <p:sp>
        <p:nvSpPr>
          <p:cNvPr id="2" name="Footer Placeholder 1">
            <a:extLst>
              <a:ext uri="{FF2B5EF4-FFF2-40B4-BE49-F238E27FC236}">
                <a16:creationId xmlns="" xmlns:a16="http://schemas.microsoft.com/office/drawing/2014/main" id="{9722792B-C67F-4734-B14E-F07AF71AD0EF}"/>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E11C9A65-30D0-4D08-A405-FF439A4B688A}"/>
              </a:ext>
            </a:extLst>
          </p:cNvPr>
          <p:cNvSpPr>
            <a:spLocks noGrp="1"/>
          </p:cNvSpPr>
          <p:nvPr>
            <p:ph type="sldNum" sz="quarter" idx="12"/>
          </p:nvPr>
        </p:nvSpPr>
        <p:spPr/>
        <p:txBody>
          <a:bodyPr/>
          <a:lstStyle/>
          <a:p>
            <a:fld id="{B09C6C27-D58C-4EFE-B9E3-C62B6FE31098}" type="slidenum">
              <a:rPr lang="en-US" smtClean="0"/>
              <a:t>4</a:t>
            </a:fld>
            <a:endParaRPr lang="en-US"/>
          </a:p>
        </p:txBody>
      </p:sp>
    </p:spTree>
    <p:extLst>
      <p:ext uri="{BB962C8B-B14F-4D97-AF65-F5344CB8AC3E}">
        <p14:creationId xmlns:p14="http://schemas.microsoft.com/office/powerpoint/2010/main" val="72807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05BEC2BF-E8FD-4D20-B178-5F9B3A4B222A}"/>
              </a:ext>
            </a:extLst>
          </p:cNvPr>
          <p:cNvSpPr>
            <a:spLocks noGrp="1"/>
          </p:cNvSpPr>
          <p:nvPr>
            <p:ph idx="1"/>
          </p:nvPr>
        </p:nvSpPr>
        <p:spPr/>
        <p:txBody>
          <a:bodyPr/>
          <a:lstStyle/>
          <a:p>
            <a:r>
              <a:rPr lang="vi-VN">
                <a:solidFill>
                  <a:srgbClr val="0000FF"/>
                </a:solidFill>
              </a:rPr>
              <a:t>Mảng một chiều</a:t>
            </a:r>
            <a:r>
              <a:rPr lang="vi-VN"/>
              <a:t> (one-dimensional array) là mảng có các phần tử được sắp xếp theo dạng danh sách (list).</a:t>
            </a:r>
            <a:endParaRPr lang="en-US"/>
          </a:p>
          <a:p>
            <a:endParaRPr lang="en-US"/>
          </a:p>
          <a:p>
            <a:endParaRPr lang="en-US"/>
          </a:p>
          <a:p>
            <a:endParaRPr lang="en-US"/>
          </a:p>
          <a:p>
            <a:r>
              <a:rPr lang="vi-VN">
                <a:solidFill>
                  <a:srgbClr val="0000FF"/>
                </a:solidFill>
              </a:rPr>
              <a:t>Mảng hai chiều</a:t>
            </a:r>
            <a:r>
              <a:rPr lang="vi-VN"/>
              <a:t> (two-dimensional array) là mảng có các phần tử được sắp xếp theo dạng bảng (table).</a:t>
            </a:r>
            <a:endParaRPr lang="en-US"/>
          </a:p>
        </p:txBody>
      </p:sp>
      <p:pic>
        <p:nvPicPr>
          <p:cNvPr id="6" name="Picture 5">
            <a:extLst>
              <a:ext uri="{FF2B5EF4-FFF2-40B4-BE49-F238E27FC236}">
                <a16:creationId xmlns="" xmlns:a16="http://schemas.microsoft.com/office/drawing/2014/main" id="{74BC7D90-02F6-4DBD-B088-AACC8AA35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2440" y="1173957"/>
            <a:ext cx="6639119" cy="914479"/>
          </a:xfrm>
          <a:prstGeom prst="rect">
            <a:avLst/>
          </a:prstGeom>
        </p:spPr>
      </p:pic>
      <p:pic>
        <p:nvPicPr>
          <p:cNvPr id="8" name="Picture 7">
            <a:extLst>
              <a:ext uri="{FF2B5EF4-FFF2-40B4-BE49-F238E27FC236}">
                <a16:creationId xmlns="" xmlns:a16="http://schemas.microsoft.com/office/drawing/2014/main" id="{D38D7DAF-2749-451E-BC1A-CD0DF41753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5885" y="3248618"/>
            <a:ext cx="5572227" cy="2719052"/>
          </a:xfrm>
          <a:prstGeom prst="rect">
            <a:avLst/>
          </a:prstGeom>
        </p:spPr>
      </p:pic>
      <p:sp>
        <p:nvSpPr>
          <p:cNvPr id="2" name="Footer Placeholder 1">
            <a:extLst>
              <a:ext uri="{FF2B5EF4-FFF2-40B4-BE49-F238E27FC236}">
                <a16:creationId xmlns="" xmlns:a16="http://schemas.microsoft.com/office/drawing/2014/main" id="{F225866E-46CE-49B0-8A4E-BF05DD57A59F}"/>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37BEEADC-70E8-4B3A-B879-F0DD8C8D8880}"/>
              </a:ext>
            </a:extLst>
          </p:cNvPr>
          <p:cNvSpPr>
            <a:spLocks noGrp="1"/>
          </p:cNvSpPr>
          <p:nvPr>
            <p:ph type="sldNum" sz="quarter" idx="12"/>
          </p:nvPr>
        </p:nvSpPr>
        <p:spPr/>
        <p:txBody>
          <a:bodyPr/>
          <a:lstStyle/>
          <a:p>
            <a:fld id="{B09C6C27-D58C-4EFE-B9E3-C62B6FE31098}" type="slidenum">
              <a:rPr lang="en-US" smtClean="0"/>
              <a:t>5</a:t>
            </a:fld>
            <a:endParaRPr lang="en-US"/>
          </a:p>
        </p:txBody>
      </p:sp>
    </p:spTree>
    <p:extLst>
      <p:ext uri="{BB962C8B-B14F-4D97-AF65-F5344CB8AC3E}">
        <p14:creationId xmlns:p14="http://schemas.microsoft.com/office/powerpoint/2010/main" val="814416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B4A6EE56-0DCE-447C-A44C-3013274DA7E5}"/>
              </a:ext>
            </a:extLst>
          </p:cNvPr>
          <p:cNvSpPr>
            <a:spLocks noGrp="1"/>
          </p:cNvSpPr>
          <p:nvPr>
            <p:ph type="title"/>
          </p:nvPr>
        </p:nvSpPr>
        <p:spPr/>
        <p:txBody>
          <a:bodyPr/>
          <a:lstStyle/>
          <a:p>
            <a:r>
              <a:rPr lang="en-US"/>
              <a:t>Khai báo mảng</a:t>
            </a:r>
          </a:p>
        </p:txBody>
      </p:sp>
      <p:sp>
        <p:nvSpPr>
          <p:cNvPr id="4" name="Content Placeholder 3">
            <a:extLst>
              <a:ext uri="{FF2B5EF4-FFF2-40B4-BE49-F238E27FC236}">
                <a16:creationId xmlns="" xmlns:a16="http://schemas.microsoft.com/office/drawing/2014/main" id="{6F30C364-2281-46D3-B73C-11D0BB6477BE}"/>
              </a:ext>
            </a:extLst>
          </p:cNvPr>
          <p:cNvSpPr>
            <a:spLocks noGrp="1"/>
          </p:cNvSpPr>
          <p:nvPr>
            <p:ph idx="1"/>
          </p:nvPr>
        </p:nvSpPr>
        <p:spPr/>
        <p:txBody>
          <a:bodyPr/>
          <a:lstStyle/>
          <a:p>
            <a:r>
              <a:rPr lang="vi-VN"/>
              <a:t>Cú pháp khai báo mảng một chiều:</a:t>
            </a:r>
            <a:endParaRPr lang="en-US"/>
          </a:p>
          <a:p>
            <a:pPr lvl="4"/>
            <a:r>
              <a:rPr lang="vi-VN"/>
              <a:t>dataType arrayName[numberOfElements]; </a:t>
            </a:r>
            <a:endParaRPr lang="en-US"/>
          </a:p>
          <a:p>
            <a:pPr lvl="1"/>
            <a:r>
              <a:rPr lang="vi-VN"/>
              <a:t>dataType: kiểu dữ liệu của mỗi phần tử trong mảng.</a:t>
            </a:r>
            <a:endParaRPr lang="en-US"/>
          </a:p>
          <a:p>
            <a:pPr lvl="1"/>
            <a:r>
              <a:rPr lang="vi-VN"/>
              <a:t>arrayName: tên của mảng.</a:t>
            </a:r>
          </a:p>
          <a:p>
            <a:pPr lvl="1"/>
            <a:r>
              <a:rPr lang="vi-VN"/>
              <a:t>numberOfElements: số nguyên, cho biết số phần tử (tối đa) của mảng.</a:t>
            </a:r>
          </a:p>
          <a:p>
            <a:r>
              <a:rPr lang="vi-VN"/>
              <a:t>Số phần tử được </a:t>
            </a:r>
            <a:r>
              <a:rPr lang="vi-VN">
                <a:solidFill>
                  <a:srgbClr val="FF0000"/>
                </a:solidFill>
              </a:rPr>
              <a:t>xác định khi khai báo</a:t>
            </a:r>
            <a:r>
              <a:rPr lang="vi-VN"/>
              <a:t> và </a:t>
            </a:r>
            <a:r>
              <a:rPr lang="vi-VN">
                <a:solidFill>
                  <a:srgbClr val="FF0000"/>
                </a:solidFill>
              </a:rPr>
              <a:t>không thay đổi</a:t>
            </a:r>
            <a:r>
              <a:rPr lang="vi-VN"/>
              <a:t>.</a:t>
            </a:r>
          </a:p>
          <a:p>
            <a:r>
              <a:rPr lang="vi-VN"/>
              <a:t>Các phần tử được đánh số từ </a:t>
            </a:r>
            <a:r>
              <a:rPr lang="vi-VN">
                <a:solidFill>
                  <a:srgbClr val="FF0000"/>
                </a:solidFill>
              </a:rPr>
              <a:t>0</a:t>
            </a:r>
            <a:r>
              <a:rPr lang="vi-VN"/>
              <a:t> đến </a:t>
            </a:r>
            <a:r>
              <a:rPr lang="vi-VN">
                <a:solidFill>
                  <a:srgbClr val="FF0000"/>
                </a:solidFill>
              </a:rPr>
              <a:t>numberOfElements - 1</a:t>
            </a:r>
          </a:p>
          <a:p>
            <a:endParaRPr lang="en-US"/>
          </a:p>
        </p:txBody>
      </p:sp>
      <p:sp>
        <p:nvSpPr>
          <p:cNvPr id="5" name="Rectangle 4">
            <a:extLst>
              <a:ext uri="{FF2B5EF4-FFF2-40B4-BE49-F238E27FC236}">
                <a16:creationId xmlns="" xmlns:a16="http://schemas.microsoft.com/office/drawing/2014/main" id="{D34041CD-73C0-4CD4-B46D-289E99A33AF6}"/>
              </a:ext>
            </a:extLst>
          </p:cNvPr>
          <p:cNvSpPr/>
          <p:nvPr/>
        </p:nvSpPr>
        <p:spPr>
          <a:xfrm>
            <a:off x="542441" y="1503336"/>
            <a:ext cx="6478291" cy="457200"/>
          </a:xfrm>
          <a:prstGeom prst="rect">
            <a:avLst/>
          </a:prstGeom>
          <a:noFill/>
          <a:ln w="12700">
            <a:solidFill>
              <a:srgbClr val="0000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Footer Placeholder 1">
            <a:extLst>
              <a:ext uri="{FF2B5EF4-FFF2-40B4-BE49-F238E27FC236}">
                <a16:creationId xmlns="" xmlns:a16="http://schemas.microsoft.com/office/drawing/2014/main" id="{02580191-5EAF-4D87-B9CA-165D83604FDB}"/>
              </a:ext>
            </a:extLst>
          </p:cNvPr>
          <p:cNvSpPr>
            <a:spLocks noGrp="1"/>
          </p:cNvSpPr>
          <p:nvPr>
            <p:ph type="ftr" sz="quarter" idx="11"/>
          </p:nvPr>
        </p:nvSpPr>
        <p:spPr/>
        <p:txBody>
          <a:bodyPr/>
          <a:lstStyle/>
          <a:p>
            <a:r>
              <a:rPr lang="vi-VN"/>
              <a:t>Cơ sở lập trình - Mảng</a:t>
            </a:r>
            <a:endParaRPr lang="en-US"/>
          </a:p>
        </p:txBody>
      </p:sp>
      <p:sp>
        <p:nvSpPr>
          <p:cNvPr id="6" name="Slide Number Placeholder 5">
            <a:extLst>
              <a:ext uri="{FF2B5EF4-FFF2-40B4-BE49-F238E27FC236}">
                <a16:creationId xmlns="" xmlns:a16="http://schemas.microsoft.com/office/drawing/2014/main" id="{1F653A08-EFBD-44D0-B9A7-D86D9CF3BE27}"/>
              </a:ext>
            </a:extLst>
          </p:cNvPr>
          <p:cNvSpPr>
            <a:spLocks noGrp="1"/>
          </p:cNvSpPr>
          <p:nvPr>
            <p:ph type="sldNum" sz="quarter" idx="12"/>
          </p:nvPr>
        </p:nvSpPr>
        <p:spPr/>
        <p:txBody>
          <a:bodyPr/>
          <a:lstStyle/>
          <a:p>
            <a:fld id="{B09C6C27-D58C-4EFE-B9E3-C62B6FE31098}" type="slidenum">
              <a:rPr lang="en-US" smtClean="0"/>
              <a:t>6</a:t>
            </a:fld>
            <a:endParaRPr lang="en-US"/>
          </a:p>
        </p:txBody>
      </p:sp>
    </p:spTree>
    <p:extLst>
      <p:ext uri="{BB962C8B-B14F-4D97-AF65-F5344CB8AC3E}">
        <p14:creationId xmlns:p14="http://schemas.microsoft.com/office/powerpoint/2010/main" val="2798786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29B82820-F9EC-4664-87E9-FDB8FF926685}"/>
              </a:ext>
            </a:extLst>
          </p:cNvPr>
          <p:cNvSpPr>
            <a:spLocks noGrp="1"/>
          </p:cNvSpPr>
          <p:nvPr>
            <p:ph idx="1"/>
          </p:nvPr>
        </p:nvSpPr>
        <p:spPr/>
        <p:txBody>
          <a:bodyPr/>
          <a:lstStyle/>
          <a:p>
            <a:r>
              <a:rPr lang="vi-VN"/>
              <a:t>Ví dụ khai báo mảng tên là num chứa 5 số nguyên: </a:t>
            </a:r>
            <a:endParaRPr lang="en-US"/>
          </a:p>
          <a:p>
            <a:pPr lvl="4"/>
            <a:r>
              <a:rPr lang="vi-VN"/>
              <a:t>int num[5];</a:t>
            </a:r>
          </a:p>
          <a:p>
            <a:pPr lvl="1" algn="just"/>
            <a:r>
              <a:rPr lang="vi-VN"/>
              <a:t>5 vị trí liên tục trong bộ nhớ được sử dụng để lưu 5 số nguyên.</a:t>
            </a:r>
            <a:r>
              <a:rPr lang="en-US"/>
              <a:t> </a:t>
            </a:r>
            <a:r>
              <a:rPr lang="vi-VN"/>
              <a:t>Nếu kiểu int có kích thước 4 bytes thì mảng sẽ chiếm 20 bytes.</a:t>
            </a:r>
          </a:p>
          <a:p>
            <a:pPr lvl="1"/>
            <a:r>
              <a:rPr lang="vi-VN"/>
              <a:t>Các phần tử gồm num[0], num[1</a:t>
            </a:r>
            <a:r>
              <a:rPr lang="vi-VN" smtClean="0"/>
              <a:t>]</a:t>
            </a:r>
            <a:r>
              <a:rPr lang="en-GB" smtClean="0"/>
              <a:t>, </a:t>
            </a:r>
            <a:r>
              <a:rPr lang="vi-VN" smtClean="0"/>
              <a:t>num[2</a:t>
            </a:r>
            <a:r>
              <a:rPr lang="vi-VN"/>
              <a:t>], num[3], num[4].</a:t>
            </a:r>
          </a:p>
          <a:p>
            <a:endParaRPr lang="en-US"/>
          </a:p>
        </p:txBody>
      </p:sp>
      <p:pic>
        <p:nvPicPr>
          <p:cNvPr id="6" name="Picture 5">
            <a:extLst>
              <a:ext uri="{FF2B5EF4-FFF2-40B4-BE49-F238E27FC236}">
                <a16:creationId xmlns="" xmlns:a16="http://schemas.microsoft.com/office/drawing/2014/main" id="{2147E987-50D9-465C-8C1F-A041CD190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913" y="2510203"/>
            <a:ext cx="5316173" cy="877900"/>
          </a:xfrm>
          <a:prstGeom prst="rect">
            <a:avLst/>
          </a:prstGeom>
        </p:spPr>
      </p:pic>
      <p:sp>
        <p:nvSpPr>
          <p:cNvPr id="2" name="Footer Placeholder 1">
            <a:extLst>
              <a:ext uri="{FF2B5EF4-FFF2-40B4-BE49-F238E27FC236}">
                <a16:creationId xmlns="" xmlns:a16="http://schemas.microsoft.com/office/drawing/2014/main" id="{EBFAB617-F0D6-4FD1-9535-A9F2A16392DD}"/>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6344BADD-B2EC-4D63-8901-6773AAFF324D}"/>
              </a:ext>
            </a:extLst>
          </p:cNvPr>
          <p:cNvSpPr>
            <a:spLocks noGrp="1"/>
          </p:cNvSpPr>
          <p:nvPr>
            <p:ph type="sldNum" sz="quarter" idx="12"/>
          </p:nvPr>
        </p:nvSpPr>
        <p:spPr/>
        <p:txBody>
          <a:bodyPr/>
          <a:lstStyle/>
          <a:p>
            <a:fld id="{B09C6C27-D58C-4EFE-B9E3-C62B6FE31098}" type="slidenum">
              <a:rPr lang="en-US" smtClean="0"/>
              <a:t>7</a:t>
            </a:fld>
            <a:endParaRPr lang="en-US"/>
          </a:p>
        </p:txBody>
      </p:sp>
    </p:spTree>
    <p:extLst>
      <p:ext uri="{BB962C8B-B14F-4D97-AF65-F5344CB8AC3E}">
        <p14:creationId xmlns:p14="http://schemas.microsoft.com/office/powerpoint/2010/main" val="2951826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DFC4D959-D081-428B-9E92-BB6D72566D6F}"/>
              </a:ext>
            </a:extLst>
          </p:cNvPr>
          <p:cNvSpPr>
            <a:spLocks noGrp="1"/>
          </p:cNvSpPr>
          <p:nvPr>
            <p:ph idx="1"/>
          </p:nvPr>
        </p:nvSpPr>
        <p:spPr/>
        <p:txBody>
          <a:bodyPr/>
          <a:lstStyle/>
          <a:p>
            <a:r>
              <a:rPr lang="vi-VN"/>
              <a:t>Khi khai báo phải biết trước số phần tử tối đa của mảng.</a:t>
            </a:r>
          </a:p>
          <a:p>
            <a:r>
              <a:rPr lang="vi-VN"/>
              <a:t>Ví dụ khai báo sau đây gây lỗi:</a:t>
            </a:r>
          </a:p>
          <a:p>
            <a:pPr lvl="4"/>
            <a:r>
              <a:rPr lang="vi-VN"/>
              <a:t>int arrSize;</a:t>
            </a:r>
          </a:p>
          <a:p>
            <a:pPr lvl="4"/>
            <a:r>
              <a:rPr lang="vi-VN"/>
              <a:t>cout &lt;&lt; "Nhap so phan tu cua mang: "; </a:t>
            </a:r>
            <a:r>
              <a:rPr lang="en-US"/>
              <a:t/>
            </a:r>
            <a:br>
              <a:rPr lang="en-US"/>
            </a:br>
            <a:r>
              <a:rPr lang="vi-VN"/>
              <a:t>cin &gt;&gt; arrSize;</a:t>
            </a:r>
          </a:p>
          <a:p>
            <a:pPr lvl="4"/>
            <a:r>
              <a:rPr lang="vi-VN"/>
              <a:t>int arr[arrSize]; //loi</a:t>
            </a:r>
          </a:p>
          <a:p>
            <a:r>
              <a:rPr lang="vi-VN"/>
              <a:t>Nếu muốn chỉ định số phần tử lưu trong mảng vào lúc chương trình thực hiện thì dùng </a:t>
            </a:r>
            <a:r>
              <a:rPr lang="vi-VN">
                <a:solidFill>
                  <a:srgbClr val="0000FF"/>
                </a:solidFill>
              </a:rPr>
              <a:t>biến con trỏ </a:t>
            </a:r>
            <a:r>
              <a:rPr lang="vi-VN"/>
              <a:t>(pointer) để cấp phát số phần tử của mảng, gọi là </a:t>
            </a:r>
            <a:r>
              <a:rPr lang="vi-VN">
                <a:solidFill>
                  <a:srgbClr val="0000FF"/>
                </a:solidFill>
              </a:rPr>
              <a:t>mảng cấp phát động</a:t>
            </a:r>
            <a:r>
              <a:rPr lang="vi-VN"/>
              <a:t> (dynamic array).</a:t>
            </a:r>
          </a:p>
          <a:p>
            <a:endParaRPr lang="en-US"/>
          </a:p>
        </p:txBody>
      </p:sp>
      <p:sp>
        <p:nvSpPr>
          <p:cNvPr id="3" name="Footer Placeholder 2">
            <a:extLst>
              <a:ext uri="{FF2B5EF4-FFF2-40B4-BE49-F238E27FC236}">
                <a16:creationId xmlns="" xmlns:a16="http://schemas.microsoft.com/office/drawing/2014/main" id="{E4EB8796-0E01-4699-B600-7168CD794D04}"/>
              </a:ext>
            </a:extLst>
          </p:cNvPr>
          <p:cNvSpPr>
            <a:spLocks noGrp="1"/>
          </p:cNvSpPr>
          <p:nvPr>
            <p:ph type="ftr" sz="quarter" idx="11"/>
          </p:nvPr>
        </p:nvSpPr>
        <p:spPr/>
        <p:txBody>
          <a:bodyPr/>
          <a:lstStyle/>
          <a:p>
            <a:r>
              <a:rPr lang="vi-VN"/>
              <a:t>Cơ sở lập trình - Mảng</a:t>
            </a:r>
            <a:endParaRPr lang="en-US"/>
          </a:p>
        </p:txBody>
      </p:sp>
      <p:sp>
        <p:nvSpPr>
          <p:cNvPr id="4" name="Slide Number Placeholder 3">
            <a:extLst>
              <a:ext uri="{FF2B5EF4-FFF2-40B4-BE49-F238E27FC236}">
                <a16:creationId xmlns="" xmlns:a16="http://schemas.microsoft.com/office/drawing/2014/main" id="{A93AFECD-2ED7-4794-8593-A7686BF47606}"/>
              </a:ext>
            </a:extLst>
          </p:cNvPr>
          <p:cNvSpPr>
            <a:spLocks noGrp="1"/>
          </p:cNvSpPr>
          <p:nvPr>
            <p:ph type="sldNum" sz="quarter" idx="12"/>
          </p:nvPr>
        </p:nvSpPr>
        <p:spPr/>
        <p:txBody>
          <a:bodyPr/>
          <a:lstStyle/>
          <a:p>
            <a:fld id="{B09C6C27-D58C-4EFE-B9E3-C62B6FE31098}" type="slidenum">
              <a:rPr lang="en-US" smtClean="0"/>
              <a:t>8</a:t>
            </a:fld>
            <a:endParaRPr lang="en-US"/>
          </a:p>
        </p:txBody>
      </p:sp>
    </p:spTree>
    <p:extLst>
      <p:ext uri="{BB962C8B-B14F-4D97-AF65-F5344CB8AC3E}">
        <p14:creationId xmlns:p14="http://schemas.microsoft.com/office/powerpoint/2010/main" val="3916981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BA301E85-2EA3-4873-AB28-0DF9442067EB}"/>
              </a:ext>
            </a:extLst>
          </p:cNvPr>
          <p:cNvSpPr>
            <a:spLocks noGrp="1"/>
          </p:cNvSpPr>
          <p:nvPr>
            <p:ph idx="1"/>
          </p:nvPr>
        </p:nvSpPr>
        <p:spPr/>
        <p:txBody>
          <a:bodyPr/>
          <a:lstStyle/>
          <a:p>
            <a:r>
              <a:rPr lang="en-US"/>
              <a:t>Định nghĩa số phần tử của mảng là hằng:</a:t>
            </a:r>
          </a:p>
          <a:p>
            <a:pPr lvl="4"/>
            <a:r>
              <a:rPr lang="en-US"/>
              <a:t>const int MAXSIZE = 5;</a:t>
            </a:r>
          </a:p>
          <a:p>
            <a:pPr lvl="4"/>
            <a:r>
              <a:rPr lang="en-US"/>
              <a:t>int num[MAXSIZE];	//tuong duong int num[5];</a:t>
            </a:r>
          </a:p>
          <a:p>
            <a:r>
              <a:rPr lang="en-US"/>
              <a:t>Định nghĩa kiểu dữ liệu là mảng:</a:t>
            </a:r>
          </a:p>
          <a:p>
            <a:pPr lvl="4"/>
            <a:r>
              <a:rPr lang="en-US"/>
              <a:t>const int MAXSIZE = 50;</a:t>
            </a:r>
          </a:p>
          <a:p>
            <a:pPr lvl="4"/>
            <a:r>
              <a:rPr lang="en-US"/>
              <a:t>typedef double List[MAXSIZE];</a:t>
            </a:r>
          </a:p>
          <a:p>
            <a:pPr lvl="4"/>
            <a:r>
              <a:rPr lang="en-US"/>
              <a:t>List yourList;</a:t>
            </a:r>
          </a:p>
          <a:p>
            <a:pPr lvl="4"/>
            <a:r>
              <a:rPr lang="en-US"/>
              <a:t>List myList;</a:t>
            </a:r>
          </a:p>
          <a:p>
            <a:r>
              <a:rPr lang="vi-VN"/>
              <a:t>Các phát biểu trên tương đương với: </a:t>
            </a:r>
            <a:endParaRPr lang="en-US"/>
          </a:p>
          <a:p>
            <a:pPr lvl="4"/>
            <a:r>
              <a:rPr lang="vi-VN"/>
              <a:t>double yourList[50]; </a:t>
            </a:r>
            <a:endParaRPr lang="en-US"/>
          </a:p>
          <a:p>
            <a:pPr lvl="4"/>
            <a:r>
              <a:rPr lang="vi-VN"/>
              <a:t>double myList[50];</a:t>
            </a:r>
            <a:endParaRPr lang="en-US"/>
          </a:p>
        </p:txBody>
      </p:sp>
      <p:sp>
        <p:nvSpPr>
          <p:cNvPr id="3" name="Footer Placeholder 2">
            <a:extLst>
              <a:ext uri="{FF2B5EF4-FFF2-40B4-BE49-F238E27FC236}">
                <a16:creationId xmlns="" xmlns:a16="http://schemas.microsoft.com/office/drawing/2014/main" id="{87A29A49-464C-4FAC-B302-66DA8CEF5CB8}"/>
              </a:ext>
            </a:extLst>
          </p:cNvPr>
          <p:cNvSpPr>
            <a:spLocks noGrp="1"/>
          </p:cNvSpPr>
          <p:nvPr>
            <p:ph type="ftr" sz="quarter" idx="11"/>
          </p:nvPr>
        </p:nvSpPr>
        <p:spPr/>
        <p:txBody>
          <a:bodyPr/>
          <a:lstStyle/>
          <a:p>
            <a:r>
              <a:rPr lang="vi-VN"/>
              <a:t>Cơ sở lập trình - Mảng</a:t>
            </a:r>
            <a:endParaRPr lang="en-US"/>
          </a:p>
        </p:txBody>
      </p:sp>
      <p:sp>
        <p:nvSpPr>
          <p:cNvPr id="4" name="Slide Number Placeholder 3">
            <a:extLst>
              <a:ext uri="{FF2B5EF4-FFF2-40B4-BE49-F238E27FC236}">
                <a16:creationId xmlns="" xmlns:a16="http://schemas.microsoft.com/office/drawing/2014/main" id="{115412A6-B154-4CEA-9752-B498477690D1}"/>
              </a:ext>
            </a:extLst>
          </p:cNvPr>
          <p:cNvSpPr>
            <a:spLocks noGrp="1"/>
          </p:cNvSpPr>
          <p:nvPr>
            <p:ph type="sldNum" sz="quarter" idx="12"/>
          </p:nvPr>
        </p:nvSpPr>
        <p:spPr/>
        <p:txBody>
          <a:bodyPr/>
          <a:lstStyle/>
          <a:p>
            <a:fld id="{B09C6C27-D58C-4EFE-B9E3-C62B6FE31098}" type="slidenum">
              <a:rPr lang="en-US" smtClean="0"/>
              <a:t>9</a:t>
            </a:fld>
            <a:endParaRPr lang="en-US"/>
          </a:p>
        </p:txBody>
      </p:sp>
    </p:spTree>
    <p:extLst>
      <p:ext uri="{BB962C8B-B14F-4D97-AF65-F5344CB8AC3E}">
        <p14:creationId xmlns:p14="http://schemas.microsoft.com/office/powerpoint/2010/main" val="1724869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7641C835-8AB3-4218-AE93-587115E8BF1D}"/>
              </a:ext>
            </a:extLst>
          </p:cNvPr>
          <p:cNvSpPr>
            <a:spLocks noGrp="1"/>
          </p:cNvSpPr>
          <p:nvPr>
            <p:ph type="title"/>
          </p:nvPr>
        </p:nvSpPr>
        <p:spPr/>
        <p:txBody>
          <a:bodyPr/>
          <a:lstStyle/>
          <a:p>
            <a:r>
              <a:rPr lang="en-US"/>
              <a:t>Khởi tạo mảng khi khai báo</a:t>
            </a:r>
          </a:p>
        </p:txBody>
      </p:sp>
      <p:sp>
        <p:nvSpPr>
          <p:cNvPr id="4" name="Content Placeholder 3">
            <a:extLst>
              <a:ext uri="{FF2B5EF4-FFF2-40B4-BE49-F238E27FC236}">
                <a16:creationId xmlns="" xmlns:a16="http://schemas.microsoft.com/office/drawing/2014/main" id="{4FBC605A-F1B0-4A21-9EF7-E34DB028B2D2}"/>
              </a:ext>
            </a:extLst>
          </p:cNvPr>
          <p:cNvSpPr>
            <a:spLocks noGrp="1"/>
          </p:cNvSpPr>
          <p:nvPr>
            <p:ph idx="1"/>
          </p:nvPr>
        </p:nvSpPr>
        <p:spPr>
          <a:xfrm>
            <a:off x="320039" y="1094642"/>
            <a:ext cx="8684475" cy="5394960"/>
          </a:xfrm>
        </p:spPr>
        <p:txBody>
          <a:bodyPr/>
          <a:lstStyle/>
          <a:p>
            <a:r>
              <a:rPr lang="vi-VN"/>
              <a:t>Mảng được khởi tạo giá trị khi khai báo theo dạng sau:</a:t>
            </a:r>
            <a:endParaRPr lang="en-US"/>
          </a:p>
          <a:p>
            <a:pPr marL="107950" lvl="4"/>
            <a:r>
              <a:rPr lang="en-US" sz="2200"/>
              <a:t>dataType arrayName[numberOfElements] = {initialValues};</a:t>
            </a:r>
          </a:p>
          <a:p>
            <a:pPr lvl="1"/>
            <a:r>
              <a:rPr lang="vi-VN"/>
              <a:t>initialValues: các giá trị phân cách bằng dấu phẩy (,).</a:t>
            </a:r>
          </a:p>
          <a:p>
            <a:r>
              <a:rPr lang="vi-VN"/>
              <a:t>Ví dụ khai báo mảng gồm 3 phần tử và khởi tạo giá trị:</a:t>
            </a:r>
            <a:endParaRPr lang="en-US"/>
          </a:p>
          <a:p>
            <a:pPr lvl="4"/>
            <a:r>
              <a:rPr lang="vi-VN"/>
              <a:t>int a[3] = {2, 12, 1}; </a:t>
            </a:r>
            <a:endParaRPr lang="en-US"/>
          </a:p>
          <a:p>
            <a:r>
              <a:rPr lang="vi-VN"/>
              <a:t>tương đương:</a:t>
            </a:r>
          </a:p>
          <a:p>
            <a:pPr lvl="4"/>
            <a:r>
              <a:rPr lang="vi-VN"/>
              <a:t>int a[3]; </a:t>
            </a:r>
            <a:endParaRPr lang="en-US"/>
          </a:p>
          <a:p>
            <a:pPr lvl="4"/>
            <a:r>
              <a:rPr lang="vi-VN"/>
              <a:t>a[0] = 2; </a:t>
            </a:r>
            <a:endParaRPr lang="en-US"/>
          </a:p>
          <a:p>
            <a:pPr lvl="4"/>
            <a:r>
              <a:rPr lang="vi-VN"/>
              <a:t>a[1] = 12; </a:t>
            </a:r>
            <a:endParaRPr lang="en-US"/>
          </a:p>
          <a:p>
            <a:pPr lvl="4"/>
            <a:r>
              <a:rPr lang="vi-VN"/>
              <a:t>a[2] = 1;</a:t>
            </a:r>
          </a:p>
          <a:p>
            <a:endParaRPr lang="en-US"/>
          </a:p>
        </p:txBody>
      </p:sp>
      <p:sp>
        <p:nvSpPr>
          <p:cNvPr id="5" name="Rectangle 4">
            <a:extLst>
              <a:ext uri="{FF2B5EF4-FFF2-40B4-BE49-F238E27FC236}">
                <a16:creationId xmlns="" xmlns:a16="http://schemas.microsoft.com/office/drawing/2014/main" id="{4314CB79-ADFF-4E5A-BBAC-434490C94FA0}"/>
              </a:ext>
            </a:extLst>
          </p:cNvPr>
          <p:cNvSpPr/>
          <p:nvPr/>
        </p:nvSpPr>
        <p:spPr>
          <a:xfrm>
            <a:off x="335537" y="1487838"/>
            <a:ext cx="8596909" cy="457200"/>
          </a:xfrm>
          <a:prstGeom prst="rect">
            <a:avLst/>
          </a:prstGeom>
          <a:noFill/>
          <a:ln w="12700">
            <a:solidFill>
              <a:srgbClr val="0000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Footer Placeholder 1">
            <a:extLst>
              <a:ext uri="{FF2B5EF4-FFF2-40B4-BE49-F238E27FC236}">
                <a16:creationId xmlns="" xmlns:a16="http://schemas.microsoft.com/office/drawing/2014/main" id="{9E6FCA94-027C-43FB-8E23-0D08E0225CD1}"/>
              </a:ext>
            </a:extLst>
          </p:cNvPr>
          <p:cNvSpPr>
            <a:spLocks noGrp="1"/>
          </p:cNvSpPr>
          <p:nvPr>
            <p:ph type="ftr" sz="quarter" idx="11"/>
          </p:nvPr>
        </p:nvSpPr>
        <p:spPr/>
        <p:txBody>
          <a:bodyPr/>
          <a:lstStyle/>
          <a:p>
            <a:r>
              <a:rPr lang="vi-VN"/>
              <a:t>Cơ sở lập trình - Mảng</a:t>
            </a:r>
            <a:endParaRPr lang="en-US"/>
          </a:p>
        </p:txBody>
      </p:sp>
      <p:sp>
        <p:nvSpPr>
          <p:cNvPr id="6" name="Slide Number Placeholder 5">
            <a:extLst>
              <a:ext uri="{FF2B5EF4-FFF2-40B4-BE49-F238E27FC236}">
                <a16:creationId xmlns="" xmlns:a16="http://schemas.microsoft.com/office/drawing/2014/main" id="{44925187-E395-4021-A2A3-D28F6D02F27F}"/>
              </a:ext>
            </a:extLst>
          </p:cNvPr>
          <p:cNvSpPr>
            <a:spLocks noGrp="1"/>
          </p:cNvSpPr>
          <p:nvPr>
            <p:ph type="sldNum" sz="quarter" idx="12"/>
          </p:nvPr>
        </p:nvSpPr>
        <p:spPr/>
        <p:txBody>
          <a:bodyPr/>
          <a:lstStyle/>
          <a:p>
            <a:fld id="{B09C6C27-D58C-4EFE-B9E3-C62B6FE31098}" type="slidenum">
              <a:rPr lang="en-US" smtClean="0"/>
              <a:t>10</a:t>
            </a:fld>
            <a:endParaRPr lang="en-US"/>
          </a:p>
        </p:txBody>
      </p:sp>
    </p:spTree>
    <p:extLst>
      <p:ext uri="{BB962C8B-B14F-4D97-AF65-F5344CB8AC3E}">
        <p14:creationId xmlns:p14="http://schemas.microsoft.com/office/powerpoint/2010/main" val="2281418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3598264C-73E2-4303-ABE2-396EAB8A3482}"/>
              </a:ext>
            </a:extLst>
          </p:cNvPr>
          <p:cNvSpPr>
            <a:spLocks noGrp="1"/>
          </p:cNvSpPr>
          <p:nvPr>
            <p:ph idx="1"/>
          </p:nvPr>
        </p:nvSpPr>
        <p:spPr/>
        <p:txBody>
          <a:bodyPr>
            <a:noAutofit/>
          </a:bodyPr>
          <a:lstStyle/>
          <a:p>
            <a:pPr algn="just"/>
            <a:r>
              <a:rPr lang="vi-VN"/>
              <a:t>Khi khai báo mảng không chỉ định kích thước nhưng khởi tạo bằng một danh sách các giá trị thì kích thước mảng được tính bằng cách đếm số phần tử trong danh sách khởi tạo.</a:t>
            </a:r>
          </a:p>
          <a:p>
            <a:pPr lvl="4"/>
            <a:r>
              <a:rPr lang="vi-VN"/>
              <a:t>double sales[5] = {12.25,32.50,16.90,23,45.68}; </a:t>
            </a:r>
            <a:endParaRPr lang="en-US"/>
          </a:p>
          <a:p>
            <a:pPr marL="109538" indent="0">
              <a:buNone/>
            </a:pPr>
            <a:r>
              <a:rPr lang="vi-VN"/>
              <a:t>tương đương: </a:t>
            </a:r>
            <a:endParaRPr lang="en-US"/>
          </a:p>
          <a:p>
            <a:pPr lvl="4"/>
            <a:r>
              <a:rPr lang="vi-VN"/>
              <a:t>double sales[] = {12.25,32.50,16.90,23,45.68};</a:t>
            </a:r>
          </a:p>
          <a:p>
            <a:pPr algn="just"/>
            <a:r>
              <a:rPr lang="vi-VN"/>
              <a:t>Nếu danh sách khởi tạo có số phần tử ít hơn số phần tử của mảng thì các phần tử còn lại được khởi tạo là 0.</a:t>
            </a:r>
          </a:p>
          <a:p>
            <a:r>
              <a:rPr lang="vi-VN"/>
              <a:t>Ví dụ khởi tạo tất cả các phần tử là 0. </a:t>
            </a:r>
            <a:endParaRPr lang="en-US"/>
          </a:p>
          <a:p>
            <a:pPr lvl="4"/>
            <a:r>
              <a:rPr lang="vi-VN"/>
              <a:t>int list[10] = {0};</a:t>
            </a:r>
          </a:p>
          <a:p>
            <a:r>
              <a:rPr lang="vi-VN"/>
              <a:t>Ví dụ chỉ khởi tạo 3 phần tử, các phần tử còn lại là 0.</a:t>
            </a:r>
          </a:p>
          <a:p>
            <a:pPr lvl="4"/>
            <a:r>
              <a:rPr lang="vi-VN"/>
              <a:t>int list[10] = {8, 5, 12}; </a:t>
            </a:r>
            <a:endParaRPr lang="en-US"/>
          </a:p>
          <a:p>
            <a:r>
              <a:rPr lang="vi-VN"/>
              <a:t>tương đương:</a:t>
            </a:r>
          </a:p>
          <a:p>
            <a:pPr lvl="4"/>
            <a:r>
              <a:rPr lang="vi-VN"/>
              <a:t>int list[10] = {8, 5, 12, 0, 0, 0, 0, 0, 0, 0};</a:t>
            </a:r>
          </a:p>
          <a:p>
            <a:endParaRPr lang="en-US"/>
          </a:p>
        </p:txBody>
      </p:sp>
      <p:sp>
        <p:nvSpPr>
          <p:cNvPr id="2" name="Footer Placeholder 1">
            <a:extLst>
              <a:ext uri="{FF2B5EF4-FFF2-40B4-BE49-F238E27FC236}">
                <a16:creationId xmlns="" xmlns:a16="http://schemas.microsoft.com/office/drawing/2014/main" id="{1495C043-4529-480B-8783-611B601F502A}"/>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57C816A1-32FE-4B59-8A12-E5DCE5305C04}"/>
              </a:ext>
            </a:extLst>
          </p:cNvPr>
          <p:cNvSpPr>
            <a:spLocks noGrp="1"/>
          </p:cNvSpPr>
          <p:nvPr>
            <p:ph type="sldNum" sz="quarter" idx="12"/>
          </p:nvPr>
        </p:nvSpPr>
        <p:spPr/>
        <p:txBody>
          <a:bodyPr/>
          <a:lstStyle/>
          <a:p>
            <a:fld id="{B09C6C27-D58C-4EFE-B9E3-C62B6FE31098}" type="slidenum">
              <a:rPr lang="en-US" smtClean="0"/>
              <a:t>11</a:t>
            </a:fld>
            <a:endParaRPr lang="en-US"/>
          </a:p>
        </p:txBody>
      </p:sp>
    </p:spTree>
    <p:extLst>
      <p:ext uri="{BB962C8B-B14F-4D97-AF65-F5344CB8AC3E}">
        <p14:creationId xmlns:p14="http://schemas.microsoft.com/office/powerpoint/2010/main" val="2506014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3D708E2D-9FDD-4D59-AC2A-AE822043BA22}"/>
              </a:ext>
            </a:extLst>
          </p:cNvPr>
          <p:cNvSpPr>
            <a:spLocks noGrp="1"/>
          </p:cNvSpPr>
          <p:nvPr>
            <p:ph type="title"/>
          </p:nvPr>
        </p:nvSpPr>
        <p:spPr/>
        <p:txBody>
          <a:bodyPr/>
          <a:lstStyle/>
          <a:p>
            <a:r>
              <a:rPr lang="en-US"/>
              <a:t>Truy xuất các giá trị trong mảng</a:t>
            </a:r>
          </a:p>
        </p:txBody>
      </p:sp>
      <p:sp>
        <p:nvSpPr>
          <p:cNvPr id="4" name="Content Placeholder 3">
            <a:extLst>
              <a:ext uri="{FF2B5EF4-FFF2-40B4-BE49-F238E27FC236}">
                <a16:creationId xmlns="" xmlns:a16="http://schemas.microsoft.com/office/drawing/2014/main" id="{C1B88C3B-6E90-4F72-9C56-97D93B101E38}"/>
              </a:ext>
            </a:extLst>
          </p:cNvPr>
          <p:cNvSpPr>
            <a:spLocks noGrp="1"/>
          </p:cNvSpPr>
          <p:nvPr>
            <p:ph idx="1"/>
          </p:nvPr>
        </p:nvSpPr>
        <p:spPr/>
        <p:txBody>
          <a:bodyPr/>
          <a:lstStyle/>
          <a:p>
            <a:r>
              <a:rPr lang="en-US"/>
              <a:t>Cú pháp gán dữ liệu cho một phần tử (element) trong mảng:</a:t>
            </a:r>
          </a:p>
          <a:p>
            <a:pPr lvl="4"/>
            <a:r>
              <a:rPr lang="en-US"/>
              <a:t>arrayName[subscript] = expression;</a:t>
            </a:r>
          </a:p>
          <a:p>
            <a:pPr lvl="1"/>
            <a:r>
              <a:rPr lang="en-US"/>
              <a:t>subscript: chỉ số là số nguyên hoặc biểu thức có giá trị là số nguyên. Nếu mảng có số phần tử là MAXSIZE thì chỉ số có giá trị từ 0 đến MAXSIZE - 1.</a:t>
            </a:r>
          </a:p>
          <a:p>
            <a:pPr lvl="1"/>
            <a:r>
              <a:rPr lang="en-US"/>
              <a:t>expression: biểu thức có kiểu phù hợp với kiểu dữ liệu của mảng.</a:t>
            </a:r>
          </a:p>
          <a:p>
            <a:r>
              <a:rPr lang="en-US"/>
              <a:t>Ví dụ:</a:t>
            </a:r>
          </a:p>
          <a:p>
            <a:pPr lvl="4"/>
            <a:r>
              <a:rPr lang="en-US"/>
              <a:t>int list[10];</a:t>
            </a:r>
          </a:p>
        </p:txBody>
      </p:sp>
      <p:sp>
        <p:nvSpPr>
          <p:cNvPr id="5" name="Rectangle 4">
            <a:extLst>
              <a:ext uri="{FF2B5EF4-FFF2-40B4-BE49-F238E27FC236}">
                <a16:creationId xmlns="" xmlns:a16="http://schemas.microsoft.com/office/drawing/2014/main" id="{97C41FA5-F026-445D-BE83-EC15F5C52D9B}"/>
              </a:ext>
            </a:extLst>
          </p:cNvPr>
          <p:cNvSpPr/>
          <p:nvPr/>
        </p:nvSpPr>
        <p:spPr>
          <a:xfrm>
            <a:off x="557939" y="1487838"/>
            <a:ext cx="5920353" cy="457200"/>
          </a:xfrm>
          <a:prstGeom prst="rect">
            <a:avLst/>
          </a:prstGeom>
          <a:noFill/>
          <a:ln w="12700">
            <a:solidFill>
              <a:srgbClr val="0000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7" name="Picture 6">
            <a:extLst>
              <a:ext uri="{FF2B5EF4-FFF2-40B4-BE49-F238E27FC236}">
                <a16:creationId xmlns="" xmlns:a16="http://schemas.microsoft.com/office/drawing/2014/main" id="{21A60AB7-BAAF-488B-96EE-8A7857E30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399" y="4738566"/>
            <a:ext cx="6078239" cy="914479"/>
          </a:xfrm>
          <a:prstGeom prst="rect">
            <a:avLst/>
          </a:prstGeom>
        </p:spPr>
      </p:pic>
      <p:sp>
        <p:nvSpPr>
          <p:cNvPr id="2" name="Footer Placeholder 1">
            <a:extLst>
              <a:ext uri="{FF2B5EF4-FFF2-40B4-BE49-F238E27FC236}">
                <a16:creationId xmlns="" xmlns:a16="http://schemas.microsoft.com/office/drawing/2014/main" id="{E470F58A-F989-4924-B385-4B457E0D99D7}"/>
              </a:ext>
            </a:extLst>
          </p:cNvPr>
          <p:cNvSpPr>
            <a:spLocks noGrp="1"/>
          </p:cNvSpPr>
          <p:nvPr>
            <p:ph type="ftr" sz="quarter" idx="11"/>
          </p:nvPr>
        </p:nvSpPr>
        <p:spPr/>
        <p:txBody>
          <a:bodyPr/>
          <a:lstStyle/>
          <a:p>
            <a:r>
              <a:rPr lang="vi-VN"/>
              <a:t>Cơ sở lập trình - Mảng</a:t>
            </a:r>
            <a:endParaRPr lang="en-US"/>
          </a:p>
        </p:txBody>
      </p:sp>
      <p:sp>
        <p:nvSpPr>
          <p:cNvPr id="6" name="Slide Number Placeholder 5">
            <a:extLst>
              <a:ext uri="{FF2B5EF4-FFF2-40B4-BE49-F238E27FC236}">
                <a16:creationId xmlns="" xmlns:a16="http://schemas.microsoft.com/office/drawing/2014/main" id="{3DFC11D5-5305-48EA-B751-D137E76551DC}"/>
              </a:ext>
            </a:extLst>
          </p:cNvPr>
          <p:cNvSpPr>
            <a:spLocks noGrp="1"/>
          </p:cNvSpPr>
          <p:nvPr>
            <p:ph type="sldNum" sz="quarter" idx="12"/>
          </p:nvPr>
        </p:nvSpPr>
        <p:spPr/>
        <p:txBody>
          <a:bodyPr/>
          <a:lstStyle/>
          <a:p>
            <a:fld id="{B09C6C27-D58C-4EFE-B9E3-C62B6FE31098}" type="slidenum">
              <a:rPr lang="en-US" smtClean="0"/>
              <a:t>12</a:t>
            </a:fld>
            <a:endParaRPr lang="en-US"/>
          </a:p>
        </p:txBody>
      </p:sp>
    </p:spTree>
    <p:extLst>
      <p:ext uri="{BB962C8B-B14F-4D97-AF65-F5344CB8AC3E}">
        <p14:creationId xmlns:p14="http://schemas.microsoft.com/office/powerpoint/2010/main" val="2259732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D05B30D4-47EF-4B54-A44E-8CDC992AE82D}"/>
              </a:ext>
            </a:extLst>
          </p:cNvPr>
          <p:cNvSpPr>
            <a:spLocks noGrp="1"/>
          </p:cNvSpPr>
          <p:nvPr>
            <p:ph idx="1"/>
          </p:nvPr>
        </p:nvSpPr>
        <p:spPr/>
        <p:txBody>
          <a:bodyPr>
            <a:noAutofit/>
          </a:bodyPr>
          <a:lstStyle/>
          <a:p>
            <a:pPr lvl="4"/>
            <a:r>
              <a:rPr lang="en-US"/>
              <a:t>list[5] = 34;</a:t>
            </a:r>
          </a:p>
          <a:p>
            <a:endParaRPr lang="en-US"/>
          </a:p>
          <a:p>
            <a:endParaRPr lang="en-US"/>
          </a:p>
          <a:p>
            <a:pPr lvl="4"/>
            <a:r>
              <a:rPr lang="en-US"/>
              <a:t>int i;</a:t>
            </a:r>
          </a:p>
          <a:p>
            <a:pPr lvl="4"/>
            <a:r>
              <a:rPr lang="en-US"/>
              <a:t>i = 3;</a:t>
            </a:r>
          </a:p>
          <a:p>
            <a:pPr lvl="4"/>
            <a:r>
              <a:rPr lang="en-US"/>
              <a:t>list[i] = 63;  //tuong duong list[3] = 63;</a:t>
            </a:r>
          </a:p>
          <a:p>
            <a:endParaRPr lang="en-US"/>
          </a:p>
          <a:p>
            <a:endParaRPr lang="en-US"/>
          </a:p>
          <a:p>
            <a:pPr lvl="4"/>
            <a:r>
              <a:rPr lang="en-US"/>
              <a:t>list[3] = 10;</a:t>
            </a:r>
          </a:p>
          <a:p>
            <a:pPr lvl="4"/>
            <a:r>
              <a:rPr lang="en-US"/>
              <a:t>list[6] = 35;</a:t>
            </a:r>
          </a:p>
          <a:p>
            <a:pPr lvl="4"/>
            <a:r>
              <a:rPr lang="en-US"/>
              <a:t>list[5] = list[3] + list[6];</a:t>
            </a:r>
          </a:p>
        </p:txBody>
      </p:sp>
      <p:pic>
        <p:nvPicPr>
          <p:cNvPr id="6" name="Picture 5">
            <a:extLst>
              <a:ext uri="{FF2B5EF4-FFF2-40B4-BE49-F238E27FC236}">
                <a16:creationId xmlns="" xmlns:a16="http://schemas.microsoft.com/office/drawing/2014/main" id="{952F0170-4132-4A87-9D57-9CDAF1E7EF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86" y="650062"/>
            <a:ext cx="6078239" cy="908383"/>
          </a:xfrm>
          <a:prstGeom prst="rect">
            <a:avLst/>
          </a:prstGeom>
        </p:spPr>
      </p:pic>
      <p:pic>
        <p:nvPicPr>
          <p:cNvPr id="8" name="Picture 7">
            <a:extLst>
              <a:ext uri="{FF2B5EF4-FFF2-40B4-BE49-F238E27FC236}">
                <a16:creationId xmlns="" xmlns:a16="http://schemas.microsoft.com/office/drawing/2014/main" id="{74DDF506-C567-4A7C-AEEE-B7CEDB8B4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86" y="2933911"/>
            <a:ext cx="6078239" cy="908383"/>
          </a:xfrm>
          <a:prstGeom prst="rect">
            <a:avLst/>
          </a:prstGeom>
        </p:spPr>
      </p:pic>
      <p:pic>
        <p:nvPicPr>
          <p:cNvPr id="10" name="Picture 9">
            <a:extLst>
              <a:ext uri="{FF2B5EF4-FFF2-40B4-BE49-F238E27FC236}">
                <a16:creationId xmlns="" xmlns:a16="http://schemas.microsoft.com/office/drawing/2014/main" id="{0374F2CB-7A3B-4177-A0E7-1A91947C8D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8138" y="5313479"/>
            <a:ext cx="6084335" cy="908383"/>
          </a:xfrm>
          <a:prstGeom prst="rect">
            <a:avLst/>
          </a:prstGeom>
        </p:spPr>
      </p:pic>
      <p:sp>
        <p:nvSpPr>
          <p:cNvPr id="2" name="Footer Placeholder 1">
            <a:extLst>
              <a:ext uri="{FF2B5EF4-FFF2-40B4-BE49-F238E27FC236}">
                <a16:creationId xmlns="" xmlns:a16="http://schemas.microsoft.com/office/drawing/2014/main" id="{2649D95F-5869-45E7-9DF8-7B2E61EBDCE7}"/>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317215D6-E8BA-4139-8646-ECC26E200347}"/>
              </a:ext>
            </a:extLst>
          </p:cNvPr>
          <p:cNvSpPr>
            <a:spLocks noGrp="1"/>
          </p:cNvSpPr>
          <p:nvPr>
            <p:ph type="sldNum" sz="quarter" idx="12"/>
          </p:nvPr>
        </p:nvSpPr>
        <p:spPr/>
        <p:txBody>
          <a:bodyPr/>
          <a:lstStyle/>
          <a:p>
            <a:fld id="{B09C6C27-D58C-4EFE-B9E3-C62B6FE31098}" type="slidenum">
              <a:rPr lang="en-US" smtClean="0"/>
              <a:t>13</a:t>
            </a:fld>
            <a:endParaRPr lang="en-US"/>
          </a:p>
        </p:txBody>
      </p:sp>
    </p:spTree>
    <p:extLst>
      <p:ext uri="{BB962C8B-B14F-4D97-AF65-F5344CB8AC3E}">
        <p14:creationId xmlns:p14="http://schemas.microsoft.com/office/powerpoint/2010/main" val="1080301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6641480-BF51-4B95-BB4D-BFC0602AC508}"/>
              </a:ext>
            </a:extLst>
          </p:cNvPr>
          <p:cNvSpPr>
            <a:spLocks noGrp="1"/>
          </p:cNvSpPr>
          <p:nvPr>
            <p:ph type="title"/>
          </p:nvPr>
        </p:nvSpPr>
        <p:spPr/>
        <p:txBody>
          <a:bodyPr/>
          <a:lstStyle/>
          <a:p>
            <a:r>
              <a:rPr lang="en-US"/>
              <a:t>Nội dung</a:t>
            </a:r>
          </a:p>
        </p:txBody>
      </p:sp>
      <p:sp>
        <p:nvSpPr>
          <p:cNvPr id="5" name="Content Placeholder 4">
            <a:extLst>
              <a:ext uri="{FF2B5EF4-FFF2-40B4-BE49-F238E27FC236}">
                <a16:creationId xmlns="" xmlns:a16="http://schemas.microsoft.com/office/drawing/2014/main" id="{146458E1-74EE-413C-9BFE-9F4477B48504}"/>
              </a:ext>
            </a:extLst>
          </p:cNvPr>
          <p:cNvSpPr>
            <a:spLocks noGrp="1"/>
          </p:cNvSpPr>
          <p:nvPr>
            <p:ph idx="1"/>
          </p:nvPr>
        </p:nvSpPr>
        <p:spPr/>
        <p:txBody>
          <a:bodyPr/>
          <a:lstStyle/>
          <a:p>
            <a:r>
              <a:rPr lang="en-US">
                <a:solidFill>
                  <a:schemeClr val="tx1">
                    <a:lumMod val="50000"/>
                    <a:lumOff val="50000"/>
                  </a:schemeClr>
                </a:solidFill>
              </a:rPr>
              <a:t>Mảng</a:t>
            </a:r>
          </a:p>
          <a:p>
            <a:r>
              <a:rPr lang="en-US"/>
              <a:t>Các thao tác trên mảng</a:t>
            </a:r>
          </a:p>
          <a:p>
            <a:pPr lvl="1"/>
            <a:r>
              <a:rPr lang="en-US"/>
              <a:t>Nhập/Xuất</a:t>
            </a:r>
          </a:p>
          <a:p>
            <a:pPr lvl="1"/>
            <a:r>
              <a:rPr lang="en-US"/>
              <a:t>Tính tổng và trung bình</a:t>
            </a:r>
          </a:p>
          <a:p>
            <a:pPr lvl="1"/>
            <a:r>
              <a:rPr lang="en-US"/>
              <a:t>Tìm kiếm</a:t>
            </a:r>
          </a:p>
          <a:p>
            <a:pPr lvl="1"/>
            <a:r>
              <a:rPr lang="en-US"/>
              <a:t>Tìm phần tử lớn nhất/nhỏ nhất</a:t>
            </a:r>
          </a:p>
          <a:p>
            <a:r>
              <a:rPr lang="en-US">
                <a:solidFill>
                  <a:schemeClr val="tx1">
                    <a:lumMod val="50000"/>
                    <a:lumOff val="50000"/>
                  </a:schemeClr>
                </a:solidFill>
              </a:rPr>
              <a:t>Một số l</a:t>
            </a:r>
            <a:r>
              <a:rPr lang="vi-VN">
                <a:solidFill>
                  <a:schemeClr val="tx1">
                    <a:lumMod val="50000"/>
                    <a:lumOff val="50000"/>
                  </a:schemeClr>
                </a:solidFill>
              </a:rPr>
              <a:t>ư</a:t>
            </a:r>
            <a:r>
              <a:rPr lang="en-US">
                <a:solidFill>
                  <a:schemeClr val="tx1">
                    <a:lumMod val="50000"/>
                    <a:lumOff val="50000"/>
                  </a:schemeClr>
                </a:solidFill>
              </a:rPr>
              <a:t>u ý</a:t>
            </a:r>
          </a:p>
          <a:p>
            <a:r>
              <a:rPr lang="en-US">
                <a:solidFill>
                  <a:schemeClr val="tx1">
                    <a:lumMod val="50000"/>
                    <a:lumOff val="50000"/>
                  </a:schemeClr>
                </a:solidFill>
              </a:rPr>
              <a:t>Truyền mảng cho hàm</a:t>
            </a:r>
          </a:p>
        </p:txBody>
      </p:sp>
      <p:sp>
        <p:nvSpPr>
          <p:cNvPr id="2" name="Footer Placeholder 1">
            <a:extLst>
              <a:ext uri="{FF2B5EF4-FFF2-40B4-BE49-F238E27FC236}">
                <a16:creationId xmlns="" xmlns:a16="http://schemas.microsoft.com/office/drawing/2014/main" id="{948F9C34-B34A-4F4B-AB10-41233EEAAE7C}"/>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DBA76984-2B39-4857-B4F8-4E2709DB81BC}"/>
              </a:ext>
            </a:extLst>
          </p:cNvPr>
          <p:cNvSpPr>
            <a:spLocks noGrp="1"/>
          </p:cNvSpPr>
          <p:nvPr>
            <p:ph type="sldNum" sz="quarter" idx="12"/>
          </p:nvPr>
        </p:nvSpPr>
        <p:spPr/>
        <p:txBody>
          <a:bodyPr/>
          <a:lstStyle/>
          <a:p>
            <a:fld id="{B09C6C27-D58C-4EFE-B9E3-C62B6FE31098}" type="slidenum">
              <a:rPr lang="en-US" smtClean="0"/>
              <a:t>14</a:t>
            </a:fld>
            <a:endParaRPr lang="en-US"/>
          </a:p>
        </p:txBody>
      </p:sp>
    </p:spTree>
    <p:extLst>
      <p:ext uri="{BB962C8B-B14F-4D97-AF65-F5344CB8AC3E}">
        <p14:creationId xmlns:p14="http://schemas.microsoft.com/office/powerpoint/2010/main" val="349700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A4697C50-016D-416B-998A-336D1646481A}"/>
              </a:ext>
            </a:extLst>
          </p:cNvPr>
          <p:cNvSpPr>
            <a:spLocks noGrp="1"/>
          </p:cNvSpPr>
          <p:nvPr>
            <p:ph type="title"/>
          </p:nvPr>
        </p:nvSpPr>
        <p:spPr/>
        <p:txBody>
          <a:bodyPr/>
          <a:lstStyle/>
          <a:p>
            <a:r>
              <a:rPr lang="en-US"/>
              <a:t>Các thao tác trên mảng</a:t>
            </a:r>
          </a:p>
        </p:txBody>
      </p:sp>
      <p:sp>
        <p:nvSpPr>
          <p:cNvPr id="5" name="Content Placeholder 4">
            <a:extLst>
              <a:ext uri="{FF2B5EF4-FFF2-40B4-BE49-F238E27FC236}">
                <a16:creationId xmlns="" xmlns:a16="http://schemas.microsoft.com/office/drawing/2014/main" id="{2A0A4A2D-2DA7-4C81-9DEF-A601FDD17EE5}"/>
              </a:ext>
            </a:extLst>
          </p:cNvPr>
          <p:cNvSpPr>
            <a:spLocks noGrp="1"/>
          </p:cNvSpPr>
          <p:nvPr>
            <p:ph idx="1"/>
          </p:nvPr>
        </p:nvSpPr>
        <p:spPr/>
        <p:txBody>
          <a:bodyPr/>
          <a:lstStyle/>
          <a:p>
            <a:r>
              <a:rPr lang="vi-VN"/>
              <a:t>Các thao tác thường gặp trên mảng gồm:</a:t>
            </a:r>
          </a:p>
          <a:p>
            <a:pPr lvl="1"/>
            <a:r>
              <a:rPr lang="vi-VN"/>
              <a:t>Nhập và in dữ liệu</a:t>
            </a:r>
          </a:p>
          <a:p>
            <a:pPr lvl="1"/>
            <a:r>
              <a:rPr lang="vi-VN"/>
              <a:t>Tìm một giá trị, tìm giá trị nhỏ nhất, lớn nhất</a:t>
            </a:r>
          </a:p>
          <a:p>
            <a:pPr lvl="1"/>
            <a:r>
              <a:rPr lang="vi-VN"/>
              <a:t>Tính tổng và giá trị trung bình</a:t>
            </a:r>
          </a:p>
          <a:p>
            <a:pPr lvl="1"/>
            <a:r>
              <a:rPr lang="vi-VN"/>
              <a:t>Thêm/Xóa</a:t>
            </a:r>
          </a:p>
          <a:p>
            <a:pPr lvl="1"/>
            <a:r>
              <a:rPr lang="vi-VN"/>
              <a:t>Sắp xếp tăng dần/giảm dần</a:t>
            </a:r>
          </a:p>
          <a:p>
            <a:pPr lvl="1"/>
            <a:r>
              <a:rPr lang="vi-VN"/>
              <a:t>...</a:t>
            </a:r>
          </a:p>
          <a:p>
            <a:r>
              <a:rPr lang="en-US"/>
              <a:t>Các thao tác này dùng vòng lặp để truy cập phần tử trong mảng.</a:t>
            </a:r>
          </a:p>
        </p:txBody>
      </p:sp>
      <p:sp>
        <p:nvSpPr>
          <p:cNvPr id="2" name="Footer Placeholder 1">
            <a:extLst>
              <a:ext uri="{FF2B5EF4-FFF2-40B4-BE49-F238E27FC236}">
                <a16:creationId xmlns="" xmlns:a16="http://schemas.microsoft.com/office/drawing/2014/main" id="{76D319D1-200E-49E4-A9A4-04A6F3151AB9}"/>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457B6177-A7B1-4CB6-9101-4B12B56E1133}"/>
              </a:ext>
            </a:extLst>
          </p:cNvPr>
          <p:cNvSpPr>
            <a:spLocks noGrp="1"/>
          </p:cNvSpPr>
          <p:nvPr>
            <p:ph type="sldNum" sz="quarter" idx="12"/>
          </p:nvPr>
        </p:nvSpPr>
        <p:spPr/>
        <p:txBody>
          <a:bodyPr/>
          <a:lstStyle/>
          <a:p>
            <a:fld id="{B09C6C27-D58C-4EFE-B9E3-C62B6FE31098}" type="slidenum">
              <a:rPr lang="en-US" smtClean="0"/>
              <a:t>15</a:t>
            </a:fld>
            <a:endParaRPr lang="en-US"/>
          </a:p>
        </p:txBody>
      </p:sp>
    </p:spTree>
    <p:extLst>
      <p:ext uri="{BB962C8B-B14F-4D97-AF65-F5344CB8AC3E}">
        <p14:creationId xmlns:p14="http://schemas.microsoft.com/office/powerpoint/2010/main" val="2748274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C72325-3BAB-464C-8709-4093561E8118}"/>
              </a:ext>
            </a:extLst>
          </p:cNvPr>
          <p:cNvSpPr>
            <a:spLocks noGrp="1"/>
          </p:cNvSpPr>
          <p:nvPr>
            <p:ph type="title"/>
          </p:nvPr>
        </p:nvSpPr>
        <p:spPr/>
        <p:txBody>
          <a:bodyPr/>
          <a:lstStyle/>
          <a:p>
            <a:r>
              <a:rPr lang="en-US"/>
              <a:t>Khởi tạo mảng</a:t>
            </a:r>
          </a:p>
        </p:txBody>
      </p:sp>
      <p:sp>
        <p:nvSpPr>
          <p:cNvPr id="3" name="Content Placeholder 2">
            <a:extLst>
              <a:ext uri="{FF2B5EF4-FFF2-40B4-BE49-F238E27FC236}">
                <a16:creationId xmlns="" xmlns:a16="http://schemas.microsoft.com/office/drawing/2014/main" id="{9DEAD8AE-63D6-4A67-8C7F-20EC1BA468DE}"/>
              </a:ext>
            </a:extLst>
          </p:cNvPr>
          <p:cNvSpPr>
            <a:spLocks noGrp="1"/>
          </p:cNvSpPr>
          <p:nvPr>
            <p:ph idx="1"/>
          </p:nvPr>
        </p:nvSpPr>
        <p:spPr/>
        <p:txBody>
          <a:bodyPr>
            <a:noAutofit/>
          </a:bodyPr>
          <a:lstStyle/>
          <a:p>
            <a:r>
              <a:rPr lang="vi-VN"/>
              <a:t>Chương trình khởi tạo mảng gồm 10 số 0, sau đó in mảng.</a:t>
            </a:r>
            <a:endParaRPr lang="en-US"/>
          </a:p>
          <a:p>
            <a:pPr lvl="4">
              <a:spcBef>
                <a:spcPts val="0"/>
              </a:spcBef>
              <a:spcAft>
                <a:spcPts val="0"/>
              </a:spcAft>
            </a:pPr>
            <a:r>
              <a:rPr lang="en-US" sz="2200">
                <a:solidFill>
                  <a:srgbClr val="808080"/>
                </a:solidFill>
                <a:latin typeface="Consolas" panose="020B0609020204030204" pitchFamily="49" charset="0"/>
              </a:rPr>
              <a:t>#include</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&lt;iostream&gt;</a:t>
            </a:r>
            <a:endParaRPr lang="en-US" sz="2200">
              <a:solidFill>
                <a:srgbClr val="000000"/>
              </a:solidFill>
              <a:latin typeface="Consolas" panose="020B0609020204030204" pitchFamily="49" charset="0"/>
            </a:endParaRPr>
          </a:p>
          <a:p>
            <a:pPr lvl="4">
              <a:spcBef>
                <a:spcPts val="0"/>
              </a:spcBef>
              <a:spcAft>
                <a:spcPts val="0"/>
              </a:spcAft>
            </a:pPr>
            <a:r>
              <a:rPr lang="en-US" sz="2200">
                <a:solidFill>
                  <a:srgbClr val="0000FF"/>
                </a:solidFill>
                <a:latin typeface="Consolas" panose="020B0609020204030204" pitchFamily="49" charset="0"/>
              </a:rPr>
              <a:t>using</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namespace</a:t>
            </a:r>
            <a:r>
              <a:rPr lang="en-US" sz="2200">
                <a:solidFill>
                  <a:srgbClr val="000000"/>
                </a:solidFill>
                <a:latin typeface="Consolas" panose="020B0609020204030204" pitchFamily="49" charset="0"/>
              </a:rPr>
              <a:t> std;</a:t>
            </a:r>
          </a:p>
          <a:p>
            <a:pPr lvl="4">
              <a:spcBef>
                <a:spcPts val="0"/>
              </a:spcBef>
              <a:spcAft>
                <a:spcPts val="0"/>
              </a:spcAft>
            </a:pPr>
            <a:endParaRPr lang="en-US" sz="2200">
              <a:solidFill>
                <a:srgbClr val="000000"/>
              </a:solidFill>
              <a:latin typeface="Consolas" panose="020B0609020204030204" pitchFamily="49" charset="0"/>
            </a:endParaRPr>
          </a:p>
          <a:p>
            <a:pPr lvl="4">
              <a:spcBef>
                <a:spcPts val="0"/>
              </a:spcBef>
              <a:spcAft>
                <a:spcPts val="0"/>
              </a:spcAft>
            </a:pP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main()</a:t>
            </a:r>
          </a:p>
          <a:p>
            <a:pPr lvl="4">
              <a:spcBef>
                <a:spcPts val="0"/>
              </a:spcBef>
              <a:spcAft>
                <a:spcPts val="0"/>
              </a:spcAft>
            </a:pP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const</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MAXSIZE = 10;</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a[MAXSIZE];</a:t>
            </a:r>
          </a:p>
          <a:p>
            <a:pPr lvl="4">
              <a:spcBef>
                <a:spcPts val="0"/>
              </a:spcBef>
              <a:spcAft>
                <a:spcPts val="0"/>
              </a:spcAft>
            </a:pPr>
            <a:endParaRPr lang="en-US" sz="2200">
              <a:solidFill>
                <a:srgbClr val="000000"/>
              </a:solidFill>
              <a:latin typeface="Consolas" panose="020B0609020204030204" pitchFamily="49" charset="0"/>
            </a:endParaRPr>
          </a:p>
          <a:p>
            <a:pPr lvl="4">
              <a:spcBef>
                <a:spcPts val="0"/>
              </a:spcBef>
              <a:spcAft>
                <a:spcPts val="0"/>
              </a:spcAft>
            </a:pP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for</a:t>
            </a: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int</a:t>
            </a:r>
            <a:r>
              <a:rPr lang="nn-NO" sz="2200">
                <a:solidFill>
                  <a:srgbClr val="000000"/>
                </a:solidFill>
                <a:latin typeface="Consolas" panose="020B0609020204030204" pitchFamily="49" charset="0"/>
              </a:rPr>
              <a:t> i = 0; i &lt;= MAXSIZE - 1; i++)</a:t>
            </a:r>
          </a:p>
          <a:p>
            <a:pPr lvl="4">
              <a:spcBef>
                <a:spcPts val="0"/>
              </a:spcBef>
              <a:spcAft>
                <a:spcPts val="0"/>
              </a:spcAft>
            </a:pPr>
            <a:r>
              <a:rPr lang="en-US" sz="2200">
                <a:solidFill>
                  <a:srgbClr val="000000"/>
                </a:solidFill>
                <a:latin typeface="Consolas" panose="020B0609020204030204" pitchFamily="49" charset="0"/>
              </a:rPr>
              <a:t>        a[i] = 0;</a:t>
            </a:r>
          </a:p>
          <a:p>
            <a:pPr lvl="4">
              <a:spcBef>
                <a:spcPts val="0"/>
              </a:spcBef>
              <a:spcAft>
                <a:spcPts val="0"/>
              </a:spcAft>
            </a:pPr>
            <a:r>
              <a:rPr lang="nn-NO" sz="2200">
                <a:solidFill>
                  <a:srgbClr val="000000"/>
                </a:solidFill>
                <a:latin typeface="Consolas" panose="020B0609020204030204" pitchFamily="49" charset="0"/>
              </a:rPr>
              <a:t>    </a:t>
            </a:r>
          </a:p>
          <a:p>
            <a:pPr lvl="4">
              <a:spcBef>
                <a:spcPts val="0"/>
              </a:spcBef>
              <a:spcAft>
                <a:spcPts val="0"/>
              </a:spcAft>
            </a:pPr>
            <a:r>
              <a:rPr lang="nn-NO" sz="2200">
                <a:solidFill>
                  <a:srgbClr val="000000"/>
                </a:solidFill>
              </a:rPr>
              <a:t>    </a:t>
            </a:r>
            <a:r>
              <a:rPr lang="nn-NO" sz="2200">
                <a:solidFill>
                  <a:srgbClr val="0000FF"/>
                </a:solidFill>
                <a:latin typeface="Consolas" panose="020B0609020204030204" pitchFamily="49" charset="0"/>
              </a:rPr>
              <a:t>for</a:t>
            </a: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int</a:t>
            </a:r>
            <a:r>
              <a:rPr lang="nn-NO" sz="2200">
                <a:solidFill>
                  <a:srgbClr val="000000"/>
                </a:solidFill>
                <a:latin typeface="Consolas" panose="020B0609020204030204" pitchFamily="49" charset="0"/>
              </a:rPr>
              <a:t> i = 0; i &lt;= MAXSIZE - 1; i++)</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a[i]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 "</a:t>
            </a: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endl;</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return</a:t>
            </a:r>
            <a:r>
              <a:rPr lang="en-US" sz="2200">
                <a:solidFill>
                  <a:srgbClr val="000000"/>
                </a:solidFill>
                <a:latin typeface="Consolas" panose="020B0609020204030204" pitchFamily="49" charset="0"/>
              </a:rPr>
              <a:t> 0;</a:t>
            </a:r>
          </a:p>
          <a:p>
            <a:pPr lvl="4">
              <a:spcBef>
                <a:spcPts val="0"/>
              </a:spcBef>
              <a:spcAft>
                <a:spcPts val="0"/>
              </a:spcAft>
            </a:pPr>
            <a:r>
              <a:rPr lang="en-US" sz="2200">
                <a:solidFill>
                  <a:srgbClr val="000000"/>
                </a:solidFill>
                <a:latin typeface="Consolas" panose="020B0609020204030204" pitchFamily="49" charset="0"/>
              </a:rPr>
              <a:t>}</a:t>
            </a:r>
            <a:endParaRPr lang="en-US" sz="2200"/>
          </a:p>
        </p:txBody>
      </p:sp>
      <p:sp>
        <p:nvSpPr>
          <p:cNvPr id="4" name="Footer Placeholder 3">
            <a:extLst>
              <a:ext uri="{FF2B5EF4-FFF2-40B4-BE49-F238E27FC236}">
                <a16:creationId xmlns="" xmlns:a16="http://schemas.microsoft.com/office/drawing/2014/main" id="{ED1C891A-062E-4D61-9EA9-C4AA43DF52A8}"/>
              </a:ext>
            </a:extLst>
          </p:cNvPr>
          <p:cNvSpPr>
            <a:spLocks noGrp="1"/>
          </p:cNvSpPr>
          <p:nvPr>
            <p:ph type="ftr" sz="quarter" idx="11"/>
          </p:nvPr>
        </p:nvSpPr>
        <p:spPr/>
        <p:txBody>
          <a:bodyPr/>
          <a:lstStyle/>
          <a:p>
            <a:r>
              <a:rPr lang="vi-VN"/>
              <a:t>Cơ sở lập trình - Mảng</a:t>
            </a:r>
            <a:endParaRPr lang="en-US"/>
          </a:p>
        </p:txBody>
      </p:sp>
      <p:sp>
        <p:nvSpPr>
          <p:cNvPr id="5" name="Slide Number Placeholder 4">
            <a:extLst>
              <a:ext uri="{FF2B5EF4-FFF2-40B4-BE49-F238E27FC236}">
                <a16:creationId xmlns="" xmlns:a16="http://schemas.microsoft.com/office/drawing/2014/main" id="{6CE7C596-FCBD-4326-AAD2-D1646053BC4F}"/>
              </a:ext>
            </a:extLst>
          </p:cNvPr>
          <p:cNvSpPr>
            <a:spLocks noGrp="1"/>
          </p:cNvSpPr>
          <p:nvPr>
            <p:ph type="sldNum" sz="quarter" idx="12"/>
          </p:nvPr>
        </p:nvSpPr>
        <p:spPr/>
        <p:txBody>
          <a:bodyPr/>
          <a:lstStyle/>
          <a:p>
            <a:fld id="{B09C6C27-D58C-4EFE-B9E3-C62B6FE31098}" type="slidenum">
              <a:rPr lang="en-US" smtClean="0"/>
              <a:t>16</a:t>
            </a:fld>
            <a:endParaRPr lang="en-US"/>
          </a:p>
        </p:txBody>
      </p:sp>
    </p:spTree>
    <p:extLst>
      <p:ext uri="{BB962C8B-B14F-4D97-AF65-F5344CB8AC3E}">
        <p14:creationId xmlns:p14="http://schemas.microsoft.com/office/powerpoint/2010/main" val="191707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C72325-3BAB-464C-8709-4093561E8118}"/>
              </a:ext>
            </a:extLst>
          </p:cNvPr>
          <p:cNvSpPr>
            <a:spLocks noGrp="1"/>
          </p:cNvSpPr>
          <p:nvPr>
            <p:ph type="title"/>
          </p:nvPr>
        </p:nvSpPr>
        <p:spPr/>
        <p:txBody>
          <a:bodyPr/>
          <a:lstStyle/>
          <a:p>
            <a:r>
              <a:rPr lang="en-US"/>
              <a:t>Nhập/Xuất</a:t>
            </a:r>
          </a:p>
        </p:txBody>
      </p:sp>
      <p:sp>
        <p:nvSpPr>
          <p:cNvPr id="3" name="Content Placeholder 2">
            <a:extLst>
              <a:ext uri="{FF2B5EF4-FFF2-40B4-BE49-F238E27FC236}">
                <a16:creationId xmlns="" xmlns:a16="http://schemas.microsoft.com/office/drawing/2014/main" id="{9DEAD8AE-63D6-4A67-8C7F-20EC1BA468DE}"/>
              </a:ext>
            </a:extLst>
          </p:cNvPr>
          <p:cNvSpPr>
            <a:spLocks noGrp="1"/>
          </p:cNvSpPr>
          <p:nvPr>
            <p:ph idx="1"/>
          </p:nvPr>
        </p:nvSpPr>
        <p:spPr/>
        <p:txBody>
          <a:bodyPr>
            <a:noAutofit/>
          </a:bodyPr>
          <a:lstStyle/>
          <a:p>
            <a:r>
              <a:rPr lang="en-US"/>
              <a:t>Chương trình nhập mảng gồm 10 số, sau đó in ra mảng.</a:t>
            </a:r>
          </a:p>
          <a:p>
            <a:pPr lvl="4">
              <a:spcBef>
                <a:spcPts val="0"/>
              </a:spcBef>
              <a:spcAft>
                <a:spcPts val="0"/>
              </a:spcAft>
            </a:pPr>
            <a:r>
              <a:rPr lang="en-US" sz="2200">
                <a:solidFill>
                  <a:srgbClr val="808080"/>
                </a:solidFill>
                <a:latin typeface="Consolas" panose="020B0609020204030204" pitchFamily="49" charset="0"/>
              </a:rPr>
              <a:t>#include</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&lt;iostream&gt;</a:t>
            </a:r>
            <a:endParaRPr lang="en-US" sz="2200">
              <a:solidFill>
                <a:srgbClr val="000000"/>
              </a:solidFill>
              <a:latin typeface="Consolas" panose="020B0609020204030204" pitchFamily="49" charset="0"/>
            </a:endParaRPr>
          </a:p>
          <a:p>
            <a:pPr lvl="4">
              <a:spcBef>
                <a:spcPts val="0"/>
              </a:spcBef>
              <a:spcAft>
                <a:spcPts val="0"/>
              </a:spcAft>
            </a:pPr>
            <a:r>
              <a:rPr lang="en-US" sz="2200">
                <a:solidFill>
                  <a:srgbClr val="0000FF"/>
                </a:solidFill>
                <a:latin typeface="Consolas" panose="020B0609020204030204" pitchFamily="49" charset="0"/>
              </a:rPr>
              <a:t>using</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namespace</a:t>
            </a:r>
            <a:r>
              <a:rPr lang="en-US" sz="2200">
                <a:solidFill>
                  <a:srgbClr val="000000"/>
                </a:solidFill>
                <a:latin typeface="Consolas" panose="020B0609020204030204" pitchFamily="49" charset="0"/>
              </a:rPr>
              <a:t> std;</a:t>
            </a:r>
          </a:p>
          <a:p>
            <a:pPr lvl="4">
              <a:spcBef>
                <a:spcPts val="0"/>
              </a:spcBef>
              <a:spcAft>
                <a:spcPts val="0"/>
              </a:spcAft>
            </a:pPr>
            <a:endParaRPr lang="en-US" sz="2200">
              <a:solidFill>
                <a:srgbClr val="000000"/>
              </a:solidFill>
              <a:latin typeface="Consolas" panose="020B0609020204030204" pitchFamily="49" charset="0"/>
            </a:endParaRPr>
          </a:p>
          <a:p>
            <a:pPr lvl="4">
              <a:spcBef>
                <a:spcPts val="0"/>
              </a:spcBef>
              <a:spcAft>
                <a:spcPts val="0"/>
              </a:spcAft>
            </a:pP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main()</a:t>
            </a:r>
          </a:p>
          <a:p>
            <a:pPr lvl="4">
              <a:spcBef>
                <a:spcPts val="0"/>
              </a:spcBef>
              <a:spcAft>
                <a:spcPts val="0"/>
              </a:spcAft>
            </a:pP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const</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MAXSIZE = 10;</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a[MAXSIZE];</a:t>
            </a:r>
          </a:p>
          <a:p>
            <a:pPr lvl="4">
              <a:spcBef>
                <a:spcPts val="0"/>
              </a:spcBef>
              <a:spcAft>
                <a:spcPts val="0"/>
              </a:spcAft>
            </a:pPr>
            <a:endParaRPr lang="en-US" sz="2200">
              <a:solidFill>
                <a:srgbClr val="000000"/>
              </a:solidFill>
              <a:latin typeface="Consolas" panose="020B0609020204030204" pitchFamily="49" charset="0"/>
            </a:endParaRP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"Nhap "</a:t>
            </a:r>
            <a:r>
              <a:rPr lang="en-US" sz="2200">
                <a:solidFill>
                  <a:srgbClr val="000000"/>
                </a:solidFill>
                <a:latin typeface="Consolas" panose="020B0609020204030204" pitchFamily="49" charset="0"/>
              </a:rPr>
              <a: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MAXSIZE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 so double: "</a:t>
            </a:r>
            <a:r>
              <a:rPr lang="en-US" sz="2200">
                <a:solidFill>
                  <a:srgbClr val="000000"/>
                </a:solidFill>
                <a:latin typeface="Consolas" panose="020B0609020204030204" pitchFamily="49" charset="0"/>
              </a:rPr>
              <a:t>;</a:t>
            </a:r>
          </a:p>
          <a:p>
            <a:pPr lvl="4">
              <a:spcBef>
                <a:spcPts val="0"/>
              </a:spcBef>
              <a:spcAft>
                <a:spcPts val="0"/>
              </a:spcAft>
            </a:pP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for</a:t>
            </a: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int</a:t>
            </a:r>
            <a:r>
              <a:rPr lang="nn-NO" sz="2200">
                <a:solidFill>
                  <a:srgbClr val="000000"/>
                </a:solidFill>
                <a:latin typeface="Consolas" panose="020B0609020204030204" pitchFamily="49" charset="0"/>
              </a:rPr>
              <a:t> i = 0; i &lt;= MAXSIZE - 1; i++)</a:t>
            </a:r>
          </a:p>
          <a:p>
            <a:pPr lvl="4">
              <a:spcBef>
                <a:spcPts val="0"/>
              </a:spcBef>
              <a:spcAft>
                <a:spcPts val="0"/>
              </a:spcAft>
            </a:pPr>
            <a:r>
              <a:rPr lang="en-US" sz="2200">
                <a:solidFill>
                  <a:srgbClr val="000000"/>
                </a:solidFill>
                <a:latin typeface="Consolas" panose="020B0609020204030204" pitchFamily="49" charset="0"/>
              </a:rPr>
              <a:t>        cin </a:t>
            </a:r>
            <a:r>
              <a:rPr lang="en-US" sz="2200">
                <a:solidFill>
                  <a:srgbClr val="008080"/>
                </a:solidFill>
                <a:latin typeface="Consolas" panose="020B0609020204030204" pitchFamily="49" charset="0"/>
              </a:rPr>
              <a:t>&gt;&gt;</a:t>
            </a:r>
            <a:r>
              <a:rPr lang="en-US" sz="2200">
                <a:solidFill>
                  <a:srgbClr val="000000"/>
                </a:solidFill>
                <a:latin typeface="Consolas" panose="020B0609020204030204" pitchFamily="49" charset="0"/>
              </a:rPr>
              <a:t> a[i];</a:t>
            </a:r>
          </a:p>
          <a:p>
            <a:pPr lvl="4">
              <a:spcBef>
                <a:spcPts val="0"/>
              </a:spcBef>
              <a:spcAft>
                <a:spcPts val="0"/>
              </a:spcAft>
            </a:pPr>
            <a:endParaRPr lang="en-US" sz="2200">
              <a:solidFill>
                <a:srgbClr val="000000"/>
              </a:solidFill>
              <a:latin typeface="Consolas" panose="020B0609020204030204" pitchFamily="49" charset="0"/>
            </a:endParaRPr>
          </a:p>
          <a:p>
            <a:pPr lvl="4">
              <a:spcBef>
                <a:spcPts val="0"/>
              </a:spcBef>
              <a:spcAft>
                <a:spcPts val="0"/>
              </a:spcAft>
            </a:pP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for</a:t>
            </a: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int</a:t>
            </a:r>
            <a:r>
              <a:rPr lang="nn-NO" sz="2200">
                <a:solidFill>
                  <a:srgbClr val="000000"/>
                </a:solidFill>
                <a:latin typeface="Consolas" panose="020B0609020204030204" pitchFamily="49" charset="0"/>
              </a:rPr>
              <a:t> i = 0; i &lt;= MAXSIZE - 1; i++)</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a[i]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 "</a:t>
            </a: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endl;</a:t>
            </a:r>
          </a:p>
          <a:p>
            <a:pPr lvl="4">
              <a:spcBef>
                <a:spcPts val="0"/>
              </a:spcBef>
              <a:spcAft>
                <a:spcPts val="0"/>
              </a:spcAft>
            </a:pPr>
            <a:r>
              <a:rPr lang="en-US" sz="2200">
                <a:solidFill>
                  <a:srgbClr val="000000"/>
                </a:solidFill>
                <a:latin typeface="Consolas" panose="020B0609020204030204" pitchFamily="49" charset="0"/>
              </a:rPr>
              <a:t>}</a:t>
            </a:r>
            <a:endParaRPr lang="en-US" sz="2200"/>
          </a:p>
        </p:txBody>
      </p:sp>
      <p:sp>
        <p:nvSpPr>
          <p:cNvPr id="4" name="Footer Placeholder 3">
            <a:extLst>
              <a:ext uri="{FF2B5EF4-FFF2-40B4-BE49-F238E27FC236}">
                <a16:creationId xmlns="" xmlns:a16="http://schemas.microsoft.com/office/drawing/2014/main" id="{7CFD8C3E-FAF6-43C7-BE39-4CD74945A5D8}"/>
              </a:ext>
            </a:extLst>
          </p:cNvPr>
          <p:cNvSpPr>
            <a:spLocks noGrp="1"/>
          </p:cNvSpPr>
          <p:nvPr>
            <p:ph type="ftr" sz="quarter" idx="11"/>
          </p:nvPr>
        </p:nvSpPr>
        <p:spPr/>
        <p:txBody>
          <a:bodyPr/>
          <a:lstStyle/>
          <a:p>
            <a:r>
              <a:rPr lang="vi-VN"/>
              <a:t>Cơ sở lập trình - Mảng</a:t>
            </a:r>
            <a:endParaRPr lang="en-US"/>
          </a:p>
        </p:txBody>
      </p:sp>
      <p:sp>
        <p:nvSpPr>
          <p:cNvPr id="5" name="Slide Number Placeholder 4">
            <a:extLst>
              <a:ext uri="{FF2B5EF4-FFF2-40B4-BE49-F238E27FC236}">
                <a16:creationId xmlns="" xmlns:a16="http://schemas.microsoft.com/office/drawing/2014/main" id="{F54432EA-1599-4F7A-8AFF-4CFA252F2629}"/>
              </a:ext>
            </a:extLst>
          </p:cNvPr>
          <p:cNvSpPr>
            <a:spLocks noGrp="1"/>
          </p:cNvSpPr>
          <p:nvPr>
            <p:ph type="sldNum" sz="quarter" idx="12"/>
          </p:nvPr>
        </p:nvSpPr>
        <p:spPr/>
        <p:txBody>
          <a:bodyPr/>
          <a:lstStyle/>
          <a:p>
            <a:fld id="{B09C6C27-D58C-4EFE-B9E3-C62B6FE31098}" type="slidenum">
              <a:rPr lang="en-US" smtClean="0"/>
              <a:t>17</a:t>
            </a:fld>
            <a:endParaRPr lang="en-US"/>
          </a:p>
        </p:txBody>
      </p:sp>
    </p:spTree>
    <p:extLst>
      <p:ext uri="{BB962C8B-B14F-4D97-AF65-F5344CB8AC3E}">
        <p14:creationId xmlns:p14="http://schemas.microsoft.com/office/powerpoint/2010/main" val="4280847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21EECC-2E25-47FE-AC2D-3DC505C72A98}"/>
              </a:ext>
            </a:extLst>
          </p:cNvPr>
          <p:cNvSpPr>
            <a:spLocks noGrp="1"/>
          </p:cNvSpPr>
          <p:nvPr>
            <p:ph type="title"/>
          </p:nvPr>
        </p:nvSpPr>
        <p:spPr/>
        <p:txBody>
          <a:bodyPr/>
          <a:lstStyle/>
          <a:p>
            <a:r>
              <a:rPr lang="en-US"/>
              <a:t>Tính tổng và trung bình</a:t>
            </a:r>
          </a:p>
        </p:txBody>
      </p:sp>
      <p:sp>
        <p:nvSpPr>
          <p:cNvPr id="3" name="Content Placeholder 2">
            <a:extLst>
              <a:ext uri="{FF2B5EF4-FFF2-40B4-BE49-F238E27FC236}">
                <a16:creationId xmlns="" xmlns:a16="http://schemas.microsoft.com/office/drawing/2014/main" id="{53DE0D38-8B8E-498D-8F48-F97C9445779D}"/>
              </a:ext>
            </a:extLst>
          </p:cNvPr>
          <p:cNvSpPr>
            <a:spLocks noGrp="1"/>
          </p:cNvSpPr>
          <p:nvPr>
            <p:ph idx="1"/>
          </p:nvPr>
        </p:nvSpPr>
        <p:spPr>
          <a:xfrm>
            <a:off x="320040" y="1094642"/>
            <a:ext cx="8715472" cy="5394960"/>
          </a:xfrm>
        </p:spPr>
        <p:txBody>
          <a:bodyPr>
            <a:noAutofit/>
          </a:bodyPr>
          <a:lstStyle/>
          <a:p>
            <a:r>
              <a:rPr lang="vi-VN"/>
              <a:t>Chương trình tính tổng và trung bình các phần tử trong mảng.</a:t>
            </a:r>
            <a:endParaRPr lang="en-US"/>
          </a:p>
          <a:p>
            <a:pPr lvl="4">
              <a:spcBef>
                <a:spcPts val="0"/>
              </a:spcBef>
              <a:spcAft>
                <a:spcPts val="0"/>
              </a:spcAft>
            </a:pPr>
            <a:r>
              <a:rPr lang="en-US" sz="2200">
                <a:solidFill>
                  <a:srgbClr val="808080"/>
                </a:solidFill>
                <a:latin typeface="Consolas" panose="020B0609020204030204" pitchFamily="49" charset="0"/>
              </a:rPr>
              <a:t>#include</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&lt;iostream&gt;</a:t>
            </a:r>
            <a:endParaRPr lang="en-US" sz="2200">
              <a:solidFill>
                <a:srgbClr val="000000"/>
              </a:solidFill>
              <a:latin typeface="Consolas" panose="020B0609020204030204" pitchFamily="49" charset="0"/>
            </a:endParaRPr>
          </a:p>
          <a:p>
            <a:pPr lvl="4">
              <a:spcBef>
                <a:spcPts val="0"/>
              </a:spcBef>
              <a:spcAft>
                <a:spcPts val="0"/>
              </a:spcAft>
            </a:pPr>
            <a:r>
              <a:rPr lang="en-US" sz="2200">
                <a:solidFill>
                  <a:srgbClr val="0000FF"/>
                </a:solidFill>
                <a:latin typeface="Consolas" panose="020B0609020204030204" pitchFamily="49" charset="0"/>
              </a:rPr>
              <a:t>using</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namespace</a:t>
            </a:r>
            <a:r>
              <a:rPr lang="en-US" sz="2200">
                <a:solidFill>
                  <a:srgbClr val="000000"/>
                </a:solidFill>
                <a:latin typeface="Consolas" panose="020B0609020204030204" pitchFamily="49" charset="0"/>
              </a:rPr>
              <a:t> std;</a:t>
            </a:r>
          </a:p>
          <a:p>
            <a:pPr lvl="4">
              <a:spcBef>
                <a:spcPts val="0"/>
              </a:spcBef>
              <a:spcAft>
                <a:spcPts val="0"/>
              </a:spcAft>
            </a:pPr>
            <a:endParaRPr lang="en-US" sz="2200">
              <a:solidFill>
                <a:srgbClr val="000000"/>
              </a:solidFill>
              <a:latin typeface="Consolas" panose="020B0609020204030204" pitchFamily="49" charset="0"/>
            </a:endParaRPr>
          </a:p>
          <a:p>
            <a:pPr lvl="4">
              <a:spcBef>
                <a:spcPts val="0"/>
              </a:spcBef>
              <a:spcAft>
                <a:spcPts val="0"/>
              </a:spcAft>
            </a:pP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main()</a:t>
            </a:r>
          </a:p>
          <a:p>
            <a:pPr lvl="4">
              <a:spcBef>
                <a:spcPts val="0"/>
              </a:spcBef>
              <a:spcAft>
                <a:spcPts val="0"/>
              </a:spcAft>
            </a:pP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a[] = { 8, 6, 7, 1, 4, 2, 3, 10, 9, 5 };</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n = </a:t>
            </a:r>
            <a:r>
              <a:rPr lang="en-US" sz="2200">
                <a:solidFill>
                  <a:srgbClr val="0000FF"/>
                </a:solidFill>
                <a:latin typeface="Consolas" panose="020B0609020204030204" pitchFamily="49" charset="0"/>
              </a:rPr>
              <a:t>sizeof</a:t>
            </a:r>
            <a:r>
              <a:rPr lang="en-US" sz="2200">
                <a:solidFill>
                  <a:srgbClr val="000000"/>
                </a:solidFill>
                <a:latin typeface="Consolas" panose="020B0609020204030204" pitchFamily="49" charset="0"/>
              </a:rPr>
              <a:t>(a) / </a:t>
            </a:r>
            <a:r>
              <a:rPr lang="en-US" sz="2200">
                <a:solidFill>
                  <a:srgbClr val="0000FF"/>
                </a:solidFill>
                <a:latin typeface="Consolas" panose="020B0609020204030204" pitchFamily="49" charset="0"/>
              </a:rPr>
              <a:t>sizeof</a:t>
            </a:r>
            <a:r>
              <a:rPr lang="en-US" sz="2200">
                <a:solidFill>
                  <a:srgbClr val="000000"/>
                </a:solidFill>
                <a:latin typeface="Consolas" panose="020B0609020204030204" pitchFamily="49" charset="0"/>
              </a:rPr>
              <a:t>(a[0]);</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"\nCac gia tri trong mang:"</a:t>
            </a:r>
            <a:r>
              <a:rPr lang="en-US" sz="2200">
                <a:solidFill>
                  <a:srgbClr val="000000"/>
                </a:solidFill>
                <a:latin typeface="Consolas" panose="020B0609020204030204" pitchFamily="49" charset="0"/>
              </a:rPr>
              <a: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endl;</a:t>
            </a:r>
          </a:p>
          <a:p>
            <a:pPr lvl="4">
              <a:spcBef>
                <a:spcPts val="0"/>
              </a:spcBef>
              <a:spcAft>
                <a:spcPts val="0"/>
              </a:spcAft>
            </a:pP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for</a:t>
            </a: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int</a:t>
            </a:r>
            <a:r>
              <a:rPr lang="nn-NO" sz="2200">
                <a:solidFill>
                  <a:srgbClr val="000000"/>
                </a:solidFill>
                <a:latin typeface="Consolas" panose="020B0609020204030204" pitchFamily="49" charset="0"/>
              </a:rPr>
              <a:t> i = 0; i &lt;= n - 1; i++)</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a[i]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 "</a:t>
            </a: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double</a:t>
            </a:r>
            <a:r>
              <a:rPr lang="en-US" sz="2200">
                <a:solidFill>
                  <a:srgbClr val="000000"/>
                </a:solidFill>
                <a:latin typeface="Consolas" panose="020B0609020204030204" pitchFamily="49" charset="0"/>
              </a:rPr>
              <a:t> tong = 0;</a:t>
            </a:r>
          </a:p>
          <a:p>
            <a:pPr lvl="4">
              <a:spcBef>
                <a:spcPts val="0"/>
              </a:spcBef>
              <a:spcAft>
                <a:spcPts val="0"/>
              </a:spcAft>
            </a:pP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for</a:t>
            </a: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int</a:t>
            </a:r>
            <a:r>
              <a:rPr lang="nn-NO" sz="2200">
                <a:solidFill>
                  <a:srgbClr val="000000"/>
                </a:solidFill>
                <a:latin typeface="Consolas" panose="020B0609020204030204" pitchFamily="49" charset="0"/>
              </a:rPr>
              <a:t> i = 0; i &lt;= n - 1; i++)</a:t>
            </a:r>
          </a:p>
          <a:p>
            <a:pPr lvl="4">
              <a:spcBef>
                <a:spcPts val="0"/>
              </a:spcBef>
              <a:spcAft>
                <a:spcPts val="0"/>
              </a:spcAft>
            </a:pPr>
            <a:r>
              <a:rPr lang="en-US" sz="2200">
                <a:solidFill>
                  <a:srgbClr val="000000"/>
                </a:solidFill>
                <a:latin typeface="Consolas" panose="020B0609020204030204" pitchFamily="49" charset="0"/>
              </a:rPr>
              <a:t>        tong += a[i];</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"\nTong = "</a:t>
            </a:r>
            <a:r>
              <a:rPr lang="en-US" sz="2200">
                <a:solidFill>
                  <a:srgbClr val="000000"/>
                </a:solidFill>
                <a:latin typeface="Consolas" panose="020B0609020204030204" pitchFamily="49" charset="0"/>
              </a:rPr>
              <a: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tong;</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"\nTrung binh = "</a:t>
            </a:r>
            <a:r>
              <a:rPr lang="en-US" sz="2200">
                <a:solidFill>
                  <a:srgbClr val="000000"/>
                </a:solidFill>
                <a:latin typeface="Consolas" panose="020B0609020204030204" pitchFamily="49" charset="0"/>
              </a:rPr>
              <a: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tong / n;</a:t>
            </a:r>
          </a:p>
          <a:p>
            <a:pPr lvl="4">
              <a:spcBef>
                <a:spcPts val="0"/>
              </a:spcBef>
              <a:spcAft>
                <a:spcPts val="0"/>
              </a:spcAft>
            </a:pPr>
            <a:r>
              <a:rPr lang="en-US" sz="2200">
                <a:solidFill>
                  <a:srgbClr val="000000"/>
                </a:solidFill>
                <a:latin typeface="Consolas" panose="020B0609020204030204" pitchFamily="49" charset="0"/>
              </a:rPr>
              <a:t>}</a:t>
            </a:r>
            <a:endParaRPr lang="en-US" sz="2200"/>
          </a:p>
        </p:txBody>
      </p:sp>
      <p:sp>
        <p:nvSpPr>
          <p:cNvPr id="4" name="Footer Placeholder 3">
            <a:extLst>
              <a:ext uri="{FF2B5EF4-FFF2-40B4-BE49-F238E27FC236}">
                <a16:creationId xmlns="" xmlns:a16="http://schemas.microsoft.com/office/drawing/2014/main" id="{3E65B895-ED6E-4FF1-9ACB-EAEFD5B58377}"/>
              </a:ext>
            </a:extLst>
          </p:cNvPr>
          <p:cNvSpPr>
            <a:spLocks noGrp="1"/>
          </p:cNvSpPr>
          <p:nvPr>
            <p:ph type="ftr" sz="quarter" idx="11"/>
          </p:nvPr>
        </p:nvSpPr>
        <p:spPr/>
        <p:txBody>
          <a:bodyPr/>
          <a:lstStyle/>
          <a:p>
            <a:r>
              <a:rPr lang="vi-VN"/>
              <a:t>Cơ sở lập trình - Mảng</a:t>
            </a:r>
            <a:endParaRPr lang="en-US"/>
          </a:p>
        </p:txBody>
      </p:sp>
      <p:sp>
        <p:nvSpPr>
          <p:cNvPr id="5" name="Slide Number Placeholder 4">
            <a:extLst>
              <a:ext uri="{FF2B5EF4-FFF2-40B4-BE49-F238E27FC236}">
                <a16:creationId xmlns="" xmlns:a16="http://schemas.microsoft.com/office/drawing/2014/main" id="{C9B23499-638A-4020-9E36-58694319155B}"/>
              </a:ext>
            </a:extLst>
          </p:cNvPr>
          <p:cNvSpPr>
            <a:spLocks noGrp="1"/>
          </p:cNvSpPr>
          <p:nvPr>
            <p:ph type="sldNum" sz="quarter" idx="12"/>
          </p:nvPr>
        </p:nvSpPr>
        <p:spPr/>
        <p:txBody>
          <a:bodyPr/>
          <a:lstStyle/>
          <a:p>
            <a:fld id="{B09C6C27-D58C-4EFE-B9E3-C62B6FE31098}" type="slidenum">
              <a:rPr lang="en-US" smtClean="0"/>
              <a:t>18</a:t>
            </a:fld>
            <a:endParaRPr lang="en-US"/>
          </a:p>
        </p:txBody>
      </p:sp>
    </p:spTree>
    <p:extLst>
      <p:ext uri="{BB962C8B-B14F-4D97-AF65-F5344CB8AC3E}">
        <p14:creationId xmlns:p14="http://schemas.microsoft.com/office/powerpoint/2010/main" val="2109505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FCB869-2961-43B5-8BE0-8C6EBBF0EF32}"/>
              </a:ext>
            </a:extLst>
          </p:cNvPr>
          <p:cNvSpPr>
            <a:spLocks noGrp="1"/>
          </p:cNvSpPr>
          <p:nvPr>
            <p:ph type="title"/>
          </p:nvPr>
        </p:nvSpPr>
        <p:spPr/>
        <p:txBody>
          <a:bodyPr/>
          <a:lstStyle/>
          <a:p>
            <a:r>
              <a:rPr lang="en-US"/>
              <a:t>Tìm kiếm</a:t>
            </a:r>
          </a:p>
        </p:txBody>
      </p:sp>
      <p:sp>
        <p:nvSpPr>
          <p:cNvPr id="3" name="Content Placeholder 2">
            <a:extLst>
              <a:ext uri="{FF2B5EF4-FFF2-40B4-BE49-F238E27FC236}">
                <a16:creationId xmlns="" xmlns:a16="http://schemas.microsoft.com/office/drawing/2014/main" id="{CB2D6661-49F0-4414-B231-719C6A94504D}"/>
              </a:ext>
            </a:extLst>
          </p:cNvPr>
          <p:cNvSpPr>
            <a:spLocks noGrp="1"/>
          </p:cNvSpPr>
          <p:nvPr>
            <p:ph idx="1"/>
          </p:nvPr>
        </p:nvSpPr>
        <p:spPr/>
        <p:txBody>
          <a:bodyPr/>
          <a:lstStyle/>
          <a:p>
            <a:r>
              <a:rPr lang="vi-VN"/>
              <a:t>Chương trình tìm một giá trị trong mảng và in ra vị trí tìm thấy.</a:t>
            </a:r>
          </a:p>
          <a:p>
            <a:r>
              <a:rPr lang="vi-VN"/>
              <a:t>Ví dụ tìm 27 trong mảng gồm có 7 số nguyên:</a:t>
            </a:r>
          </a:p>
          <a:p>
            <a:endParaRPr lang="en-US"/>
          </a:p>
          <a:p>
            <a:endParaRPr lang="en-US"/>
          </a:p>
          <a:p>
            <a:endParaRPr lang="en-US"/>
          </a:p>
          <a:p>
            <a:r>
              <a:rPr lang="en-US"/>
              <a:t>Giải pháp: Tìm từ đầu cho đến cuối mảng:</a:t>
            </a:r>
          </a:p>
          <a:p>
            <a:pPr lvl="1"/>
            <a:r>
              <a:rPr lang="en-US"/>
              <a:t>So sánh 27 với a[0], a[1], a[2], ..., a[6].</a:t>
            </a:r>
          </a:p>
          <a:p>
            <a:pPr lvl="1"/>
            <a:r>
              <a:rPr lang="en-US"/>
              <a:t>Do a[2] == 27 nên quá trình tìm kiếm thành công, trả về vị trí 2.</a:t>
            </a:r>
          </a:p>
          <a:p>
            <a:endParaRPr lang="en-US"/>
          </a:p>
        </p:txBody>
      </p:sp>
      <p:pic>
        <p:nvPicPr>
          <p:cNvPr id="5" name="Picture 4">
            <a:extLst>
              <a:ext uri="{FF2B5EF4-FFF2-40B4-BE49-F238E27FC236}">
                <a16:creationId xmlns="" xmlns:a16="http://schemas.microsoft.com/office/drawing/2014/main" id="{5C81BCE2-0E05-4B04-858D-778AA4963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5649" y="2491056"/>
            <a:ext cx="4212701" cy="883997"/>
          </a:xfrm>
          <a:prstGeom prst="rect">
            <a:avLst/>
          </a:prstGeom>
        </p:spPr>
      </p:pic>
      <p:sp>
        <p:nvSpPr>
          <p:cNvPr id="4" name="Footer Placeholder 3">
            <a:extLst>
              <a:ext uri="{FF2B5EF4-FFF2-40B4-BE49-F238E27FC236}">
                <a16:creationId xmlns="" xmlns:a16="http://schemas.microsoft.com/office/drawing/2014/main" id="{F4C9F5D8-FE93-4898-917F-0CDFDA17B373}"/>
              </a:ext>
            </a:extLst>
          </p:cNvPr>
          <p:cNvSpPr>
            <a:spLocks noGrp="1"/>
          </p:cNvSpPr>
          <p:nvPr>
            <p:ph type="ftr" sz="quarter" idx="11"/>
          </p:nvPr>
        </p:nvSpPr>
        <p:spPr/>
        <p:txBody>
          <a:bodyPr/>
          <a:lstStyle/>
          <a:p>
            <a:r>
              <a:rPr lang="vi-VN"/>
              <a:t>Cơ sở lập trình - Mảng</a:t>
            </a:r>
            <a:endParaRPr lang="en-US"/>
          </a:p>
        </p:txBody>
      </p:sp>
      <p:sp>
        <p:nvSpPr>
          <p:cNvPr id="6" name="Slide Number Placeholder 5">
            <a:extLst>
              <a:ext uri="{FF2B5EF4-FFF2-40B4-BE49-F238E27FC236}">
                <a16:creationId xmlns="" xmlns:a16="http://schemas.microsoft.com/office/drawing/2014/main" id="{FB4C3A42-AB19-4731-9869-21C9EA9D4566}"/>
              </a:ext>
            </a:extLst>
          </p:cNvPr>
          <p:cNvSpPr>
            <a:spLocks noGrp="1"/>
          </p:cNvSpPr>
          <p:nvPr>
            <p:ph type="sldNum" sz="quarter" idx="12"/>
          </p:nvPr>
        </p:nvSpPr>
        <p:spPr/>
        <p:txBody>
          <a:bodyPr/>
          <a:lstStyle/>
          <a:p>
            <a:fld id="{B09C6C27-D58C-4EFE-B9E3-C62B6FE31098}" type="slidenum">
              <a:rPr lang="en-US" smtClean="0"/>
              <a:t>19</a:t>
            </a:fld>
            <a:endParaRPr lang="en-US"/>
          </a:p>
        </p:txBody>
      </p:sp>
    </p:spTree>
    <p:extLst>
      <p:ext uri="{BB962C8B-B14F-4D97-AF65-F5344CB8AC3E}">
        <p14:creationId xmlns:p14="http://schemas.microsoft.com/office/powerpoint/2010/main" val="2334446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6D05F564-D7C8-4692-A90C-794DB487DF12}"/>
              </a:ext>
            </a:extLst>
          </p:cNvPr>
          <p:cNvSpPr>
            <a:spLocks noGrp="1"/>
          </p:cNvSpPr>
          <p:nvPr>
            <p:ph idx="1"/>
          </p:nvPr>
        </p:nvSpPr>
        <p:spPr/>
        <p:txBody>
          <a:bodyPr/>
          <a:lstStyle/>
          <a:p>
            <a:r>
              <a:rPr lang="en-US"/>
              <a:t>Thuật giải tìm x trong mảng a có n phần tử:</a:t>
            </a:r>
          </a:p>
          <a:p>
            <a:pPr lvl="3">
              <a:tabLst>
                <a:tab pos="682625" algn="l"/>
                <a:tab pos="1146175" algn="l"/>
                <a:tab pos="1549400" algn="l"/>
              </a:tabLst>
            </a:pPr>
            <a:r>
              <a:rPr lang="en-US"/>
              <a:t>1.	vitri = 0</a:t>
            </a:r>
          </a:p>
          <a:p>
            <a:pPr lvl="3">
              <a:tabLst>
                <a:tab pos="682625" algn="l"/>
                <a:tab pos="1146175" algn="l"/>
                <a:tab pos="1549400" algn="l"/>
              </a:tabLst>
            </a:pPr>
            <a:r>
              <a:rPr lang="en-US"/>
              <a:t>2.	while (vitri &lt;= n-1 and a[vitri] != x)</a:t>
            </a:r>
          </a:p>
          <a:p>
            <a:pPr lvl="3">
              <a:tabLst>
                <a:tab pos="682625" algn="l"/>
                <a:tab pos="1146175" algn="l"/>
                <a:tab pos="1549400" algn="l"/>
              </a:tabLst>
            </a:pPr>
            <a:r>
              <a:rPr lang="en-US"/>
              <a:t>3.		vitri = vitri + 1</a:t>
            </a:r>
          </a:p>
          <a:p>
            <a:pPr lvl="3">
              <a:tabLst>
                <a:tab pos="682625" algn="l"/>
                <a:tab pos="1146175" algn="l"/>
                <a:tab pos="1549400" algn="l"/>
              </a:tabLst>
            </a:pPr>
            <a:r>
              <a:rPr lang="en-US"/>
              <a:t>4.	if (vitri &lt;= n-1)</a:t>
            </a:r>
          </a:p>
          <a:p>
            <a:pPr lvl="3">
              <a:tabLst>
                <a:tab pos="682625" algn="l"/>
                <a:tab pos="1146175" algn="l"/>
                <a:tab pos="1549400" algn="l"/>
              </a:tabLst>
            </a:pPr>
            <a:r>
              <a:rPr lang="en-US"/>
              <a:t>5.		print "tim thay tai vitri"</a:t>
            </a:r>
          </a:p>
          <a:p>
            <a:pPr lvl="3">
              <a:tabLst>
                <a:tab pos="682625" algn="l"/>
                <a:tab pos="1146175" algn="l"/>
                <a:tab pos="1549400" algn="l"/>
              </a:tabLst>
            </a:pPr>
            <a:r>
              <a:rPr lang="en-US"/>
              <a:t>6.	else print "khong tim thay"</a:t>
            </a:r>
          </a:p>
          <a:p>
            <a:endParaRPr lang="en-US"/>
          </a:p>
        </p:txBody>
      </p:sp>
      <p:sp>
        <p:nvSpPr>
          <p:cNvPr id="2" name="Footer Placeholder 1">
            <a:extLst>
              <a:ext uri="{FF2B5EF4-FFF2-40B4-BE49-F238E27FC236}">
                <a16:creationId xmlns="" xmlns:a16="http://schemas.microsoft.com/office/drawing/2014/main" id="{7BAEBDB4-D2A9-42E6-AD80-38251F3D79D1}"/>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7D85B00C-74D0-4F4C-B96A-76F2377855E7}"/>
              </a:ext>
            </a:extLst>
          </p:cNvPr>
          <p:cNvSpPr>
            <a:spLocks noGrp="1"/>
          </p:cNvSpPr>
          <p:nvPr>
            <p:ph type="sldNum" sz="quarter" idx="12"/>
          </p:nvPr>
        </p:nvSpPr>
        <p:spPr/>
        <p:txBody>
          <a:bodyPr/>
          <a:lstStyle/>
          <a:p>
            <a:fld id="{B09C6C27-D58C-4EFE-B9E3-C62B6FE31098}" type="slidenum">
              <a:rPr lang="en-US" smtClean="0"/>
              <a:t>20</a:t>
            </a:fld>
            <a:endParaRPr lang="en-US"/>
          </a:p>
        </p:txBody>
      </p:sp>
    </p:spTree>
    <p:extLst>
      <p:ext uri="{BB962C8B-B14F-4D97-AF65-F5344CB8AC3E}">
        <p14:creationId xmlns:p14="http://schemas.microsoft.com/office/powerpoint/2010/main" val="3039813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4C139E3A-923D-438F-B5D1-B81A248CC23C}"/>
              </a:ext>
            </a:extLst>
          </p:cNvPr>
          <p:cNvSpPr>
            <a:spLocks noGrp="1"/>
          </p:cNvSpPr>
          <p:nvPr>
            <p:ph type="body" sz="quarter" idx="13"/>
          </p:nvPr>
        </p:nvSpPr>
        <p:spPr>
          <a:xfrm>
            <a:off x="320039" y="341194"/>
            <a:ext cx="8668977" cy="6151046"/>
          </a:xfrm>
        </p:spPr>
        <p:txBody>
          <a:bodyPr>
            <a:noAutofit/>
          </a:bodyPr>
          <a:lstStyle/>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int</a:t>
            </a:r>
            <a:r>
              <a:rPr lang="en-US">
                <a:solidFill>
                  <a:srgbClr val="000000"/>
                </a:solidFill>
              </a:rPr>
              <a:t> a[] = { 35, 12, 27, 18, 45, 16, 38 };</a:t>
            </a:r>
          </a:p>
          <a:p>
            <a:r>
              <a:rPr lang="en-US">
                <a:solidFill>
                  <a:srgbClr val="000000"/>
                </a:solidFill>
              </a:rPr>
              <a:t>    </a:t>
            </a:r>
            <a:r>
              <a:rPr lang="en-US">
                <a:solidFill>
                  <a:srgbClr val="0000FF"/>
                </a:solidFill>
              </a:rPr>
              <a:t>int</a:t>
            </a:r>
            <a:r>
              <a:rPr lang="en-US">
                <a:solidFill>
                  <a:srgbClr val="000000"/>
                </a:solidFill>
              </a:rPr>
              <a:t> n = </a:t>
            </a:r>
            <a:r>
              <a:rPr lang="en-US">
                <a:solidFill>
                  <a:srgbClr val="0000FF"/>
                </a:solidFill>
              </a:rPr>
              <a:t>sizeof</a:t>
            </a:r>
            <a:r>
              <a:rPr lang="en-US">
                <a:solidFill>
                  <a:srgbClr val="000000"/>
                </a:solidFill>
              </a:rPr>
              <a:t>(a) / </a:t>
            </a:r>
            <a:r>
              <a:rPr lang="en-US">
                <a:solidFill>
                  <a:srgbClr val="0000FF"/>
                </a:solidFill>
              </a:rPr>
              <a:t>sizeof</a:t>
            </a:r>
            <a:r>
              <a:rPr lang="en-US">
                <a:solidFill>
                  <a:srgbClr val="000000"/>
                </a:solidFill>
              </a:rPr>
              <a:t>(a[0]);</a:t>
            </a:r>
          </a:p>
          <a:p>
            <a:r>
              <a:rPr lang="en-US">
                <a:solidFill>
                  <a:srgbClr val="000000"/>
                </a:solidFill>
              </a:rPr>
              <a:t>    </a:t>
            </a:r>
            <a:r>
              <a:rPr lang="en-US">
                <a:solidFill>
                  <a:srgbClr val="0000FF"/>
                </a:solidFill>
              </a:rPr>
              <a:t>int</a:t>
            </a:r>
            <a:r>
              <a:rPr lang="en-US">
                <a:solidFill>
                  <a:srgbClr val="000000"/>
                </a:solidFill>
              </a:rPr>
              <a:t> x, vitri;</a:t>
            </a: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"Nhap so can tim: "</a:t>
            </a:r>
            <a:r>
              <a:rPr lang="en-US">
                <a:solidFill>
                  <a:srgbClr val="000000"/>
                </a:solidFill>
              </a:rPr>
              <a:t>;</a:t>
            </a:r>
          </a:p>
          <a:p>
            <a:r>
              <a:rPr lang="en-US">
                <a:solidFill>
                  <a:srgbClr val="000000"/>
                </a:solidFill>
              </a:rPr>
              <a:t>    cin </a:t>
            </a:r>
            <a:r>
              <a:rPr lang="en-US">
                <a:solidFill>
                  <a:srgbClr val="008080"/>
                </a:solidFill>
              </a:rPr>
              <a:t>&gt;&gt;</a:t>
            </a:r>
            <a:r>
              <a:rPr lang="en-US">
                <a:solidFill>
                  <a:srgbClr val="000000"/>
                </a:solidFill>
              </a:rPr>
              <a:t> x;</a:t>
            </a:r>
          </a:p>
          <a:p>
            <a:r>
              <a:rPr lang="en-US">
                <a:solidFill>
                  <a:srgbClr val="000000"/>
                </a:solidFill>
              </a:rPr>
              <a:t>    vitri = 0;</a:t>
            </a:r>
          </a:p>
          <a:p>
            <a:r>
              <a:rPr lang="it-IT">
                <a:solidFill>
                  <a:srgbClr val="000000"/>
                </a:solidFill>
              </a:rPr>
              <a:t>    </a:t>
            </a:r>
            <a:r>
              <a:rPr lang="it-IT">
                <a:solidFill>
                  <a:srgbClr val="0000FF"/>
                </a:solidFill>
              </a:rPr>
              <a:t>while</a:t>
            </a:r>
            <a:r>
              <a:rPr lang="it-IT">
                <a:solidFill>
                  <a:srgbClr val="000000"/>
                </a:solidFill>
              </a:rPr>
              <a:t> (vitri &lt;= n - 1 &amp;&amp; a[vitri] != x)</a:t>
            </a:r>
          </a:p>
          <a:p>
            <a:r>
              <a:rPr lang="en-US">
                <a:solidFill>
                  <a:srgbClr val="000000"/>
                </a:solidFill>
              </a:rPr>
              <a:t>        vitri++;</a:t>
            </a:r>
          </a:p>
          <a:p>
            <a:r>
              <a:rPr lang="en-US">
                <a:solidFill>
                  <a:srgbClr val="000000"/>
                </a:solidFill>
              </a:rPr>
              <a:t>    </a:t>
            </a:r>
            <a:r>
              <a:rPr lang="en-US">
                <a:solidFill>
                  <a:srgbClr val="0000FF"/>
                </a:solidFill>
              </a:rPr>
              <a:t>if</a:t>
            </a:r>
            <a:r>
              <a:rPr lang="en-US">
                <a:solidFill>
                  <a:srgbClr val="000000"/>
                </a:solidFill>
              </a:rPr>
              <a:t> (vitri &lt;= n - 1)</a:t>
            </a: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"Tim thay tai vi tri "</a:t>
            </a:r>
            <a:r>
              <a:rPr lang="en-US">
                <a:solidFill>
                  <a:srgbClr val="000000"/>
                </a:solidFill>
              </a:rPr>
              <a:t> </a:t>
            </a:r>
            <a:r>
              <a:rPr lang="en-US">
                <a:solidFill>
                  <a:srgbClr val="008080"/>
                </a:solidFill>
              </a:rPr>
              <a:t>&lt;&lt;</a:t>
            </a:r>
            <a:r>
              <a:rPr lang="en-US">
                <a:solidFill>
                  <a:srgbClr val="000000"/>
                </a:solidFill>
              </a:rPr>
              <a:t> vitri </a:t>
            </a:r>
            <a:r>
              <a:rPr lang="en-US">
                <a:solidFill>
                  <a:srgbClr val="008080"/>
                </a:solidFill>
              </a:rPr>
              <a:t>&lt;&lt;</a:t>
            </a:r>
            <a:r>
              <a:rPr lang="en-US">
                <a:solidFill>
                  <a:srgbClr val="000000"/>
                </a:solidFill>
              </a:rPr>
              <a:t> endl;</a:t>
            </a:r>
          </a:p>
          <a:p>
            <a:r>
              <a:rPr lang="en-US">
                <a:solidFill>
                  <a:srgbClr val="000000"/>
                </a:solidFill>
              </a:rPr>
              <a:t>    </a:t>
            </a:r>
            <a:r>
              <a:rPr lang="en-US">
                <a:solidFill>
                  <a:srgbClr val="0000FF"/>
                </a:solidFill>
              </a:rPr>
              <a:t>else</a:t>
            </a:r>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"Khong tim thay"</a:t>
            </a:r>
            <a:r>
              <a:rPr lang="en-US">
                <a:solidFill>
                  <a:srgbClr val="000000"/>
                </a:solidFill>
              </a:rPr>
              <a:t> </a:t>
            </a:r>
            <a:r>
              <a:rPr lang="en-US">
                <a:solidFill>
                  <a:srgbClr val="008080"/>
                </a:solidFill>
              </a:rPr>
              <a:t>&lt;&lt;</a:t>
            </a:r>
            <a:r>
              <a:rPr lang="en-US">
                <a:solidFill>
                  <a:srgbClr val="000000"/>
                </a:solidFill>
              </a:rPr>
              <a:t> endl;</a:t>
            </a:r>
          </a:p>
          <a:p>
            <a:r>
              <a:rPr lang="en-US">
                <a:solidFill>
                  <a:srgbClr val="000000"/>
                </a:solidFill>
              </a:rPr>
              <a:t>}</a:t>
            </a:r>
            <a:endParaRPr lang="en-US"/>
          </a:p>
        </p:txBody>
      </p:sp>
      <p:sp>
        <p:nvSpPr>
          <p:cNvPr id="2" name="Footer Placeholder 1">
            <a:extLst>
              <a:ext uri="{FF2B5EF4-FFF2-40B4-BE49-F238E27FC236}">
                <a16:creationId xmlns="" xmlns:a16="http://schemas.microsoft.com/office/drawing/2014/main" id="{9A6E2C82-A31B-435A-9C06-D17DCEA1FDBD}"/>
              </a:ext>
            </a:extLst>
          </p:cNvPr>
          <p:cNvSpPr>
            <a:spLocks noGrp="1"/>
          </p:cNvSpPr>
          <p:nvPr>
            <p:ph type="ftr" sz="quarter" idx="11"/>
          </p:nvPr>
        </p:nvSpPr>
        <p:spPr/>
        <p:txBody>
          <a:bodyPr/>
          <a:lstStyle/>
          <a:p>
            <a:r>
              <a:rPr lang="vi-VN"/>
              <a:t>Cơ sở lập trình - Mảng</a:t>
            </a:r>
            <a:endParaRPr lang="en-US"/>
          </a:p>
        </p:txBody>
      </p:sp>
      <p:sp>
        <p:nvSpPr>
          <p:cNvPr id="4" name="Slide Number Placeholder 3">
            <a:extLst>
              <a:ext uri="{FF2B5EF4-FFF2-40B4-BE49-F238E27FC236}">
                <a16:creationId xmlns="" xmlns:a16="http://schemas.microsoft.com/office/drawing/2014/main" id="{B715D05C-0890-429E-B503-CA02FE878344}"/>
              </a:ext>
            </a:extLst>
          </p:cNvPr>
          <p:cNvSpPr>
            <a:spLocks noGrp="1"/>
          </p:cNvSpPr>
          <p:nvPr>
            <p:ph type="sldNum" sz="quarter" idx="12"/>
          </p:nvPr>
        </p:nvSpPr>
        <p:spPr/>
        <p:txBody>
          <a:bodyPr/>
          <a:lstStyle/>
          <a:p>
            <a:fld id="{B09C6C27-D58C-4EFE-B9E3-C62B6FE31098}" type="slidenum">
              <a:rPr lang="en-US" smtClean="0"/>
              <a:t>21</a:t>
            </a:fld>
            <a:endParaRPr lang="en-US"/>
          </a:p>
        </p:txBody>
      </p:sp>
    </p:spTree>
    <p:extLst>
      <p:ext uri="{BB962C8B-B14F-4D97-AF65-F5344CB8AC3E}">
        <p14:creationId xmlns:p14="http://schemas.microsoft.com/office/powerpoint/2010/main" val="13294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9C0590AF-B507-4256-BEB6-437DC4AB5730}"/>
              </a:ext>
            </a:extLst>
          </p:cNvPr>
          <p:cNvSpPr>
            <a:spLocks noGrp="1"/>
          </p:cNvSpPr>
          <p:nvPr>
            <p:ph type="title"/>
          </p:nvPr>
        </p:nvSpPr>
        <p:spPr/>
        <p:txBody>
          <a:bodyPr/>
          <a:lstStyle/>
          <a:p>
            <a:r>
              <a:rPr lang="en-US"/>
              <a:t>Tìm phần tử lớn nhất</a:t>
            </a:r>
          </a:p>
        </p:txBody>
      </p:sp>
      <p:sp>
        <p:nvSpPr>
          <p:cNvPr id="4" name="Content Placeholder 3">
            <a:extLst>
              <a:ext uri="{FF2B5EF4-FFF2-40B4-BE49-F238E27FC236}">
                <a16:creationId xmlns="" xmlns:a16="http://schemas.microsoft.com/office/drawing/2014/main" id="{F55579C7-EFFB-422E-8A61-3973DBB9B640}"/>
              </a:ext>
            </a:extLst>
          </p:cNvPr>
          <p:cNvSpPr>
            <a:spLocks noGrp="1"/>
          </p:cNvSpPr>
          <p:nvPr>
            <p:ph idx="1"/>
          </p:nvPr>
        </p:nvSpPr>
        <p:spPr/>
        <p:txBody>
          <a:bodyPr/>
          <a:lstStyle/>
          <a:p>
            <a:r>
              <a:rPr lang="vi-VN"/>
              <a:t>Chương trình tìm và in ra phần tử lớn nhất trong mảng.</a:t>
            </a:r>
            <a:endParaRPr lang="en-US"/>
          </a:p>
          <a:p>
            <a:r>
              <a:rPr lang="en-US"/>
              <a:t>Ví dụ tìm giá trị lớn nhất trong mảng sau đây:</a:t>
            </a:r>
          </a:p>
          <a:p>
            <a:endParaRPr lang="en-US"/>
          </a:p>
          <a:p>
            <a:endParaRPr lang="en-US"/>
          </a:p>
          <a:p>
            <a:r>
              <a:rPr lang="en-US"/>
              <a:t>Giải pháp:</a:t>
            </a:r>
          </a:p>
          <a:p>
            <a:pPr lvl="1"/>
            <a:r>
              <a:rPr lang="en-US"/>
              <a:t>lonnhat = a[0]</a:t>
            </a:r>
          </a:p>
          <a:p>
            <a:pPr lvl="1"/>
            <a:r>
              <a:rPr lang="en-US"/>
              <a:t>So sánh lonnhat với a[1],..., a[n-1] và cập nhật lại lonnhat</a:t>
            </a:r>
          </a:p>
        </p:txBody>
      </p:sp>
      <p:graphicFrame>
        <p:nvGraphicFramePr>
          <p:cNvPr id="5" name="Table 4">
            <a:extLst>
              <a:ext uri="{FF2B5EF4-FFF2-40B4-BE49-F238E27FC236}">
                <a16:creationId xmlns="" xmlns:a16="http://schemas.microsoft.com/office/drawing/2014/main" id="{8F6FF522-88A8-4B0B-9DCE-E017E2DC9299}"/>
              </a:ext>
            </a:extLst>
          </p:cNvPr>
          <p:cNvGraphicFramePr>
            <a:graphicFrameLocks noGrp="1"/>
          </p:cNvGraphicFramePr>
          <p:nvPr>
            <p:extLst>
              <p:ext uri="{D42A27DB-BD31-4B8C-83A1-F6EECF244321}">
                <p14:modId xmlns:p14="http://schemas.microsoft.com/office/powerpoint/2010/main" val="3841791088"/>
              </p:ext>
            </p:extLst>
          </p:nvPr>
        </p:nvGraphicFramePr>
        <p:xfrm>
          <a:off x="1208868" y="3965193"/>
          <a:ext cx="5315918" cy="2625755"/>
        </p:xfrm>
        <a:graphic>
          <a:graphicData uri="http://schemas.openxmlformats.org/drawingml/2006/table">
            <a:tbl>
              <a:tblPr firstRow="1">
                <a:tableStyleId>{5940675A-B579-460E-94D1-54222C63F5DA}</a:tableStyleId>
              </a:tblPr>
              <a:tblGrid>
                <a:gridCol w="712922">
                  <a:extLst>
                    <a:ext uri="{9D8B030D-6E8A-4147-A177-3AD203B41FA5}">
                      <a16:colId xmlns="" xmlns:a16="http://schemas.microsoft.com/office/drawing/2014/main" val="302882792"/>
                    </a:ext>
                  </a:extLst>
                </a:gridCol>
                <a:gridCol w="1596325">
                  <a:extLst>
                    <a:ext uri="{9D8B030D-6E8A-4147-A177-3AD203B41FA5}">
                      <a16:colId xmlns="" xmlns:a16="http://schemas.microsoft.com/office/drawing/2014/main" val="3936664880"/>
                    </a:ext>
                  </a:extLst>
                </a:gridCol>
                <a:gridCol w="1069383">
                  <a:extLst>
                    <a:ext uri="{9D8B030D-6E8A-4147-A177-3AD203B41FA5}">
                      <a16:colId xmlns="" xmlns:a16="http://schemas.microsoft.com/office/drawing/2014/main" val="2554736331"/>
                    </a:ext>
                  </a:extLst>
                </a:gridCol>
                <a:gridCol w="1937288">
                  <a:extLst>
                    <a:ext uri="{9D8B030D-6E8A-4147-A177-3AD203B41FA5}">
                      <a16:colId xmlns="" xmlns:a16="http://schemas.microsoft.com/office/drawing/2014/main" val="1935466813"/>
                    </a:ext>
                  </a:extLst>
                </a:gridCol>
              </a:tblGrid>
              <a:tr h="296822">
                <a:tc>
                  <a:txBody>
                    <a:bodyPr/>
                    <a:lstStyle/>
                    <a:p>
                      <a:pPr marL="0" marR="0" algn="ctr">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a:t>
                      </a:r>
                    </a:p>
                  </a:txBody>
                  <a:tcPr marL="0" marR="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lonnhat</a:t>
                      </a:r>
                    </a:p>
                  </a:txBody>
                  <a:tcPr marL="0" marR="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a[i]</a:t>
                      </a:r>
                    </a:p>
                  </a:txBody>
                  <a:tcPr marL="0" marR="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2065" marR="0" algn="just">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lonnhat &lt; a[i]</a:t>
                      </a:r>
                    </a:p>
                  </a:txBody>
                  <a:tcPr marL="0" marR="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975177233"/>
                  </a:ext>
                </a:extLst>
              </a:tr>
              <a:tr h="296822">
                <a:tc>
                  <a:txBody>
                    <a:bodyPr/>
                    <a:lstStyle/>
                    <a:p>
                      <a:pPr marL="0" marR="0" algn="ctr">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p>
                  </a:txBody>
                  <a:tcPr marL="0" marR="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12.50</a:t>
                      </a:r>
                    </a:p>
                  </a:txBody>
                  <a:tcPr marL="0" marR="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8.35</a:t>
                      </a:r>
                    </a:p>
                  </a:txBody>
                  <a:tcPr marL="0" marR="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2065" marR="0" algn="just">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false</a:t>
                      </a:r>
                    </a:p>
                  </a:txBody>
                  <a:tcPr marL="0" marR="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2459184793"/>
                  </a:ext>
                </a:extLst>
              </a:tr>
              <a:tr h="296822">
                <a:tc>
                  <a:txBody>
                    <a:bodyPr/>
                    <a:lstStyle/>
                    <a:p>
                      <a:pPr marL="0" marR="0" algn="ctr">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12.50</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19.60</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2065" marR="0" algn="just">
                        <a:lnSpc>
                          <a:spcPct val="107000"/>
                        </a:lnSpc>
                        <a:spcBef>
                          <a:spcPts val="0"/>
                        </a:spcBef>
                        <a:spcAft>
                          <a:spcPts val="0"/>
                        </a:spcAft>
                      </a:pPr>
                      <a:r>
                        <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true</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2077606868"/>
                  </a:ext>
                </a:extLst>
              </a:tr>
              <a:tr h="296822">
                <a:tc>
                  <a:txBody>
                    <a:bodyPr/>
                    <a:lstStyle/>
                    <a:p>
                      <a:pPr marL="0" marR="0" algn="ctr">
                        <a:lnSpc>
                          <a:spcPct val="107000"/>
                        </a:lnSpc>
                        <a:spcBef>
                          <a:spcPts val="0"/>
                        </a:spcBef>
                        <a:spcAft>
                          <a:spcPts val="0"/>
                        </a:spcAft>
                      </a:pPr>
                      <a:r>
                        <a:rPr lang="en-US" sz="2000">
                          <a:effectLst/>
                        </a:rPr>
                        <a:t>3</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19.60</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25.00</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2065" marR="0" algn="just">
                        <a:lnSpc>
                          <a:spcPct val="107000"/>
                        </a:lnSpc>
                        <a:spcBef>
                          <a:spcPts val="0"/>
                        </a:spcBef>
                        <a:spcAft>
                          <a:spcPts val="0"/>
                        </a:spcAft>
                      </a:pPr>
                      <a:r>
                        <a:rPr lang="en-US" sz="2000">
                          <a:effectLst/>
                        </a:rPr>
                        <a:t>true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2687004578"/>
                  </a:ext>
                </a:extLst>
              </a:tr>
              <a:tr h="296822">
                <a:tc>
                  <a:txBody>
                    <a:bodyPr/>
                    <a:lstStyle/>
                    <a:p>
                      <a:pPr marL="0" marR="0" algn="ctr">
                        <a:lnSpc>
                          <a:spcPct val="107000"/>
                        </a:lnSpc>
                        <a:spcBef>
                          <a:spcPts val="0"/>
                        </a:spcBef>
                        <a:spcAft>
                          <a:spcPts val="0"/>
                        </a:spcAft>
                      </a:pPr>
                      <a:r>
                        <a:rPr lang="en-US" sz="2000">
                          <a:effectLst/>
                        </a:rPr>
                        <a:t>...</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91440" marR="0">
                        <a:lnSpc>
                          <a:spcPct val="107000"/>
                        </a:lnSpc>
                        <a:spcBef>
                          <a:spcPts val="0"/>
                        </a:spcBef>
                        <a:spcAft>
                          <a:spcPts val="0"/>
                        </a:spcAft>
                      </a:pPr>
                      <a:r>
                        <a:rPr lang="en-US" sz="2000">
                          <a:effectLst/>
                        </a:rPr>
                        <a:t>...</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64770" marR="0">
                        <a:lnSpc>
                          <a:spcPct val="107000"/>
                        </a:lnSpc>
                        <a:spcBef>
                          <a:spcPts val="0"/>
                        </a:spcBef>
                        <a:spcAft>
                          <a:spcPts val="0"/>
                        </a:spcAft>
                      </a:pPr>
                      <a:r>
                        <a:rPr lang="en-US" sz="2000">
                          <a:effectLst/>
                        </a:rPr>
                        <a:t>...</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1139068975"/>
                  </a:ext>
                </a:extLst>
              </a:tr>
              <a:tr h="296822">
                <a:tc>
                  <a:txBody>
                    <a:bodyPr/>
                    <a:lstStyle/>
                    <a:p>
                      <a:pPr marL="0" marR="0" algn="ctr">
                        <a:lnSpc>
                          <a:spcPct val="107000"/>
                        </a:lnSpc>
                        <a:spcBef>
                          <a:spcPts val="0"/>
                        </a:spcBef>
                        <a:spcAft>
                          <a:spcPts val="0"/>
                        </a:spcAft>
                      </a:pPr>
                      <a:r>
                        <a:rPr lang="en-US" sz="2000">
                          <a:effectLst/>
                        </a:rPr>
                        <a:t>7</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39.43</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98.23</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2065" marR="0" algn="just">
                        <a:lnSpc>
                          <a:spcPct val="107000"/>
                        </a:lnSpc>
                        <a:spcBef>
                          <a:spcPts val="0"/>
                        </a:spcBef>
                        <a:spcAft>
                          <a:spcPts val="0"/>
                        </a:spcAft>
                      </a:pPr>
                      <a:r>
                        <a:rPr lang="en-US" sz="2000">
                          <a:effectLst/>
                        </a:rPr>
                        <a:t>true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2382240929"/>
                  </a:ext>
                </a:extLst>
              </a:tr>
              <a:tr h="296822">
                <a:tc>
                  <a:txBody>
                    <a:bodyPr/>
                    <a:lstStyle/>
                    <a:p>
                      <a:pPr marL="0" marR="0" algn="ctr">
                        <a:lnSpc>
                          <a:spcPct val="107000"/>
                        </a:lnSpc>
                        <a:spcBef>
                          <a:spcPts val="0"/>
                        </a:spcBef>
                        <a:spcAft>
                          <a:spcPts val="0"/>
                        </a:spcAft>
                      </a:pPr>
                      <a:r>
                        <a:rPr lang="en-US" sz="2000">
                          <a:effectLst/>
                        </a:rPr>
                        <a:t>8</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98.23</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66.65</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7000"/>
                        </a:lnSpc>
                        <a:spcBef>
                          <a:spcPts val="0"/>
                        </a:spcBef>
                        <a:spcAft>
                          <a:spcPts val="0"/>
                        </a:spcAft>
                      </a:pPr>
                      <a:r>
                        <a:rPr lang="en-US" sz="2000">
                          <a:effectLst/>
                        </a:rPr>
                        <a:t>false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3420721968"/>
                  </a:ext>
                </a:extLst>
              </a:tr>
              <a:tr h="342803">
                <a:tc>
                  <a:txBody>
                    <a:bodyPr/>
                    <a:lstStyle/>
                    <a:p>
                      <a:pPr marL="0" marR="0" algn="ctr">
                        <a:lnSpc>
                          <a:spcPct val="107000"/>
                        </a:lnSpc>
                        <a:spcBef>
                          <a:spcPts val="0"/>
                        </a:spcBef>
                        <a:spcAft>
                          <a:spcPts val="0"/>
                        </a:spcAft>
                      </a:pPr>
                      <a:r>
                        <a:rPr lang="en-US" sz="2000">
                          <a:effectLst/>
                        </a:rPr>
                        <a:t>9</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98.23</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2000">
                          <a:effectLst/>
                        </a:rPr>
                        <a:t>35.64</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just">
                        <a:lnSpc>
                          <a:spcPct val="107000"/>
                        </a:lnSpc>
                        <a:spcBef>
                          <a:spcPts val="0"/>
                        </a:spcBef>
                        <a:spcAft>
                          <a:spcPts val="0"/>
                        </a:spcAft>
                      </a:pPr>
                      <a:r>
                        <a:rPr lang="en-US" sz="2000">
                          <a:effectLst/>
                        </a:rPr>
                        <a:t>false</a:t>
                      </a:r>
                      <a:endParaRPr lang="en-US" sz="2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3811328192"/>
                  </a:ext>
                </a:extLst>
              </a:tr>
            </a:tbl>
          </a:graphicData>
        </a:graphic>
      </p:graphicFrame>
      <p:pic>
        <p:nvPicPr>
          <p:cNvPr id="7" name="Picture 6">
            <a:extLst>
              <a:ext uri="{FF2B5EF4-FFF2-40B4-BE49-F238E27FC236}">
                <a16:creationId xmlns="" xmlns:a16="http://schemas.microsoft.com/office/drawing/2014/main" id="{8A4CC8A9-AC81-4A90-8864-4699DEE7F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609" y="1905425"/>
            <a:ext cx="8638781" cy="908383"/>
          </a:xfrm>
          <a:prstGeom prst="rect">
            <a:avLst/>
          </a:prstGeom>
        </p:spPr>
      </p:pic>
      <p:sp>
        <p:nvSpPr>
          <p:cNvPr id="2" name="Footer Placeholder 1">
            <a:extLst>
              <a:ext uri="{FF2B5EF4-FFF2-40B4-BE49-F238E27FC236}">
                <a16:creationId xmlns="" xmlns:a16="http://schemas.microsoft.com/office/drawing/2014/main" id="{9C4C566E-E17B-4A67-94BC-B6346EC2D25C}"/>
              </a:ext>
            </a:extLst>
          </p:cNvPr>
          <p:cNvSpPr>
            <a:spLocks noGrp="1"/>
          </p:cNvSpPr>
          <p:nvPr>
            <p:ph type="ftr" sz="quarter" idx="11"/>
          </p:nvPr>
        </p:nvSpPr>
        <p:spPr/>
        <p:txBody>
          <a:bodyPr/>
          <a:lstStyle/>
          <a:p>
            <a:r>
              <a:rPr lang="vi-VN"/>
              <a:t>Cơ sở lập trình - Mảng</a:t>
            </a:r>
            <a:endParaRPr lang="en-US"/>
          </a:p>
        </p:txBody>
      </p:sp>
      <p:sp>
        <p:nvSpPr>
          <p:cNvPr id="6" name="Slide Number Placeholder 5">
            <a:extLst>
              <a:ext uri="{FF2B5EF4-FFF2-40B4-BE49-F238E27FC236}">
                <a16:creationId xmlns="" xmlns:a16="http://schemas.microsoft.com/office/drawing/2014/main" id="{4172FAD0-AC15-40ED-854E-4E29F3A0E4B6}"/>
              </a:ext>
            </a:extLst>
          </p:cNvPr>
          <p:cNvSpPr>
            <a:spLocks noGrp="1"/>
          </p:cNvSpPr>
          <p:nvPr>
            <p:ph type="sldNum" sz="quarter" idx="12"/>
          </p:nvPr>
        </p:nvSpPr>
        <p:spPr/>
        <p:txBody>
          <a:bodyPr/>
          <a:lstStyle/>
          <a:p>
            <a:fld id="{B09C6C27-D58C-4EFE-B9E3-C62B6FE31098}" type="slidenum">
              <a:rPr lang="en-US" smtClean="0"/>
              <a:t>22</a:t>
            </a:fld>
            <a:endParaRPr lang="en-US"/>
          </a:p>
        </p:txBody>
      </p:sp>
    </p:spTree>
    <p:extLst>
      <p:ext uri="{BB962C8B-B14F-4D97-AF65-F5344CB8AC3E}">
        <p14:creationId xmlns:p14="http://schemas.microsoft.com/office/powerpoint/2010/main" val="2161084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6FFF456D-45D8-40A5-9D3C-6FE572CD3215}"/>
              </a:ext>
            </a:extLst>
          </p:cNvPr>
          <p:cNvSpPr>
            <a:spLocks noGrp="1"/>
          </p:cNvSpPr>
          <p:nvPr>
            <p:ph type="body" sz="quarter" idx="13"/>
          </p:nvPr>
        </p:nvSpPr>
        <p:spPr>
          <a:xfrm>
            <a:off x="320040" y="341194"/>
            <a:ext cx="8503920" cy="6151046"/>
          </a:xfrm>
        </p:spPr>
        <p:txBody>
          <a:bodyPr>
            <a:noAutofit/>
          </a:bodyPr>
          <a:lstStyle/>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double</a:t>
            </a:r>
            <a:r>
              <a:rPr lang="en-US">
                <a:solidFill>
                  <a:srgbClr val="000000"/>
                </a:solidFill>
              </a:rPr>
              <a:t> a[] = { 12.5,8.35,19.6,25,14,39.43,35.9,</a:t>
            </a:r>
            <a:br>
              <a:rPr lang="en-US">
                <a:solidFill>
                  <a:srgbClr val="000000"/>
                </a:solidFill>
              </a:rPr>
            </a:br>
            <a:r>
              <a:rPr lang="en-US">
                <a:solidFill>
                  <a:srgbClr val="000000"/>
                </a:solidFill>
              </a:rPr>
              <a:t>                   98.23,66.65,35.64 };</a:t>
            </a:r>
          </a:p>
          <a:p>
            <a:r>
              <a:rPr lang="en-US">
                <a:solidFill>
                  <a:srgbClr val="000000"/>
                </a:solidFill>
              </a:rPr>
              <a:t>    </a:t>
            </a:r>
            <a:r>
              <a:rPr lang="en-US">
                <a:solidFill>
                  <a:srgbClr val="0000FF"/>
                </a:solidFill>
              </a:rPr>
              <a:t>int</a:t>
            </a:r>
            <a:r>
              <a:rPr lang="en-US">
                <a:solidFill>
                  <a:srgbClr val="000000"/>
                </a:solidFill>
              </a:rPr>
              <a:t> n = </a:t>
            </a:r>
            <a:r>
              <a:rPr lang="en-US">
                <a:solidFill>
                  <a:srgbClr val="0000FF"/>
                </a:solidFill>
              </a:rPr>
              <a:t>sizeof</a:t>
            </a:r>
            <a:r>
              <a:rPr lang="en-US">
                <a:solidFill>
                  <a:srgbClr val="000000"/>
                </a:solidFill>
              </a:rPr>
              <a:t>(a) / </a:t>
            </a:r>
            <a:r>
              <a:rPr lang="en-US">
                <a:solidFill>
                  <a:srgbClr val="0000FF"/>
                </a:solidFill>
              </a:rPr>
              <a:t>sizeof</a:t>
            </a:r>
            <a:r>
              <a:rPr lang="en-US">
                <a:solidFill>
                  <a:srgbClr val="000000"/>
                </a:solidFill>
              </a:rPr>
              <a:t>(a[0]);</a:t>
            </a:r>
          </a:p>
          <a:p>
            <a:endParaRPr lang="en-US">
              <a:solidFill>
                <a:srgbClr val="000000"/>
              </a:solidFill>
            </a:endParaRPr>
          </a:p>
          <a:p>
            <a:r>
              <a:rPr lang="en-US">
                <a:solidFill>
                  <a:srgbClr val="000000"/>
                </a:solidFill>
              </a:rPr>
              <a:t>    </a:t>
            </a:r>
            <a:r>
              <a:rPr lang="en-US">
                <a:solidFill>
                  <a:srgbClr val="0000FF"/>
                </a:solidFill>
              </a:rPr>
              <a:t>double</a:t>
            </a:r>
            <a:r>
              <a:rPr lang="en-US">
                <a:solidFill>
                  <a:srgbClr val="000000"/>
                </a:solidFill>
              </a:rPr>
              <a:t> lonnhat = a[0];</a:t>
            </a:r>
          </a:p>
          <a:p>
            <a:r>
              <a:rPr lang="nn-NO">
                <a:solidFill>
                  <a:srgbClr val="000000"/>
                </a:solidFill>
              </a:rPr>
              <a:t>    </a:t>
            </a:r>
            <a:r>
              <a:rPr lang="nn-NO">
                <a:solidFill>
                  <a:srgbClr val="0000FF"/>
                </a:solidFill>
              </a:rPr>
              <a:t>for</a:t>
            </a:r>
            <a:r>
              <a:rPr lang="nn-NO">
                <a:solidFill>
                  <a:srgbClr val="000000"/>
                </a:solidFill>
              </a:rPr>
              <a:t> (</a:t>
            </a:r>
            <a:r>
              <a:rPr lang="nn-NO">
                <a:solidFill>
                  <a:srgbClr val="0000FF"/>
                </a:solidFill>
              </a:rPr>
              <a:t>int</a:t>
            </a:r>
            <a:r>
              <a:rPr lang="nn-NO">
                <a:solidFill>
                  <a:srgbClr val="000000"/>
                </a:solidFill>
              </a:rPr>
              <a:t> i = 1; i &lt;= n - 1; i++)</a:t>
            </a:r>
          </a:p>
          <a:p>
            <a:r>
              <a:rPr lang="en-US">
                <a:solidFill>
                  <a:srgbClr val="000000"/>
                </a:solidFill>
              </a:rPr>
              <a:t>        </a:t>
            </a:r>
            <a:r>
              <a:rPr lang="en-US">
                <a:solidFill>
                  <a:srgbClr val="0000FF"/>
                </a:solidFill>
              </a:rPr>
              <a:t>if</a:t>
            </a:r>
            <a:r>
              <a:rPr lang="en-US">
                <a:solidFill>
                  <a:srgbClr val="000000"/>
                </a:solidFill>
              </a:rPr>
              <a:t> (lonnhat &lt; a[i])</a:t>
            </a:r>
          </a:p>
          <a:p>
            <a:r>
              <a:rPr lang="en-US">
                <a:solidFill>
                  <a:srgbClr val="000000"/>
                </a:solidFill>
              </a:rPr>
              <a:t>            lonnhat = a[i];</a:t>
            </a:r>
          </a:p>
          <a:p>
            <a:endParaRPr lang="en-US">
              <a:solidFill>
                <a:srgbClr val="000000"/>
              </a:solidFill>
            </a:endParaRP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"Gia tri lon nhat = "</a:t>
            </a:r>
            <a:r>
              <a:rPr lang="en-US">
                <a:solidFill>
                  <a:srgbClr val="000000"/>
                </a:solidFill>
              </a:rPr>
              <a:t> </a:t>
            </a:r>
            <a:r>
              <a:rPr lang="en-US">
                <a:solidFill>
                  <a:srgbClr val="008080"/>
                </a:solidFill>
              </a:rPr>
              <a:t>&lt;&lt;</a:t>
            </a:r>
            <a:r>
              <a:rPr lang="en-US">
                <a:solidFill>
                  <a:srgbClr val="000000"/>
                </a:solidFill>
              </a:rPr>
              <a:t> lonnhat </a:t>
            </a:r>
            <a:r>
              <a:rPr lang="en-US">
                <a:solidFill>
                  <a:srgbClr val="008080"/>
                </a:solidFill>
              </a:rPr>
              <a:t>&lt;&lt;</a:t>
            </a:r>
            <a:r>
              <a:rPr lang="en-US">
                <a:solidFill>
                  <a:srgbClr val="000000"/>
                </a:solidFill>
              </a:rPr>
              <a:t> endl;</a:t>
            </a:r>
          </a:p>
          <a:p>
            <a:r>
              <a:rPr lang="en-US">
                <a:solidFill>
                  <a:srgbClr val="000000"/>
                </a:solidFill>
              </a:rPr>
              <a:t>    </a:t>
            </a:r>
            <a:r>
              <a:rPr lang="en-US">
                <a:solidFill>
                  <a:srgbClr val="0000FF"/>
                </a:solidFill>
              </a:rPr>
              <a:t>return</a:t>
            </a:r>
            <a:r>
              <a:rPr lang="en-US">
                <a:solidFill>
                  <a:srgbClr val="000000"/>
                </a:solidFill>
              </a:rPr>
              <a:t> 0;</a:t>
            </a:r>
          </a:p>
          <a:p>
            <a:r>
              <a:rPr lang="en-US">
                <a:solidFill>
                  <a:srgbClr val="000000"/>
                </a:solidFill>
              </a:rPr>
              <a:t>}</a:t>
            </a:r>
            <a:endParaRPr lang="en-US"/>
          </a:p>
        </p:txBody>
      </p:sp>
      <p:sp>
        <p:nvSpPr>
          <p:cNvPr id="2" name="Footer Placeholder 1">
            <a:extLst>
              <a:ext uri="{FF2B5EF4-FFF2-40B4-BE49-F238E27FC236}">
                <a16:creationId xmlns="" xmlns:a16="http://schemas.microsoft.com/office/drawing/2014/main" id="{85713DBC-6FA7-43DF-BA92-4C4CBA4A3D02}"/>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435F7D09-8650-4B20-A5E1-43E944F20AF6}"/>
              </a:ext>
            </a:extLst>
          </p:cNvPr>
          <p:cNvSpPr>
            <a:spLocks noGrp="1"/>
          </p:cNvSpPr>
          <p:nvPr>
            <p:ph type="sldNum" sz="quarter" idx="12"/>
          </p:nvPr>
        </p:nvSpPr>
        <p:spPr/>
        <p:txBody>
          <a:bodyPr/>
          <a:lstStyle/>
          <a:p>
            <a:fld id="{B09C6C27-D58C-4EFE-B9E3-C62B6FE31098}" type="slidenum">
              <a:rPr lang="en-US" smtClean="0"/>
              <a:t>23</a:t>
            </a:fld>
            <a:endParaRPr lang="en-US"/>
          </a:p>
        </p:txBody>
      </p:sp>
    </p:spTree>
    <p:extLst>
      <p:ext uri="{BB962C8B-B14F-4D97-AF65-F5344CB8AC3E}">
        <p14:creationId xmlns:p14="http://schemas.microsoft.com/office/powerpoint/2010/main" val="4246099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6641480-BF51-4B95-BB4D-BFC0602AC508}"/>
              </a:ext>
            </a:extLst>
          </p:cNvPr>
          <p:cNvSpPr>
            <a:spLocks noGrp="1"/>
          </p:cNvSpPr>
          <p:nvPr>
            <p:ph type="title"/>
          </p:nvPr>
        </p:nvSpPr>
        <p:spPr/>
        <p:txBody>
          <a:bodyPr/>
          <a:lstStyle/>
          <a:p>
            <a:r>
              <a:rPr lang="en-US"/>
              <a:t>Nội dung</a:t>
            </a:r>
          </a:p>
        </p:txBody>
      </p:sp>
      <p:sp>
        <p:nvSpPr>
          <p:cNvPr id="5" name="Content Placeholder 4">
            <a:extLst>
              <a:ext uri="{FF2B5EF4-FFF2-40B4-BE49-F238E27FC236}">
                <a16:creationId xmlns="" xmlns:a16="http://schemas.microsoft.com/office/drawing/2014/main" id="{146458E1-74EE-413C-9BFE-9F4477B48504}"/>
              </a:ext>
            </a:extLst>
          </p:cNvPr>
          <p:cNvSpPr>
            <a:spLocks noGrp="1"/>
          </p:cNvSpPr>
          <p:nvPr>
            <p:ph idx="1"/>
          </p:nvPr>
        </p:nvSpPr>
        <p:spPr/>
        <p:txBody>
          <a:bodyPr/>
          <a:lstStyle/>
          <a:p>
            <a:r>
              <a:rPr lang="en-US">
                <a:solidFill>
                  <a:schemeClr val="tx1">
                    <a:lumMod val="50000"/>
                    <a:lumOff val="50000"/>
                  </a:schemeClr>
                </a:solidFill>
              </a:rPr>
              <a:t>Mảng</a:t>
            </a:r>
          </a:p>
          <a:p>
            <a:r>
              <a:rPr lang="en-US">
                <a:solidFill>
                  <a:schemeClr val="tx1">
                    <a:lumMod val="50000"/>
                    <a:lumOff val="50000"/>
                  </a:schemeClr>
                </a:solidFill>
              </a:rPr>
              <a:t>Các thao tác trên mảng</a:t>
            </a:r>
          </a:p>
          <a:p>
            <a:r>
              <a:rPr lang="en-US"/>
              <a:t>Một số l</a:t>
            </a:r>
            <a:r>
              <a:rPr lang="vi-VN"/>
              <a:t>ư</a:t>
            </a:r>
            <a:r>
              <a:rPr lang="en-US"/>
              <a:t>u ý</a:t>
            </a:r>
          </a:p>
          <a:p>
            <a:r>
              <a:rPr lang="en-US">
                <a:solidFill>
                  <a:schemeClr val="tx1">
                    <a:lumMod val="50000"/>
                    <a:lumOff val="50000"/>
                  </a:schemeClr>
                </a:solidFill>
              </a:rPr>
              <a:t>Truyền mảng cho hàm</a:t>
            </a:r>
          </a:p>
        </p:txBody>
      </p:sp>
      <p:sp>
        <p:nvSpPr>
          <p:cNvPr id="2" name="Footer Placeholder 1">
            <a:extLst>
              <a:ext uri="{FF2B5EF4-FFF2-40B4-BE49-F238E27FC236}">
                <a16:creationId xmlns="" xmlns:a16="http://schemas.microsoft.com/office/drawing/2014/main" id="{97BBAD78-F08D-4EAD-B11B-58D0D4C39883}"/>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97E836A1-7B05-4F6C-9D70-15966D9C8326}"/>
              </a:ext>
            </a:extLst>
          </p:cNvPr>
          <p:cNvSpPr>
            <a:spLocks noGrp="1"/>
          </p:cNvSpPr>
          <p:nvPr>
            <p:ph type="sldNum" sz="quarter" idx="12"/>
          </p:nvPr>
        </p:nvSpPr>
        <p:spPr/>
        <p:txBody>
          <a:bodyPr/>
          <a:lstStyle/>
          <a:p>
            <a:fld id="{B09C6C27-D58C-4EFE-B9E3-C62B6FE31098}" type="slidenum">
              <a:rPr lang="en-US" smtClean="0"/>
              <a:t>24</a:t>
            </a:fld>
            <a:endParaRPr lang="en-US"/>
          </a:p>
        </p:txBody>
      </p:sp>
    </p:spTree>
    <p:extLst>
      <p:ext uri="{BB962C8B-B14F-4D97-AF65-F5344CB8AC3E}">
        <p14:creationId xmlns:p14="http://schemas.microsoft.com/office/powerpoint/2010/main" val="1529189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772EC3B9-E11D-44ED-A88E-02648CA8C58C}"/>
              </a:ext>
            </a:extLst>
          </p:cNvPr>
          <p:cNvSpPr>
            <a:spLocks noGrp="1"/>
          </p:cNvSpPr>
          <p:nvPr>
            <p:ph type="title"/>
          </p:nvPr>
        </p:nvSpPr>
        <p:spPr/>
        <p:txBody>
          <a:bodyPr>
            <a:normAutofit/>
          </a:bodyPr>
          <a:lstStyle/>
          <a:p>
            <a:r>
              <a:rPr lang="en-US"/>
              <a:t>Một số lưu ý</a:t>
            </a:r>
          </a:p>
        </p:txBody>
      </p:sp>
      <p:sp>
        <p:nvSpPr>
          <p:cNvPr id="5" name="Content Placeholder 4">
            <a:extLst>
              <a:ext uri="{FF2B5EF4-FFF2-40B4-BE49-F238E27FC236}">
                <a16:creationId xmlns="" xmlns:a16="http://schemas.microsoft.com/office/drawing/2014/main" id="{A47AFC8E-702E-4058-AC6E-A6D9805133E6}"/>
              </a:ext>
            </a:extLst>
          </p:cNvPr>
          <p:cNvSpPr>
            <a:spLocks noGrp="1"/>
          </p:cNvSpPr>
          <p:nvPr>
            <p:ph idx="1"/>
          </p:nvPr>
        </p:nvSpPr>
        <p:spPr/>
        <p:txBody>
          <a:bodyPr>
            <a:normAutofit/>
          </a:bodyPr>
          <a:lstStyle/>
          <a:p>
            <a:r>
              <a:rPr lang="vi-VN">
                <a:solidFill>
                  <a:srgbClr val="FF0000"/>
                </a:solidFill>
              </a:rPr>
              <a:t>Không truy xuất phần tử ngoài phạm vi mảng.</a:t>
            </a:r>
          </a:p>
          <a:p>
            <a:r>
              <a:rPr lang="vi-VN"/>
              <a:t>Ví dụ:</a:t>
            </a:r>
          </a:p>
          <a:p>
            <a:pPr lvl="4"/>
            <a:r>
              <a:rPr lang="vi-VN"/>
              <a:t>int a[10]; </a:t>
            </a:r>
            <a:endParaRPr lang="en-US"/>
          </a:p>
          <a:p>
            <a:pPr lvl="4"/>
            <a:r>
              <a:rPr lang="vi-VN"/>
              <a:t>for (int i = 0; i &lt;= 10; i++) </a:t>
            </a:r>
            <a:r>
              <a:rPr lang="en-US"/>
              <a:t/>
            </a:r>
            <a:br>
              <a:rPr lang="en-US"/>
            </a:br>
            <a:r>
              <a:rPr lang="en-US"/>
              <a:t>    </a:t>
            </a:r>
            <a:r>
              <a:rPr lang="vi-VN"/>
              <a:t>a[i] = 0; </a:t>
            </a:r>
            <a:endParaRPr lang="en-US"/>
          </a:p>
          <a:p>
            <a:pPr lvl="1"/>
            <a:r>
              <a:rPr lang="vi-VN"/>
              <a:t>các chỉ số i hợp lệ là 0, 1, 2,..., 9</a:t>
            </a:r>
            <a:endParaRPr lang="en-US"/>
          </a:p>
          <a:p>
            <a:pPr lvl="1"/>
            <a:r>
              <a:rPr lang="vi-VN"/>
              <a:t>khi i = 10, vòng lặp kiểm tra điều kiện i &lt;= 10 đúng và gán 0 vào a[10], nhưng a[10] không tồn tại!</a:t>
            </a:r>
          </a:p>
          <a:p>
            <a:endParaRPr lang="en-US"/>
          </a:p>
        </p:txBody>
      </p:sp>
      <p:sp>
        <p:nvSpPr>
          <p:cNvPr id="2" name="Footer Placeholder 1">
            <a:extLst>
              <a:ext uri="{FF2B5EF4-FFF2-40B4-BE49-F238E27FC236}">
                <a16:creationId xmlns="" xmlns:a16="http://schemas.microsoft.com/office/drawing/2014/main" id="{D35F4972-1D61-40BD-82C5-926A51206430}"/>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12CC2381-5241-4E29-A00E-FFE36AEDF9CC}"/>
              </a:ext>
            </a:extLst>
          </p:cNvPr>
          <p:cNvSpPr>
            <a:spLocks noGrp="1"/>
          </p:cNvSpPr>
          <p:nvPr>
            <p:ph type="sldNum" sz="quarter" idx="12"/>
          </p:nvPr>
        </p:nvSpPr>
        <p:spPr/>
        <p:txBody>
          <a:bodyPr/>
          <a:lstStyle/>
          <a:p>
            <a:fld id="{B09C6C27-D58C-4EFE-B9E3-C62B6FE31098}" type="slidenum">
              <a:rPr lang="en-US" smtClean="0"/>
              <a:t>25</a:t>
            </a:fld>
            <a:endParaRPr lang="en-US"/>
          </a:p>
        </p:txBody>
      </p:sp>
    </p:spTree>
    <p:extLst>
      <p:ext uri="{BB962C8B-B14F-4D97-AF65-F5344CB8AC3E}">
        <p14:creationId xmlns:p14="http://schemas.microsoft.com/office/powerpoint/2010/main" val="699139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A47AFC8E-702E-4058-AC6E-A6D9805133E6}"/>
              </a:ext>
            </a:extLst>
          </p:cNvPr>
          <p:cNvSpPr>
            <a:spLocks noGrp="1"/>
          </p:cNvSpPr>
          <p:nvPr>
            <p:ph idx="1"/>
          </p:nvPr>
        </p:nvSpPr>
        <p:spPr/>
        <p:txBody>
          <a:bodyPr>
            <a:normAutofit/>
          </a:bodyPr>
          <a:lstStyle/>
          <a:p>
            <a:r>
              <a:rPr lang="vi-VN">
                <a:solidFill>
                  <a:srgbClr val="FF0000"/>
                </a:solidFill>
              </a:rPr>
              <a:t>Không dùng phép gán một mảng cho một mảng khác</a:t>
            </a:r>
            <a:r>
              <a:rPr lang="vi-VN"/>
              <a:t>.</a:t>
            </a:r>
          </a:p>
          <a:p>
            <a:r>
              <a:rPr lang="vi-VN"/>
              <a:t>Ví dụ:</a:t>
            </a:r>
          </a:p>
          <a:p>
            <a:pPr lvl="4"/>
            <a:r>
              <a:rPr lang="vi-VN"/>
              <a:t>int a[5] = {0, 4, 8, 12, 16}; </a:t>
            </a:r>
            <a:endParaRPr lang="en-US"/>
          </a:p>
          <a:p>
            <a:pPr lvl="4"/>
            <a:r>
              <a:rPr lang="vi-VN"/>
              <a:t>int b[5];</a:t>
            </a:r>
          </a:p>
          <a:p>
            <a:pPr lvl="4"/>
            <a:r>
              <a:rPr lang="vi-VN"/>
              <a:t>b = a; //illegal</a:t>
            </a:r>
          </a:p>
          <a:p>
            <a:r>
              <a:rPr lang="vi-VN"/>
              <a:t>Dùng vòng lặp để sao chép các giá trị của mảng:</a:t>
            </a:r>
          </a:p>
          <a:p>
            <a:pPr lvl="4"/>
            <a:r>
              <a:rPr lang="nn-NO"/>
              <a:t>for (int i = 0; i &lt; 5; i ++) </a:t>
            </a:r>
          </a:p>
          <a:p>
            <a:pPr lvl="4"/>
            <a:r>
              <a:rPr lang="nn-NO"/>
              <a:t>    b[i] = a[i];</a:t>
            </a:r>
            <a:endParaRPr lang="en-US"/>
          </a:p>
        </p:txBody>
      </p:sp>
      <p:sp>
        <p:nvSpPr>
          <p:cNvPr id="2" name="Footer Placeholder 1">
            <a:extLst>
              <a:ext uri="{FF2B5EF4-FFF2-40B4-BE49-F238E27FC236}">
                <a16:creationId xmlns="" xmlns:a16="http://schemas.microsoft.com/office/drawing/2014/main" id="{9CE7EC1B-4309-4058-9327-706556D4FF16}"/>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6CF5779E-3D43-457F-9FF4-4AEACF785E22}"/>
              </a:ext>
            </a:extLst>
          </p:cNvPr>
          <p:cNvSpPr>
            <a:spLocks noGrp="1"/>
          </p:cNvSpPr>
          <p:nvPr>
            <p:ph type="sldNum" sz="quarter" idx="12"/>
          </p:nvPr>
        </p:nvSpPr>
        <p:spPr/>
        <p:txBody>
          <a:bodyPr/>
          <a:lstStyle/>
          <a:p>
            <a:fld id="{B09C6C27-D58C-4EFE-B9E3-C62B6FE31098}" type="slidenum">
              <a:rPr lang="en-US" smtClean="0"/>
              <a:t>26</a:t>
            </a:fld>
            <a:endParaRPr lang="en-US"/>
          </a:p>
        </p:txBody>
      </p:sp>
    </p:spTree>
    <p:extLst>
      <p:ext uri="{BB962C8B-B14F-4D97-AF65-F5344CB8AC3E}">
        <p14:creationId xmlns:p14="http://schemas.microsoft.com/office/powerpoint/2010/main" val="2251495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0F685DE2-2577-45A2-BFC5-4CF388C12EE1}"/>
              </a:ext>
            </a:extLst>
          </p:cNvPr>
          <p:cNvSpPr>
            <a:spLocks noGrp="1"/>
          </p:cNvSpPr>
          <p:nvPr>
            <p:ph idx="1"/>
          </p:nvPr>
        </p:nvSpPr>
        <p:spPr/>
        <p:txBody>
          <a:bodyPr/>
          <a:lstStyle/>
          <a:p>
            <a:r>
              <a:rPr lang="en-US">
                <a:solidFill>
                  <a:srgbClr val="FF0000"/>
                </a:solidFill>
              </a:rPr>
              <a:t>Không dùng cin/cout với biến mảng.</a:t>
            </a:r>
          </a:p>
          <a:p>
            <a:r>
              <a:rPr lang="en-US"/>
              <a:t>Ví dụ:</a:t>
            </a:r>
          </a:p>
          <a:p>
            <a:pPr lvl="4"/>
            <a:r>
              <a:rPr lang="en-US"/>
              <a:t>int a[10]; int b[10];	</a:t>
            </a:r>
          </a:p>
          <a:p>
            <a:pPr lvl="4"/>
            <a:r>
              <a:rPr lang="en-US"/>
              <a:t>cin &gt;&gt; a;</a:t>
            </a:r>
          </a:p>
          <a:p>
            <a:pPr lvl="4"/>
            <a:r>
              <a:rPr lang="en-US"/>
              <a:t>//...	//illegal</a:t>
            </a:r>
          </a:p>
          <a:p>
            <a:pPr lvl="4"/>
            <a:r>
              <a:rPr lang="en-US"/>
              <a:t>cout &lt;&lt; b;	//illegal</a:t>
            </a:r>
          </a:p>
          <a:p>
            <a:r>
              <a:rPr lang="en-US"/>
              <a:t>Dùng vòng lặp để nhập/xuất dữ liệu trong mảng:</a:t>
            </a:r>
          </a:p>
          <a:p>
            <a:pPr lvl="4"/>
            <a:r>
              <a:rPr lang="en-US"/>
              <a:t>for (int i = 0; i &lt; 10; i ++) </a:t>
            </a:r>
          </a:p>
          <a:p>
            <a:pPr lvl="4"/>
            <a:r>
              <a:rPr lang="en-US"/>
              <a:t>    cin &gt;&gt; a[i];</a:t>
            </a:r>
          </a:p>
          <a:p>
            <a:r>
              <a:rPr lang="en-US"/>
              <a:t>Không dùng phép so sánh đối với biến mảng:</a:t>
            </a:r>
          </a:p>
          <a:p>
            <a:pPr lvl="4"/>
            <a:r>
              <a:rPr lang="en-US"/>
              <a:t>if (a &lt; b)	//illegal</a:t>
            </a:r>
          </a:p>
          <a:p>
            <a:pPr lvl="4"/>
            <a:r>
              <a:rPr lang="en-US"/>
              <a:t>    //...</a:t>
            </a:r>
          </a:p>
          <a:p>
            <a:endParaRPr lang="en-US"/>
          </a:p>
        </p:txBody>
      </p:sp>
      <p:sp>
        <p:nvSpPr>
          <p:cNvPr id="3" name="Footer Placeholder 2">
            <a:extLst>
              <a:ext uri="{FF2B5EF4-FFF2-40B4-BE49-F238E27FC236}">
                <a16:creationId xmlns="" xmlns:a16="http://schemas.microsoft.com/office/drawing/2014/main" id="{23255285-827F-451E-B5D3-78D9981D85F1}"/>
              </a:ext>
            </a:extLst>
          </p:cNvPr>
          <p:cNvSpPr>
            <a:spLocks noGrp="1"/>
          </p:cNvSpPr>
          <p:nvPr>
            <p:ph type="ftr" sz="quarter" idx="11"/>
          </p:nvPr>
        </p:nvSpPr>
        <p:spPr/>
        <p:txBody>
          <a:bodyPr/>
          <a:lstStyle/>
          <a:p>
            <a:r>
              <a:rPr lang="vi-VN"/>
              <a:t>Cơ sở lập trình - Mảng</a:t>
            </a:r>
            <a:endParaRPr lang="en-US"/>
          </a:p>
        </p:txBody>
      </p:sp>
      <p:sp>
        <p:nvSpPr>
          <p:cNvPr id="4" name="Slide Number Placeholder 3">
            <a:extLst>
              <a:ext uri="{FF2B5EF4-FFF2-40B4-BE49-F238E27FC236}">
                <a16:creationId xmlns="" xmlns:a16="http://schemas.microsoft.com/office/drawing/2014/main" id="{1151A5F3-0578-4060-A1A9-BCAFBAC040B7}"/>
              </a:ext>
            </a:extLst>
          </p:cNvPr>
          <p:cNvSpPr>
            <a:spLocks noGrp="1"/>
          </p:cNvSpPr>
          <p:nvPr>
            <p:ph type="sldNum" sz="quarter" idx="12"/>
          </p:nvPr>
        </p:nvSpPr>
        <p:spPr/>
        <p:txBody>
          <a:bodyPr/>
          <a:lstStyle/>
          <a:p>
            <a:fld id="{B09C6C27-D58C-4EFE-B9E3-C62B6FE31098}" type="slidenum">
              <a:rPr lang="en-US" smtClean="0"/>
              <a:t>27</a:t>
            </a:fld>
            <a:endParaRPr lang="en-US"/>
          </a:p>
        </p:txBody>
      </p:sp>
    </p:spTree>
    <p:extLst>
      <p:ext uri="{BB962C8B-B14F-4D97-AF65-F5344CB8AC3E}">
        <p14:creationId xmlns:p14="http://schemas.microsoft.com/office/powerpoint/2010/main" val="10106745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6641480-BF51-4B95-BB4D-BFC0602AC508}"/>
              </a:ext>
            </a:extLst>
          </p:cNvPr>
          <p:cNvSpPr>
            <a:spLocks noGrp="1"/>
          </p:cNvSpPr>
          <p:nvPr>
            <p:ph type="title"/>
          </p:nvPr>
        </p:nvSpPr>
        <p:spPr/>
        <p:txBody>
          <a:bodyPr/>
          <a:lstStyle/>
          <a:p>
            <a:r>
              <a:rPr lang="en-US"/>
              <a:t>Nội dung</a:t>
            </a:r>
          </a:p>
        </p:txBody>
      </p:sp>
      <p:sp>
        <p:nvSpPr>
          <p:cNvPr id="5" name="Content Placeholder 4">
            <a:extLst>
              <a:ext uri="{FF2B5EF4-FFF2-40B4-BE49-F238E27FC236}">
                <a16:creationId xmlns="" xmlns:a16="http://schemas.microsoft.com/office/drawing/2014/main" id="{146458E1-74EE-413C-9BFE-9F4477B48504}"/>
              </a:ext>
            </a:extLst>
          </p:cNvPr>
          <p:cNvSpPr>
            <a:spLocks noGrp="1"/>
          </p:cNvSpPr>
          <p:nvPr>
            <p:ph idx="1"/>
          </p:nvPr>
        </p:nvSpPr>
        <p:spPr/>
        <p:txBody>
          <a:bodyPr/>
          <a:lstStyle/>
          <a:p>
            <a:r>
              <a:rPr lang="en-US">
                <a:solidFill>
                  <a:schemeClr val="bg1">
                    <a:lumMod val="50000"/>
                  </a:schemeClr>
                </a:solidFill>
              </a:rPr>
              <a:t>Mảng</a:t>
            </a:r>
          </a:p>
          <a:p>
            <a:r>
              <a:rPr lang="en-US">
                <a:solidFill>
                  <a:schemeClr val="bg1">
                    <a:lumMod val="50000"/>
                  </a:schemeClr>
                </a:solidFill>
              </a:rPr>
              <a:t>Các thao tác trên mảng</a:t>
            </a:r>
          </a:p>
          <a:p>
            <a:r>
              <a:rPr lang="en-US">
                <a:solidFill>
                  <a:schemeClr val="bg1">
                    <a:lumMod val="50000"/>
                  </a:schemeClr>
                </a:solidFill>
              </a:rPr>
              <a:t>Một số l</a:t>
            </a:r>
            <a:r>
              <a:rPr lang="vi-VN">
                <a:solidFill>
                  <a:schemeClr val="bg1">
                    <a:lumMod val="50000"/>
                  </a:schemeClr>
                </a:solidFill>
              </a:rPr>
              <a:t>ư</a:t>
            </a:r>
            <a:r>
              <a:rPr lang="en-US">
                <a:solidFill>
                  <a:schemeClr val="bg1">
                    <a:lumMod val="50000"/>
                  </a:schemeClr>
                </a:solidFill>
              </a:rPr>
              <a:t>u ý</a:t>
            </a:r>
          </a:p>
          <a:p>
            <a:r>
              <a:rPr lang="en-US"/>
              <a:t>Truyền mảng cho hàm</a:t>
            </a:r>
          </a:p>
        </p:txBody>
      </p:sp>
      <p:sp>
        <p:nvSpPr>
          <p:cNvPr id="2" name="Footer Placeholder 1">
            <a:extLst>
              <a:ext uri="{FF2B5EF4-FFF2-40B4-BE49-F238E27FC236}">
                <a16:creationId xmlns="" xmlns:a16="http://schemas.microsoft.com/office/drawing/2014/main" id="{E2E806D3-EF37-433A-8747-C1BE5C6AFA21}"/>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40DFD31A-F5BA-4647-BF4B-075BD28CC1BD}"/>
              </a:ext>
            </a:extLst>
          </p:cNvPr>
          <p:cNvSpPr>
            <a:spLocks noGrp="1"/>
          </p:cNvSpPr>
          <p:nvPr>
            <p:ph type="sldNum" sz="quarter" idx="12"/>
          </p:nvPr>
        </p:nvSpPr>
        <p:spPr/>
        <p:txBody>
          <a:bodyPr/>
          <a:lstStyle/>
          <a:p>
            <a:fld id="{B09C6C27-D58C-4EFE-B9E3-C62B6FE31098}" type="slidenum">
              <a:rPr lang="en-US" smtClean="0"/>
              <a:t>28</a:t>
            </a:fld>
            <a:endParaRPr lang="en-US"/>
          </a:p>
        </p:txBody>
      </p:sp>
    </p:spTree>
    <p:extLst>
      <p:ext uri="{BB962C8B-B14F-4D97-AF65-F5344CB8AC3E}">
        <p14:creationId xmlns:p14="http://schemas.microsoft.com/office/powerpoint/2010/main" val="11022987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A2CF2796-D073-4485-A813-E60BC23BE37C}"/>
              </a:ext>
            </a:extLst>
          </p:cNvPr>
          <p:cNvSpPr>
            <a:spLocks noGrp="1"/>
          </p:cNvSpPr>
          <p:nvPr>
            <p:ph type="title"/>
          </p:nvPr>
        </p:nvSpPr>
        <p:spPr/>
        <p:txBody>
          <a:bodyPr/>
          <a:lstStyle/>
          <a:p>
            <a:r>
              <a:rPr lang="en-US"/>
              <a:t>Truyền mảng cho hàm</a:t>
            </a:r>
          </a:p>
        </p:txBody>
      </p:sp>
      <p:sp>
        <p:nvSpPr>
          <p:cNvPr id="5" name="Content Placeholder 4">
            <a:extLst>
              <a:ext uri="{FF2B5EF4-FFF2-40B4-BE49-F238E27FC236}">
                <a16:creationId xmlns="" xmlns:a16="http://schemas.microsoft.com/office/drawing/2014/main" id="{2F4CE629-84CC-41F2-BBE0-AA10AF12C57E}"/>
              </a:ext>
            </a:extLst>
          </p:cNvPr>
          <p:cNvSpPr>
            <a:spLocks noGrp="1"/>
          </p:cNvSpPr>
          <p:nvPr>
            <p:ph idx="1"/>
          </p:nvPr>
        </p:nvSpPr>
        <p:spPr/>
        <p:txBody>
          <a:bodyPr/>
          <a:lstStyle/>
          <a:p>
            <a:r>
              <a:rPr lang="vi-VN"/>
              <a:t>Trong C++, biến mảng luôn được truyền cho hàm bằng tham chiếu (pass-by-reference).</a:t>
            </a:r>
          </a:p>
          <a:p>
            <a:pPr lvl="1"/>
            <a:r>
              <a:rPr lang="vi-VN"/>
              <a:t>Không cần dùng ký hiệu &amp; khi khai báo tham số là mảng.</a:t>
            </a:r>
          </a:p>
          <a:p>
            <a:r>
              <a:rPr lang="vi-VN"/>
              <a:t>Khi tham số của hàm là mảng một chiều:</a:t>
            </a:r>
          </a:p>
          <a:p>
            <a:pPr lvl="1"/>
            <a:r>
              <a:rPr lang="vi-VN"/>
              <a:t>không cần khai báo số phần tử tối đa của mảng; </a:t>
            </a:r>
            <a:endParaRPr lang="en-US"/>
          </a:p>
          <a:p>
            <a:pPr lvl="1"/>
            <a:r>
              <a:rPr lang="vi-VN"/>
              <a:t>nhưng phải có tham số cho biết số phần tử hiện có trong mảng.</a:t>
            </a:r>
          </a:p>
          <a:p>
            <a:r>
              <a:rPr lang="vi-VN"/>
              <a:t>Ví dụ hàm khởi tạo các giá trị ban đầu cho mảng:</a:t>
            </a:r>
          </a:p>
          <a:p>
            <a:pPr lvl="3"/>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khoitao(</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808080"/>
                </a:solidFill>
                <a:latin typeface="Consolas" panose="020B0609020204030204" pitchFamily="49" charset="0"/>
              </a:rPr>
              <a:t>arr</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808080"/>
                </a:solidFill>
                <a:latin typeface="Consolas" panose="020B0609020204030204" pitchFamily="49" charset="0"/>
              </a:rPr>
              <a:t>arrSize</a:t>
            </a:r>
            <a:r>
              <a:rPr lang="en-US">
                <a:solidFill>
                  <a:srgbClr val="000000"/>
                </a:solidFill>
                <a:latin typeface="Consolas" panose="020B0609020204030204" pitchFamily="49" charset="0"/>
              </a:rPr>
              <a:t>)</a:t>
            </a:r>
          </a:p>
          <a:p>
            <a:pPr lvl="3"/>
            <a:r>
              <a:rPr lang="en-US">
                <a:solidFill>
                  <a:srgbClr val="000000"/>
                </a:solidFill>
                <a:latin typeface="Consolas" panose="020B0609020204030204" pitchFamily="49" charset="0"/>
              </a:rPr>
              <a:t>{</a:t>
            </a:r>
          </a:p>
          <a:p>
            <a:pPr lvl="3"/>
            <a:r>
              <a:rPr lang="nn-NO">
                <a:solidFill>
                  <a:srgbClr val="000000"/>
                </a:solidFill>
                <a:latin typeface="Consolas" panose="020B0609020204030204" pitchFamily="49" charset="0"/>
              </a:rPr>
              <a:t>    </a:t>
            </a:r>
            <a:r>
              <a:rPr lang="nn-NO">
                <a:solidFill>
                  <a:srgbClr val="0000FF"/>
                </a:solidFill>
                <a:latin typeface="Consolas" panose="020B0609020204030204" pitchFamily="49" charset="0"/>
              </a:rPr>
              <a:t>for</a:t>
            </a:r>
            <a:r>
              <a:rPr lang="nn-NO">
                <a:solidFill>
                  <a:srgbClr val="000000"/>
                </a:solidFill>
                <a:latin typeface="Consolas" panose="020B0609020204030204" pitchFamily="49" charset="0"/>
              </a:rPr>
              <a:t> (</a:t>
            </a:r>
            <a:r>
              <a:rPr lang="nn-NO">
                <a:solidFill>
                  <a:srgbClr val="0000FF"/>
                </a:solidFill>
                <a:latin typeface="Consolas" panose="020B0609020204030204" pitchFamily="49" charset="0"/>
              </a:rPr>
              <a:t>int</a:t>
            </a:r>
            <a:r>
              <a:rPr lang="nn-NO">
                <a:solidFill>
                  <a:srgbClr val="000000"/>
                </a:solidFill>
                <a:latin typeface="Consolas" panose="020B0609020204030204" pitchFamily="49" charset="0"/>
              </a:rPr>
              <a:t> i = 0; i &lt;= </a:t>
            </a:r>
            <a:r>
              <a:rPr lang="nn-NO">
                <a:solidFill>
                  <a:srgbClr val="808080"/>
                </a:solidFill>
                <a:latin typeface="Consolas" panose="020B0609020204030204" pitchFamily="49" charset="0"/>
              </a:rPr>
              <a:t>arrSize</a:t>
            </a:r>
            <a:r>
              <a:rPr lang="nn-NO">
                <a:solidFill>
                  <a:srgbClr val="000000"/>
                </a:solidFill>
                <a:latin typeface="Consolas" panose="020B0609020204030204" pitchFamily="49" charset="0"/>
              </a:rPr>
              <a:t> - 1; i++) </a:t>
            </a:r>
          </a:p>
          <a:p>
            <a:pPr lvl="3"/>
            <a:r>
              <a:rPr lang="en-US">
                <a:solidFill>
                  <a:srgbClr val="000000"/>
                </a:solidFill>
                <a:latin typeface="Consolas" panose="020B0609020204030204" pitchFamily="49" charset="0"/>
              </a:rPr>
              <a:t>        </a:t>
            </a:r>
            <a:r>
              <a:rPr lang="en-US">
                <a:solidFill>
                  <a:srgbClr val="808080"/>
                </a:solidFill>
                <a:latin typeface="Consolas" panose="020B0609020204030204" pitchFamily="49" charset="0"/>
              </a:rPr>
              <a:t>arr</a:t>
            </a:r>
            <a:r>
              <a:rPr lang="en-US">
                <a:solidFill>
                  <a:srgbClr val="000000"/>
                </a:solidFill>
                <a:latin typeface="Consolas" panose="020B0609020204030204" pitchFamily="49" charset="0"/>
              </a:rPr>
              <a:t>[i] = 0;</a:t>
            </a:r>
          </a:p>
          <a:p>
            <a:pPr lvl="3"/>
            <a:r>
              <a:rPr lang="en-US">
                <a:solidFill>
                  <a:srgbClr val="000000"/>
                </a:solidFill>
                <a:latin typeface="Consolas" panose="020B0609020204030204" pitchFamily="49" charset="0"/>
              </a:rPr>
              <a:t>}</a:t>
            </a:r>
            <a:endParaRPr lang="en-US"/>
          </a:p>
        </p:txBody>
      </p:sp>
      <p:sp>
        <p:nvSpPr>
          <p:cNvPr id="2" name="Footer Placeholder 1">
            <a:extLst>
              <a:ext uri="{FF2B5EF4-FFF2-40B4-BE49-F238E27FC236}">
                <a16:creationId xmlns="" xmlns:a16="http://schemas.microsoft.com/office/drawing/2014/main" id="{F0A984D5-E031-4996-A902-E2FA2DACCD6E}"/>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D589EE34-533E-4B3C-83EF-C7490C9CCF7A}"/>
              </a:ext>
            </a:extLst>
          </p:cNvPr>
          <p:cNvSpPr>
            <a:spLocks noGrp="1"/>
          </p:cNvSpPr>
          <p:nvPr>
            <p:ph type="sldNum" sz="quarter" idx="12"/>
          </p:nvPr>
        </p:nvSpPr>
        <p:spPr/>
        <p:txBody>
          <a:bodyPr/>
          <a:lstStyle/>
          <a:p>
            <a:fld id="{B09C6C27-D58C-4EFE-B9E3-C62B6FE31098}" type="slidenum">
              <a:rPr lang="en-US" smtClean="0"/>
              <a:t>29</a:t>
            </a:fld>
            <a:endParaRPr lang="en-US"/>
          </a:p>
        </p:txBody>
      </p:sp>
    </p:spTree>
    <p:extLst>
      <p:ext uri="{BB962C8B-B14F-4D97-AF65-F5344CB8AC3E}">
        <p14:creationId xmlns:p14="http://schemas.microsoft.com/office/powerpoint/2010/main" val="34398700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9978EF66-5A5E-41F4-9C6A-B7B285822D16}"/>
              </a:ext>
            </a:extLst>
          </p:cNvPr>
          <p:cNvSpPr>
            <a:spLocks noGrp="1"/>
          </p:cNvSpPr>
          <p:nvPr>
            <p:ph idx="1"/>
          </p:nvPr>
        </p:nvSpPr>
        <p:spPr/>
        <p:txBody>
          <a:bodyPr>
            <a:normAutofit/>
          </a:bodyPr>
          <a:lstStyle/>
          <a:p>
            <a:r>
              <a:rPr lang="vi-VN"/>
              <a:t>Khi truyền tham chiếu, hàm có thể thay đổi giá trị của tham số. Vì vậy, để ngăn không cho hàm thay thay đổi giá trị của tham số mảng, ta dùng tham chiếu hằng.</a:t>
            </a:r>
            <a:endParaRPr lang="en-US"/>
          </a:p>
          <a:p>
            <a:pPr lvl="4">
              <a:spcBef>
                <a:spcPts val="0"/>
              </a:spcBef>
              <a:spcAft>
                <a:spcPts val="0"/>
              </a:spcAft>
            </a:pPr>
            <a:endParaRPr lang="en-US" sz="2200">
              <a:solidFill>
                <a:srgbClr val="0000FF"/>
              </a:solidFill>
              <a:latin typeface="Consolas" panose="020B0609020204030204" pitchFamily="49" charset="0"/>
            </a:endParaRPr>
          </a:p>
          <a:p>
            <a:pPr lvl="4">
              <a:spcBef>
                <a:spcPts val="0"/>
              </a:spcBef>
              <a:spcAft>
                <a:spcPts val="0"/>
              </a:spcAft>
            </a:pPr>
            <a:r>
              <a:rPr lang="en-US" sz="2200">
                <a:solidFill>
                  <a:srgbClr val="0000FF"/>
                </a:solidFill>
                <a:latin typeface="Consolas" panose="020B0609020204030204" pitchFamily="49" charset="0"/>
              </a:rPr>
              <a:t>void</a:t>
            </a:r>
            <a:r>
              <a:rPr lang="en-US" sz="2200">
                <a:solidFill>
                  <a:srgbClr val="000000"/>
                </a:solidFill>
                <a:latin typeface="Consolas" panose="020B0609020204030204" pitchFamily="49" charset="0"/>
              </a:rPr>
              <a:t> xuat(</a:t>
            </a:r>
            <a:r>
              <a:rPr lang="en-US" sz="2200">
                <a:solidFill>
                  <a:srgbClr val="0000FF"/>
                </a:solidFill>
                <a:latin typeface="Consolas" panose="020B0609020204030204" pitchFamily="49" charset="0"/>
              </a:rPr>
              <a:t>const</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a:t>
            </a:r>
            <a:r>
              <a:rPr lang="en-US" sz="2200">
                <a:solidFill>
                  <a:srgbClr val="808080"/>
                </a:solidFill>
                <a:latin typeface="Consolas" panose="020B0609020204030204" pitchFamily="49" charset="0"/>
              </a:rPr>
              <a:t>arr</a:t>
            </a:r>
            <a:r>
              <a:rPr lang="en-US" sz="2200">
                <a:solidFill>
                  <a:srgbClr val="000000"/>
                </a:solidFill>
                <a:latin typeface="Consolas" panose="020B0609020204030204" pitchFamily="49" charset="0"/>
              </a:rPr>
              <a:t>[], </a:t>
            </a:r>
            <a:r>
              <a:rPr lang="en-US" sz="2200">
                <a:solidFill>
                  <a:srgbClr val="0000FF"/>
                </a:solidFill>
                <a:latin typeface="Consolas" panose="020B0609020204030204" pitchFamily="49" charset="0"/>
              </a:rPr>
              <a:t>int</a:t>
            </a:r>
            <a:r>
              <a:rPr lang="en-US" sz="2200">
                <a:solidFill>
                  <a:srgbClr val="000000"/>
                </a:solidFill>
                <a:latin typeface="Consolas" panose="020B0609020204030204" pitchFamily="49" charset="0"/>
              </a:rPr>
              <a:t> </a:t>
            </a:r>
            <a:r>
              <a:rPr lang="en-US" sz="2200">
                <a:solidFill>
                  <a:srgbClr val="808080"/>
                </a:solidFill>
                <a:latin typeface="Consolas" panose="020B0609020204030204" pitchFamily="49" charset="0"/>
              </a:rPr>
              <a:t>arrSize</a:t>
            </a: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a:t>
            </a:r>
          </a:p>
          <a:p>
            <a:pPr lvl="4">
              <a:spcBef>
                <a:spcPts val="0"/>
              </a:spcBef>
              <a:spcAft>
                <a:spcPts val="0"/>
              </a:spcAft>
            </a:pP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for</a:t>
            </a:r>
            <a:r>
              <a:rPr lang="nn-NO" sz="2200">
                <a:solidFill>
                  <a:srgbClr val="000000"/>
                </a:solidFill>
                <a:latin typeface="Consolas" panose="020B0609020204030204" pitchFamily="49" charset="0"/>
              </a:rPr>
              <a:t> (</a:t>
            </a:r>
            <a:r>
              <a:rPr lang="nn-NO" sz="2200">
                <a:solidFill>
                  <a:srgbClr val="0000FF"/>
                </a:solidFill>
                <a:latin typeface="Consolas" panose="020B0609020204030204" pitchFamily="49" charset="0"/>
              </a:rPr>
              <a:t>int</a:t>
            </a:r>
            <a:r>
              <a:rPr lang="nn-NO" sz="2200">
                <a:solidFill>
                  <a:srgbClr val="000000"/>
                </a:solidFill>
                <a:latin typeface="Consolas" panose="020B0609020204030204" pitchFamily="49" charset="0"/>
              </a:rPr>
              <a:t> i = 0; i &lt;= </a:t>
            </a:r>
            <a:r>
              <a:rPr lang="nn-NO" sz="2200">
                <a:solidFill>
                  <a:srgbClr val="808080"/>
                </a:solidFill>
                <a:latin typeface="Consolas" panose="020B0609020204030204" pitchFamily="49" charset="0"/>
              </a:rPr>
              <a:t>arrSize</a:t>
            </a:r>
            <a:r>
              <a:rPr lang="nn-NO" sz="2200">
                <a:solidFill>
                  <a:srgbClr val="000000"/>
                </a:solidFill>
                <a:latin typeface="Consolas" panose="020B0609020204030204" pitchFamily="49" charset="0"/>
              </a:rPr>
              <a:t> - 1; i++) </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808080"/>
                </a:solidFill>
                <a:latin typeface="Consolas" panose="020B0609020204030204" pitchFamily="49" charset="0"/>
              </a:rPr>
              <a:t>arr</a:t>
            </a:r>
            <a:r>
              <a:rPr lang="en-US" sz="2200">
                <a:solidFill>
                  <a:srgbClr val="000000"/>
                </a:solidFill>
                <a:latin typeface="Consolas" panose="020B0609020204030204" pitchFamily="49" charset="0"/>
              </a:rPr>
              <a:t>[i]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a:t>
            </a:r>
            <a:r>
              <a:rPr lang="en-US" sz="2200">
                <a:solidFill>
                  <a:srgbClr val="A31515"/>
                </a:solidFill>
                <a:latin typeface="Consolas" panose="020B0609020204030204" pitchFamily="49" charset="0"/>
              </a:rPr>
              <a:t>" "</a:t>
            </a:r>
            <a:r>
              <a:rPr lang="en-US" sz="2200">
                <a:solidFill>
                  <a:srgbClr val="000000"/>
                </a:solidFill>
                <a:latin typeface="Consolas" panose="020B0609020204030204" pitchFamily="49" charset="0"/>
              </a:rPr>
              <a:t>;</a:t>
            </a:r>
          </a:p>
          <a:p>
            <a:pPr lvl="4">
              <a:spcBef>
                <a:spcPts val="0"/>
              </a:spcBef>
              <a:spcAft>
                <a:spcPts val="0"/>
              </a:spcAft>
            </a:pPr>
            <a:r>
              <a:rPr lang="en-US" sz="2200">
                <a:solidFill>
                  <a:srgbClr val="000000"/>
                </a:solidFill>
                <a:latin typeface="Consolas" panose="020B0609020204030204" pitchFamily="49" charset="0"/>
              </a:rPr>
              <a:t>    cout </a:t>
            </a:r>
            <a:r>
              <a:rPr lang="en-US" sz="2200">
                <a:solidFill>
                  <a:srgbClr val="008080"/>
                </a:solidFill>
                <a:latin typeface="Consolas" panose="020B0609020204030204" pitchFamily="49" charset="0"/>
              </a:rPr>
              <a:t>&lt;&lt;</a:t>
            </a:r>
            <a:r>
              <a:rPr lang="en-US" sz="2200">
                <a:solidFill>
                  <a:srgbClr val="000000"/>
                </a:solidFill>
                <a:latin typeface="Consolas" panose="020B0609020204030204" pitchFamily="49" charset="0"/>
              </a:rPr>
              <a:t> endl;</a:t>
            </a:r>
          </a:p>
          <a:p>
            <a:pPr lvl="4">
              <a:spcBef>
                <a:spcPts val="0"/>
              </a:spcBef>
              <a:spcAft>
                <a:spcPts val="0"/>
              </a:spcAft>
            </a:pPr>
            <a:r>
              <a:rPr lang="en-US" sz="2200">
                <a:solidFill>
                  <a:srgbClr val="000000"/>
                </a:solidFill>
                <a:latin typeface="Consolas" panose="020B0609020204030204" pitchFamily="49" charset="0"/>
              </a:rPr>
              <a:t>}</a:t>
            </a:r>
          </a:p>
          <a:p>
            <a:pPr lvl="4">
              <a:spcBef>
                <a:spcPts val="0"/>
              </a:spcBef>
              <a:spcAft>
                <a:spcPts val="0"/>
              </a:spcAft>
            </a:pPr>
            <a:endParaRPr lang="vi-VN" sz="2200"/>
          </a:p>
          <a:p>
            <a:r>
              <a:rPr lang="vi-VN"/>
              <a:t>Đây là một kỹ thuật lập trình tốt: </a:t>
            </a:r>
            <a:r>
              <a:rPr lang="vi-VN">
                <a:solidFill>
                  <a:srgbClr val="FF0000"/>
                </a:solidFill>
              </a:rPr>
              <a:t>khai báo tham số mảng là tham chiếu hằng nếu hàm không hiệu chỉnh các giá trị lưu trong mảng</a:t>
            </a:r>
            <a:r>
              <a:rPr lang="vi-VN"/>
              <a:t>.</a:t>
            </a:r>
          </a:p>
          <a:p>
            <a:r>
              <a:rPr lang="vi-VN"/>
              <a:t> C++ không cho phép hàm trả về giá trị có kiểu mảng.</a:t>
            </a:r>
          </a:p>
          <a:p>
            <a:r>
              <a:rPr lang="vi-VN"/>
              <a:t> Ví dụ hàm tính giá trị trung bình của một mảng số thực.</a:t>
            </a:r>
          </a:p>
          <a:p>
            <a:endParaRPr lang="en-US"/>
          </a:p>
        </p:txBody>
      </p:sp>
      <p:sp>
        <p:nvSpPr>
          <p:cNvPr id="2" name="Footer Placeholder 1">
            <a:extLst>
              <a:ext uri="{FF2B5EF4-FFF2-40B4-BE49-F238E27FC236}">
                <a16:creationId xmlns="" xmlns:a16="http://schemas.microsoft.com/office/drawing/2014/main" id="{78AB1E17-0660-41A2-A571-81DDCFA42621}"/>
              </a:ext>
            </a:extLst>
          </p:cNvPr>
          <p:cNvSpPr>
            <a:spLocks noGrp="1"/>
          </p:cNvSpPr>
          <p:nvPr>
            <p:ph type="ftr" sz="quarter" idx="11"/>
          </p:nvPr>
        </p:nvSpPr>
        <p:spPr/>
        <p:txBody>
          <a:bodyPr/>
          <a:lstStyle/>
          <a:p>
            <a:r>
              <a:rPr lang="vi-VN"/>
              <a:t>Cơ sở lập trình - Mảng</a:t>
            </a:r>
            <a:endParaRPr lang="en-US"/>
          </a:p>
        </p:txBody>
      </p:sp>
      <p:sp>
        <p:nvSpPr>
          <p:cNvPr id="3" name="Slide Number Placeholder 2">
            <a:extLst>
              <a:ext uri="{FF2B5EF4-FFF2-40B4-BE49-F238E27FC236}">
                <a16:creationId xmlns="" xmlns:a16="http://schemas.microsoft.com/office/drawing/2014/main" id="{9E2DAF55-DFE9-435E-ADAA-D80D9081F933}"/>
              </a:ext>
            </a:extLst>
          </p:cNvPr>
          <p:cNvSpPr>
            <a:spLocks noGrp="1"/>
          </p:cNvSpPr>
          <p:nvPr>
            <p:ph type="sldNum" sz="quarter" idx="12"/>
          </p:nvPr>
        </p:nvSpPr>
        <p:spPr/>
        <p:txBody>
          <a:bodyPr/>
          <a:lstStyle/>
          <a:p>
            <a:fld id="{B09C6C27-D58C-4EFE-B9E3-C62B6FE31098}" type="slidenum">
              <a:rPr lang="en-US" smtClean="0"/>
              <a:t>30</a:t>
            </a:fld>
            <a:endParaRPr lang="en-US"/>
          </a:p>
        </p:txBody>
      </p:sp>
    </p:spTree>
    <p:extLst>
      <p:ext uri="{BB962C8B-B14F-4D97-AF65-F5344CB8AC3E}">
        <p14:creationId xmlns:p14="http://schemas.microsoft.com/office/powerpoint/2010/main" val="24918839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420E157B-9E44-4E69-8166-152548B0FC15}"/>
              </a:ext>
            </a:extLst>
          </p:cNvPr>
          <p:cNvSpPr>
            <a:spLocks noGrp="1"/>
          </p:cNvSpPr>
          <p:nvPr>
            <p:ph type="body" sz="quarter" idx="13"/>
          </p:nvPr>
        </p:nvSpPr>
        <p:spPr/>
        <p:txBody>
          <a:bodyPr>
            <a:noAutofit/>
          </a:bodyPr>
          <a:lstStyle/>
          <a:p>
            <a:r>
              <a:rPr lang="en-US">
                <a:solidFill>
                  <a:srgbClr val="808080"/>
                </a:solidFill>
              </a:rPr>
              <a:t>#include</a:t>
            </a:r>
            <a:r>
              <a:rPr lang="en-US">
                <a:solidFill>
                  <a:srgbClr val="000000"/>
                </a:solidFill>
              </a:rPr>
              <a:t> </a:t>
            </a:r>
            <a:r>
              <a:rPr lang="en-US">
                <a:solidFill>
                  <a:srgbClr val="A31515"/>
                </a:solidFill>
              </a:rPr>
              <a:t>&lt;iostream&gt;</a:t>
            </a:r>
            <a:endParaRPr lang="en-US">
              <a:solidFill>
                <a:srgbClr val="000000"/>
              </a:solidFill>
            </a:endParaRPr>
          </a:p>
          <a:p>
            <a:r>
              <a:rPr lang="en-US">
                <a:solidFill>
                  <a:srgbClr val="0000FF"/>
                </a:solidFill>
              </a:rPr>
              <a:t>using</a:t>
            </a:r>
            <a:r>
              <a:rPr lang="en-US">
                <a:solidFill>
                  <a:srgbClr val="000000"/>
                </a:solidFill>
              </a:rPr>
              <a:t> </a:t>
            </a:r>
            <a:r>
              <a:rPr lang="en-US">
                <a:solidFill>
                  <a:srgbClr val="0000FF"/>
                </a:solidFill>
              </a:rPr>
              <a:t>namespace</a:t>
            </a:r>
            <a:r>
              <a:rPr lang="en-US">
                <a:solidFill>
                  <a:srgbClr val="000000"/>
                </a:solidFill>
              </a:rPr>
              <a:t> std;</a:t>
            </a:r>
          </a:p>
          <a:p>
            <a:endParaRPr lang="en-US">
              <a:solidFill>
                <a:srgbClr val="000000"/>
              </a:solidFill>
            </a:endParaRPr>
          </a:p>
          <a:p>
            <a:r>
              <a:rPr lang="en-US">
                <a:solidFill>
                  <a:srgbClr val="0000FF"/>
                </a:solidFill>
              </a:rPr>
              <a:t>double</a:t>
            </a:r>
            <a:r>
              <a:rPr lang="en-US">
                <a:solidFill>
                  <a:srgbClr val="000000"/>
                </a:solidFill>
              </a:rPr>
              <a:t> tinhTrungbinh(</a:t>
            </a:r>
            <a:r>
              <a:rPr lang="en-US">
                <a:solidFill>
                  <a:srgbClr val="0000FF"/>
                </a:solidFill>
              </a:rPr>
              <a:t>double</a:t>
            </a:r>
            <a:r>
              <a:rPr lang="en-US">
                <a:solidFill>
                  <a:srgbClr val="000000"/>
                </a:solidFill>
              </a:rPr>
              <a:t> </a:t>
            </a:r>
            <a:r>
              <a:rPr lang="en-US">
                <a:solidFill>
                  <a:srgbClr val="808080"/>
                </a:solidFill>
              </a:rPr>
              <a:t>arr</a:t>
            </a:r>
            <a:r>
              <a:rPr lang="en-US">
                <a:solidFill>
                  <a:srgbClr val="000000"/>
                </a:solidFill>
              </a:rPr>
              <a:t>[], </a:t>
            </a:r>
            <a:r>
              <a:rPr lang="en-US">
                <a:solidFill>
                  <a:srgbClr val="0000FF"/>
                </a:solidFill>
              </a:rPr>
              <a:t>int</a:t>
            </a:r>
            <a:r>
              <a:rPr lang="en-US">
                <a:solidFill>
                  <a:srgbClr val="000000"/>
                </a:solidFill>
              </a:rPr>
              <a:t> </a:t>
            </a:r>
            <a:r>
              <a:rPr lang="en-US">
                <a:solidFill>
                  <a:srgbClr val="808080"/>
                </a:solidFill>
              </a:rPr>
              <a:t>arrSize</a:t>
            </a:r>
            <a:r>
              <a:rPr lang="en-US">
                <a:solidFill>
                  <a:srgbClr val="000000"/>
                </a:solidFill>
              </a:rPr>
              <a:t>)</a:t>
            </a:r>
          </a:p>
          <a:p>
            <a:r>
              <a:rPr lang="en-US">
                <a:solidFill>
                  <a:srgbClr val="000000"/>
                </a:solidFill>
              </a:rPr>
              <a:t>{</a:t>
            </a:r>
          </a:p>
          <a:p>
            <a:r>
              <a:rPr lang="en-US">
                <a:solidFill>
                  <a:srgbClr val="000000"/>
                </a:solidFill>
              </a:rPr>
              <a:t>    </a:t>
            </a:r>
            <a:r>
              <a:rPr lang="en-US">
                <a:solidFill>
                  <a:srgbClr val="0000FF"/>
                </a:solidFill>
              </a:rPr>
              <a:t>double</a:t>
            </a:r>
            <a:r>
              <a:rPr lang="en-US">
                <a:solidFill>
                  <a:srgbClr val="000000"/>
                </a:solidFill>
              </a:rPr>
              <a:t> tong = 0;</a:t>
            </a:r>
          </a:p>
          <a:p>
            <a:r>
              <a:rPr lang="nn-NO">
                <a:solidFill>
                  <a:srgbClr val="000000"/>
                </a:solidFill>
              </a:rPr>
              <a:t>    </a:t>
            </a:r>
            <a:r>
              <a:rPr lang="nn-NO">
                <a:solidFill>
                  <a:srgbClr val="0000FF"/>
                </a:solidFill>
              </a:rPr>
              <a:t>for</a:t>
            </a:r>
            <a:r>
              <a:rPr lang="nn-NO">
                <a:solidFill>
                  <a:srgbClr val="000000"/>
                </a:solidFill>
              </a:rPr>
              <a:t> (</a:t>
            </a:r>
            <a:r>
              <a:rPr lang="nn-NO">
                <a:solidFill>
                  <a:srgbClr val="0000FF"/>
                </a:solidFill>
              </a:rPr>
              <a:t>int</a:t>
            </a:r>
            <a:r>
              <a:rPr lang="nn-NO">
                <a:solidFill>
                  <a:srgbClr val="000000"/>
                </a:solidFill>
              </a:rPr>
              <a:t> i = 0; i &lt;= </a:t>
            </a:r>
            <a:r>
              <a:rPr lang="nn-NO">
                <a:solidFill>
                  <a:srgbClr val="808080"/>
                </a:solidFill>
              </a:rPr>
              <a:t>arrSize</a:t>
            </a:r>
            <a:r>
              <a:rPr lang="nn-NO">
                <a:solidFill>
                  <a:srgbClr val="000000"/>
                </a:solidFill>
              </a:rPr>
              <a:t> - 1; i++)</a:t>
            </a:r>
          </a:p>
          <a:p>
            <a:r>
              <a:rPr lang="en-US">
                <a:solidFill>
                  <a:srgbClr val="000000"/>
                </a:solidFill>
              </a:rPr>
              <a:t>        tong += </a:t>
            </a:r>
            <a:r>
              <a:rPr lang="en-US">
                <a:solidFill>
                  <a:srgbClr val="808080"/>
                </a:solidFill>
              </a:rPr>
              <a:t>arr</a:t>
            </a:r>
            <a:r>
              <a:rPr lang="en-US">
                <a:solidFill>
                  <a:srgbClr val="000000"/>
                </a:solidFill>
              </a:rPr>
              <a:t>[i];</a:t>
            </a:r>
          </a:p>
          <a:p>
            <a:r>
              <a:rPr lang="en-US">
                <a:solidFill>
                  <a:srgbClr val="000000"/>
                </a:solidFill>
              </a:rPr>
              <a:t>    </a:t>
            </a:r>
            <a:r>
              <a:rPr lang="en-US">
                <a:solidFill>
                  <a:srgbClr val="0000FF"/>
                </a:solidFill>
              </a:rPr>
              <a:t>return</a:t>
            </a:r>
            <a:r>
              <a:rPr lang="en-US">
                <a:solidFill>
                  <a:srgbClr val="000000"/>
                </a:solidFill>
              </a:rPr>
              <a:t> tong / arrsize;</a:t>
            </a:r>
          </a:p>
          <a:p>
            <a:r>
              <a:rPr lang="en-US">
                <a:solidFill>
                  <a:srgbClr val="000000"/>
                </a:solidFill>
              </a:rPr>
              <a:t>}</a:t>
            </a:r>
          </a:p>
          <a:p>
            <a:endParaRPr lang="en-US">
              <a:solidFill>
                <a:srgbClr val="000000"/>
              </a:solidFill>
            </a:endParaRPr>
          </a:p>
          <a:p>
            <a:r>
              <a:rPr lang="en-US">
                <a:solidFill>
                  <a:srgbClr val="0000FF"/>
                </a:solidFill>
              </a:rPr>
              <a:t>int</a:t>
            </a:r>
            <a:r>
              <a:rPr lang="en-US">
                <a:solidFill>
                  <a:srgbClr val="000000"/>
                </a:solidFill>
              </a:rPr>
              <a:t> main()</a:t>
            </a:r>
          </a:p>
          <a:p>
            <a:r>
              <a:rPr lang="en-US">
                <a:solidFill>
                  <a:srgbClr val="000000"/>
                </a:solidFill>
              </a:rPr>
              <a:t>{</a:t>
            </a:r>
          </a:p>
          <a:p>
            <a:r>
              <a:rPr lang="en-US">
                <a:solidFill>
                  <a:srgbClr val="000000"/>
                </a:solidFill>
              </a:rPr>
              <a:t>    </a:t>
            </a:r>
            <a:r>
              <a:rPr lang="en-US">
                <a:solidFill>
                  <a:srgbClr val="0000FF"/>
                </a:solidFill>
              </a:rPr>
              <a:t>double</a:t>
            </a:r>
            <a:r>
              <a:rPr lang="en-US">
                <a:solidFill>
                  <a:srgbClr val="000000"/>
                </a:solidFill>
              </a:rPr>
              <a:t> a[] = { 1,2,3,4,5,6,7,8,9,10 };</a:t>
            </a:r>
          </a:p>
          <a:p>
            <a:r>
              <a:rPr lang="en-US">
                <a:solidFill>
                  <a:srgbClr val="000000"/>
                </a:solidFill>
              </a:rPr>
              <a:t>    </a:t>
            </a:r>
            <a:r>
              <a:rPr lang="en-US">
                <a:solidFill>
                  <a:srgbClr val="0000FF"/>
                </a:solidFill>
              </a:rPr>
              <a:t>int</a:t>
            </a:r>
            <a:r>
              <a:rPr lang="en-US">
                <a:solidFill>
                  <a:srgbClr val="000000"/>
                </a:solidFill>
              </a:rPr>
              <a:t> n = </a:t>
            </a:r>
            <a:r>
              <a:rPr lang="en-US">
                <a:solidFill>
                  <a:srgbClr val="0000FF"/>
                </a:solidFill>
              </a:rPr>
              <a:t>sizeof</a:t>
            </a:r>
            <a:r>
              <a:rPr lang="en-US">
                <a:solidFill>
                  <a:srgbClr val="000000"/>
                </a:solidFill>
              </a:rPr>
              <a:t>(a) / </a:t>
            </a:r>
            <a:r>
              <a:rPr lang="en-US">
                <a:solidFill>
                  <a:srgbClr val="0000FF"/>
                </a:solidFill>
              </a:rPr>
              <a:t>sizeof</a:t>
            </a:r>
            <a:r>
              <a:rPr lang="en-US">
                <a:solidFill>
                  <a:srgbClr val="000000"/>
                </a:solidFill>
              </a:rPr>
              <a:t>(a[0]);</a:t>
            </a:r>
          </a:p>
          <a:p>
            <a:r>
              <a:rPr lang="en-US">
                <a:solidFill>
                  <a:srgbClr val="000000"/>
                </a:solidFill>
              </a:rPr>
              <a:t>    cout </a:t>
            </a:r>
            <a:r>
              <a:rPr lang="en-US">
                <a:solidFill>
                  <a:srgbClr val="008080"/>
                </a:solidFill>
              </a:rPr>
              <a:t>&lt;&lt;</a:t>
            </a:r>
            <a:r>
              <a:rPr lang="en-US">
                <a:solidFill>
                  <a:srgbClr val="000000"/>
                </a:solidFill>
              </a:rPr>
              <a:t> </a:t>
            </a:r>
            <a:r>
              <a:rPr lang="en-US">
                <a:solidFill>
                  <a:srgbClr val="A31515"/>
                </a:solidFill>
              </a:rPr>
              <a:t>"Trung binh = "</a:t>
            </a:r>
            <a:r>
              <a:rPr lang="en-US">
                <a:solidFill>
                  <a:srgbClr val="000000"/>
                </a:solidFill>
              </a:rPr>
              <a:t> </a:t>
            </a:r>
            <a:r>
              <a:rPr lang="en-US">
                <a:solidFill>
                  <a:srgbClr val="008080"/>
                </a:solidFill>
              </a:rPr>
              <a:t>&lt;&lt;</a:t>
            </a:r>
            <a:r>
              <a:rPr lang="en-US">
                <a:solidFill>
                  <a:srgbClr val="000000"/>
                </a:solidFill>
              </a:rPr>
              <a:t> tinhTrungbinh(a, n) </a:t>
            </a:r>
            <a:br>
              <a:rPr lang="en-US">
                <a:solidFill>
                  <a:srgbClr val="000000"/>
                </a:solidFill>
              </a:rPr>
            </a:br>
            <a:r>
              <a:rPr lang="en-US">
                <a:solidFill>
                  <a:srgbClr val="000000"/>
                </a:solidFill>
              </a:rPr>
              <a:t>         </a:t>
            </a:r>
            <a:r>
              <a:rPr lang="en-US">
                <a:solidFill>
                  <a:srgbClr val="008080"/>
                </a:solidFill>
              </a:rPr>
              <a:t>&lt;&lt;</a:t>
            </a:r>
            <a:r>
              <a:rPr lang="en-US">
                <a:solidFill>
                  <a:srgbClr val="000000"/>
                </a:solidFill>
              </a:rPr>
              <a:t> endl;</a:t>
            </a:r>
          </a:p>
          <a:p>
            <a:r>
              <a:rPr lang="en-US">
                <a:solidFill>
                  <a:srgbClr val="000000"/>
                </a:solidFill>
              </a:rPr>
              <a:t>}</a:t>
            </a:r>
            <a:endParaRPr lang="en-US"/>
          </a:p>
        </p:txBody>
      </p:sp>
      <p:sp>
        <p:nvSpPr>
          <p:cNvPr id="2" name="Footer Placeholder 1">
            <a:extLst>
              <a:ext uri="{FF2B5EF4-FFF2-40B4-BE49-F238E27FC236}">
                <a16:creationId xmlns="" xmlns:a16="http://schemas.microsoft.com/office/drawing/2014/main" id="{12D22242-357E-4561-8DCC-0FBC8FCE288C}"/>
              </a:ext>
            </a:extLst>
          </p:cNvPr>
          <p:cNvSpPr>
            <a:spLocks noGrp="1"/>
          </p:cNvSpPr>
          <p:nvPr>
            <p:ph type="ftr" sz="quarter" idx="11"/>
          </p:nvPr>
        </p:nvSpPr>
        <p:spPr/>
        <p:txBody>
          <a:bodyPr/>
          <a:lstStyle/>
          <a:p>
            <a:r>
              <a:rPr lang="vi-VN"/>
              <a:t>Cơ sở lập trình - Mảng</a:t>
            </a:r>
            <a:endParaRPr lang="en-US"/>
          </a:p>
        </p:txBody>
      </p:sp>
      <p:sp>
        <p:nvSpPr>
          <p:cNvPr id="4" name="Slide Number Placeholder 3">
            <a:extLst>
              <a:ext uri="{FF2B5EF4-FFF2-40B4-BE49-F238E27FC236}">
                <a16:creationId xmlns="" xmlns:a16="http://schemas.microsoft.com/office/drawing/2014/main" id="{57AFB9AF-6F26-4816-96C1-A6A643A8E0B6}"/>
              </a:ext>
            </a:extLst>
          </p:cNvPr>
          <p:cNvSpPr>
            <a:spLocks noGrp="1"/>
          </p:cNvSpPr>
          <p:nvPr>
            <p:ph type="sldNum" sz="quarter" idx="12"/>
          </p:nvPr>
        </p:nvSpPr>
        <p:spPr/>
        <p:txBody>
          <a:bodyPr/>
          <a:lstStyle/>
          <a:p>
            <a:fld id="{B09C6C27-D58C-4EFE-B9E3-C62B6FE31098}" type="slidenum">
              <a:rPr lang="en-US" smtClean="0"/>
              <a:t>31</a:t>
            </a:fld>
            <a:endParaRPr lang="en-US"/>
          </a:p>
        </p:txBody>
      </p:sp>
    </p:spTree>
    <p:extLst>
      <p:ext uri="{BB962C8B-B14F-4D97-AF65-F5344CB8AC3E}">
        <p14:creationId xmlns:p14="http://schemas.microsoft.com/office/powerpoint/2010/main" val="6500757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2819400"/>
            <a:ext cx="8229600" cy="1524000"/>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indent="0" algn="ctr">
              <a:buNone/>
            </a:pPr>
            <a:r>
              <a:rPr lang="en-US" sz="8800" b="1"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Q &amp; A</a:t>
            </a:r>
            <a:endParaRPr lang="en-US" sz="88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Slide Number Placeholder 4"/>
          <p:cNvSpPr>
            <a:spLocks noGrp="1"/>
          </p:cNvSpPr>
          <p:nvPr>
            <p:ph type="sldNum" sz="quarter" idx="12"/>
          </p:nvPr>
        </p:nvSpPr>
        <p:spPr/>
        <p:txBody>
          <a:bodyPr/>
          <a:lstStyle/>
          <a:p>
            <a:fld id="{B76E646B-21D3-475D-A455-026BE1E73BFE}" type="slidenum">
              <a:rPr lang="en-US" smtClean="0"/>
              <a:t>32</a:t>
            </a:fld>
            <a:endParaRPr lang="en-US"/>
          </a:p>
        </p:txBody>
      </p:sp>
      <p:sp>
        <p:nvSpPr>
          <p:cNvPr id="2" name="Footer Placeholder 1"/>
          <p:cNvSpPr>
            <a:spLocks noGrp="1"/>
          </p:cNvSpPr>
          <p:nvPr>
            <p:ph type="ftr" sz="quarter" idx="11"/>
          </p:nvPr>
        </p:nvSpPr>
        <p:spPr/>
        <p:txBody>
          <a:bodyPr/>
          <a:lstStyle/>
          <a:p>
            <a:r>
              <a:rPr lang="vi-VN" smtClean="0"/>
              <a:t>Cơ sở lập trình - ĐH Mở TpHCM</a:t>
            </a:r>
            <a:endParaRPr lang="en-US"/>
          </a:p>
        </p:txBody>
      </p:sp>
    </p:spTree>
    <p:extLst>
      <p:ext uri="{BB962C8B-B14F-4D97-AF65-F5344CB8AC3E}">
        <p14:creationId xmlns:p14="http://schemas.microsoft.com/office/powerpoint/2010/main" val="139563968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CSLT">
      <a:majorFont>
        <a:latin typeface="Calibri"/>
        <a:ea typeface=""/>
        <a:cs typeface=""/>
      </a:majorFont>
      <a:minorFont>
        <a:latin typeface="Calibr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CSLT" id="{2AA6EACB-5E47-4CE2-BA3C-A590C58DA5F6}" vid="{3004DE80-306C-40D0-AF38-F9EA25104F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CSLT</Template>
  <TotalTime>292</TotalTime>
  <Words>2276</Words>
  <Application>Microsoft Office PowerPoint</Application>
  <PresentationFormat>On-screen Show (4:3)</PresentationFormat>
  <Paragraphs>407</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Retrospect</vt:lpstr>
      <vt:lpstr>Mảng</vt:lpstr>
      <vt:lpstr>Mục tiêu</vt:lpstr>
      <vt:lpstr>Nội dung</vt:lpstr>
      <vt:lpstr>Khái niệm</vt:lpstr>
      <vt:lpstr>PowerPoint Presentation</vt:lpstr>
      <vt:lpstr>Khai báo mảng</vt:lpstr>
      <vt:lpstr>PowerPoint Presentation</vt:lpstr>
      <vt:lpstr>PowerPoint Presentation</vt:lpstr>
      <vt:lpstr>PowerPoint Presentation</vt:lpstr>
      <vt:lpstr>Khởi tạo mảng khi khai báo</vt:lpstr>
      <vt:lpstr>PowerPoint Presentation</vt:lpstr>
      <vt:lpstr>Truy xuất các giá trị trong mảng</vt:lpstr>
      <vt:lpstr>PowerPoint Presentation</vt:lpstr>
      <vt:lpstr>Nội dung</vt:lpstr>
      <vt:lpstr>Các thao tác trên mảng</vt:lpstr>
      <vt:lpstr>Khởi tạo mảng</vt:lpstr>
      <vt:lpstr>Nhập/Xuất</vt:lpstr>
      <vt:lpstr>Tính tổng và trung bình</vt:lpstr>
      <vt:lpstr>Tìm kiếm</vt:lpstr>
      <vt:lpstr>PowerPoint Presentation</vt:lpstr>
      <vt:lpstr>PowerPoint Presentation</vt:lpstr>
      <vt:lpstr>Tìm phần tử lớn nhất</vt:lpstr>
      <vt:lpstr>PowerPoint Presentation</vt:lpstr>
      <vt:lpstr>Nội dung</vt:lpstr>
      <vt:lpstr>Một số lưu ý</vt:lpstr>
      <vt:lpstr>PowerPoint Presentation</vt:lpstr>
      <vt:lpstr>PowerPoint Presentation</vt:lpstr>
      <vt:lpstr>Nội dung</vt:lpstr>
      <vt:lpstr>Truyền mảng cho hàm</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Mảng</dc:title>
  <dc:creator>CNTT_OU</dc:creator>
  <cp:lastModifiedBy>TuyetVTH</cp:lastModifiedBy>
  <cp:revision>34</cp:revision>
  <dcterms:created xsi:type="dcterms:W3CDTF">2018-09-07T02:20:12Z</dcterms:created>
  <dcterms:modified xsi:type="dcterms:W3CDTF">2019-09-04T14:00:39Z</dcterms:modified>
</cp:coreProperties>
</file>