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71"/>
  </p:notesMasterIdLst>
  <p:sldIdLst>
    <p:sldId id="256" r:id="rId2"/>
    <p:sldId id="323" r:id="rId3"/>
    <p:sldId id="257" r:id="rId4"/>
    <p:sldId id="263" r:id="rId5"/>
    <p:sldId id="264" r:id="rId6"/>
    <p:sldId id="265" r:id="rId7"/>
    <p:sldId id="266" r:id="rId8"/>
    <p:sldId id="267" r:id="rId9"/>
    <p:sldId id="268" r:id="rId10"/>
    <p:sldId id="258" r:id="rId11"/>
    <p:sldId id="269" r:id="rId12"/>
    <p:sldId id="270" r:id="rId13"/>
    <p:sldId id="271" r:id="rId14"/>
    <p:sldId id="272" r:id="rId15"/>
    <p:sldId id="273" r:id="rId16"/>
    <p:sldId id="274" r:id="rId17"/>
    <p:sldId id="275" r:id="rId18"/>
    <p:sldId id="276" r:id="rId19"/>
    <p:sldId id="259" r:id="rId20"/>
    <p:sldId id="277" r:id="rId21"/>
    <p:sldId id="278" r:id="rId22"/>
    <p:sldId id="279" r:id="rId23"/>
    <p:sldId id="280" r:id="rId24"/>
    <p:sldId id="281" r:id="rId25"/>
    <p:sldId id="282" r:id="rId26"/>
    <p:sldId id="283" r:id="rId27"/>
    <p:sldId id="260" r:id="rId28"/>
    <p:sldId id="284" r:id="rId29"/>
    <p:sldId id="285" r:id="rId30"/>
    <p:sldId id="286" r:id="rId31"/>
    <p:sldId id="287" r:id="rId32"/>
    <p:sldId id="288" r:id="rId33"/>
    <p:sldId id="289" r:id="rId34"/>
    <p:sldId id="290" r:id="rId35"/>
    <p:sldId id="291" r:id="rId36"/>
    <p:sldId id="293" r:id="rId37"/>
    <p:sldId id="294" r:id="rId38"/>
    <p:sldId id="292" r:id="rId39"/>
    <p:sldId id="295" r:id="rId40"/>
    <p:sldId id="296" r:id="rId41"/>
    <p:sldId id="297" r:id="rId42"/>
    <p:sldId id="299" r:id="rId43"/>
    <p:sldId id="298" r:id="rId44"/>
    <p:sldId id="261" r:id="rId45"/>
    <p:sldId id="300" r:id="rId46"/>
    <p:sldId id="301" r:id="rId47"/>
    <p:sldId id="262" r:id="rId48"/>
    <p:sldId id="302" r:id="rId49"/>
    <p:sldId id="303" r:id="rId50"/>
    <p:sldId id="304" r:id="rId51"/>
    <p:sldId id="305" r:id="rId52"/>
    <p:sldId id="306" r:id="rId53"/>
    <p:sldId id="308" r:id="rId54"/>
    <p:sldId id="309" r:id="rId55"/>
    <p:sldId id="310" r:id="rId56"/>
    <p:sldId id="311" r:id="rId57"/>
    <p:sldId id="312" r:id="rId58"/>
    <p:sldId id="313" r:id="rId59"/>
    <p:sldId id="314" r:id="rId60"/>
    <p:sldId id="315" r:id="rId61"/>
    <p:sldId id="325" r:id="rId62"/>
    <p:sldId id="316" r:id="rId63"/>
    <p:sldId id="317" r:id="rId64"/>
    <p:sldId id="318" r:id="rId65"/>
    <p:sldId id="319" r:id="rId66"/>
    <p:sldId id="320" r:id="rId67"/>
    <p:sldId id="321" r:id="rId68"/>
    <p:sldId id="322" r:id="rId69"/>
    <p:sldId id="324" r:id="rId7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am Anh" initials="TA" lastIdx="1" clrIdx="0">
    <p:extLst>
      <p:ext uri="{19B8F6BF-5375-455C-9EA6-DF929625EA0E}">
        <p15:presenceInfo xmlns:p15="http://schemas.microsoft.com/office/powerpoint/2012/main" userId="Tram An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85" autoAdjust="0"/>
    <p:restoredTop sz="94660"/>
  </p:normalViewPr>
  <p:slideViewPr>
    <p:cSldViewPr snapToGrid="0">
      <p:cViewPr varScale="1">
        <p:scale>
          <a:sx n="122" d="100"/>
          <a:sy n="122" d="100"/>
        </p:scale>
        <p:origin x="944" y="200"/>
      </p:cViewPr>
      <p:guideLst>
        <p:guide orient="horz" pos="2160"/>
        <p:guide pos="2880"/>
      </p:guideLst>
    </p:cSldViewPr>
  </p:slideViewPr>
  <p:notesTextViewPr>
    <p:cViewPr>
      <p:scale>
        <a:sx n="1" d="1"/>
        <a:sy n="1" d="1"/>
      </p:scale>
      <p:origin x="0" y="0"/>
    </p:cViewPr>
  </p:notesTextViewPr>
  <p:sorterViewPr>
    <p:cViewPr>
      <p:scale>
        <a:sx n="100" d="100"/>
        <a:sy n="100" d="100"/>
      </p:scale>
      <p:origin x="0" y="-243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6114B-A23E-49AB-BAA4-138F4A699376}" type="datetimeFigureOut">
              <a:rPr lang="en-US" smtClean="0"/>
              <a:t>9/19/21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8D9BC-FC60-43D2-894F-6106F5DC9B2A}" type="slidenum">
              <a:rPr lang="en-US" smtClean="0"/>
              <a:t>‹#›</a:t>
            </a:fld>
            <a:endParaRPr lang="en-US"/>
          </a:p>
        </p:txBody>
      </p:sp>
    </p:spTree>
    <p:extLst>
      <p:ext uri="{BB962C8B-B14F-4D97-AF65-F5344CB8AC3E}">
        <p14:creationId xmlns:p14="http://schemas.microsoft.com/office/powerpoint/2010/main" val="345189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AAE672-BAB4-45C1-8484-073A95FC0907}"/>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11A5591-6836-4B30-9C32-2830EE47BD88}"/>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516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536524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ontinue">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 y="286604"/>
            <a:ext cx="8503920" cy="6202998"/>
          </a:xfrm>
          <a:solidFill>
            <a:schemeClr val="bg1"/>
          </a:solidFill>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3611038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463550" indent="-354013">
              <a:buFont typeface="+mj-lt"/>
              <a:buAutoNum type="arabicPeriod"/>
              <a:defRPr/>
            </a:lvl1pPr>
            <a:lvl2pPr marL="682625" indent="-182563">
              <a:defRPr/>
            </a:lvl2pPr>
          </a:lstStyle>
          <a:p>
            <a:pPr lvl="0"/>
            <a:r>
              <a:rPr lang="en-US"/>
              <a:t>Edit Master text styles</a:t>
            </a:r>
          </a:p>
          <a:p>
            <a:pPr lvl="1"/>
            <a:r>
              <a:rPr lang="en-US"/>
              <a:t>Second level</a:t>
            </a:r>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13604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
        <p:nvSpPr>
          <p:cNvPr id="7" name="Text Placeholder 6">
            <a:extLst>
              <a:ext uri="{FF2B5EF4-FFF2-40B4-BE49-F238E27FC236}">
                <a16:creationId xmlns:a16="http://schemas.microsoft.com/office/drawing/2014/main" id="{F7E83F0D-D4CB-442C-8E99-49ACD7B7C7A5}"/>
              </a:ext>
            </a:extLst>
          </p:cNvPr>
          <p:cNvSpPr>
            <a:spLocks noGrp="1"/>
          </p:cNvSpPr>
          <p:nvPr>
            <p:ph type="body" sz="quarter" idx="13"/>
          </p:nvPr>
        </p:nvSpPr>
        <p:spPr>
          <a:xfrm>
            <a:off x="320040" y="1097280"/>
            <a:ext cx="8503920" cy="5394960"/>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Tree>
    <p:extLst>
      <p:ext uri="{BB962C8B-B14F-4D97-AF65-F5344CB8AC3E}">
        <p14:creationId xmlns:p14="http://schemas.microsoft.com/office/powerpoint/2010/main" val="1384634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nd Code Continu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D49FA1-CEA8-40A6-AC1C-457224027556}"/>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E7DA0163-616C-4ECA-B06C-DB88D64CFCAB}"/>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Biến &amp; Kiểu dữ liệu</a:t>
            </a:r>
            <a:endParaRPr lang="en-US"/>
          </a:p>
        </p:txBody>
      </p:sp>
      <p:sp>
        <p:nvSpPr>
          <p:cNvPr id="9" name="Slide Number Placeholder 8"/>
          <p:cNvSpPr>
            <a:spLocks noGrp="1"/>
          </p:cNvSpPr>
          <p:nvPr>
            <p:ph type="sldNum" sz="quarter" idx="12"/>
          </p:nvPr>
        </p:nvSpPr>
        <p:spPr/>
        <p:txBody>
          <a:bodyPr/>
          <a:lstStyle/>
          <a:p>
            <a:fld id="{45CA964B-B8B5-4404-ADB9-CBB2121E234F}" type="slidenum">
              <a:rPr lang="en-US" smtClean="0"/>
              <a:t>‹#›</a:t>
            </a:fld>
            <a:endParaRPr lang="en-US"/>
          </a:p>
        </p:txBody>
      </p:sp>
      <p:sp>
        <p:nvSpPr>
          <p:cNvPr id="6" name="Text Placeholder 6">
            <a:extLst>
              <a:ext uri="{FF2B5EF4-FFF2-40B4-BE49-F238E27FC236}">
                <a16:creationId xmlns:a16="http://schemas.microsoft.com/office/drawing/2014/main" id="{05645F34-6E0F-4748-9093-E1F6BBF3FAE8}"/>
              </a:ext>
            </a:extLst>
          </p:cNvPr>
          <p:cNvSpPr>
            <a:spLocks noGrp="1"/>
          </p:cNvSpPr>
          <p:nvPr>
            <p:ph type="body" sz="quarter" idx="13"/>
          </p:nvPr>
        </p:nvSpPr>
        <p:spPr>
          <a:xfrm>
            <a:off x="320040" y="341194"/>
            <a:ext cx="8503920" cy="6151046"/>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Tree>
    <p:extLst>
      <p:ext uri="{BB962C8B-B14F-4D97-AF65-F5344CB8AC3E}">
        <p14:creationId xmlns:p14="http://schemas.microsoft.com/office/powerpoint/2010/main" val="883370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10" name="Rectangle 9">
            <a:extLst>
              <a:ext uri="{FF2B5EF4-FFF2-40B4-BE49-F238E27FC236}">
                <a16:creationId xmlns:a16="http://schemas.microsoft.com/office/drawing/2014/main" id="{EFF6DF65-3E76-4AEB-9DAF-98EAC99554E2}"/>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8530575F-4C62-4C92-8BDC-F5B9E97A3D4D}"/>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2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20040" y="286604"/>
            <a:ext cx="8503920" cy="73152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20040" y="1097280"/>
            <a:ext cx="4160520" cy="53949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097280"/>
            <a:ext cx="4160520" cy="53949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vi-VN"/>
              <a:t>Cơ sở lập trình - Biến &amp; Kiểu dữ liệu</a:t>
            </a:r>
            <a:endParaRPr lang="en-US"/>
          </a:p>
        </p:txBody>
      </p:sp>
      <p:sp>
        <p:nvSpPr>
          <p:cNvPr id="7" name="Slide Number Placeholder 6"/>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2341196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4013771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D49FA1-CEA8-40A6-AC1C-457224027556}"/>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E7DA0163-616C-4ECA-B06C-DB88D64CFCAB}"/>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Biến &amp; Kiểu dữ liệu</a:t>
            </a:r>
            <a:endParaRPr lang="en-US"/>
          </a:p>
        </p:txBody>
      </p:sp>
      <p:sp>
        <p:nvSpPr>
          <p:cNvPr id="9" name="Slide Number Placeholder 8"/>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98613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vi-VN"/>
              <a:t>Cơ sở lập trình - Biến &amp; Kiểu dữ liệu</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5CA964B-B8B5-4404-ADB9-CBB2121E234F}" type="slidenum">
              <a:rPr lang="en-US" smtClean="0"/>
              <a:t>‹#›</a:t>
            </a:fld>
            <a:endParaRPr lang="en-US"/>
          </a:p>
        </p:txBody>
      </p:sp>
    </p:spTree>
    <p:extLst>
      <p:ext uri="{BB962C8B-B14F-4D97-AF65-F5344CB8AC3E}">
        <p14:creationId xmlns:p14="http://schemas.microsoft.com/office/powerpoint/2010/main" val="651622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vi-VN"/>
              <a:t>Cơ sở lập trình - Biến &amp; Kiểu dữ liệu</a:t>
            </a:r>
            <a:endParaRPr lang="en-US"/>
          </a:p>
        </p:txBody>
      </p:sp>
      <p:sp>
        <p:nvSpPr>
          <p:cNvPr id="7" name="Slide Number Placeholder 6"/>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4247016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1504691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9" name="Rectangle 8">
            <a:extLst>
              <a:ext uri="{FF2B5EF4-FFF2-40B4-BE49-F238E27FC236}">
                <a16:creationId xmlns:a16="http://schemas.microsoft.com/office/drawing/2014/main" id="{416DE08D-D735-4990-80B8-5CBF011DC467}"/>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E40AE3D1-A298-4B99-8DD0-636DD70C3D4C}"/>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p:cNvSpPr>
            <a:spLocks noGrp="1"/>
          </p:cNvSpPr>
          <p:nvPr>
            <p:ph type="sldNum" sz="quarter" idx="12"/>
          </p:nvPr>
        </p:nvSpPr>
        <p:spPr/>
        <p:txBody>
          <a:bodyPr/>
          <a:lstStyle/>
          <a:p>
            <a:fld id="{45CA964B-B8B5-4404-ADB9-CBB2121E234F}" type="slidenum">
              <a:rPr lang="en-US" smtClean="0"/>
              <a:t>‹#›</a:t>
            </a:fld>
            <a:endParaRPr lang="en-US"/>
          </a:p>
        </p:txBody>
      </p:sp>
    </p:spTree>
    <p:extLst>
      <p:ext uri="{BB962C8B-B14F-4D97-AF65-F5344CB8AC3E}">
        <p14:creationId xmlns:p14="http://schemas.microsoft.com/office/powerpoint/2010/main" val="2454604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20040" y="286604"/>
            <a:ext cx="8503920" cy="73152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20040" y="1094642"/>
            <a:ext cx="8503920" cy="53949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27547" y="6525388"/>
            <a:ext cx="6095139" cy="313171"/>
          </a:xfrm>
          <a:prstGeom prst="rect">
            <a:avLst/>
          </a:prstGeom>
        </p:spPr>
        <p:txBody>
          <a:bodyPr vert="horz" lIns="91440" tIns="45720" rIns="91440" bIns="45720" rtlCol="0" anchor="ctr"/>
          <a:lstStyle>
            <a:lvl1pPr algn="l">
              <a:defRPr sz="900" cap="all" baseline="0">
                <a:solidFill>
                  <a:srgbClr val="FFFFFF"/>
                </a:solidFill>
              </a:defRPr>
            </a:lvl1pPr>
          </a:lstStyle>
          <a:p>
            <a:r>
              <a:rPr lang="vi-VN"/>
              <a:t>Cơ sở lập trình - Biến &amp; Kiểu dữ liệu</a:t>
            </a:r>
            <a:endParaRPr lang="en-US"/>
          </a:p>
        </p:txBody>
      </p:sp>
      <p:sp>
        <p:nvSpPr>
          <p:cNvPr id="6" name="Slide Number Placeholder 5"/>
          <p:cNvSpPr>
            <a:spLocks noGrp="1"/>
          </p:cNvSpPr>
          <p:nvPr>
            <p:ph type="sldNum" sz="quarter" idx="4"/>
          </p:nvPr>
        </p:nvSpPr>
        <p:spPr>
          <a:xfrm>
            <a:off x="7425344" y="6525388"/>
            <a:ext cx="1418405" cy="313171"/>
          </a:xfrm>
          <a:prstGeom prst="rect">
            <a:avLst/>
          </a:prstGeom>
        </p:spPr>
        <p:txBody>
          <a:bodyPr vert="horz" lIns="91440" tIns="45720" rIns="91440" bIns="45720" rtlCol="0" anchor="ctr"/>
          <a:lstStyle>
            <a:lvl1pPr algn="r">
              <a:defRPr sz="1050">
                <a:solidFill>
                  <a:srgbClr val="FFFFFF"/>
                </a:solidFill>
              </a:defRPr>
            </a:lvl1pPr>
          </a:lstStyle>
          <a:p>
            <a:fld id="{45CA964B-B8B5-4404-ADB9-CBB2121E234F}" type="slidenum">
              <a:rPr lang="en-US" smtClean="0"/>
              <a:t>‹#›</a:t>
            </a:fld>
            <a:endParaRPr lang="en-US"/>
          </a:p>
        </p:txBody>
      </p:sp>
      <p:cxnSp>
        <p:nvCxnSpPr>
          <p:cNvPr id="10" name="Straight Connector 9"/>
          <p:cNvCxnSpPr/>
          <p:nvPr/>
        </p:nvCxnSpPr>
        <p:spPr>
          <a:xfrm>
            <a:off x="411480" y="1028159"/>
            <a:ext cx="83210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53748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15"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hdr="0" dt="0"/>
  <p:txStyles>
    <p:titleStyle>
      <a:lvl1pPr algn="l" defTabSz="914400" rtl="0" eaLnBrk="1" latinLnBrk="0" hangingPunct="1">
        <a:lnSpc>
          <a:spcPct val="85000"/>
        </a:lnSpc>
        <a:spcBef>
          <a:spcPct val="0"/>
        </a:spcBef>
        <a:buNone/>
        <a:defRPr sz="3600" kern="1200" spc="-50" baseline="0">
          <a:solidFill>
            <a:schemeClr val="tx1">
              <a:lumMod val="95000"/>
              <a:lumOff val="5000"/>
            </a:schemeClr>
          </a:solidFill>
          <a:latin typeface="+mj-lt"/>
          <a:ea typeface="+mj-ea"/>
          <a:cs typeface="+mj-cs"/>
        </a:defRPr>
      </a:lvl1pPr>
    </p:titleStyle>
    <p:bodyStyle>
      <a:lvl1pPr marL="287338" indent="-177800" algn="l" defTabSz="914400" rtl="0" eaLnBrk="1" latinLnBrk="0" hangingPunct="1">
        <a:lnSpc>
          <a:spcPct val="90000"/>
        </a:lnSpc>
        <a:spcBef>
          <a:spcPts val="600"/>
        </a:spcBef>
        <a:spcAft>
          <a:spcPts val="0"/>
        </a:spcAft>
        <a:buClr>
          <a:schemeClr val="accent2">
            <a:lumMod val="75000"/>
          </a:schemeClr>
        </a:buClr>
        <a:buSzPct val="100000"/>
        <a:buFont typeface="Arial" panose="020B0604020202020204" pitchFamily="34" charset="0"/>
        <a:buChar char="•"/>
        <a:defRPr sz="2600" kern="1200">
          <a:solidFill>
            <a:schemeClr val="tx1">
              <a:lumMod val="95000"/>
              <a:lumOff val="5000"/>
            </a:schemeClr>
          </a:solidFill>
          <a:latin typeface="+mn-lt"/>
          <a:ea typeface="+mn-ea"/>
          <a:cs typeface="+mn-cs"/>
        </a:defRPr>
      </a:lvl1pPr>
      <a:lvl2pPr marL="519113" indent="-182563" algn="l" defTabSz="914400" rtl="0" eaLnBrk="1" latinLnBrk="0" hangingPunct="1">
        <a:lnSpc>
          <a:spcPct val="90000"/>
        </a:lnSpc>
        <a:spcBef>
          <a:spcPts val="200"/>
        </a:spcBef>
        <a:spcAft>
          <a:spcPts val="400"/>
        </a:spcAft>
        <a:buClr>
          <a:schemeClr val="accent1">
            <a:lumMod val="75000"/>
          </a:schemeClr>
        </a:buClr>
        <a:buSzPct val="70000"/>
        <a:buFont typeface="Wingdings" panose="05000000000000000000" pitchFamily="2" charset="2"/>
        <a:buChar char="§"/>
        <a:defRPr sz="2400" kern="1200">
          <a:solidFill>
            <a:schemeClr val="tx1">
              <a:lumMod val="95000"/>
              <a:lumOff val="5000"/>
            </a:schemeClr>
          </a:solidFill>
          <a:latin typeface="+mn-lt"/>
          <a:ea typeface="+mn-ea"/>
          <a:cs typeface="+mn-cs"/>
        </a:defRPr>
      </a:lvl2pPr>
      <a:lvl3pPr marL="736600" indent="-182563"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95000"/>
              <a:lumOff val="5000"/>
            </a:schemeClr>
          </a:solidFill>
          <a:latin typeface="+mn-lt"/>
          <a:ea typeface="+mn-ea"/>
          <a:cs typeface="+mn-cs"/>
        </a:defRPr>
      </a:lvl3pPr>
      <a:lvl4pPr marL="341313" indent="0" algn="l"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95000"/>
              <a:lumOff val="5000"/>
            </a:schemeClr>
          </a:solidFill>
          <a:latin typeface="+mn-lt"/>
          <a:ea typeface="+mn-ea"/>
          <a:cs typeface="+mn-cs"/>
        </a:defRPr>
      </a:lvl4pPr>
      <a:lvl5pPr marL="341313" indent="0" algn="l" defTabSz="914400" rtl="0" eaLnBrk="1" latinLnBrk="0" hangingPunct="1">
        <a:lnSpc>
          <a:spcPct val="90000"/>
        </a:lnSpc>
        <a:spcBef>
          <a:spcPts val="0"/>
        </a:spcBef>
        <a:spcAft>
          <a:spcPts val="0"/>
        </a:spcAft>
        <a:buClr>
          <a:schemeClr val="accent1"/>
        </a:buClr>
        <a:buFont typeface="Calibri" pitchFamily="34" charset="0"/>
        <a:buNone/>
        <a:defRPr sz="2400" kern="1200">
          <a:solidFill>
            <a:schemeClr val="tx1">
              <a:lumMod val="95000"/>
              <a:lumOff val="5000"/>
            </a:schemeClr>
          </a:solidFill>
          <a:latin typeface="Consolas" panose="020B0609020204030204" pitchFamily="49"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BB68-9483-4B51-AA10-E3C17ED59DC3}"/>
              </a:ext>
            </a:extLst>
          </p:cNvPr>
          <p:cNvSpPr>
            <a:spLocks noGrp="1"/>
          </p:cNvSpPr>
          <p:nvPr>
            <p:ph type="ctrTitle"/>
          </p:nvPr>
        </p:nvSpPr>
        <p:spPr/>
        <p:txBody>
          <a:bodyPr/>
          <a:lstStyle/>
          <a:p>
            <a:r>
              <a:rPr lang="en-US"/>
              <a:t>Biến &amp; Kiểu dữ liệu</a:t>
            </a:r>
          </a:p>
        </p:txBody>
      </p:sp>
      <p:sp>
        <p:nvSpPr>
          <p:cNvPr id="3" name="Subtitle 2">
            <a:extLst>
              <a:ext uri="{FF2B5EF4-FFF2-40B4-BE49-F238E27FC236}">
                <a16:creationId xmlns:a16="http://schemas.microsoft.com/office/drawing/2014/main" id="{4921E010-7E6B-4E88-92B0-D20EF9339294}"/>
              </a:ext>
            </a:extLst>
          </p:cNvPr>
          <p:cNvSpPr>
            <a:spLocks noGrp="1"/>
          </p:cNvSpPr>
          <p:nvPr>
            <p:ph type="subTitle" idx="1"/>
          </p:nvPr>
        </p:nvSpPr>
        <p:spPr/>
        <p:txBody>
          <a:bodyPr/>
          <a:lstStyle/>
          <a:p>
            <a:pPr algn="r">
              <a:spcBef>
                <a:spcPts val="200"/>
              </a:spcBef>
            </a:pPr>
            <a:r>
              <a:rPr lang="en-US" b="1" i="1"/>
              <a:t>Khoa công nghệ thông tin </a:t>
            </a:r>
          </a:p>
          <a:p>
            <a:pPr algn="r">
              <a:spcBef>
                <a:spcPts val="200"/>
              </a:spcBef>
            </a:pPr>
            <a:r>
              <a:rPr lang="en-US" b="1" i="1"/>
              <a:t>Trường Đại học mở tphcm</a:t>
            </a:r>
          </a:p>
        </p:txBody>
      </p:sp>
    </p:spTree>
    <p:extLst>
      <p:ext uri="{BB962C8B-B14F-4D97-AF65-F5344CB8AC3E}">
        <p14:creationId xmlns:p14="http://schemas.microsoft.com/office/powerpoint/2010/main" val="2139228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F61C-C4CF-43D6-8A60-050EC6DBDA21}"/>
              </a:ext>
            </a:extLst>
          </p:cNvPr>
          <p:cNvSpPr>
            <a:spLocks noGrp="1"/>
          </p:cNvSpPr>
          <p:nvPr>
            <p:ph type="title"/>
          </p:nvPr>
        </p:nvSpPr>
        <p:spPr/>
        <p:txBody>
          <a:bodyPr/>
          <a:lstStyle/>
          <a:p>
            <a:r>
              <a:rPr lang="en-US"/>
              <a:t>Mục tiêu</a:t>
            </a:r>
          </a:p>
        </p:txBody>
      </p:sp>
      <p:sp>
        <p:nvSpPr>
          <p:cNvPr id="3" name="Content Placeholder 2">
            <a:extLst>
              <a:ext uri="{FF2B5EF4-FFF2-40B4-BE49-F238E27FC236}">
                <a16:creationId xmlns:a16="http://schemas.microsoft.com/office/drawing/2014/main" id="{A133924C-ECD4-4BAE-98D4-53E3E2834EFB}"/>
              </a:ext>
            </a:extLst>
          </p:cNvPr>
          <p:cNvSpPr>
            <a:spLocks noGrp="1"/>
          </p:cNvSpPr>
          <p:nvPr>
            <p:ph idx="1"/>
          </p:nvPr>
        </p:nvSpPr>
        <p:spPr/>
        <p:txBody>
          <a:bodyPr>
            <a:normAutofit/>
          </a:bodyPr>
          <a:lstStyle/>
          <a:p>
            <a:pPr algn="just"/>
            <a:r>
              <a:rPr lang="vi-VN"/>
              <a:t>Hiểu các tính chất và phạm vi biểu diễn của các kiểu dữ liệu cơ bản trong C++.</a:t>
            </a:r>
          </a:p>
          <a:p>
            <a:pPr algn="just"/>
            <a:r>
              <a:rPr lang="vi-VN"/>
              <a:t>Biết cách sử dụng các kiểu dữ liệu cơ bản (bool, </a:t>
            </a:r>
            <a:r>
              <a:rPr lang="en-US"/>
              <a:t>char</a:t>
            </a:r>
            <a:r>
              <a:rPr lang="vi-VN"/>
              <a:t>, </a:t>
            </a:r>
            <a:r>
              <a:rPr lang="en-US"/>
              <a:t>int</a:t>
            </a:r>
            <a:r>
              <a:rPr lang="vi-VN"/>
              <a:t>, </a:t>
            </a:r>
            <a:r>
              <a:rPr lang="en-US"/>
              <a:t>double</a:t>
            </a:r>
            <a:r>
              <a:rPr lang="vi-VN"/>
              <a:t>, để lưu trữ dữ liệu trong chương trình.</a:t>
            </a:r>
          </a:p>
          <a:p>
            <a:pPr algn="just"/>
            <a:r>
              <a:rPr lang="vi-VN"/>
              <a:t>Biết cách định nghĩa, khởi tạo biến và hằng trong C++.</a:t>
            </a:r>
          </a:p>
          <a:p>
            <a:pPr algn="just"/>
            <a:r>
              <a:rPr lang="vi-VN"/>
              <a:t>Biết cách viết một biểu thức số học và câu lệnh gán, biết cách sử dụng một số hàm toán học trong biểu thức trong C++.</a:t>
            </a:r>
          </a:p>
          <a:p>
            <a:pPr algn="just"/>
            <a:r>
              <a:rPr lang="vi-VN"/>
              <a:t>Biết cách viết biểu thức luận lý để so sánh giá trị dữ liệu.</a:t>
            </a:r>
          </a:p>
          <a:p>
            <a:pPr algn="just"/>
            <a:r>
              <a:rPr lang="vi-VN"/>
              <a:t>Biết cách dùng cin/cout để viết câu lệnh nhập/xuất.</a:t>
            </a:r>
          </a:p>
          <a:p>
            <a:pPr algn="just"/>
            <a:r>
              <a:rPr lang="vi-VN"/>
              <a:t>Có khả năng viết một chương trình C++ đơn giản, nhập và xử lý dữ liệu, sau đó trình bày kết quả.</a:t>
            </a:r>
          </a:p>
          <a:p>
            <a:pPr algn="just"/>
            <a:r>
              <a:rPr lang="vi-VN"/>
              <a:t>Biết cách nhập/xuất chuỗi ký tự bằng cách dùng kiểu string trong thư viện.</a:t>
            </a:r>
            <a:endParaRPr lang="en-US"/>
          </a:p>
        </p:txBody>
      </p:sp>
      <p:sp>
        <p:nvSpPr>
          <p:cNvPr id="4" name="Footer Placeholder 3">
            <a:extLst>
              <a:ext uri="{FF2B5EF4-FFF2-40B4-BE49-F238E27FC236}">
                <a16:creationId xmlns:a16="http://schemas.microsoft.com/office/drawing/2014/main" id="{B57FEE53-66DB-4B12-AD2C-DD44CA97FB9E}"/>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28D154C2-6354-4D82-9301-48CE432E0E18}"/>
              </a:ext>
            </a:extLst>
          </p:cNvPr>
          <p:cNvSpPr>
            <a:spLocks noGrp="1"/>
          </p:cNvSpPr>
          <p:nvPr>
            <p:ph type="sldNum" sz="quarter" idx="12"/>
          </p:nvPr>
        </p:nvSpPr>
        <p:spPr/>
        <p:txBody>
          <a:bodyPr/>
          <a:lstStyle/>
          <a:p>
            <a:fld id="{45CA964B-B8B5-4404-ADB9-CBB2121E234F}" type="slidenum">
              <a:rPr lang="en-US" smtClean="0"/>
              <a:t>2</a:t>
            </a:fld>
            <a:endParaRPr lang="en-US"/>
          </a:p>
        </p:txBody>
      </p:sp>
    </p:spTree>
    <p:extLst>
      <p:ext uri="{BB962C8B-B14F-4D97-AF65-F5344CB8AC3E}">
        <p14:creationId xmlns:p14="http://schemas.microsoft.com/office/powerpoint/2010/main" val="1764401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t>Tên và Từ khóa</a:t>
            </a:r>
          </a:p>
          <a:p>
            <a:r>
              <a:rPr lang="vi-VN">
                <a:solidFill>
                  <a:schemeClr val="tx1">
                    <a:lumMod val="50000"/>
                    <a:lumOff val="50000"/>
                  </a:schemeClr>
                </a:solidFill>
              </a:rPr>
              <a:t>Kiểu dữ liệu</a:t>
            </a:r>
          </a:p>
          <a:p>
            <a:r>
              <a:rPr lang="vi-VN">
                <a:solidFill>
                  <a:schemeClr val="tx1">
                    <a:lumMod val="50000"/>
                    <a:lumOff val="50000"/>
                  </a:schemeClr>
                </a:solidFill>
              </a:rPr>
              <a:t>Biến và Hằng</a:t>
            </a:r>
          </a:p>
          <a:p>
            <a:r>
              <a:rPr lang="vi-VN">
                <a:solidFill>
                  <a:schemeClr val="tx1">
                    <a:lumMod val="50000"/>
                    <a:lumOff val="50000"/>
                  </a:schemeClr>
                </a:solidFill>
              </a:rPr>
              <a:t>Nhập dữ liệu</a:t>
            </a:r>
          </a:p>
          <a:p>
            <a:r>
              <a:rPr lang="vi-VN">
                <a:solidFill>
                  <a:schemeClr val="tx1">
                    <a:lumMod val="50000"/>
                    <a:lumOff val="50000"/>
                  </a:schemeClr>
                </a:solidFill>
              </a:rPr>
              <a:t>Xuất dữ liệu và Định dạng xuất</a:t>
            </a:r>
            <a:endParaRPr lang="en-US">
              <a:solidFill>
                <a:schemeClr val="tx1">
                  <a:lumMod val="50000"/>
                  <a:lumOff val="50000"/>
                </a:schemeClr>
              </a:solidFill>
            </a:endParaRPr>
          </a:p>
          <a:p>
            <a:r>
              <a:rPr lang="en-US">
                <a:solidFill>
                  <a:schemeClr val="tx1">
                    <a:lumMod val="50000"/>
                    <a:lumOff val="50000"/>
                  </a:schemeClr>
                </a:solidFill>
              </a:rPr>
              <a:t>Biểu thức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3</a:t>
            </a:fld>
            <a:endParaRPr lang="en-US"/>
          </a:p>
        </p:txBody>
      </p:sp>
    </p:spTree>
    <p:extLst>
      <p:ext uri="{BB962C8B-B14F-4D97-AF65-F5344CB8AC3E}">
        <p14:creationId xmlns:p14="http://schemas.microsoft.com/office/powerpoint/2010/main" val="257015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715DE18-AAA0-44E2-B415-BDD23F93EC30}"/>
              </a:ext>
            </a:extLst>
          </p:cNvPr>
          <p:cNvSpPr>
            <a:spLocks noGrp="1"/>
          </p:cNvSpPr>
          <p:nvPr>
            <p:ph type="title"/>
          </p:nvPr>
        </p:nvSpPr>
        <p:spPr/>
        <p:txBody>
          <a:bodyPr/>
          <a:lstStyle/>
          <a:p>
            <a:r>
              <a:rPr lang="en-US"/>
              <a:t>Từ khóa (keyword)</a:t>
            </a:r>
          </a:p>
        </p:txBody>
      </p:sp>
      <p:sp>
        <p:nvSpPr>
          <p:cNvPr id="7" name="Content Placeholder 6">
            <a:extLst>
              <a:ext uri="{FF2B5EF4-FFF2-40B4-BE49-F238E27FC236}">
                <a16:creationId xmlns:a16="http://schemas.microsoft.com/office/drawing/2014/main" id="{88E07E37-4F06-4A53-BED1-579B2224ED10}"/>
              </a:ext>
            </a:extLst>
          </p:cNvPr>
          <p:cNvSpPr>
            <a:spLocks noGrp="1"/>
          </p:cNvSpPr>
          <p:nvPr>
            <p:ph idx="1"/>
          </p:nvPr>
        </p:nvSpPr>
        <p:spPr/>
        <p:txBody>
          <a:bodyPr/>
          <a:lstStyle/>
          <a:p>
            <a:pPr algn="just"/>
            <a:r>
              <a:rPr lang="vi-VN">
                <a:solidFill>
                  <a:srgbClr val="0000FF"/>
                </a:solidFill>
              </a:rPr>
              <a:t>Từ khóa</a:t>
            </a:r>
            <a:r>
              <a:rPr lang="vi-VN"/>
              <a:t> hay </a:t>
            </a:r>
            <a:r>
              <a:rPr lang="vi-VN">
                <a:solidFill>
                  <a:srgbClr val="0000FF"/>
                </a:solidFill>
              </a:rPr>
              <a:t>từ dành riêng</a:t>
            </a:r>
            <a:r>
              <a:rPr lang="vi-VN"/>
              <a:t> (keywords/reserved words) là các từ có ý nghĩa đặc biệt đối với chương trình dịch. </a:t>
            </a:r>
            <a:endParaRPr lang="en-US"/>
          </a:p>
          <a:p>
            <a:pPr algn="just"/>
            <a:endParaRPr lang="en-US"/>
          </a:p>
          <a:p>
            <a:pPr algn="just"/>
            <a:r>
              <a:rPr lang="vi-VN"/>
              <a:t>Ví dụ một số từ khóa trong C++: </a:t>
            </a:r>
            <a:r>
              <a:rPr lang="vi-VN">
                <a:latin typeface="Consolas" panose="020B0609020204030204" pitchFamily="49" charset="0"/>
              </a:rPr>
              <a:t>int double char const void return</a:t>
            </a:r>
            <a:r>
              <a:rPr lang="vi-VN"/>
              <a:t> ...</a:t>
            </a:r>
          </a:p>
          <a:p>
            <a:pPr algn="just"/>
            <a:endParaRPr lang="en-US"/>
          </a:p>
          <a:p>
            <a:pPr algn="just"/>
            <a:r>
              <a:rPr lang="vi-VN"/>
              <a:t>Các ký tự trong từ khóa C++ là chữ thường. Không được đặt các tên trong chương trình trùng với từ khóa.</a:t>
            </a:r>
          </a:p>
          <a:p>
            <a:pPr algn="just"/>
            <a:endParaRPr lang="en-US"/>
          </a:p>
        </p:txBody>
      </p:sp>
      <p:sp>
        <p:nvSpPr>
          <p:cNvPr id="3" name="Footer Placeholder 2">
            <a:extLst>
              <a:ext uri="{FF2B5EF4-FFF2-40B4-BE49-F238E27FC236}">
                <a16:creationId xmlns:a16="http://schemas.microsoft.com/office/drawing/2014/main" id="{9D995C3F-236E-4834-A187-A0754B4FCE5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985E16F8-C054-42BC-B89A-A680468D0273}"/>
              </a:ext>
            </a:extLst>
          </p:cNvPr>
          <p:cNvSpPr>
            <a:spLocks noGrp="1"/>
          </p:cNvSpPr>
          <p:nvPr>
            <p:ph type="sldNum" sz="quarter" idx="12"/>
          </p:nvPr>
        </p:nvSpPr>
        <p:spPr/>
        <p:txBody>
          <a:bodyPr/>
          <a:lstStyle/>
          <a:p>
            <a:fld id="{45CA964B-B8B5-4404-ADB9-CBB2121E234F}" type="slidenum">
              <a:rPr lang="en-US" smtClean="0"/>
              <a:t>4</a:t>
            </a:fld>
            <a:endParaRPr lang="en-US"/>
          </a:p>
        </p:txBody>
      </p:sp>
    </p:spTree>
    <p:extLst>
      <p:ext uri="{BB962C8B-B14F-4D97-AF65-F5344CB8AC3E}">
        <p14:creationId xmlns:p14="http://schemas.microsoft.com/office/powerpoint/2010/main" val="751705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73A3-ADBF-4C2D-8035-B37F925377C8}"/>
              </a:ext>
            </a:extLst>
          </p:cNvPr>
          <p:cNvSpPr>
            <a:spLocks noGrp="1"/>
          </p:cNvSpPr>
          <p:nvPr>
            <p:ph type="title"/>
          </p:nvPr>
        </p:nvSpPr>
        <p:spPr/>
        <p:txBody>
          <a:bodyPr/>
          <a:lstStyle/>
          <a:p>
            <a:r>
              <a:rPr lang="en-US"/>
              <a:t>Tên (name)</a:t>
            </a:r>
          </a:p>
        </p:txBody>
      </p:sp>
      <p:sp>
        <p:nvSpPr>
          <p:cNvPr id="4" name="Content Placeholder 3">
            <a:extLst>
              <a:ext uri="{FF2B5EF4-FFF2-40B4-BE49-F238E27FC236}">
                <a16:creationId xmlns:a16="http://schemas.microsoft.com/office/drawing/2014/main" id="{0F8362C3-D44F-4626-A38A-73660074431B}"/>
              </a:ext>
            </a:extLst>
          </p:cNvPr>
          <p:cNvSpPr>
            <a:spLocks noGrp="1"/>
          </p:cNvSpPr>
          <p:nvPr>
            <p:ph idx="1"/>
          </p:nvPr>
        </p:nvSpPr>
        <p:spPr/>
        <p:txBody>
          <a:bodyPr/>
          <a:lstStyle/>
          <a:p>
            <a:pPr algn="just">
              <a:lnSpc>
                <a:spcPct val="100000"/>
              </a:lnSpc>
            </a:pPr>
            <a:r>
              <a:rPr lang="vi-VN">
                <a:solidFill>
                  <a:srgbClr val="0000FF"/>
                </a:solidFill>
              </a:rPr>
              <a:t>Tên</a:t>
            </a:r>
            <a:r>
              <a:rPr lang="vi-VN"/>
              <a:t> (name) hay danh hiệu, định danh (identifier) là tên biến, tên hằng, tên hàm, tên kiểu dữ liệu do người lập trình định nghĩa và được đặt theo luật.</a:t>
            </a:r>
            <a:endParaRPr lang="en-US"/>
          </a:p>
          <a:p>
            <a:pPr algn="just">
              <a:lnSpc>
                <a:spcPct val="100000"/>
              </a:lnSpc>
            </a:pPr>
            <a:endParaRPr lang="en-US"/>
          </a:p>
          <a:p>
            <a:pPr algn="just">
              <a:lnSpc>
                <a:spcPct val="100000"/>
              </a:lnSpc>
            </a:pPr>
            <a:r>
              <a:rPr lang="en-US"/>
              <a:t>Luật đặt tên trong C++:</a:t>
            </a:r>
          </a:p>
          <a:p>
            <a:pPr lvl="1" algn="just">
              <a:lnSpc>
                <a:spcPct val="100000"/>
              </a:lnSpc>
            </a:pPr>
            <a:r>
              <a:rPr lang="en-US"/>
              <a:t>Tên phải bắt đầu bằng ký tự.</a:t>
            </a:r>
          </a:p>
          <a:p>
            <a:pPr lvl="1" algn="just">
              <a:lnSpc>
                <a:spcPct val="100000"/>
              </a:lnSpc>
            </a:pPr>
            <a:r>
              <a:rPr lang="vi-VN"/>
              <a:t>Tên chỉ gồm ký tự chữ, số và dấu gạch dưới. Không được</a:t>
            </a:r>
            <a:r>
              <a:rPr lang="en-US"/>
              <a:t> phép có khoảng trắng và các ký tự khác (dấu chấm, dấu phẩy, $, %...)</a:t>
            </a:r>
          </a:p>
          <a:p>
            <a:pPr lvl="1" algn="just">
              <a:lnSpc>
                <a:spcPct val="100000"/>
              </a:lnSpc>
            </a:pPr>
            <a:r>
              <a:rPr lang="vi-VN"/>
              <a:t>Tên không được trùng với từ khóa.</a:t>
            </a:r>
            <a:endParaRPr lang="en-US"/>
          </a:p>
          <a:p>
            <a:pPr lvl="1" algn="just">
              <a:lnSpc>
                <a:spcPct val="100000"/>
              </a:lnSpc>
            </a:pPr>
            <a:r>
              <a:rPr lang="vi-VN"/>
              <a:t>Tên trong C++ phân biệt chữ thường và hoa (case</a:t>
            </a:r>
            <a:r>
              <a:rPr lang="en-US"/>
              <a:t> sensitive).</a:t>
            </a:r>
          </a:p>
        </p:txBody>
      </p:sp>
      <p:sp>
        <p:nvSpPr>
          <p:cNvPr id="3" name="Footer Placeholder 2">
            <a:extLst>
              <a:ext uri="{FF2B5EF4-FFF2-40B4-BE49-F238E27FC236}">
                <a16:creationId xmlns:a16="http://schemas.microsoft.com/office/drawing/2014/main" id="{2062D633-D4ED-4CB0-ABC4-4FB916497D07}"/>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AD837340-733A-4576-99FB-3ABB52BA2D5A}"/>
              </a:ext>
            </a:extLst>
          </p:cNvPr>
          <p:cNvSpPr>
            <a:spLocks noGrp="1"/>
          </p:cNvSpPr>
          <p:nvPr>
            <p:ph type="sldNum" sz="quarter" idx="12"/>
          </p:nvPr>
        </p:nvSpPr>
        <p:spPr/>
        <p:txBody>
          <a:bodyPr/>
          <a:lstStyle/>
          <a:p>
            <a:fld id="{45CA964B-B8B5-4404-ADB9-CBB2121E234F}" type="slidenum">
              <a:rPr lang="en-US" smtClean="0"/>
              <a:t>5</a:t>
            </a:fld>
            <a:endParaRPr lang="en-US"/>
          </a:p>
        </p:txBody>
      </p:sp>
      <p:sp>
        <p:nvSpPr>
          <p:cNvPr id="6" name="Rectangle 5">
            <a:extLst>
              <a:ext uri="{FF2B5EF4-FFF2-40B4-BE49-F238E27FC236}">
                <a16:creationId xmlns:a16="http://schemas.microsoft.com/office/drawing/2014/main" id="{BA884EAA-4139-4F81-9F8F-17230E342DA0}"/>
              </a:ext>
            </a:extLst>
          </p:cNvPr>
          <p:cNvSpPr/>
          <p:nvPr/>
        </p:nvSpPr>
        <p:spPr>
          <a:xfrm>
            <a:off x="320040" y="2538508"/>
            <a:ext cx="8595360" cy="3069812"/>
          </a:xfrm>
          <a:prstGeom prst="rect">
            <a:avLst/>
          </a:prstGeom>
          <a:noFill/>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9266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B0A17A1-766B-4ECB-8E8E-283796588152}"/>
              </a:ext>
            </a:extLst>
          </p:cNvPr>
          <p:cNvSpPr>
            <a:spLocks noGrp="1"/>
          </p:cNvSpPr>
          <p:nvPr>
            <p:ph idx="1"/>
          </p:nvPr>
        </p:nvSpPr>
        <p:spPr/>
        <p:txBody>
          <a:bodyPr/>
          <a:lstStyle/>
          <a:p>
            <a:r>
              <a:rPr lang="en-US" dirty="0" err="1"/>
              <a:t>Ví</a:t>
            </a:r>
            <a:r>
              <a:rPr lang="en-US" dirty="0"/>
              <a:t> </a:t>
            </a:r>
            <a:r>
              <a:rPr lang="en-US" dirty="0" err="1"/>
              <a:t>dụ</a:t>
            </a:r>
            <a:r>
              <a:rPr lang="en-US" dirty="0"/>
              <a:t> </a:t>
            </a:r>
            <a:r>
              <a:rPr lang="en-US" dirty="0" err="1"/>
              <a:t>các</a:t>
            </a:r>
            <a:r>
              <a:rPr lang="en-US" dirty="0"/>
              <a:t> </a:t>
            </a:r>
            <a:r>
              <a:rPr lang="en-US" dirty="0" err="1"/>
              <a:t>tên</a:t>
            </a:r>
            <a:r>
              <a:rPr lang="en-US" dirty="0"/>
              <a:t> </a:t>
            </a:r>
            <a:r>
              <a:rPr lang="en-US" dirty="0" err="1"/>
              <a:t>hợp</a:t>
            </a:r>
            <a:r>
              <a:rPr lang="en-US" dirty="0"/>
              <a:t> </a:t>
            </a:r>
            <a:r>
              <a:rPr lang="en-US" dirty="0" err="1"/>
              <a:t>lệ</a:t>
            </a:r>
            <a:r>
              <a:rPr lang="en-US" dirty="0"/>
              <a:t>:</a:t>
            </a:r>
          </a:p>
          <a:p>
            <a:pPr lvl="4"/>
            <a:r>
              <a:rPr lang="en-US" dirty="0"/>
              <a:t>x </a:t>
            </a:r>
          </a:p>
          <a:p>
            <a:pPr lvl="4"/>
            <a:r>
              <a:rPr lang="en-US" dirty="0" err="1"/>
              <a:t>grossPay</a:t>
            </a:r>
            <a:r>
              <a:rPr lang="en-US" dirty="0"/>
              <a:t> </a:t>
            </a:r>
          </a:p>
          <a:p>
            <a:pPr lvl="4"/>
            <a:r>
              <a:rPr lang="en-US" dirty="0" err="1"/>
              <a:t>number_of_studentes</a:t>
            </a:r>
            <a:endParaRPr lang="en-US" dirty="0"/>
          </a:p>
          <a:p>
            <a:pPr lvl="4"/>
            <a:r>
              <a:rPr lang="en-US" dirty="0"/>
              <a:t>n2</a:t>
            </a:r>
          </a:p>
          <a:p>
            <a:pPr lvl="4"/>
            <a:r>
              <a:rPr lang="en-US" dirty="0"/>
              <a:t>Polygon</a:t>
            </a:r>
          </a:p>
          <a:p>
            <a:pPr lvl="4"/>
            <a:r>
              <a:rPr lang="en-US" dirty="0"/>
              <a:t>PI</a:t>
            </a:r>
          </a:p>
          <a:p>
            <a:pPr lvl="4"/>
            <a:r>
              <a:rPr lang="en-US" dirty="0"/>
              <a:t>TAX_RATE </a:t>
            </a:r>
          </a:p>
          <a:p>
            <a:pPr lvl="4"/>
            <a:endParaRPr lang="en-US" dirty="0"/>
          </a:p>
          <a:p>
            <a:r>
              <a:rPr lang="en-US" dirty="0" err="1"/>
              <a:t>Ví</a:t>
            </a:r>
            <a:r>
              <a:rPr lang="en-US" dirty="0"/>
              <a:t> </a:t>
            </a:r>
            <a:r>
              <a:rPr lang="en-US" dirty="0" err="1"/>
              <a:t>dụ</a:t>
            </a:r>
            <a:r>
              <a:rPr lang="en-US" dirty="0"/>
              <a:t> </a:t>
            </a:r>
            <a:r>
              <a:rPr lang="en-US" dirty="0" err="1"/>
              <a:t>các</a:t>
            </a:r>
            <a:r>
              <a:rPr lang="en-US" dirty="0"/>
              <a:t> </a:t>
            </a:r>
            <a:r>
              <a:rPr lang="en-US" dirty="0" err="1"/>
              <a:t>tên</a:t>
            </a:r>
            <a:r>
              <a:rPr lang="en-US" dirty="0"/>
              <a:t> </a:t>
            </a:r>
            <a:r>
              <a:rPr lang="en-US" dirty="0" err="1"/>
              <a:t>không</a:t>
            </a:r>
            <a:r>
              <a:rPr lang="en-US" dirty="0"/>
              <a:t> </a:t>
            </a:r>
            <a:r>
              <a:rPr lang="en-US" dirty="0" err="1"/>
              <a:t>hợp</a:t>
            </a:r>
            <a:r>
              <a:rPr lang="en-US" dirty="0"/>
              <a:t> </a:t>
            </a:r>
            <a:r>
              <a:rPr lang="en-US" dirty="0" err="1"/>
              <a:t>lệ</a:t>
            </a:r>
            <a:r>
              <a:rPr lang="en-US" dirty="0"/>
              <a:t>:</a:t>
            </a:r>
          </a:p>
          <a:p>
            <a:pPr lvl="4"/>
            <a:r>
              <a:rPr lang="vi-VN" dirty="0"/>
              <a:t>2x start$time </a:t>
            </a:r>
            <a:endParaRPr lang="en-US" dirty="0"/>
          </a:p>
          <a:p>
            <a:pPr lvl="4"/>
            <a:r>
              <a:rPr lang="vi-VN" dirty="0"/>
              <a:t>Start menu</a:t>
            </a:r>
          </a:p>
          <a:p>
            <a:pPr lvl="4"/>
            <a:r>
              <a:rPr lang="vi-VN" dirty="0"/>
              <a:t>RATE%</a:t>
            </a:r>
          </a:p>
          <a:p>
            <a:pPr lvl="4"/>
            <a:r>
              <a:rPr lang="vi-VN" dirty="0"/>
              <a:t>2018Sales</a:t>
            </a:r>
            <a:endParaRPr lang="en-GB" dirty="0"/>
          </a:p>
          <a:p>
            <a:pPr lvl="4"/>
            <a:endParaRPr lang="vi-VN" dirty="0"/>
          </a:p>
          <a:p>
            <a:r>
              <a:rPr lang="vi-VN" dirty="0"/>
              <a:t>C++ phân biệt ký tự hoa và thường, </a:t>
            </a:r>
            <a:r>
              <a:rPr lang="vi-VN" dirty="0">
                <a:latin typeface="Consolas" panose="020B0609020204030204" pitchFamily="49" charset="0"/>
              </a:rPr>
              <a:t>x</a:t>
            </a:r>
            <a:r>
              <a:rPr lang="vi-VN" dirty="0"/>
              <a:t> và </a:t>
            </a:r>
            <a:r>
              <a:rPr lang="vi-VN" dirty="0">
                <a:latin typeface="Consolas" panose="020B0609020204030204" pitchFamily="49" charset="0"/>
              </a:rPr>
              <a:t>X</a:t>
            </a:r>
            <a:r>
              <a:rPr lang="vi-VN" dirty="0"/>
              <a:t> là hai tên khác nhau.</a:t>
            </a:r>
          </a:p>
          <a:p>
            <a:endParaRPr lang="en-US" dirty="0"/>
          </a:p>
        </p:txBody>
      </p:sp>
      <p:sp>
        <p:nvSpPr>
          <p:cNvPr id="3" name="Footer Placeholder 2">
            <a:extLst>
              <a:ext uri="{FF2B5EF4-FFF2-40B4-BE49-F238E27FC236}">
                <a16:creationId xmlns:a16="http://schemas.microsoft.com/office/drawing/2014/main" id="{4ABEB370-03E5-4386-BD56-886FDD507EC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FA2C36A1-31B6-426B-9900-B576F7181A78}"/>
              </a:ext>
            </a:extLst>
          </p:cNvPr>
          <p:cNvSpPr>
            <a:spLocks noGrp="1"/>
          </p:cNvSpPr>
          <p:nvPr>
            <p:ph type="sldNum" sz="quarter" idx="12"/>
          </p:nvPr>
        </p:nvSpPr>
        <p:spPr/>
        <p:txBody>
          <a:bodyPr/>
          <a:lstStyle/>
          <a:p>
            <a:fld id="{45CA964B-B8B5-4404-ADB9-CBB2121E234F}" type="slidenum">
              <a:rPr lang="en-US" smtClean="0"/>
              <a:t>6</a:t>
            </a:fld>
            <a:endParaRPr lang="en-US"/>
          </a:p>
        </p:txBody>
      </p:sp>
    </p:spTree>
    <p:extLst>
      <p:ext uri="{BB962C8B-B14F-4D97-AF65-F5344CB8AC3E}">
        <p14:creationId xmlns:p14="http://schemas.microsoft.com/office/powerpoint/2010/main" val="377737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66D156-474F-469C-B79F-F3BE76E36808}"/>
              </a:ext>
            </a:extLst>
          </p:cNvPr>
          <p:cNvSpPr>
            <a:spLocks noGrp="1"/>
          </p:cNvSpPr>
          <p:nvPr>
            <p:ph type="title"/>
          </p:nvPr>
        </p:nvSpPr>
        <p:spPr/>
        <p:txBody>
          <a:bodyPr/>
          <a:lstStyle/>
          <a:p>
            <a:r>
              <a:rPr lang="vi-VN"/>
              <a:t>Lưu ý khi đặt tên</a:t>
            </a:r>
            <a:endParaRPr lang="en-US"/>
          </a:p>
        </p:txBody>
      </p:sp>
      <p:sp>
        <p:nvSpPr>
          <p:cNvPr id="6" name="Content Placeholder 5">
            <a:extLst>
              <a:ext uri="{FF2B5EF4-FFF2-40B4-BE49-F238E27FC236}">
                <a16:creationId xmlns:a16="http://schemas.microsoft.com/office/drawing/2014/main" id="{FD536C41-43FC-4C59-B61D-35B6652C102D}"/>
              </a:ext>
            </a:extLst>
          </p:cNvPr>
          <p:cNvSpPr>
            <a:spLocks noGrp="1"/>
          </p:cNvSpPr>
          <p:nvPr>
            <p:ph idx="1"/>
          </p:nvPr>
        </p:nvSpPr>
        <p:spPr/>
        <p:txBody>
          <a:bodyPr>
            <a:normAutofit/>
          </a:bodyPr>
          <a:lstStyle/>
          <a:p>
            <a:pPr algn="just"/>
            <a:r>
              <a:rPr lang="vi-VN">
                <a:solidFill>
                  <a:srgbClr val="FF0000"/>
                </a:solidFill>
              </a:rPr>
              <a:t>Nên chọn tên có ý nghĩa, giúp người đọc có thể hiểu chương trình một cách dễ dàng</a:t>
            </a:r>
            <a:r>
              <a:rPr lang="vi-VN"/>
              <a:t>. </a:t>
            </a:r>
            <a:endParaRPr lang="en-US"/>
          </a:p>
          <a:p>
            <a:pPr algn="just"/>
            <a:r>
              <a:rPr lang="vi-VN"/>
              <a:t>Không nên viết tắt vì sẽ gây khó hiểu: </a:t>
            </a:r>
            <a:endParaRPr lang="en-US"/>
          </a:p>
          <a:p>
            <a:pPr lvl="4" algn="just"/>
            <a:r>
              <a:rPr lang="vi-VN"/>
              <a:t>mtbf	TLA	myw	nbv</a:t>
            </a:r>
          </a:p>
          <a:p>
            <a:pPr algn="just"/>
            <a:r>
              <a:rPr lang="vi-VN"/>
              <a:t>Các tên ngắn gọn đã được quy ước: </a:t>
            </a:r>
            <a:endParaRPr lang="en-US"/>
          </a:p>
          <a:p>
            <a:pPr lvl="1" algn="just"/>
            <a:r>
              <a:rPr lang="vi-VN">
                <a:latin typeface="Consolas" panose="020B0609020204030204" pitchFamily="49" charset="0"/>
              </a:rPr>
              <a:t>x</a:t>
            </a:r>
            <a:r>
              <a:rPr lang="vi-VN"/>
              <a:t>: biến cục bộ </a:t>
            </a:r>
            <a:endParaRPr lang="en-US"/>
          </a:p>
          <a:p>
            <a:pPr lvl="1" algn="just"/>
            <a:r>
              <a:rPr lang="vi-VN">
                <a:latin typeface="Consolas" panose="020B0609020204030204" pitchFamily="49" charset="0"/>
              </a:rPr>
              <a:t>i</a:t>
            </a:r>
            <a:r>
              <a:rPr lang="vi-VN"/>
              <a:t>: chỉ số của</a:t>
            </a:r>
            <a:r>
              <a:rPr lang="en-US"/>
              <a:t> vòng lặp   </a:t>
            </a:r>
          </a:p>
          <a:p>
            <a:pPr algn="just"/>
            <a:r>
              <a:rPr lang="en-US"/>
              <a:t>Không nên dùng tên quá dài: </a:t>
            </a:r>
          </a:p>
          <a:p>
            <a:pPr lvl="4" algn="just"/>
            <a:r>
              <a:rPr lang="en-US"/>
              <a:t>the_number_of_elements</a:t>
            </a:r>
          </a:p>
          <a:p>
            <a:pPr lvl="4" algn="just"/>
            <a:r>
              <a:rPr lang="en-US"/>
              <a:t>remaining_free_slots_in_the_symbol_table   </a:t>
            </a:r>
          </a:p>
          <a:p>
            <a:pPr algn="just"/>
            <a:r>
              <a:rPr lang="en-US"/>
              <a:t>Nên đặt tên ngắn gọn, có nghĩa:</a:t>
            </a:r>
          </a:p>
          <a:p>
            <a:pPr lvl="4" algn="just"/>
            <a:r>
              <a:rPr lang="en-US"/>
              <a:t>partial_sum	element_count	staple_partition</a:t>
            </a:r>
          </a:p>
        </p:txBody>
      </p:sp>
      <p:sp>
        <p:nvSpPr>
          <p:cNvPr id="2" name="Footer Placeholder 1">
            <a:extLst>
              <a:ext uri="{FF2B5EF4-FFF2-40B4-BE49-F238E27FC236}">
                <a16:creationId xmlns:a16="http://schemas.microsoft.com/office/drawing/2014/main" id="{9CA8F849-17FE-4900-8725-AE5B11BA2325}"/>
              </a:ext>
            </a:extLst>
          </p:cNvPr>
          <p:cNvSpPr>
            <a:spLocks noGrp="1"/>
          </p:cNvSpPr>
          <p:nvPr>
            <p:ph type="ftr" sz="quarter" idx="11"/>
          </p:nvPr>
        </p:nvSpPr>
        <p:spPr/>
        <p:txBody>
          <a:bodyPr/>
          <a:lstStyle/>
          <a:p>
            <a:r>
              <a:rPr lang="vi-VN"/>
              <a:t>Cơ sở lập trình - Biến &amp; Kiểu dữ liệu</a:t>
            </a:r>
            <a:endParaRPr lang="en-US"/>
          </a:p>
        </p:txBody>
      </p:sp>
      <p:sp>
        <p:nvSpPr>
          <p:cNvPr id="3" name="Slide Number Placeholder 2">
            <a:extLst>
              <a:ext uri="{FF2B5EF4-FFF2-40B4-BE49-F238E27FC236}">
                <a16:creationId xmlns:a16="http://schemas.microsoft.com/office/drawing/2014/main" id="{4FD62BE9-02E7-427A-BB95-E23C161D2FB4}"/>
              </a:ext>
            </a:extLst>
          </p:cNvPr>
          <p:cNvSpPr>
            <a:spLocks noGrp="1"/>
          </p:cNvSpPr>
          <p:nvPr>
            <p:ph type="sldNum" sz="quarter" idx="12"/>
          </p:nvPr>
        </p:nvSpPr>
        <p:spPr/>
        <p:txBody>
          <a:bodyPr/>
          <a:lstStyle/>
          <a:p>
            <a:fld id="{45CA964B-B8B5-4404-ADB9-CBB2121E234F}" type="slidenum">
              <a:rPr lang="en-US" smtClean="0"/>
              <a:t>7</a:t>
            </a:fld>
            <a:endParaRPr lang="en-US"/>
          </a:p>
        </p:txBody>
      </p:sp>
    </p:spTree>
    <p:extLst>
      <p:ext uri="{BB962C8B-B14F-4D97-AF65-F5344CB8AC3E}">
        <p14:creationId xmlns:p14="http://schemas.microsoft.com/office/powerpoint/2010/main" val="1242034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FAFEE-77C7-465B-87D0-524478AEB763}"/>
              </a:ext>
            </a:extLst>
          </p:cNvPr>
          <p:cNvSpPr>
            <a:spLocks noGrp="1"/>
          </p:cNvSpPr>
          <p:nvPr>
            <p:ph type="title"/>
          </p:nvPr>
        </p:nvSpPr>
        <p:spPr/>
        <p:txBody>
          <a:bodyPr/>
          <a:lstStyle/>
          <a:p>
            <a:r>
              <a:rPr lang="en-US"/>
              <a:t>Quy </a:t>
            </a:r>
            <a:r>
              <a:rPr lang="vi-VN"/>
              <a:t>ư</a:t>
            </a:r>
            <a:r>
              <a:rPr lang="en-US"/>
              <a:t>ớc đặt tên</a:t>
            </a:r>
          </a:p>
        </p:txBody>
      </p:sp>
      <p:sp>
        <p:nvSpPr>
          <p:cNvPr id="3" name="Content Placeholder 2">
            <a:extLst>
              <a:ext uri="{FF2B5EF4-FFF2-40B4-BE49-F238E27FC236}">
                <a16:creationId xmlns:a16="http://schemas.microsoft.com/office/drawing/2014/main" id="{899D37AD-E7E7-41BE-8E9C-328A24692116}"/>
              </a:ext>
            </a:extLst>
          </p:cNvPr>
          <p:cNvSpPr>
            <a:spLocks noGrp="1"/>
          </p:cNvSpPr>
          <p:nvPr>
            <p:ph idx="1"/>
          </p:nvPr>
        </p:nvSpPr>
        <p:spPr/>
        <p:txBody>
          <a:bodyPr>
            <a:normAutofit lnSpcReduction="10000"/>
          </a:bodyPr>
          <a:lstStyle/>
          <a:p>
            <a:r>
              <a:rPr lang="vi-VN"/>
              <a:t>Tên biến: </a:t>
            </a:r>
            <a:r>
              <a:rPr lang="vi-VN">
                <a:latin typeface="Consolas" panose="020B0609020204030204" pitchFamily="49" charset="0"/>
              </a:rPr>
              <a:t>lowerCamelCase</a:t>
            </a:r>
            <a:r>
              <a:rPr lang="vi-VN"/>
              <a:t> </a:t>
            </a:r>
            <a:endParaRPr lang="en-US"/>
          </a:p>
          <a:p>
            <a:pPr lvl="4"/>
            <a:r>
              <a:rPr lang="vi-VN"/>
              <a:t>double centimeter; </a:t>
            </a:r>
            <a:endParaRPr lang="en-US"/>
          </a:p>
          <a:p>
            <a:pPr lvl="4"/>
            <a:r>
              <a:rPr lang="vi-VN"/>
              <a:t>int totalInches; </a:t>
            </a:r>
            <a:endParaRPr lang="en-GB"/>
          </a:p>
          <a:p>
            <a:pPr lvl="4"/>
            <a:r>
              <a:rPr lang="vi-VN"/>
              <a:t>  </a:t>
            </a:r>
            <a:endParaRPr lang="en-US"/>
          </a:p>
          <a:p>
            <a:r>
              <a:rPr lang="vi-VN"/>
              <a:t>Tên hàm: </a:t>
            </a:r>
            <a:r>
              <a:rPr lang="vi-VN">
                <a:latin typeface="Consolas" panose="020B0609020204030204" pitchFamily="49" charset="0"/>
              </a:rPr>
              <a:t>lowerCamelCase</a:t>
            </a:r>
            <a:r>
              <a:rPr lang="vi-VN"/>
              <a:t>, bắt đầu bằng động từ.</a:t>
            </a:r>
          </a:p>
          <a:p>
            <a:pPr lvl="4"/>
            <a:r>
              <a:rPr lang="vi-VN"/>
              <a:t>double calculateAverage(); </a:t>
            </a:r>
            <a:endParaRPr lang="en-US"/>
          </a:p>
          <a:p>
            <a:pPr lvl="4"/>
            <a:r>
              <a:rPr lang="vi-VN"/>
              <a:t>void run(); </a:t>
            </a:r>
            <a:endParaRPr lang="en-US"/>
          </a:p>
          <a:p>
            <a:pPr lvl="4"/>
            <a:r>
              <a:rPr lang="vi-VN"/>
              <a:t>void print();</a:t>
            </a:r>
            <a:endParaRPr lang="en-GB"/>
          </a:p>
          <a:p>
            <a:pPr lvl="4"/>
            <a:endParaRPr lang="vi-VN"/>
          </a:p>
          <a:p>
            <a:r>
              <a:rPr lang="vi-VN"/>
              <a:t>Tên kiểu dữ liệu do người dùng định nghĩa: </a:t>
            </a:r>
            <a:r>
              <a:rPr lang="vi-VN">
                <a:latin typeface="Consolas" panose="020B0609020204030204" pitchFamily="49" charset="0"/>
              </a:rPr>
              <a:t>UpperCamelCase</a:t>
            </a:r>
            <a:endParaRPr lang="en-US">
              <a:latin typeface="Consolas" panose="020B0609020204030204" pitchFamily="49" charset="0"/>
            </a:endParaRPr>
          </a:p>
          <a:p>
            <a:pPr lvl="4"/>
            <a:r>
              <a:rPr lang="vi-VN"/>
              <a:t>Graph	</a:t>
            </a:r>
            <a:endParaRPr lang="en-US"/>
          </a:p>
          <a:p>
            <a:pPr lvl="3"/>
            <a:r>
              <a:rPr lang="vi-VN"/>
              <a:t>Square </a:t>
            </a:r>
            <a:endParaRPr lang="en-GB"/>
          </a:p>
          <a:p>
            <a:pPr lvl="3"/>
            <a:endParaRPr lang="en-US"/>
          </a:p>
          <a:p>
            <a:r>
              <a:rPr lang="vi-VN"/>
              <a:t>Tên hằng: ký tự in hoa, dùng dấu gạch dưới phân cách các từ.</a:t>
            </a:r>
          </a:p>
          <a:p>
            <a:pPr lvl="4"/>
            <a:r>
              <a:rPr lang="vi-VN"/>
              <a:t>const int MAX_PARTICIPANTS = 10;</a:t>
            </a:r>
          </a:p>
        </p:txBody>
      </p:sp>
      <p:sp>
        <p:nvSpPr>
          <p:cNvPr id="4" name="Footer Placeholder 3">
            <a:extLst>
              <a:ext uri="{FF2B5EF4-FFF2-40B4-BE49-F238E27FC236}">
                <a16:creationId xmlns:a16="http://schemas.microsoft.com/office/drawing/2014/main" id="{73872C9D-17CB-45F2-908E-2EB7FC768651}"/>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18F3713A-4E85-4932-8178-0F88EE11E5DC}"/>
              </a:ext>
            </a:extLst>
          </p:cNvPr>
          <p:cNvSpPr>
            <a:spLocks noGrp="1"/>
          </p:cNvSpPr>
          <p:nvPr>
            <p:ph type="sldNum" sz="quarter" idx="12"/>
          </p:nvPr>
        </p:nvSpPr>
        <p:spPr/>
        <p:txBody>
          <a:bodyPr/>
          <a:lstStyle/>
          <a:p>
            <a:fld id="{45CA964B-B8B5-4404-ADB9-CBB2121E234F}" type="slidenum">
              <a:rPr lang="en-US" smtClean="0"/>
              <a:t>8</a:t>
            </a:fld>
            <a:endParaRPr lang="en-US"/>
          </a:p>
        </p:txBody>
      </p:sp>
    </p:spTree>
    <p:extLst>
      <p:ext uri="{BB962C8B-B14F-4D97-AF65-F5344CB8AC3E}">
        <p14:creationId xmlns:p14="http://schemas.microsoft.com/office/powerpoint/2010/main" val="364356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86BD1-9E3D-429A-A12E-13F681ECB937}"/>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A507DE40-37F9-47AD-B568-3B19520244FC}"/>
              </a:ext>
            </a:extLst>
          </p:cNvPr>
          <p:cNvSpPr>
            <a:spLocks noGrp="1"/>
          </p:cNvSpPr>
          <p:nvPr>
            <p:ph idx="1"/>
          </p:nvPr>
        </p:nvSpPr>
        <p:spPr/>
        <p:txBody>
          <a:bodyPr/>
          <a:lstStyle/>
          <a:p>
            <a:r>
              <a:rPr lang="en-US" dirty="0" err="1"/>
              <a:t>Hãy</a:t>
            </a:r>
            <a:r>
              <a:rPr lang="en-US" dirty="0"/>
              <a:t> </a:t>
            </a:r>
            <a:r>
              <a:rPr lang="en-US" dirty="0" err="1"/>
              <a:t>cho</a:t>
            </a:r>
            <a:r>
              <a:rPr lang="en-US" dirty="0"/>
              <a:t> </a:t>
            </a:r>
            <a:r>
              <a:rPr lang="en-US" dirty="0" err="1"/>
              <a:t>biết</a:t>
            </a:r>
            <a:r>
              <a:rPr lang="en-US" dirty="0"/>
              <a:t> </a:t>
            </a:r>
            <a:r>
              <a:rPr lang="en-US" dirty="0" err="1"/>
              <a:t>các</a:t>
            </a:r>
            <a:r>
              <a:rPr lang="en-US" dirty="0"/>
              <a:t> </a:t>
            </a:r>
            <a:r>
              <a:rPr lang="en-US" dirty="0" err="1"/>
              <a:t>tên</a:t>
            </a:r>
            <a:r>
              <a:rPr lang="en-US" dirty="0"/>
              <a:t> </a:t>
            </a:r>
            <a:r>
              <a:rPr lang="en-US" dirty="0" err="1"/>
              <a:t>nào</a:t>
            </a:r>
            <a:r>
              <a:rPr lang="en-US" dirty="0"/>
              <a:t> </a:t>
            </a:r>
            <a:r>
              <a:rPr lang="en-US" dirty="0" err="1"/>
              <a:t>là</a:t>
            </a:r>
            <a:r>
              <a:rPr lang="en-US" dirty="0"/>
              <a:t> </a:t>
            </a:r>
            <a:r>
              <a:rPr lang="en-US" dirty="0" err="1"/>
              <a:t>hợp</a:t>
            </a:r>
            <a:r>
              <a:rPr lang="en-US" dirty="0"/>
              <a:t> </a:t>
            </a:r>
            <a:r>
              <a:rPr lang="en-US" dirty="0" err="1"/>
              <a:t>lệ</a:t>
            </a:r>
            <a:r>
              <a:rPr lang="en-US" dirty="0"/>
              <a:t> </a:t>
            </a:r>
            <a:r>
              <a:rPr lang="en-US" dirty="0" err="1"/>
              <a:t>trong</a:t>
            </a:r>
            <a:r>
              <a:rPr lang="en-US" dirty="0"/>
              <a:t> C++:</a:t>
            </a:r>
          </a:p>
          <a:p>
            <a:pPr lvl="4"/>
            <a:r>
              <a:rPr lang="en-US" dirty="0"/>
              <a:t>x1</a:t>
            </a:r>
          </a:p>
          <a:p>
            <a:pPr lvl="4"/>
            <a:r>
              <a:rPr lang="en-US" dirty="0" err="1"/>
              <a:t>EvilDarkness</a:t>
            </a:r>
            <a:endParaRPr lang="en-US" dirty="0"/>
          </a:p>
          <a:p>
            <a:pPr lvl="4"/>
            <a:r>
              <a:rPr lang="en-US" dirty="0"/>
              <a:t>PennslyvaniaAve1600</a:t>
            </a:r>
          </a:p>
          <a:p>
            <a:pPr lvl="4"/>
            <a:r>
              <a:rPr lang="en-US" dirty="0"/>
              <a:t>1600PennsylvaniaAve</a:t>
            </a:r>
          </a:p>
          <a:p>
            <a:pPr lvl="4"/>
            <a:r>
              <a:rPr lang="en-US" dirty="0" err="1"/>
              <a:t>Bobby_the_Robot</a:t>
            </a:r>
            <a:r>
              <a:rPr lang="en-US" dirty="0"/>
              <a:t> </a:t>
            </a:r>
          </a:p>
          <a:p>
            <a:pPr lvl="4"/>
            <a:r>
              <a:rPr lang="en-US" dirty="0" err="1"/>
              <a:t>Bobby+the+Robot</a:t>
            </a:r>
            <a:r>
              <a:rPr lang="en-US" dirty="0"/>
              <a:t> </a:t>
            </a:r>
          </a:p>
          <a:p>
            <a:pPr lvl="4"/>
            <a:r>
              <a:rPr lang="en-US" dirty="0" err="1"/>
              <a:t>whatThe</a:t>
            </a:r>
            <a:r>
              <a:rPr lang="en-US" dirty="0"/>
              <a:t>???</a:t>
            </a:r>
          </a:p>
          <a:p>
            <a:pPr lvl="4"/>
            <a:r>
              <a:rPr lang="en-US" dirty="0"/>
              <a:t>amount</a:t>
            </a:r>
          </a:p>
          <a:p>
            <a:pPr lvl="4"/>
            <a:r>
              <a:rPr lang="en-US" dirty="0"/>
              <a:t>count2 </a:t>
            </a:r>
          </a:p>
          <a:p>
            <a:pPr lvl="4"/>
            <a:r>
              <a:rPr lang="en-US" dirty="0"/>
              <a:t>count2five</a:t>
            </a:r>
          </a:p>
          <a:p>
            <a:pPr lvl="4"/>
            <a:r>
              <a:rPr lang="en-US" dirty="0"/>
              <a:t>5count </a:t>
            </a:r>
          </a:p>
          <a:p>
            <a:pPr lvl="4"/>
            <a:r>
              <a:rPr lang="en-US" dirty="0"/>
              <a:t>main </a:t>
            </a:r>
          </a:p>
          <a:p>
            <a:pPr lvl="4"/>
            <a:r>
              <a:rPr lang="en-US" dirty="0"/>
              <a:t>main2</a:t>
            </a:r>
          </a:p>
        </p:txBody>
      </p:sp>
      <p:sp>
        <p:nvSpPr>
          <p:cNvPr id="4" name="Footer Placeholder 3">
            <a:extLst>
              <a:ext uri="{FF2B5EF4-FFF2-40B4-BE49-F238E27FC236}">
                <a16:creationId xmlns:a16="http://schemas.microsoft.com/office/drawing/2014/main" id="{053173E0-303A-4D28-A97A-0711500FD8AA}"/>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75CABB3D-C52C-4C57-9A2C-841B5B8B9A8A}"/>
              </a:ext>
            </a:extLst>
          </p:cNvPr>
          <p:cNvSpPr>
            <a:spLocks noGrp="1"/>
          </p:cNvSpPr>
          <p:nvPr>
            <p:ph type="sldNum" sz="quarter" idx="12"/>
          </p:nvPr>
        </p:nvSpPr>
        <p:spPr/>
        <p:txBody>
          <a:bodyPr/>
          <a:lstStyle/>
          <a:p>
            <a:fld id="{45CA964B-B8B5-4404-ADB9-CBB2121E234F}" type="slidenum">
              <a:rPr lang="en-US" smtClean="0"/>
              <a:t>9</a:t>
            </a:fld>
            <a:endParaRPr lang="en-US"/>
          </a:p>
        </p:txBody>
      </p:sp>
    </p:spTree>
    <p:extLst>
      <p:ext uri="{BB962C8B-B14F-4D97-AF65-F5344CB8AC3E}">
        <p14:creationId xmlns:p14="http://schemas.microsoft.com/office/powerpoint/2010/main" val="65772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tx1">
                    <a:lumMod val="50000"/>
                    <a:lumOff val="50000"/>
                  </a:schemeClr>
                </a:solidFill>
              </a:rPr>
              <a:t>Tên và Từ khóa</a:t>
            </a:r>
          </a:p>
          <a:p>
            <a:r>
              <a:rPr lang="vi-VN"/>
              <a:t>Kiểu dữ liệu</a:t>
            </a:r>
            <a:endParaRPr lang="en-US"/>
          </a:p>
          <a:p>
            <a:pPr lvl="1"/>
            <a:r>
              <a:rPr lang="en-US"/>
              <a:t>Kiểu dữ liệu c</a:t>
            </a:r>
            <a:r>
              <a:rPr lang="vi-VN"/>
              <a:t>ơ</a:t>
            </a:r>
            <a:r>
              <a:rPr lang="en-US"/>
              <a:t> bản</a:t>
            </a:r>
          </a:p>
          <a:p>
            <a:pPr lvl="1"/>
            <a:r>
              <a:rPr lang="en-US"/>
              <a:t>Kiểu </a:t>
            </a:r>
            <a:r>
              <a:rPr lang="en-US">
                <a:latin typeface="Consolas" panose="020B0609020204030204" pitchFamily="49" charset="0"/>
              </a:rPr>
              <a:t>string</a:t>
            </a:r>
          </a:p>
          <a:p>
            <a:pPr lvl="1"/>
            <a:r>
              <a:rPr lang="en-US"/>
              <a:t>Một số toán tử t</a:t>
            </a:r>
            <a:r>
              <a:rPr lang="vi-VN"/>
              <a:t>ư</a:t>
            </a:r>
            <a:r>
              <a:rPr lang="en-US"/>
              <a:t>ơng ứng với kiểu dữ liệu</a:t>
            </a:r>
            <a:endParaRPr lang="vi-VN"/>
          </a:p>
          <a:p>
            <a:r>
              <a:rPr lang="vi-VN">
                <a:solidFill>
                  <a:schemeClr val="tx1">
                    <a:lumMod val="50000"/>
                    <a:lumOff val="50000"/>
                  </a:schemeClr>
                </a:solidFill>
              </a:rPr>
              <a:t>Biến và Hằng</a:t>
            </a:r>
          </a:p>
          <a:p>
            <a:r>
              <a:rPr lang="vi-VN">
                <a:solidFill>
                  <a:schemeClr val="tx1">
                    <a:lumMod val="50000"/>
                    <a:lumOff val="50000"/>
                  </a:schemeClr>
                </a:solidFill>
              </a:rPr>
              <a:t>Nhập dữ liệu</a:t>
            </a:r>
          </a:p>
          <a:p>
            <a:r>
              <a:rPr lang="vi-VN">
                <a:solidFill>
                  <a:schemeClr val="tx1">
                    <a:lumMod val="50000"/>
                    <a:lumOff val="50000"/>
                  </a:schemeClr>
                </a:solidFill>
              </a:rPr>
              <a:t>Xuất dữ liệu và Định dạng xuất</a:t>
            </a:r>
            <a:endParaRPr lang="en-US">
              <a:solidFill>
                <a:schemeClr val="tx1">
                  <a:lumMod val="50000"/>
                  <a:lumOff val="50000"/>
                </a:schemeClr>
              </a:solidFill>
            </a:endParaRPr>
          </a:p>
          <a:p>
            <a:r>
              <a:rPr lang="en-US">
                <a:solidFill>
                  <a:schemeClr val="tx1">
                    <a:lumMod val="50000"/>
                    <a:lumOff val="50000"/>
                  </a:schemeClr>
                </a:solidFill>
              </a:rPr>
              <a:t>Biểu thức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10</a:t>
            </a:fld>
            <a:endParaRPr lang="en-US"/>
          </a:p>
        </p:txBody>
      </p:sp>
    </p:spTree>
    <p:extLst>
      <p:ext uri="{BB962C8B-B14F-4D97-AF65-F5344CB8AC3E}">
        <p14:creationId xmlns:p14="http://schemas.microsoft.com/office/powerpoint/2010/main" val="882048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39A738-5D6B-47A0-A8AF-554625C3279D}"/>
              </a:ext>
            </a:extLst>
          </p:cNvPr>
          <p:cNvSpPr>
            <a:spLocks noGrp="1"/>
          </p:cNvSpPr>
          <p:nvPr>
            <p:ph type="title"/>
          </p:nvPr>
        </p:nvSpPr>
        <p:spPr/>
        <p:txBody>
          <a:bodyPr/>
          <a:lstStyle/>
          <a:p>
            <a:r>
              <a:rPr lang="en-US"/>
              <a:t>Kiểu dữ liệu</a:t>
            </a:r>
          </a:p>
        </p:txBody>
      </p:sp>
      <p:sp>
        <p:nvSpPr>
          <p:cNvPr id="7" name="Content Placeholder 6">
            <a:extLst>
              <a:ext uri="{FF2B5EF4-FFF2-40B4-BE49-F238E27FC236}">
                <a16:creationId xmlns:a16="http://schemas.microsoft.com/office/drawing/2014/main" id="{1C0D8842-75D2-4AED-95D0-ACB58718B875}"/>
              </a:ext>
            </a:extLst>
          </p:cNvPr>
          <p:cNvSpPr>
            <a:spLocks noGrp="1"/>
          </p:cNvSpPr>
          <p:nvPr>
            <p:ph idx="1"/>
          </p:nvPr>
        </p:nvSpPr>
        <p:spPr/>
        <p:txBody>
          <a:bodyPr/>
          <a:lstStyle/>
          <a:p>
            <a:pPr algn="just"/>
            <a:r>
              <a:rPr lang="vi-VN"/>
              <a:t>Dữ liệu có thể là một ký tự, một số hoặc một đoạn văn bản...</a:t>
            </a:r>
          </a:p>
          <a:p>
            <a:pPr algn="just"/>
            <a:r>
              <a:rPr lang="vi-VN"/>
              <a:t>Khi viết chương trình ta phải cho máy tính biết kiểu dữ liệu (data type) cần xử lý.</a:t>
            </a:r>
          </a:p>
          <a:p>
            <a:pPr algn="just"/>
            <a:r>
              <a:rPr lang="vi-VN"/>
              <a:t>Các ngôn ngữ lập trình đều sử dụng hai kiểu dữ liệu cơ bản:</a:t>
            </a:r>
          </a:p>
          <a:p>
            <a:pPr lvl="1" algn="just"/>
            <a:r>
              <a:rPr lang="en-US">
                <a:solidFill>
                  <a:srgbClr val="0000FF"/>
                </a:solidFill>
              </a:rPr>
              <a:t>Dữ liệu số</a:t>
            </a:r>
            <a:r>
              <a:rPr lang="en-US"/>
              <a:t> (numeric data type): số nguyên (integer) và số dấu chấm động (floating point).</a:t>
            </a:r>
          </a:p>
          <a:p>
            <a:pPr lvl="1" algn="just"/>
            <a:r>
              <a:rPr lang="en-US">
                <a:solidFill>
                  <a:srgbClr val="0000FF"/>
                </a:solidFill>
              </a:rPr>
              <a:t>Dữ liệu chuỗi ký tự</a:t>
            </a:r>
            <a:r>
              <a:rPr lang="en-US"/>
              <a:t> (character string data type): ký tự (character) và chuỗi (string).</a:t>
            </a:r>
          </a:p>
          <a:p>
            <a:pPr algn="just"/>
            <a:r>
              <a:rPr lang="en-US"/>
              <a:t>Ngoài ra, các ngôn ngữ lập trình còn có kiểu dữ liệu luận lý (boolean data type).</a:t>
            </a:r>
          </a:p>
          <a:p>
            <a:pPr algn="just"/>
            <a:endParaRPr lang="en-US"/>
          </a:p>
        </p:txBody>
      </p:sp>
      <p:sp>
        <p:nvSpPr>
          <p:cNvPr id="4" name="Footer Placeholder 3">
            <a:extLst>
              <a:ext uri="{FF2B5EF4-FFF2-40B4-BE49-F238E27FC236}">
                <a16:creationId xmlns:a16="http://schemas.microsoft.com/office/drawing/2014/main" id="{D20EA77F-4BD8-4CAE-A131-9A0FACE736C1}"/>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89EB376-0961-465C-809C-87251F7802AC}"/>
              </a:ext>
            </a:extLst>
          </p:cNvPr>
          <p:cNvSpPr>
            <a:spLocks noGrp="1"/>
          </p:cNvSpPr>
          <p:nvPr>
            <p:ph type="sldNum" sz="quarter" idx="12"/>
          </p:nvPr>
        </p:nvSpPr>
        <p:spPr/>
        <p:txBody>
          <a:bodyPr/>
          <a:lstStyle/>
          <a:p>
            <a:fld id="{45CA964B-B8B5-4404-ADB9-CBB2121E234F}" type="slidenum">
              <a:rPr lang="en-US" smtClean="0"/>
              <a:t>11</a:t>
            </a:fld>
            <a:endParaRPr lang="en-US"/>
          </a:p>
        </p:txBody>
      </p:sp>
    </p:spTree>
    <p:extLst>
      <p:ext uri="{BB962C8B-B14F-4D97-AF65-F5344CB8AC3E}">
        <p14:creationId xmlns:p14="http://schemas.microsoft.com/office/powerpoint/2010/main" val="741827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195A6-180E-4AB6-8BE6-5F1FDF1077F0}"/>
              </a:ext>
            </a:extLst>
          </p:cNvPr>
          <p:cNvSpPr>
            <a:spLocks noGrp="1"/>
          </p:cNvSpPr>
          <p:nvPr>
            <p:ph type="title"/>
          </p:nvPr>
        </p:nvSpPr>
        <p:spPr/>
        <p:txBody>
          <a:bodyPr/>
          <a:lstStyle/>
          <a:p>
            <a:r>
              <a:rPr lang="en-US"/>
              <a:t>Kiểu dữ liệu trong C++</a:t>
            </a:r>
          </a:p>
        </p:txBody>
      </p:sp>
      <p:pic>
        <p:nvPicPr>
          <p:cNvPr id="7" name="Content Placeholder 6">
            <a:extLst>
              <a:ext uri="{FF2B5EF4-FFF2-40B4-BE49-F238E27FC236}">
                <a16:creationId xmlns:a16="http://schemas.microsoft.com/office/drawing/2014/main" id="{9DC4DF8D-2B66-42BB-A4A0-A49AF8B5B0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2168" y="1128578"/>
            <a:ext cx="7565922" cy="5380359"/>
          </a:xfrm>
        </p:spPr>
      </p:pic>
      <p:sp>
        <p:nvSpPr>
          <p:cNvPr id="4" name="Footer Placeholder 3">
            <a:extLst>
              <a:ext uri="{FF2B5EF4-FFF2-40B4-BE49-F238E27FC236}">
                <a16:creationId xmlns:a16="http://schemas.microsoft.com/office/drawing/2014/main" id="{E981CC95-B06C-4E40-8C52-0ABCD70C8D1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2E7F7614-3195-453C-A8DB-272838E55F23}"/>
              </a:ext>
            </a:extLst>
          </p:cNvPr>
          <p:cNvSpPr>
            <a:spLocks noGrp="1"/>
          </p:cNvSpPr>
          <p:nvPr>
            <p:ph type="sldNum" sz="quarter" idx="12"/>
          </p:nvPr>
        </p:nvSpPr>
        <p:spPr/>
        <p:txBody>
          <a:bodyPr/>
          <a:lstStyle/>
          <a:p>
            <a:fld id="{45CA964B-B8B5-4404-ADB9-CBB2121E234F}" type="slidenum">
              <a:rPr lang="en-US" smtClean="0"/>
              <a:t>12</a:t>
            </a:fld>
            <a:endParaRPr lang="en-US"/>
          </a:p>
        </p:txBody>
      </p:sp>
    </p:spTree>
    <p:extLst>
      <p:ext uri="{BB962C8B-B14F-4D97-AF65-F5344CB8AC3E}">
        <p14:creationId xmlns:p14="http://schemas.microsoft.com/office/powerpoint/2010/main" val="2663389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9456391-25FC-49D7-9C41-31446C6388EA}"/>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5988D1A-419E-4BBA-B098-1642147E1CFF}"/>
              </a:ext>
            </a:extLst>
          </p:cNvPr>
          <p:cNvSpPr>
            <a:spLocks noGrp="1"/>
          </p:cNvSpPr>
          <p:nvPr>
            <p:ph type="sldNum" sz="quarter" idx="12"/>
          </p:nvPr>
        </p:nvSpPr>
        <p:spPr/>
        <p:txBody>
          <a:bodyPr/>
          <a:lstStyle/>
          <a:p>
            <a:fld id="{45CA964B-B8B5-4404-ADB9-CBB2121E234F}" type="slidenum">
              <a:rPr lang="en-US" smtClean="0"/>
              <a:t>13</a:t>
            </a:fld>
            <a:endParaRPr lang="en-US"/>
          </a:p>
        </p:txBody>
      </p:sp>
      <p:graphicFrame>
        <p:nvGraphicFramePr>
          <p:cNvPr id="10" name="Content Placeholder 9">
            <a:extLst>
              <a:ext uri="{FF2B5EF4-FFF2-40B4-BE49-F238E27FC236}">
                <a16:creationId xmlns:a16="http://schemas.microsoft.com/office/drawing/2014/main" id="{8868A9F2-21CF-4666-B40B-ED65EC6984AA}"/>
              </a:ext>
            </a:extLst>
          </p:cNvPr>
          <p:cNvGraphicFramePr>
            <a:graphicFrameLocks noGrp="1"/>
          </p:cNvGraphicFramePr>
          <p:nvPr>
            <p:ph idx="1"/>
            <p:extLst>
              <p:ext uri="{D42A27DB-BD31-4B8C-83A1-F6EECF244321}">
                <p14:modId xmlns:p14="http://schemas.microsoft.com/office/powerpoint/2010/main" val="1919301341"/>
              </p:ext>
            </p:extLst>
          </p:nvPr>
        </p:nvGraphicFramePr>
        <p:xfrm>
          <a:off x="327547" y="353962"/>
          <a:ext cx="8516201" cy="6002602"/>
        </p:xfrm>
        <a:graphic>
          <a:graphicData uri="http://schemas.openxmlformats.org/drawingml/2006/table">
            <a:tbl>
              <a:tblPr firstRow="1">
                <a:tableStyleId>{5940675A-B579-460E-94D1-54222C63F5DA}</a:tableStyleId>
              </a:tblPr>
              <a:tblGrid>
                <a:gridCol w="2591287">
                  <a:extLst>
                    <a:ext uri="{9D8B030D-6E8A-4147-A177-3AD203B41FA5}">
                      <a16:colId xmlns:a16="http://schemas.microsoft.com/office/drawing/2014/main" val="1983987775"/>
                    </a:ext>
                  </a:extLst>
                </a:gridCol>
                <a:gridCol w="3148985">
                  <a:extLst>
                    <a:ext uri="{9D8B030D-6E8A-4147-A177-3AD203B41FA5}">
                      <a16:colId xmlns:a16="http://schemas.microsoft.com/office/drawing/2014/main" val="3608881965"/>
                    </a:ext>
                  </a:extLst>
                </a:gridCol>
                <a:gridCol w="2775929">
                  <a:extLst>
                    <a:ext uri="{9D8B030D-6E8A-4147-A177-3AD203B41FA5}">
                      <a16:colId xmlns:a16="http://schemas.microsoft.com/office/drawing/2014/main" val="2792877194"/>
                    </a:ext>
                  </a:extLst>
                </a:gridCol>
              </a:tblGrid>
              <a:tr h="472583">
                <a:tc>
                  <a:txBody>
                    <a:bodyPr/>
                    <a:lstStyle/>
                    <a:p>
                      <a:pPr marL="78740" marR="0">
                        <a:lnSpc>
                          <a:spcPct val="107000"/>
                        </a:lnSpc>
                        <a:spcBef>
                          <a:spcPts val="0"/>
                        </a:spcBef>
                        <a:spcAft>
                          <a:spcPts val="0"/>
                        </a:spcAft>
                      </a:pPr>
                      <a:r>
                        <a:rPr lang="en-US" sz="2000">
                          <a:effectLst/>
                        </a:rPr>
                        <a:t>Kiểu (type)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Mô tả</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Phạm vi (range)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7934121"/>
                  </a:ext>
                </a:extLst>
              </a:tr>
              <a:tr h="435737">
                <a:tc>
                  <a:txBody>
                    <a:bodyPr/>
                    <a:lstStyle/>
                    <a:p>
                      <a:pPr marL="78740" marR="0">
                        <a:lnSpc>
                          <a:spcPct val="107000"/>
                        </a:lnSpc>
                        <a:spcBef>
                          <a:spcPts val="0"/>
                        </a:spcBef>
                        <a:spcAft>
                          <a:spcPts val="0"/>
                        </a:spcAft>
                      </a:pPr>
                      <a:r>
                        <a:rPr lang="en-US" sz="2000">
                          <a:effectLst/>
                          <a:latin typeface="Consolas" panose="020B0609020204030204" pitchFamily="49" charset="0"/>
                        </a:rPr>
                        <a:t>char</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1-byte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0...255</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1602553"/>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unsigned char</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không dấu 1-byte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0...255</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9607084"/>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signed char</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có dấu 1-byte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-128...127</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5661650"/>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short</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2-byte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-32,768...32,767</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2854106"/>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unsigned short</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không dấu 2-byte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0...65,535</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0291141"/>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int</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4-byte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xấp xỉ ± 2 tỷ</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0885521"/>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unsigned int</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không dấu 4-byte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xấp xỉ 4 tỷ</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8664161"/>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long</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4-byte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xấp xỉ ± 2 tỷ</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9405834"/>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unsigned long</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nguyên không dấu 4-byte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xấp xỉ 4 tỷ</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313423"/>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bool</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lưu giá trị luận lý</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true hoặc false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7677596"/>
                  </a:ext>
                </a:extLst>
              </a:tr>
              <a:tr h="459767">
                <a:tc>
                  <a:txBody>
                    <a:bodyPr/>
                    <a:lstStyle/>
                    <a:p>
                      <a:pPr marL="78740" marR="0">
                        <a:lnSpc>
                          <a:spcPct val="107000"/>
                        </a:lnSpc>
                        <a:spcBef>
                          <a:spcPts val="0"/>
                        </a:spcBef>
                        <a:spcAft>
                          <a:spcPts val="0"/>
                        </a:spcAft>
                      </a:pPr>
                      <a:r>
                        <a:rPr lang="en-US" sz="2000">
                          <a:effectLst/>
                          <a:latin typeface="Consolas" panose="020B0609020204030204" pitchFamily="49" charset="0"/>
                        </a:rPr>
                        <a:t>float</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thực chính xác 7 chữ số</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3.4 × 10</a:t>
                      </a:r>
                      <a:r>
                        <a:rPr lang="en-US" sz="2000" baseline="30000">
                          <a:effectLst/>
                        </a:rPr>
                        <a:t>−38</a:t>
                      </a:r>
                      <a:r>
                        <a:rPr lang="en-US" sz="2000">
                          <a:effectLst/>
                        </a:rPr>
                        <a:t>...3.4 × 10</a:t>
                      </a:r>
                      <a:r>
                        <a:rPr lang="en-US" sz="2000" baseline="30000">
                          <a:effectLst/>
                        </a:rPr>
                        <a:t>38</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8277613"/>
                  </a:ext>
                </a:extLst>
              </a:tr>
              <a:tr h="496612">
                <a:tc>
                  <a:txBody>
                    <a:bodyPr/>
                    <a:lstStyle/>
                    <a:p>
                      <a:pPr marL="78740" marR="0">
                        <a:lnSpc>
                          <a:spcPct val="107000"/>
                        </a:lnSpc>
                        <a:spcBef>
                          <a:spcPts val="0"/>
                        </a:spcBef>
                        <a:spcAft>
                          <a:spcPts val="0"/>
                        </a:spcAft>
                      </a:pPr>
                      <a:r>
                        <a:rPr lang="en-US" sz="2000">
                          <a:effectLst/>
                          <a:latin typeface="Consolas" panose="020B0609020204030204" pitchFamily="49" charset="0"/>
                        </a:rPr>
                        <a:t>double</a:t>
                      </a:r>
                      <a:endParaRPr lang="en-US" sz="20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4445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0"/>
                        </a:spcBef>
                        <a:spcAft>
                          <a:spcPts val="0"/>
                        </a:spcAft>
                      </a:pPr>
                      <a:r>
                        <a:rPr lang="en-US" sz="2000">
                          <a:effectLst/>
                        </a:rPr>
                        <a:t>số thực chính xác 15 chữ số</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just">
                        <a:lnSpc>
                          <a:spcPct val="107000"/>
                        </a:lnSpc>
                        <a:spcBef>
                          <a:spcPts val="0"/>
                        </a:spcBef>
                        <a:spcAft>
                          <a:spcPts val="0"/>
                        </a:spcAft>
                      </a:pPr>
                      <a:r>
                        <a:rPr lang="en-US" sz="2000">
                          <a:effectLst/>
                        </a:rPr>
                        <a:t>1.8 × 10</a:t>
                      </a:r>
                      <a:r>
                        <a:rPr lang="en-US" sz="2000" baseline="30000">
                          <a:effectLst/>
                        </a:rPr>
                        <a:t>−308</a:t>
                      </a:r>
                      <a:r>
                        <a:rPr lang="en-US" sz="2000">
                          <a:effectLst/>
                        </a:rPr>
                        <a:t>...1.8 × 10</a:t>
                      </a:r>
                      <a:r>
                        <a:rPr lang="en-US" sz="2000" baseline="30000">
                          <a:effectLst/>
                        </a:rPr>
                        <a:t>308</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4445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7512291"/>
                  </a:ext>
                </a:extLst>
              </a:tr>
            </a:tbl>
          </a:graphicData>
        </a:graphic>
      </p:graphicFrame>
    </p:spTree>
    <p:extLst>
      <p:ext uri="{BB962C8B-B14F-4D97-AF65-F5344CB8AC3E}">
        <p14:creationId xmlns:p14="http://schemas.microsoft.com/office/powerpoint/2010/main" val="3484017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05533C-705F-42E9-BA41-975FE573479C}"/>
              </a:ext>
            </a:extLst>
          </p:cNvPr>
          <p:cNvSpPr>
            <a:spLocks noGrp="1"/>
          </p:cNvSpPr>
          <p:nvPr>
            <p:ph type="title"/>
          </p:nvPr>
        </p:nvSpPr>
        <p:spPr/>
        <p:txBody>
          <a:bodyPr/>
          <a:lstStyle/>
          <a:p>
            <a:r>
              <a:rPr lang="en-US"/>
              <a:t>Kiểu dữ liệu cơ bản</a:t>
            </a:r>
          </a:p>
        </p:txBody>
      </p:sp>
      <p:sp>
        <p:nvSpPr>
          <p:cNvPr id="6" name="Content Placeholder 5">
            <a:extLst>
              <a:ext uri="{FF2B5EF4-FFF2-40B4-BE49-F238E27FC236}">
                <a16:creationId xmlns:a16="http://schemas.microsoft.com/office/drawing/2014/main" id="{0F866F99-8D7C-463B-A101-FC3848B76E0C}"/>
              </a:ext>
            </a:extLst>
          </p:cNvPr>
          <p:cNvSpPr>
            <a:spLocks noGrp="1"/>
          </p:cNvSpPr>
          <p:nvPr>
            <p:ph idx="1"/>
          </p:nvPr>
        </p:nvSpPr>
        <p:spPr/>
        <p:txBody>
          <a:bodyPr>
            <a:noAutofit/>
          </a:bodyPr>
          <a:lstStyle/>
          <a:p>
            <a:r>
              <a:rPr lang="vi-VN">
                <a:solidFill>
                  <a:srgbClr val="0000FF"/>
                </a:solidFill>
                <a:latin typeface="Consolas" panose="020B0609020204030204" pitchFamily="49" charset="0"/>
              </a:rPr>
              <a:t>bool</a:t>
            </a:r>
          </a:p>
          <a:p>
            <a:pPr lvl="1"/>
            <a:r>
              <a:rPr lang="vi-VN"/>
              <a:t>Kích thước: 1 byte.</a:t>
            </a:r>
          </a:p>
          <a:p>
            <a:pPr lvl="1"/>
            <a:r>
              <a:rPr lang="vi-VN"/>
              <a:t>Lưu giá trị </a:t>
            </a:r>
            <a:r>
              <a:rPr lang="vi-VN">
                <a:latin typeface="Consolas" panose="020B0609020204030204" pitchFamily="49" charset="0"/>
              </a:rPr>
              <a:t>true</a:t>
            </a:r>
            <a:r>
              <a:rPr lang="vi-VN"/>
              <a:t> (khác 0) hoặc </a:t>
            </a:r>
            <a:r>
              <a:rPr lang="vi-VN">
                <a:latin typeface="Consolas" panose="020B0609020204030204" pitchFamily="49" charset="0"/>
              </a:rPr>
              <a:t>false</a:t>
            </a:r>
            <a:r>
              <a:rPr lang="vi-VN"/>
              <a:t> (0).</a:t>
            </a:r>
          </a:p>
          <a:p>
            <a:r>
              <a:rPr lang="vi-VN">
                <a:solidFill>
                  <a:srgbClr val="0000FF"/>
                </a:solidFill>
                <a:latin typeface="Consolas" panose="020B0609020204030204" pitchFamily="49" charset="0"/>
              </a:rPr>
              <a:t>char</a:t>
            </a:r>
          </a:p>
          <a:p>
            <a:pPr lvl="1"/>
            <a:r>
              <a:rPr lang="vi-VN"/>
              <a:t>Kích thước: 1 byte.</a:t>
            </a:r>
          </a:p>
          <a:p>
            <a:pPr lvl="1"/>
            <a:r>
              <a:rPr lang="vi-VN"/>
              <a:t>Lưu trữ các ký tự chữ, ký tự số và ký tự đặc biệt trong bảng mã ASCII (0-255). Ký tự đặt giữa hai dấu nháy đơn:</a:t>
            </a:r>
            <a:endParaRPr lang="en-US"/>
          </a:p>
          <a:p>
            <a:pPr lvl="2"/>
            <a:r>
              <a:rPr lang="vi-VN">
                <a:latin typeface="Consolas" panose="020B0609020204030204" pitchFamily="49" charset="0"/>
              </a:rPr>
              <a:t>'A' 'a' '0' '*' '+' '&amp;' ' '</a:t>
            </a:r>
            <a:r>
              <a:rPr lang="vi-VN"/>
              <a:t> (character literals) </a:t>
            </a:r>
            <a:endParaRPr lang="en-US"/>
          </a:p>
          <a:p>
            <a:pPr lvl="1"/>
            <a:r>
              <a:rPr lang="vi-VN"/>
              <a:t>Một số ký tự đặc biệt:</a:t>
            </a:r>
          </a:p>
          <a:p>
            <a:pPr lvl="2">
              <a:tabLst>
                <a:tab pos="4630738" algn="l"/>
              </a:tabLst>
            </a:pPr>
            <a:r>
              <a:rPr lang="vi-VN">
                <a:latin typeface="Consolas" panose="020B0609020204030204" pitchFamily="49" charset="0"/>
              </a:rPr>
              <a:t>'\n'</a:t>
            </a:r>
            <a:r>
              <a:rPr lang="vi-VN"/>
              <a:t>: newline</a:t>
            </a:r>
            <a:r>
              <a:rPr lang="en-US"/>
              <a:t>	</a:t>
            </a:r>
            <a:r>
              <a:rPr lang="vi-VN">
                <a:latin typeface="Consolas" panose="020B0609020204030204" pitchFamily="49" charset="0"/>
              </a:rPr>
              <a:t> '\\'</a:t>
            </a:r>
            <a:r>
              <a:rPr lang="vi-VN"/>
              <a:t>: backslash</a:t>
            </a:r>
          </a:p>
          <a:p>
            <a:pPr lvl="2">
              <a:tabLst>
                <a:tab pos="4630738" algn="l"/>
              </a:tabLst>
            </a:pPr>
            <a:r>
              <a:rPr lang="vi-VN">
                <a:latin typeface="Consolas" panose="020B0609020204030204" pitchFamily="49" charset="0"/>
              </a:rPr>
              <a:t>'\t'</a:t>
            </a:r>
            <a:r>
              <a:rPr lang="vi-VN"/>
              <a:t>: tab </a:t>
            </a:r>
            <a:r>
              <a:rPr lang="en-US"/>
              <a:t>	</a:t>
            </a:r>
            <a:r>
              <a:rPr lang="vi-VN"/>
              <a:t> </a:t>
            </a:r>
            <a:r>
              <a:rPr lang="vi-VN">
                <a:latin typeface="Consolas" panose="020B0609020204030204" pitchFamily="49" charset="0"/>
              </a:rPr>
              <a:t>'\''</a:t>
            </a:r>
            <a:r>
              <a:rPr lang="vi-VN"/>
              <a:t>: single quote</a:t>
            </a:r>
            <a:endParaRPr lang="en-US"/>
          </a:p>
          <a:p>
            <a:pPr lvl="2">
              <a:tabLst>
                <a:tab pos="4630738" algn="l"/>
              </a:tabLst>
            </a:pPr>
            <a:r>
              <a:rPr lang="vi-VN">
                <a:latin typeface="Consolas" panose="020B0609020204030204" pitchFamily="49" charset="0"/>
              </a:rPr>
              <a:t>'\b</a:t>
            </a:r>
            <a:r>
              <a:rPr lang="vi-VN"/>
              <a:t>': backspace</a:t>
            </a:r>
            <a:r>
              <a:rPr lang="en-US"/>
              <a:t>	</a:t>
            </a:r>
            <a:r>
              <a:rPr lang="vi-VN">
                <a:latin typeface="Consolas" panose="020B0609020204030204" pitchFamily="49" charset="0"/>
              </a:rPr>
              <a:t>'\"'</a:t>
            </a:r>
            <a:r>
              <a:rPr lang="vi-VN"/>
              <a:t>: double quot</a:t>
            </a:r>
            <a:r>
              <a:rPr lang="en-US"/>
              <a:t>e</a:t>
            </a:r>
            <a:endParaRPr lang="vi-VN"/>
          </a:p>
          <a:p>
            <a:pPr lvl="3">
              <a:tabLst>
                <a:tab pos="4630738" algn="l"/>
              </a:tabLst>
            </a:pPr>
            <a:r>
              <a:rPr lang="vi-VN"/>
              <a:t>(</a:t>
            </a:r>
            <a:r>
              <a:rPr lang="vi-VN">
                <a:latin typeface="Consolas" panose="020B0609020204030204" pitchFamily="49" charset="0"/>
              </a:rPr>
              <a:t>'\'</a:t>
            </a:r>
            <a:r>
              <a:rPr lang="vi-VN"/>
              <a:t>: escape character)</a:t>
            </a:r>
          </a:p>
        </p:txBody>
      </p:sp>
      <p:sp>
        <p:nvSpPr>
          <p:cNvPr id="3" name="Footer Placeholder 2">
            <a:extLst>
              <a:ext uri="{FF2B5EF4-FFF2-40B4-BE49-F238E27FC236}">
                <a16:creationId xmlns:a16="http://schemas.microsoft.com/office/drawing/2014/main" id="{10F3CB61-D018-4ED2-B7CD-B7C8C43D5458}"/>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59098574-3309-460F-A2C5-65EAB85A1E13}"/>
              </a:ext>
            </a:extLst>
          </p:cNvPr>
          <p:cNvSpPr>
            <a:spLocks noGrp="1"/>
          </p:cNvSpPr>
          <p:nvPr>
            <p:ph type="sldNum" sz="quarter" idx="12"/>
          </p:nvPr>
        </p:nvSpPr>
        <p:spPr/>
        <p:txBody>
          <a:bodyPr/>
          <a:lstStyle/>
          <a:p>
            <a:fld id="{45CA964B-B8B5-4404-ADB9-CBB2121E234F}" type="slidenum">
              <a:rPr lang="en-US" smtClean="0"/>
              <a:t>14</a:t>
            </a:fld>
            <a:endParaRPr lang="en-US"/>
          </a:p>
        </p:txBody>
      </p:sp>
    </p:spTree>
    <p:extLst>
      <p:ext uri="{BB962C8B-B14F-4D97-AF65-F5344CB8AC3E}">
        <p14:creationId xmlns:p14="http://schemas.microsoft.com/office/powerpoint/2010/main" val="1354303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94340C5-67B9-4DC5-8E38-65421471585D}"/>
              </a:ext>
            </a:extLst>
          </p:cNvPr>
          <p:cNvSpPr>
            <a:spLocks noGrp="1"/>
          </p:cNvSpPr>
          <p:nvPr>
            <p:ph idx="1"/>
          </p:nvPr>
        </p:nvSpPr>
        <p:spPr/>
        <p:txBody>
          <a:bodyPr/>
          <a:lstStyle/>
          <a:p>
            <a:r>
              <a:rPr lang="en-US">
                <a:solidFill>
                  <a:srgbClr val="0000FF"/>
                </a:solidFill>
                <a:latin typeface="Consolas" panose="020B0609020204030204" pitchFamily="49" charset="0"/>
              </a:rPr>
              <a:t>int</a:t>
            </a:r>
          </a:p>
          <a:p>
            <a:pPr lvl="1"/>
            <a:r>
              <a:rPr lang="vi-VN"/>
              <a:t>Kích thước: 4 byte.</a:t>
            </a:r>
          </a:p>
          <a:p>
            <a:pPr lvl="1"/>
            <a:r>
              <a:rPr lang="vi-VN"/>
              <a:t>Lưu các giá trị từ -2,147,483,648 đến 2,147,483,647. </a:t>
            </a:r>
            <a:endParaRPr lang="en-GB"/>
          </a:p>
          <a:p>
            <a:pPr lvl="1"/>
            <a:r>
              <a:rPr lang="en-GB"/>
              <a:t>Giá trị cực đại: INT_MAX</a:t>
            </a:r>
          </a:p>
          <a:p>
            <a:pPr lvl="1"/>
            <a:r>
              <a:rPr lang="en-GB"/>
              <a:t>Gía trị cực tiểu: INT_MIN</a:t>
            </a:r>
            <a:endParaRPr lang="en-US"/>
          </a:p>
          <a:p>
            <a:pPr lvl="1"/>
            <a:r>
              <a:rPr lang="vi-VN"/>
              <a:t>Lưu ý khi ghi các giá trị số nguyên (number literals):</a:t>
            </a:r>
          </a:p>
          <a:p>
            <a:pPr lvl="2"/>
            <a:r>
              <a:rPr lang="vi-VN"/>
              <a:t>Số nguyên dương không cần dấu +.</a:t>
            </a:r>
          </a:p>
          <a:p>
            <a:pPr lvl="2"/>
            <a:r>
              <a:rPr lang="vi-VN"/>
              <a:t>Không có dấu phẩy (,) trong số nguyên.</a:t>
            </a:r>
          </a:p>
          <a:p>
            <a:pPr lvl="1"/>
            <a:r>
              <a:rPr lang="vi-VN"/>
              <a:t>Ví dụ: -6728	-67	0	78	35267	763</a:t>
            </a:r>
            <a:endParaRPr lang="en-US"/>
          </a:p>
          <a:p>
            <a:r>
              <a:rPr lang="en-US">
                <a:solidFill>
                  <a:srgbClr val="0000FF"/>
                </a:solidFill>
                <a:latin typeface="Consolas" panose="020B0609020204030204" pitchFamily="49" charset="0"/>
              </a:rPr>
              <a:t>double</a:t>
            </a:r>
            <a:endParaRPr lang="vi-VN">
              <a:solidFill>
                <a:srgbClr val="0000FF"/>
              </a:solidFill>
              <a:latin typeface="Consolas" panose="020B0609020204030204" pitchFamily="49" charset="0"/>
            </a:endParaRPr>
          </a:p>
          <a:p>
            <a:pPr lvl="1"/>
            <a:r>
              <a:rPr lang="vi-VN"/>
              <a:t>Kích thước: 8 byte</a:t>
            </a:r>
          </a:p>
          <a:p>
            <a:pPr lvl="1"/>
            <a:r>
              <a:rPr lang="vi-VN"/>
              <a:t>Lưu các giá trị từ 1.7 × 10</a:t>
            </a:r>
            <a:r>
              <a:rPr lang="vi-VN" baseline="30000"/>
              <a:t>−308</a:t>
            </a:r>
            <a:r>
              <a:rPr lang="vi-VN"/>
              <a:t> đến 1.7 × 10</a:t>
            </a:r>
            <a:r>
              <a:rPr lang="vi-VN" baseline="30000"/>
              <a:t>308</a:t>
            </a:r>
            <a:r>
              <a:rPr lang="vi-VN"/>
              <a:t> (15 chữ số).</a:t>
            </a:r>
          </a:p>
          <a:p>
            <a:pPr lvl="1"/>
            <a:r>
              <a:rPr lang="vi-VN"/>
              <a:t>C++ biểu diễn số thực dùng dấu chấm động.</a:t>
            </a:r>
          </a:p>
          <a:p>
            <a:pPr lvl="1"/>
            <a:r>
              <a:rPr lang="vi-VN"/>
              <a:t>Ví dụ: 1.23 .23 0.23 1.0 1.2e10 1.23e-15</a:t>
            </a:r>
          </a:p>
          <a:p>
            <a:endParaRPr lang="en-US"/>
          </a:p>
        </p:txBody>
      </p:sp>
      <p:sp>
        <p:nvSpPr>
          <p:cNvPr id="4" name="Footer Placeholder 3">
            <a:extLst>
              <a:ext uri="{FF2B5EF4-FFF2-40B4-BE49-F238E27FC236}">
                <a16:creationId xmlns:a16="http://schemas.microsoft.com/office/drawing/2014/main" id="{70573CD6-4482-4A77-A1E1-38BE190DB462}"/>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5F1586AF-9ED3-4F58-833C-F27CA2ADFC2A}"/>
              </a:ext>
            </a:extLst>
          </p:cNvPr>
          <p:cNvSpPr>
            <a:spLocks noGrp="1"/>
          </p:cNvSpPr>
          <p:nvPr>
            <p:ph type="sldNum" sz="quarter" idx="12"/>
          </p:nvPr>
        </p:nvSpPr>
        <p:spPr/>
        <p:txBody>
          <a:bodyPr/>
          <a:lstStyle/>
          <a:p>
            <a:fld id="{45CA964B-B8B5-4404-ADB9-CBB2121E234F}" type="slidenum">
              <a:rPr lang="en-US" smtClean="0"/>
              <a:t>15</a:t>
            </a:fld>
            <a:endParaRPr lang="en-US"/>
          </a:p>
        </p:txBody>
      </p:sp>
    </p:spTree>
    <p:extLst>
      <p:ext uri="{BB962C8B-B14F-4D97-AF65-F5344CB8AC3E}">
        <p14:creationId xmlns:p14="http://schemas.microsoft.com/office/powerpoint/2010/main" val="3833692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02B70E-AB3C-461A-ADB3-0E0F6CA89B1A}"/>
              </a:ext>
            </a:extLst>
          </p:cNvPr>
          <p:cNvSpPr>
            <a:spLocks noGrp="1"/>
          </p:cNvSpPr>
          <p:nvPr>
            <p:ph type="title"/>
          </p:nvPr>
        </p:nvSpPr>
        <p:spPr/>
        <p:txBody>
          <a:bodyPr/>
          <a:lstStyle/>
          <a:p>
            <a:r>
              <a:rPr lang="en-US"/>
              <a:t>Kiểu </a:t>
            </a:r>
            <a:r>
              <a:rPr lang="en-US">
                <a:latin typeface="Consolas" panose="020B0609020204030204" pitchFamily="49" charset="0"/>
              </a:rPr>
              <a:t>string</a:t>
            </a:r>
          </a:p>
        </p:txBody>
      </p:sp>
      <p:sp>
        <p:nvSpPr>
          <p:cNvPr id="6" name="Content Placeholder 5">
            <a:extLst>
              <a:ext uri="{FF2B5EF4-FFF2-40B4-BE49-F238E27FC236}">
                <a16:creationId xmlns:a16="http://schemas.microsoft.com/office/drawing/2014/main" id="{B4E51FBA-5597-4A65-B6E6-77D06B2C6368}"/>
              </a:ext>
            </a:extLst>
          </p:cNvPr>
          <p:cNvSpPr>
            <a:spLocks noGrp="1"/>
          </p:cNvSpPr>
          <p:nvPr>
            <p:ph idx="1"/>
          </p:nvPr>
        </p:nvSpPr>
        <p:spPr/>
        <p:txBody>
          <a:bodyPr/>
          <a:lstStyle/>
          <a:p>
            <a:pPr algn="just">
              <a:lnSpc>
                <a:spcPct val="100000"/>
              </a:lnSpc>
            </a:pPr>
            <a:r>
              <a:rPr lang="vi-VN"/>
              <a:t>Kiểu string (class string) lưu trữ chuỗi ký tự. Đây là kiểu dữ liệu có sẵn trong thư viện.</a:t>
            </a:r>
          </a:p>
          <a:p>
            <a:pPr algn="just">
              <a:lnSpc>
                <a:spcPct val="100000"/>
              </a:lnSpc>
            </a:pPr>
            <a:r>
              <a:rPr lang="vi-VN"/>
              <a:t>Chuỗi ký tự gồm 0 hoặc nhiều ký tự và được đặt giữa hai dấu nháy kép.</a:t>
            </a:r>
          </a:p>
          <a:p>
            <a:pPr lvl="4" algn="just">
              <a:lnSpc>
                <a:spcPct val="100000"/>
              </a:lnSpc>
            </a:pPr>
            <a:r>
              <a:rPr lang="vi-VN"/>
              <a:t>"It is a beautiful day."</a:t>
            </a:r>
          </a:p>
          <a:p>
            <a:pPr lvl="4" algn="just">
              <a:lnSpc>
                <a:spcPct val="100000"/>
              </a:lnSpc>
            </a:pPr>
            <a:r>
              <a:rPr lang="vi-VN"/>
              <a:t>"Mickey"</a:t>
            </a:r>
          </a:p>
          <a:p>
            <a:pPr lvl="4" algn="just">
              <a:lnSpc>
                <a:spcPct val="100000"/>
              </a:lnSpc>
            </a:pPr>
            <a:r>
              <a:rPr lang="vi-VN"/>
              <a:t>""</a:t>
            </a:r>
          </a:p>
          <a:p>
            <a:pPr algn="just">
              <a:lnSpc>
                <a:spcPct val="100000"/>
              </a:lnSpc>
            </a:pPr>
            <a:r>
              <a:rPr lang="vi-VN"/>
              <a:t>Độ dài chuỗi tùy ý. </a:t>
            </a:r>
            <a:endParaRPr lang="en-US"/>
          </a:p>
          <a:p>
            <a:pPr algn="just">
              <a:lnSpc>
                <a:spcPct val="100000"/>
              </a:lnSpc>
            </a:pPr>
            <a:r>
              <a:rPr lang="vi-VN"/>
              <a:t>Để sử dụng kiểu string ta phải thêm chỉ thị:</a:t>
            </a:r>
          </a:p>
          <a:p>
            <a:pPr lvl="4" algn="just">
              <a:lnSpc>
                <a:spcPct val="100000"/>
              </a:lnSpc>
            </a:pPr>
            <a:r>
              <a:rPr lang="vi-VN">
                <a:solidFill>
                  <a:srgbClr val="FF0000"/>
                </a:solidFill>
              </a:rPr>
              <a:t>#include &lt;string&gt;</a:t>
            </a:r>
          </a:p>
          <a:p>
            <a:pPr algn="just">
              <a:lnSpc>
                <a:spcPct val="100000"/>
              </a:lnSpc>
            </a:pPr>
            <a:endParaRPr lang="en-US"/>
          </a:p>
        </p:txBody>
      </p:sp>
      <p:sp>
        <p:nvSpPr>
          <p:cNvPr id="3" name="Footer Placeholder 2">
            <a:extLst>
              <a:ext uri="{FF2B5EF4-FFF2-40B4-BE49-F238E27FC236}">
                <a16:creationId xmlns:a16="http://schemas.microsoft.com/office/drawing/2014/main" id="{0DACA811-6348-46FC-B94F-EB5A3B93DA7D}"/>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75F342B6-48BF-48CA-9734-EA26EBCD7912}"/>
              </a:ext>
            </a:extLst>
          </p:cNvPr>
          <p:cNvSpPr>
            <a:spLocks noGrp="1"/>
          </p:cNvSpPr>
          <p:nvPr>
            <p:ph type="sldNum" sz="quarter" idx="12"/>
          </p:nvPr>
        </p:nvSpPr>
        <p:spPr/>
        <p:txBody>
          <a:bodyPr/>
          <a:lstStyle/>
          <a:p>
            <a:fld id="{45CA964B-B8B5-4404-ADB9-CBB2121E234F}" type="slidenum">
              <a:rPr lang="en-US" smtClean="0"/>
              <a:t>16</a:t>
            </a:fld>
            <a:endParaRPr lang="en-US"/>
          </a:p>
        </p:txBody>
      </p:sp>
    </p:spTree>
    <p:extLst>
      <p:ext uri="{BB962C8B-B14F-4D97-AF65-F5344CB8AC3E}">
        <p14:creationId xmlns:p14="http://schemas.microsoft.com/office/powerpoint/2010/main" val="3965516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F057F-C989-4B5A-B9EA-02F31188E056}"/>
              </a:ext>
            </a:extLst>
          </p:cNvPr>
          <p:cNvSpPr>
            <a:spLocks noGrp="1"/>
          </p:cNvSpPr>
          <p:nvPr>
            <p:ph type="title"/>
          </p:nvPr>
        </p:nvSpPr>
        <p:spPr/>
        <p:txBody>
          <a:bodyPr/>
          <a:lstStyle/>
          <a:p>
            <a:r>
              <a:rPr lang="vi-VN"/>
              <a:t>Một số toán tử tương ứng với kiểu dữ liệu</a:t>
            </a:r>
            <a:endParaRPr lang="en-US"/>
          </a:p>
        </p:txBody>
      </p:sp>
      <p:sp>
        <p:nvSpPr>
          <p:cNvPr id="3" name="Footer Placeholder 2">
            <a:extLst>
              <a:ext uri="{FF2B5EF4-FFF2-40B4-BE49-F238E27FC236}">
                <a16:creationId xmlns:a16="http://schemas.microsoft.com/office/drawing/2014/main" id="{1DFCF573-4A43-4576-8A22-EAA4B0C45463}"/>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A293725F-542A-4840-AA30-DCF7BFD29F64}"/>
              </a:ext>
            </a:extLst>
          </p:cNvPr>
          <p:cNvSpPr>
            <a:spLocks noGrp="1"/>
          </p:cNvSpPr>
          <p:nvPr>
            <p:ph type="sldNum" sz="quarter" idx="12"/>
          </p:nvPr>
        </p:nvSpPr>
        <p:spPr/>
        <p:txBody>
          <a:bodyPr/>
          <a:lstStyle/>
          <a:p>
            <a:fld id="{45CA964B-B8B5-4404-ADB9-CBB2121E234F}" type="slidenum">
              <a:rPr lang="en-US" smtClean="0"/>
              <a:t>17</a:t>
            </a:fld>
            <a:endParaRPr lang="en-US"/>
          </a:p>
        </p:txBody>
      </p:sp>
      <p:graphicFrame>
        <p:nvGraphicFramePr>
          <p:cNvPr id="7" name="Table 6">
            <a:extLst>
              <a:ext uri="{FF2B5EF4-FFF2-40B4-BE49-F238E27FC236}">
                <a16:creationId xmlns:a16="http://schemas.microsoft.com/office/drawing/2014/main" id="{F5406745-6F3F-46C6-B114-14782B7D21D2}"/>
              </a:ext>
            </a:extLst>
          </p:cNvPr>
          <p:cNvGraphicFramePr>
            <a:graphicFrameLocks noGrp="1"/>
          </p:cNvGraphicFramePr>
          <p:nvPr>
            <p:extLst>
              <p:ext uri="{D42A27DB-BD31-4B8C-83A1-F6EECF244321}">
                <p14:modId xmlns:p14="http://schemas.microsoft.com/office/powerpoint/2010/main" val="1085622751"/>
              </p:ext>
            </p:extLst>
          </p:nvPr>
        </p:nvGraphicFramePr>
        <p:xfrm>
          <a:off x="327546" y="1224117"/>
          <a:ext cx="8412317" cy="5114553"/>
        </p:xfrm>
        <a:graphic>
          <a:graphicData uri="http://schemas.openxmlformats.org/drawingml/2006/table">
            <a:tbl>
              <a:tblPr firstRow="1">
                <a:tableStyleId>{5940675A-B579-460E-94D1-54222C63F5DA}</a:tableStyleId>
              </a:tblPr>
              <a:tblGrid>
                <a:gridCol w="2194560">
                  <a:extLst>
                    <a:ext uri="{9D8B030D-6E8A-4147-A177-3AD203B41FA5}">
                      <a16:colId xmlns:a16="http://schemas.microsoft.com/office/drawing/2014/main" val="2014947248"/>
                    </a:ext>
                  </a:extLst>
                </a:gridCol>
                <a:gridCol w="1267250">
                  <a:extLst>
                    <a:ext uri="{9D8B030D-6E8A-4147-A177-3AD203B41FA5}">
                      <a16:colId xmlns:a16="http://schemas.microsoft.com/office/drawing/2014/main" val="4071248915"/>
                    </a:ext>
                  </a:extLst>
                </a:gridCol>
                <a:gridCol w="1267250">
                  <a:extLst>
                    <a:ext uri="{9D8B030D-6E8A-4147-A177-3AD203B41FA5}">
                      <a16:colId xmlns:a16="http://schemas.microsoft.com/office/drawing/2014/main" val="573566553"/>
                    </a:ext>
                  </a:extLst>
                </a:gridCol>
                <a:gridCol w="1123811">
                  <a:extLst>
                    <a:ext uri="{9D8B030D-6E8A-4147-A177-3AD203B41FA5}">
                      <a16:colId xmlns:a16="http://schemas.microsoft.com/office/drawing/2014/main" val="2846980780"/>
                    </a:ext>
                  </a:extLst>
                </a:gridCol>
                <a:gridCol w="1552880">
                  <a:extLst>
                    <a:ext uri="{9D8B030D-6E8A-4147-A177-3AD203B41FA5}">
                      <a16:colId xmlns:a16="http://schemas.microsoft.com/office/drawing/2014/main" val="1193410910"/>
                    </a:ext>
                  </a:extLst>
                </a:gridCol>
                <a:gridCol w="1006566">
                  <a:extLst>
                    <a:ext uri="{9D8B030D-6E8A-4147-A177-3AD203B41FA5}">
                      <a16:colId xmlns:a16="http://schemas.microsoft.com/office/drawing/2014/main" val="3340284456"/>
                    </a:ext>
                  </a:extLst>
                </a:gridCol>
              </a:tblGrid>
              <a:tr h="399430">
                <a:tc>
                  <a:txBody>
                    <a:bodyPr/>
                    <a:lstStyle/>
                    <a:p>
                      <a:pPr marL="0" marR="0">
                        <a:lnSpc>
                          <a:spcPct val="107000"/>
                        </a:lnSpc>
                        <a:spcBef>
                          <a:spcPts val="0"/>
                        </a:spcBef>
                        <a:spcAft>
                          <a:spcPts val="0"/>
                        </a:spcAft>
                      </a:pPr>
                      <a:r>
                        <a:rPr lang="en-US" sz="2400">
                          <a:effectLst/>
                        </a:rPr>
                        <a:t>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solidFill>
                            <a:srgbClr val="0000FF"/>
                          </a:solidFill>
                          <a:effectLst/>
                          <a:latin typeface="Consolas" panose="020B0609020204030204" pitchFamily="49" charset="0"/>
                        </a:rPr>
                        <a:t>bool</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solidFill>
                            <a:srgbClr val="0000FF"/>
                          </a:solidFill>
                          <a:effectLst/>
                          <a:latin typeface="Consolas" panose="020B0609020204030204" pitchFamily="49" charset="0"/>
                        </a:rPr>
                        <a:t>char</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solidFill>
                            <a:srgbClr val="0000FF"/>
                          </a:solidFill>
                          <a:effectLst/>
                          <a:latin typeface="Consolas" panose="020B0609020204030204" pitchFamily="49" charset="0"/>
                        </a:rPr>
                        <a:t>int</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solidFill>
                            <a:srgbClr val="0000FF"/>
                          </a:solidFill>
                          <a:effectLst/>
                          <a:latin typeface="Consolas" panose="020B0609020204030204" pitchFamily="49" charset="0"/>
                        </a:rPr>
                        <a:t>double</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string</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85226656"/>
                  </a:ext>
                </a:extLst>
              </a:tr>
              <a:tr h="391351">
                <a:tc>
                  <a:txBody>
                    <a:bodyPr/>
                    <a:lstStyle/>
                    <a:p>
                      <a:pPr marL="41910" marR="0">
                        <a:lnSpc>
                          <a:spcPct val="107000"/>
                        </a:lnSpc>
                        <a:spcBef>
                          <a:spcPts val="0"/>
                        </a:spcBef>
                        <a:spcAft>
                          <a:spcPts val="0"/>
                        </a:spcAft>
                      </a:pPr>
                      <a:r>
                        <a:rPr lang="en-US" sz="2400">
                          <a:effectLst/>
                        </a:rPr>
                        <a:t>gán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1239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1239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755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87098044"/>
                  </a:ext>
                </a:extLst>
              </a:tr>
              <a:tr h="391351">
                <a:tc>
                  <a:txBody>
                    <a:bodyPr/>
                    <a:lstStyle/>
                    <a:p>
                      <a:pPr marL="41910" marR="0">
                        <a:lnSpc>
                          <a:spcPct val="107000"/>
                        </a:lnSpc>
                        <a:spcBef>
                          <a:spcPts val="0"/>
                        </a:spcBef>
                        <a:spcAft>
                          <a:spcPts val="0"/>
                        </a:spcAft>
                      </a:pPr>
                      <a:r>
                        <a:rPr lang="en-US" sz="2400">
                          <a:effectLst/>
                        </a:rPr>
                        <a:t>cộng</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76200"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59228210"/>
                  </a:ext>
                </a:extLst>
              </a:tr>
              <a:tr h="391351">
                <a:tc>
                  <a:txBody>
                    <a:bodyPr/>
                    <a:lstStyle/>
                    <a:p>
                      <a:pPr marL="41910" marR="0">
                        <a:lnSpc>
                          <a:spcPct val="107000"/>
                        </a:lnSpc>
                        <a:spcBef>
                          <a:spcPts val="0"/>
                        </a:spcBef>
                        <a:spcAft>
                          <a:spcPts val="0"/>
                        </a:spcAft>
                      </a:pPr>
                      <a:r>
                        <a:rPr lang="en-US" sz="2400">
                          <a:effectLst/>
                        </a:rPr>
                        <a:t>nối chuỗi</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83020365"/>
                  </a:ext>
                </a:extLst>
              </a:tr>
              <a:tr h="391351">
                <a:tc>
                  <a:txBody>
                    <a:bodyPr/>
                    <a:lstStyle/>
                    <a:p>
                      <a:pPr marL="41910" marR="0">
                        <a:lnSpc>
                          <a:spcPct val="107000"/>
                        </a:lnSpc>
                        <a:spcBef>
                          <a:spcPts val="0"/>
                        </a:spcBef>
                        <a:spcAft>
                          <a:spcPts val="0"/>
                        </a:spcAft>
                      </a:pPr>
                      <a:r>
                        <a:rPr lang="en-US" sz="2400">
                          <a:effectLst/>
                        </a:rPr>
                        <a:t>trừ</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76200"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27045441"/>
                  </a:ext>
                </a:extLst>
              </a:tr>
              <a:tr h="391351">
                <a:tc>
                  <a:txBody>
                    <a:bodyPr/>
                    <a:lstStyle/>
                    <a:p>
                      <a:pPr marL="41910" marR="0">
                        <a:lnSpc>
                          <a:spcPct val="107000"/>
                        </a:lnSpc>
                        <a:spcBef>
                          <a:spcPts val="0"/>
                        </a:spcBef>
                        <a:spcAft>
                          <a:spcPts val="0"/>
                        </a:spcAft>
                      </a:pPr>
                      <a:r>
                        <a:rPr lang="en-US" sz="2400">
                          <a:effectLst/>
                        </a:rPr>
                        <a:t>nhân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76200"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54023016"/>
                  </a:ext>
                </a:extLst>
              </a:tr>
              <a:tr h="391351">
                <a:tc>
                  <a:txBody>
                    <a:bodyPr/>
                    <a:lstStyle/>
                    <a:p>
                      <a:pPr marL="41910" marR="0">
                        <a:lnSpc>
                          <a:spcPct val="107000"/>
                        </a:lnSpc>
                        <a:spcBef>
                          <a:spcPts val="0"/>
                        </a:spcBef>
                        <a:spcAft>
                          <a:spcPts val="0"/>
                        </a:spcAft>
                      </a:pPr>
                      <a:r>
                        <a:rPr lang="en-US" sz="2400">
                          <a:effectLst/>
                        </a:rPr>
                        <a:t>chia</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76200"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0945556"/>
                  </a:ext>
                </a:extLst>
              </a:tr>
              <a:tr h="391351">
                <a:tc>
                  <a:txBody>
                    <a:bodyPr/>
                    <a:lstStyle/>
                    <a:p>
                      <a:pPr marL="41910" marR="0">
                        <a:lnSpc>
                          <a:spcPct val="107000"/>
                        </a:lnSpc>
                        <a:spcBef>
                          <a:spcPts val="0"/>
                        </a:spcBef>
                        <a:spcAft>
                          <a:spcPts val="0"/>
                        </a:spcAft>
                      </a:pPr>
                      <a:r>
                        <a:rPr lang="en-US" sz="2400">
                          <a:effectLst/>
                        </a:rPr>
                        <a:t>chia lấy dư</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76200"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11299852"/>
                  </a:ext>
                </a:extLst>
              </a:tr>
              <a:tr h="391351">
                <a:tc>
                  <a:txBody>
                    <a:bodyPr/>
                    <a:lstStyle/>
                    <a:p>
                      <a:pPr marL="41910" marR="0">
                        <a:lnSpc>
                          <a:spcPct val="107000"/>
                        </a:lnSpc>
                        <a:spcBef>
                          <a:spcPts val="0"/>
                        </a:spcBef>
                        <a:spcAft>
                          <a:spcPts val="0"/>
                        </a:spcAft>
                      </a:pPr>
                      <a:r>
                        <a:rPr lang="en-US" sz="2400">
                          <a:effectLst/>
                        </a:rPr>
                        <a:t>tăng 1</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254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41034193"/>
                  </a:ext>
                </a:extLst>
              </a:tr>
              <a:tr h="391351">
                <a:tc>
                  <a:txBody>
                    <a:bodyPr/>
                    <a:lstStyle/>
                    <a:p>
                      <a:pPr marL="41910" marR="0">
                        <a:lnSpc>
                          <a:spcPct val="107000"/>
                        </a:lnSpc>
                        <a:spcBef>
                          <a:spcPts val="0"/>
                        </a:spcBef>
                        <a:spcAft>
                          <a:spcPts val="0"/>
                        </a:spcAft>
                      </a:pPr>
                      <a:r>
                        <a:rPr lang="en-US" sz="2400">
                          <a:effectLst/>
                        </a:rPr>
                        <a:t>giảm 1</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254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11107258"/>
                  </a:ext>
                </a:extLst>
              </a:tr>
              <a:tr h="391351">
                <a:tc>
                  <a:txBody>
                    <a:bodyPr/>
                    <a:lstStyle/>
                    <a:p>
                      <a:pPr marL="41910" marR="0">
                        <a:lnSpc>
                          <a:spcPct val="107000"/>
                        </a:lnSpc>
                        <a:spcBef>
                          <a:spcPts val="0"/>
                        </a:spcBef>
                        <a:spcAft>
                          <a:spcPts val="0"/>
                        </a:spcAft>
                      </a:pPr>
                      <a:r>
                        <a:rPr lang="en-US" sz="2400">
                          <a:effectLst/>
                        </a:rPr>
                        <a:t>tăng 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9525" marR="0" algn="ctr">
                        <a:lnSpc>
                          <a:spcPct val="107000"/>
                        </a:lnSpc>
                        <a:spcBef>
                          <a:spcPts val="0"/>
                        </a:spcBef>
                        <a:spcAft>
                          <a:spcPts val="0"/>
                        </a:spcAft>
                      </a:pPr>
                      <a:r>
                        <a:rPr lang="en-US" sz="2200">
                          <a:effectLst/>
                          <a:latin typeface="Consolas" panose="020B0609020204030204" pitchFamily="49" charset="0"/>
                        </a:rPr>
                        <a:t>+=n</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18745" marR="0" algn="ctr">
                        <a:lnSpc>
                          <a:spcPct val="107000"/>
                        </a:lnSpc>
                        <a:spcBef>
                          <a:spcPts val="0"/>
                        </a:spcBef>
                        <a:spcAft>
                          <a:spcPts val="0"/>
                        </a:spcAft>
                      </a:pPr>
                      <a:r>
                        <a:rPr lang="en-US" sz="2200">
                          <a:effectLst/>
                          <a:latin typeface="Consolas" panose="020B0609020204030204" pitchFamily="49" charset="0"/>
                        </a:rPr>
                        <a:t>+=n</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77789889"/>
                  </a:ext>
                </a:extLst>
              </a:tr>
              <a:tr h="391351">
                <a:tc>
                  <a:txBody>
                    <a:bodyPr/>
                    <a:lstStyle/>
                    <a:p>
                      <a:pPr marL="41910" marR="0">
                        <a:lnSpc>
                          <a:spcPct val="107000"/>
                        </a:lnSpc>
                        <a:spcBef>
                          <a:spcPts val="0"/>
                        </a:spcBef>
                        <a:spcAft>
                          <a:spcPts val="0"/>
                        </a:spcAft>
                      </a:pPr>
                      <a:r>
                        <a:rPr lang="en-US" sz="2400">
                          <a:effectLst/>
                        </a:rPr>
                        <a:t>thêm vào cuối</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3756433"/>
                  </a:ext>
                </a:extLst>
              </a:tr>
              <a:tr h="410262">
                <a:tc>
                  <a:txBody>
                    <a:bodyPr/>
                    <a:lstStyle/>
                    <a:p>
                      <a:pPr marL="41910" marR="0">
                        <a:lnSpc>
                          <a:spcPct val="107000"/>
                        </a:lnSpc>
                        <a:spcBef>
                          <a:spcPts val="0"/>
                        </a:spcBef>
                        <a:spcAft>
                          <a:spcPts val="0"/>
                        </a:spcAft>
                      </a:pPr>
                      <a:r>
                        <a:rPr lang="en-US" sz="2400">
                          <a:effectLst/>
                        </a:rPr>
                        <a:t>giảm 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525" marR="0" algn="ctr">
                        <a:lnSpc>
                          <a:spcPct val="107000"/>
                        </a:lnSpc>
                        <a:spcBef>
                          <a:spcPts val="0"/>
                        </a:spcBef>
                        <a:spcAft>
                          <a:spcPts val="0"/>
                        </a:spcAft>
                      </a:pPr>
                      <a:r>
                        <a:rPr lang="en-US" sz="2200">
                          <a:effectLst/>
                          <a:latin typeface="Consolas" panose="020B0609020204030204" pitchFamily="49" charset="0"/>
                        </a:rPr>
                        <a:t>-=n</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8745" marR="0" algn="ctr">
                        <a:lnSpc>
                          <a:spcPct val="107000"/>
                        </a:lnSpc>
                        <a:spcBef>
                          <a:spcPts val="0"/>
                        </a:spcBef>
                        <a:spcAft>
                          <a:spcPts val="0"/>
                        </a:spcAft>
                      </a:pPr>
                      <a:r>
                        <a:rPr lang="en-US" sz="2200">
                          <a:effectLst/>
                          <a:latin typeface="Consolas" panose="020B0609020204030204" pitchFamily="49" charset="0"/>
                        </a:rPr>
                        <a:t>-=n</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0114628"/>
                  </a:ext>
                </a:extLst>
              </a:tr>
            </a:tbl>
          </a:graphicData>
        </a:graphic>
      </p:graphicFrame>
    </p:spTree>
    <p:extLst>
      <p:ext uri="{BB962C8B-B14F-4D97-AF65-F5344CB8AC3E}">
        <p14:creationId xmlns:p14="http://schemas.microsoft.com/office/powerpoint/2010/main" val="2369856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EF962E-FE4B-4EDC-8EA7-FA037710B5F9}"/>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18B99974-F2F5-4919-8906-A7D69482A495}"/>
              </a:ext>
            </a:extLst>
          </p:cNvPr>
          <p:cNvSpPr>
            <a:spLocks noGrp="1"/>
          </p:cNvSpPr>
          <p:nvPr>
            <p:ph type="sldNum" sz="quarter" idx="12"/>
          </p:nvPr>
        </p:nvSpPr>
        <p:spPr/>
        <p:txBody>
          <a:bodyPr/>
          <a:lstStyle/>
          <a:p>
            <a:fld id="{45CA964B-B8B5-4404-ADB9-CBB2121E234F}" type="slidenum">
              <a:rPr lang="en-US" smtClean="0"/>
              <a:t>18</a:t>
            </a:fld>
            <a:endParaRPr lang="en-US"/>
          </a:p>
        </p:txBody>
      </p:sp>
      <p:graphicFrame>
        <p:nvGraphicFramePr>
          <p:cNvPr id="5" name="Table 4">
            <a:extLst>
              <a:ext uri="{FF2B5EF4-FFF2-40B4-BE49-F238E27FC236}">
                <a16:creationId xmlns:a16="http://schemas.microsoft.com/office/drawing/2014/main" id="{A2F755D7-A24E-4E4E-86B5-ABFFE772E9D3}"/>
              </a:ext>
            </a:extLst>
          </p:cNvPr>
          <p:cNvGraphicFramePr>
            <a:graphicFrameLocks noGrp="1"/>
          </p:cNvGraphicFramePr>
          <p:nvPr>
            <p:extLst>
              <p:ext uri="{D42A27DB-BD31-4B8C-83A1-F6EECF244321}">
                <p14:modId xmlns:p14="http://schemas.microsoft.com/office/powerpoint/2010/main" val="3386281635"/>
              </p:ext>
            </p:extLst>
          </p:nvPr>
        </p:nvGraphicFramePr>
        <p:xfrm>
          <a:off x="162232" y="484951"/>
          <a:ext cx="8790040" cy="5574891"/>
        </p:xfrm>
        <a:graphic>
          <a:graphicData uri="http://schemas.openxmlformats.org/drawingml/2006/table">
            <a:tbl>
              <a:tblPr firstRow="1">
                <a:tableStyleId>{5940675A-B579-460E-94D1-54222C63F5DA}</a:tableStyleId>
              </a:tblPr>
              <a:tblGrid>
                <a:gridCol w="2595716">
                  <a:extLst>
                    <a:ext uri="{9D8B030D-6E8A-4147-A177-3AD203B41FA5}">
                      <a16:colId xmlns:a16="http://schemas.microsoft.com/office/drawing/2014/main" val="1986202460"/>
                    </a:ext>
                  </a:extLst>
                </a:gridCol>
                <a:gridCol w="1077502">
                  <a:extLst>
                    <a:ext uri="{9D8B030D-6E8A-4147-A177-3AD203B41FA5}">
                      <a16:colId xmlns:a16="http://schemas.microsoft.com/office/drawing/2014/main" val="271249767"/>
                    </a:ext>
                  </a:extLst>
                </a:gridCol>
                <a:gridCol w="1316255">
                  <a:extLst>
                    <a:ext uri="{9D8B030D-6E8A-4147-A177-3AD203B41FA5}">
                      <a16:colId xmlns:a16="http://schemas.microsoft.com/office/drawing/2014/main" val="127423085"/>
                    </a:ext>
                  </a:extLst>
                </a:gridCol>
                <a:gridCol w="1316255">
                  <a:extLst>
                    <a:ext uri="{9D8B030D-6E8A-4147-A177-3AD203B41FA5}">
                      <a16:colId xmlns:a16="http://schemas.microsoft.com/office/drawing/2014/main" val="2328701139"/>
                    </a:ext>
                  </a:extLst>
                </a:gridCol>
                <a:gridCol w="1397088">
                  <a:extLst>
                    <a:ext uri="{9D8B030D-6E8A-4147-A177-3AD203B41FA5}">
                      <a16:colId xmlns:a16="http://schemas.microsoft.com/office/drawing/2014/main" val="1610324195"/>
                    </a:ext>
                  </a:extLst>
                </a:gridCol>
                <a:gridCol w="1087224">
                  <a:extLst>
                    <a:ext uri="{9D8B030D-6E8A-4147-A177-3AD203B41FA5}">
                      <a16:colId xmlns:a16="http://schemas.microsoft.com/office/drawing/2014/main" val="3225204394"/>
                    </a:ext>
                  </a:extLst>
                </a:gridCol>
              </a:tblGrid>
              <a:tr h="471636">
                <a:tc>
                  <a:txBody>
                    <a:bodyPr/>
                    <a:lstStyle/>
                    <a:p>
                      <a:pPr marL="0" marR="0">
                        <a:lnSpc>
                          <a:spcPct val="107000"/>
                        </a:lnSpc>
                        <a:spcBef>
                          <a:spcPts val="0"/>
                        </a:spcBef>
                        <a:spcAft>
                          <a:spcPts val="0"/>
                        </a:spcAft>
                      </a:pPr>
                      <a:r>
                        <a:rPr lang="en-US" sz="2400">
                          <a:effectLst/>
                        </a:rPr>
                        <a:t>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53975" marR="0" algn="ctr">
                        <a:lnSpc>
                          <a:spcPct val="107000"/>
                        </a:lnSpc>
                        <a:spcBef>
                          <a:spcPts val="0"/>
                        </a:spcBef>
                        <a:spcAft>
                          <a:spcPts val="0"/>
                        </a:spcAft>
                      </a:pPr>
                      <a:r>
                        <a:rPr lang="en-US" sz="2200">
                          <a:solidFill>
                            <a:srgbClr val="0000FF"/>
                          </a:solidFill>
                          <a:effectLst/>
                          <a:latin typeface="Consolas" panose="020B0609020204030204" pitchFamily="49" charset="0"/>
                        </a:rPr>
                        <a:t>bool</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53975" marR="0" algn="ctr">
                        <a:lnSpc>
                          <a:spcPct val="107000"/>
                        </a:lnSpc>
                        <a:spcBef>
                          <a:spcPts val="0"/>
                        </a:spcBef>
                        <a:spcAft>
                          <a:spcPts val="0"/>
                        </a:spcAft>
                      </a:pPr>
                      <a:r>
                        <a:rPr lang="en-US" sz="2200">
                          <a:solidFill>
                            <a:srgbClr val="0000FF"/>
                          </a:solidFill>
                          <a:effectLst/>
                          <a:latin typeface="Consolas" panose="020B0609020204030204" pitchFamily="49" charset="0"/>
                        </a:rPr>
                        <a:t>char</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90170" marR="0" algn="ctr">
                        <a:lnSpc>
                          <a:spcPct val="107000"/>
                        </a:lnSpc>
                        <a:spcBef>
                          <a:spcPts val="0"/>
                        </a:spcBef>
                        <a:spcAft>
                          <a:spcPts val="0"/>
                        </a:spcAft>
                      </a:pPr>
                      <a:r>
                        <a:rPr lang="en-US" sz="2200">
                          <a:solidFill>
                            <a:srgbClr val="0000FF"/>
                          </a:solidFill>
                          <a:effectLst/>
                          <a:latin typeface="Consolas" panose="020B0609020204030204" pitchFamily="49" charset="0"/>
                        </a:rPr>
                        <a:t>int</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solidFill>
                            <a:srgbClr val="0000FF"/>
                          </a:solidFill>
                          <a:effectLst/>
                          <a:latin typeface="Consolas" panose="020B0609020204030204" pitchFamily="49" charset="0"/>
                        </a:rPr>
                        <a:t>double</a:t>
                      </a:r>
                      <a:endParaRPr lang="en-US" sz="2200">
                        <a:solidFill>
                          <a:srgbClr val="0000FF"/>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string</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387098"/>
                  </a:ext>
                </a:extLst>
              </a:tr>
              <a:tr h="446056">
                <a:tc>
                  <a:txBody>
                    <a:bodyPr/>
                    <a:lstStyle/>
                    <a:p>
                      <a:pPr marL="41910" marR="0">
                        <a:lnSpc>
                          <a:spcPct val="107000"/>
                        </a:lnSpc>
                        <a:spcBef>
                          <a:spcPts val="0"/>
                        </a:spcBef>
                        <a:spcAft>
                          <a:spcPts val="0"/>
                        </a:spcAft>
                      </a:pPr>
                      <a:r>
                        <a:rPr lang="en-US" sz="2400">
                          <a:effectLst/>
                        </a:rPr>
                        <a:t>nhân và gán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1393139"/>
                  </a:ext>
                </a:extLst>
              </a:tr>
              <a:tr h="510006">
                <a:tc>
                  <a:txBody>
                    <a:bodyPr/>
                    <a:lstStyle/>
                    <a:p>
                      <a:pPr marL="41910" marR="0">
                        <a:lnSpc>
                          <a:spcPct val="107000"/>
                        </a:lnSpc>
                        <a:spcBef>
                          <a:spcPts val="0"/>
                        </a:spcBef>
                        <a:spcAft>
                          <a:spcPts val="0"/>
                        </a:spcAft>
                      </a:pPr>
                      <a:r>
                        <a:rPr lang="en-US" sz="2400">
                          <a:effectLst/>
                        </a:rPr>
                        <a:t>chia và gán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0398236"/>
                  </a:ext>
                </a:extLst>
              </a:tr>
              <a:tr h="431667">
                <a:tc>
                  <a:txBody>
                    <a:bodyPr/>
                    <a:lstStyle/>
                    <a:p>
                      <a:pPr marL="41910" marR="0">
                        <a:lnSpc>
                          <a:spcPct val="107000"/>
                        </a:lnSpc>
                        <a:spcBef>
                          <a:spcPts val="0"/>
                        </a:spcBef>
                        <a:spcAft>
                          <a:spcPts val="0"/>
                        </a:spcAft>
                      </a:pPr>
                      <a:r>
                        <a:rPr lang="en-US" sz="2400">
                          <a:effectLst/>
                        </a:rPr>
                        <a:t>chia dư và gán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9715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9884535"/>
                  </a:ext>
                </a:extLst>
              </a:tr>
              <a:tr h="478030">
                <a:tc>
                  <a:txBody>
                    <a:bodyPr/>
                    <a:lstStyle/>
                    <a:p>
                      <a:pPr marL="41910" marR="0">
                        <a:lnSpc>
                          <a:spcPct val="107000"/>
                        </a:lnSpc>
                        <a:spcBef>
                          <a:spcPts val="0"/>
                        </a:spcBef>
                        <a:spcAft>
                          <a:spcPts val="0"/>
                        </a:spcAft>
                      </a:pPr>
                      <a:r>
                        <a:rPr lang="en-US" sz="2400">
                          <a:effectLst/>
                        </a:rPr>
                        <a:t>đọc từ s vào 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 &gt;&gt;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 &gt;&gt;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 &gt;&gt;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9050" marR="0" algn="ctr">
                        <a:lnSpc>
                          <a:spcPct val="107000"/>
                        </a:lnSpc>
                        <a:spcBef>
                          <a:spcPts val="0"/>
                        </a:spcBef>
                        <a:spcAft>
                          <a:spcPts val="0"/>
                        </a:spcAft>
                      </a:pPr>
                      <a:r>
                        <a:rPr lang="en-US" sz="2200">
                          <a:effectLst/>
                          <a:latin typeface="Consolas" panose="020B0609020204030204" pitchFamily="49" charset="0"/>
                        </a:rPr>
                        <a:t>s &gt;&gt;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9050" marR="0" algn="ctr">
                        <a:lnSpc>
                          <a:spcPct val="107000"/>
                        </a:lnSpc>
                        <a:spcBef>
                          <a:spcPts val="0"/>
                        </a:spcBef>
                        <a:spcAft>
                          <a:spcPts val="0"/>
                        </a:spcAft>
                      </a:pPr>
                      <a:r>
                        <a:rPr lang="en-US" sz="2200">
                          <a:effectLst/>
                          <a:latin typeface="Consolas" panose="020B0609020204030204" pitchFamily="49" charset="0"/>
                        </a:rPr>
                        <a:t>s &gt;&gt;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87063075"/>
                  </a:ext>
                </a:extLst>
              </a:tr>
              <a:tr h="458845">
                <a:tc>
                  <a:txBody>
                    <a:bodyPr/>
                    <a:lstStyle/>
                    <a:p>
                      <a:pPr marL="41910" marR="0">
                        <a:lnSpc>
                          <a:spcPct val="107000"/>
                        </a:lnSpc>
                        <a:spcBef>
                          <a:spcPts val="0"/>
                        </a:spcBef>
                        <a:spcAft>
                          <a:spcPts val="0"/>
                        </a:spcAft>
                      </a:pPr>
                      <a:r>
                        <a:rPr lang="en-US" sz="2400">
                          <a:effectLst/>
                        </a:rPr>
                        <a:t>ghi từ x ra 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 &lt;&lt;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 &lt;&lt;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200">
                          <a:effectLst/>
                          <a:latin typeface="Consolas" panose="020B0609020204030204" pitchFamily="49" charset="0"/>
                        </a:rPr>
                        <a:t>s &lt;&lt;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9050" marR="0" algn="ctr">
                        <a:lnSpc>
                          <a:spcPct val="107000"/>
                        </a:lnSpc>
                        <a:spcBef>
                          <a:spcPts val="0"/>
                        </a:spcBef>
                        <a:spcAft>
                          <a:spcPts val="0"/>
                        </a:spcAft>
                      </a:pPr>
                      <a:r>
                        <a:rPr lang="en-US" sz="2200">
                          <a:effectLst/>
                          <a:latin typeface="Consolas" panose="020B0609020204030204" pitchFamily="49" charset="0"/>
                        </a:rPr>
                        <a:t>s &lt;&lt;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9050" marR="0" algn="ctr">
                        <a:lnSpc>
                          <a:spcPct val="107000"/>
                        </a:lnSpc>
                        <a:spcBef>
                          <a:spcPts val="0"/>
                        </a:spcBef>
                        <a:spcAft>
                          <a:spcPts val="0"/>
                        </a:spcAft>
                      </a:pPr>
                      <a:r>
                        <a:rPr lang="en-US" sz="2200">
                          <a:effectLst/>
                          <a:latin typeface="Consolas" panose="020B0609020204030204" pitchFamily="49" charset="0"/>
                        </a:rPr>
                        <a:t>s &lt;&lt; x</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1204164"/>
                  </a:ext>
                </a:extLst>
              </a:tr>
              <a:tr h="458845">
                <a:tc>
                  <a:txBody>
                    <a:bodyPr/>
                    <a:lstStyle/>
                    <a:p>
                      <a:pPr marL="41910" marR="0">
                        <a:lnSpc>
                          <a:spcPct val="107000"/>
                        </a:lnSpc>
                        <a:spcBef>
                          <a:spcPts val="0"/>
                        </a:spcBef>
                        <a:spcAft>
                          <a:spcPts val="0"/>
                        </a:spcAft>
                      </a:pPr>
                      <a:r>
                        <a:rPr lang="en-US" sz="2400">
                          <a:effectLst/>
                        </a:rPr>
                        <a:t>so sánh bằng</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91335142"/>
                  </a:ext>
                </a:extLst>
              </a:tr>
              <a:tr h="458845">
                <a:tc>
                  <a:txBody>
                    <a:bodyPr/>
                    <a:lstStyle/>
                    <a:p>
                      <a:pPr marL="41910" marR="0">
                        <a:lnSpc>
                          <a:spcPct val="107000"/>
                        </a:lnSpc>
                        <a:spcBef>
                          <a:spcPts val="0"/>
                        </a:spcBef>
                        <a:spcAft>
                          <a:spcPts val="0"/>
                        </a:spcAft>
                      </a:pPr>
                      <a:r>
                        <a:rPr lang="en-US" sz="2400">
                          <a:effectLst/>
                        </a:rPr>
                        <a:t>không bằng</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51064842"/>
                  </a:ext>
                </a:extLst>
              </a:tr>
              <a:tr h="458845">
                <a:tc>
                  <a:txBody>
                    <a:bodyPr/>
                    <a:lstStyle/>
                    <a:p>
                      <a:pPr marL="41910" marR="0">
                        <a:lnSpc>
                          <a:spcPct val="107000"/>
                        </a:lnSpc>
                        <a:spcBef>
                          <a:spcPts val="0"/>
                        </a:spcBef>
                        <a:spcAft>
                          <a:spcPts val="0"/>
                        </a:spcAft>
                      </a:pPr>
                      <a:r>
                        <a:rPr lang="en-US" sz="2400">
                          <a:effectLst/>
                        </a:rPr>
                        <a:t>lớn hơn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66370" marR="0" algn="ctr">
                        <a:lnSpc>
                          <a:spcPct val="107000"/>
                        </a:lnSpc>
                        <a:spcBef>
                          <a:spcPts val="0"/>
                        </a:spcBef>
                        <a:spcAft>
                          <a:spcPts val="0"/>
                        </a:spcAft>
                      </a:pPr>
                      <a:r>
                        <a:rPr lang="en-US" sz="2200">
                          <a:effectLst/>
                          <a:latin typeface="Consolas" panose="020B0609020204030204" pitchFamily="49" charset="0"/>
                        </a:rPr>
                        <a:t>&gt;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66370" marR="0" algn="ctr">
                        <a:lnSpc>
                          <a:spcPct val="107000"/>
                        </a:lnSpc>
                        <a:spcBef>
                          <a:spcPts val="0"/>
                        </a:spcBef>
                        <a:spcAft>
                          <a:spcPts val="0"/>
                        </a:spcAft>
                      </a:pPr>
                      <a:r>
                        <a:rPr lang="en-US" sz="2200">
                          <a:effectLst/>
                          <a:latin typeface="Consolas" panose="020B0609020204030204" pitchFamily="49" charset="0"/>
                        </a:rPr>
                        <a:t>&gt;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66370" marR="0" algn="ctr">
                        <a:lnSpc>
                          <a:spcPct val="107000"/>
                        </a:lnSpc>
                        <a:spcBef>
                          <a:spcPts val="0"/>
                        </a:spcBef>
                        <a:spcAft>
                          <a:spcPts val="0"/>
                        </a:spcAft>
                      </a:pPr>
                      <a:r>
                        <a:rPr lang="en-US" sz="2200">
                          <a:effectLst/>
                          <a:latin typeface="Consolas" panose="020B0609020204030204" pitchFamily="49" charset="0"/>
                        </a:rPr>
                        <a:t>&gt;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&gt;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&gt;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99633396"/>
                  </a:ext>
                </a:extLst>
              </a:tr>
              <a:tr h="458845">
                <a:tc>
                  <a:txBody>
                    <a:bodyPr/>
                    <a:lstStyle/>
                    <a:p>
                      <a:pPr marL="41910" marR="0">
                        <a:lnSpc>
                          <a:spcPct val="107000"/>
                        </a:lnSpc>
                        <a:spcBef>
                          <a:spcPts val="0"/>
                        </a:spcBef>
                        <a:spcAft>
                          <a:spcPts val="0"/>
                        </a:spcAft>
                      </a:pPr>
                      <a:r>
                        <a:rPr lang="en-US" sz="2400">
                          <a:effectLst/>
                        </a:rPr>
                        <a:t>lớn hơn hoặc bằng</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&gt;=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&gt;=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&gt;=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&gt;=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&gt;=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49247145"/>
                  </a:ext>
                </a:extLst>
              </a:tr>
              <a:tr h="458845">
                <a:tc>
                  <a:txBody>
                    <a:bodyPr/>
                    <a:lstStyle/>
                    <a:p>
                      <a:pPr marL="41910" marR="0">
                        <a:lnSpc>
                          <a:spcPct val="107000"/>
                        </a:lnSpc>
                        <a:spcBef>
                          <a:spcPts val="0"/>
                        </a:spcBef>
                        <a:spcAft>
                          <a:spcPts val="0"/>
                        </a:spcAft>
                      </a:pPr>
                      <a:r>
                        <a:rPr lang="en-US" sz="2400">
                          <a:effectLst/>
                        </a:rPr>
                        <a:t>nhỏ hơn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66370" marR="0" algn="ctr">
                        <a:lnSpc>
                          <a:spcPct val="107000"/>
                        </a:lnSpc>
                        <a:spcBef>
                          <a:spcPts val="0"/>
                        </a:spcBef>
                        <a:spcAft>
                          <a:spcPts val="0"/>
                        </a:spcAft>
                      </a:pPr>
                      <a:r>
                        <a:rPr lang="en-US" sz="2200">
                          <a:effectLst/>
                          <a:latin typeface="Consolas" panose="020B0609020204030204" pitchFamily="49" charset="0"/>
                        </a:rPr>
                        <a:t>&lt;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66370" marR="0" algn="ctr">
                        <a:lnSpc>
                          <a:spcPct val="107000"/>
                        </a:lnSpc>
                        <a:spcBef>
                          <a:spcPts val="0"/>
                        </a:spcBef>
                        <a:spcAft>
                          <a:spcPts val="0"/>
                        </a:spcAft>
                      </a:pPr>
                      <a:r>
                        <a:rPr lang="en-US" sz="2200">
                          <a:effectLst/>
                          <a:latin typeface="Consolas" panose="020B0609020204030204" pitchFamily="49" charset="0"/>
                        </a:rPr>
                        <a:t>&lt;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66370" marR="0" algn="ctr">
                        <a:lnSpc>
                          <a:spcPct val="107000"/>
                        </a:lnSpc>
                        <a:spcBef>
                          <a:spcPts val="0"/>
                        </a:spcBef>
                        <a:spcAft>
                          <a:spcPts val="0"/>
                        </a:spcAft>
                      </a:pPr>
                      <a:r>
                        <a:rPr lang="en-US" sz="2200">
                          <a:effectLst/>
                          <a:latin typeface="Consolas" panose="020B0609020204030204" pitchFamily="49" charset="0"/>
                        </a:rPr>
                        <a:t>&lt;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&lt;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84785" marR="0" algn="ctr">
                        <a:lnSpc>
                          <a:spcPct val="107000"/>
                        </a:lnSpc>
                        <a:spcBef>
                          <a:spcPts val="0"/>
                        </a:spcBef>
                        <a:spcAft>
                          <a:spcPts val="0"/>
                        </a:spcAft>
                      </a:pPr>
                      <a:r>
                        <a:rPr lang="en-US" sz="2200">
                          <a:effectLst/>
                          <a:latin typeface="Consolas" panose="020B0609020204030204" pitchFamily="49" charset="0"/>
                        </a:rPr>
                        <a:t>&lt; </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7976917"/>
                  </a:ext>
                </a:extLst>
              </a:tr>
              <a:tr h="484426">
                <a:tc>
                  <a:txBody>
                    <a:bodyPr/>
                    <a:lstStyle/>
                    <a:p>
                      <a:pPr marL="41910" marR="0">
                        <a:lnSpc>
                          <a:spcPct val="107000"/>
                        </a:lnSpc>
                        <a:spcBef>
                          <a:spcPts val="0"/>
                        </a:spcBef>
                        <a:spcAft>
                          <a:spcPts val="0"/>
                        </a:spcAft>
                      </a:pPr>
                      <a:r>
                        <a:rPr lang="en-US" sz="2400">
                          <a:effectLst/>
                        </a:rPr>
                        <a:t>nhỏ hơn hoặc bằng</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&lt;=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&lt;=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32715" marR="0" algn="ctr">
                        <a:lnSpc>
                          <a:spcPct val="107000"/>
                        </a:lnSpc>
                        <a:spcBef>
                          <a:spcPts val="0"/>
                        </a:spcBef>
                        <a:spcAft>
                          <a:spcPts val="0"/>
                        </a:spcAft>
                      </a:pPr>
                      <a:r>
                        <a:rPr lang="en-US" sz="2200">
                          <a:effectLst/>
                          <a:latin typeface="Consolas" panose="020B0609020204030204" pitchFamily="49" charset="0"/>
                        </a:rPr>
                        <a:t>&lt;=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&lt;=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51765" marR="0" algn="ctr">
                        <a:lnSpc>
                          <a:spcPct val="107000"/>
                        </a:lnSpc>
                        <a:spcBef>
                          <a:spcPts val="0"/>
                        </a:spcBef>
                        <a:spcAft>
                          <a:spcPts val="0"/>
                        </a:spcAft>
                      </a:pPr>
                      <a:r>
                        <a:rPr lang="en-US" sz="2200">
                          <a:effectLst/>
                          <a:latin typeface="Consolas" panose="020B0609020204030204" pitchFamily="49" charset="0"/>
                        </a:rPr>
                        <a:t>&lt;=</a:t>
                      </a:r>
                      <a:endParaRPr lang="en-US" sz="22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73025"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78961795"/>
                  </a:ext>
                </a:extLst>
              </a:tr>
            </a:tbl>
          </a:graphicData>
        </a:graphic>
      </p:graphicFrame>
    </p:spTree>
    <p:extLst>
      <p:ext uri="{BB962C8B-B14F-4D97-AF65-F5344CB8AC3E}">
        <p14:creationId xmlns:p14="http://schemas.microsoft.com/office/powerpoint/2010/main" val="3172210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tx1">
                    <a:lumMod val="50000"/>
                    <a:lumOff val="50000"/>
                  </a:schemeClr>
                </a:solidFill>
              </a:rPr>
              <a:t>Tên và Từ khóa</a:t>
            </a:r>
          </a:p>
          <a:p>
            <a:r>
              <a:rPr lang="vi-VN">
                <a:solidFill>
                  <a:schemeClr val="tx1">
                    <a:lumMod val="50000"/>
                    <a:lumOff val="50000"/>
                  </a:schemeClr>
                </a:solidFill>
              </a:rPr>
              <a:t>Kiểu dữ liệu</a:t>
            </a:r>
          </a:p>
          <a:p>
            <a:r>
              <a:rPr lang="vi-VN"/>
              <a:t>Biến và Hằng</a:t>
            </a:r>
            <a:endParaRPr lang="en-US"/>
          </a:p>
          <a:p>
            <a:pPr lvl="1"/>
            <a:r>
              <a:rPr lang="en-US"/>
              <a:t>Biến (variable)</a:t>
            </a:r>
          </a:p>
          <a:p>
            <a:pPr lvl="1"/>
            <a:r>
              <a:rPr lang="en-US"/>
              <a:t>Hằng (named constant)</a:t>
            </a:r>
            <a:endParaRPr lang="vi-VN"/>
          </a:p>
          <a:p>
            <a:r>
              <a:rPr lang="vi-VN">
                <a:solidFill>
                  <a:schemeClr val="tx1">
                    <a:lumMod val="50000"/>
                    <a:lumOff val="50000"/>
                  </a:schemeClr>
                </a:solidFill>
              </a:rPr>
              <a:t>Nhập dữ liệu</a:t>
            </a:r>
          </a:p>
          <a:p>
            <a:r>
              <a:rPr lang="vi-VN">
                <a:solidFill>
                  <a:schemeClr val="tx1">
                    <a:lumMod val="50000"/>
                    <a:lumOff val="50000"/>
                  </a:schemeClr>
                </a:solidFill>
              </a:rPr>
              <a:t>Xuất dữ liệu và Định dạng xuất</a:t>
            </a:r>
            <a:endParaRPr lang="en-US">
              <a:solidFill>
                <a:schemeClr val="tx1">
                  <a:lumMod val="50000"/>
                  <a:lumOff val="50000"/>
                </a:schemeClr>
              </a:solidFill>
            </a:endParaRPr>
          </a:p>
          <a:p>
            <a:r>
              <a:rPr lang="en-US">
                <a:solidFill>
                  <a:schemeClr val="tx1">
                    <a:lumMod val="50000"/>
                    <a:lumOff val="50000"/>
                  </a:schemeClr>
                </a:solidFill>
              </a:rPr>
              <a:t>Biểu thức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19</a:t>
            </a:fld>
            <a:endParaRPr lang="en-US"/>
          </a:p>
        </p:txBody>
      </p:sp>
    </p:spTree>
    <p:extLst>
      <p:ext uri="{BB962C8B-B14F-4D97-AF65-F5344CB8AC3E}">
        <p14:creationId xmlns:p14="http://schemas.microsoft.com/office/powerpoint/2010/main" val="2518773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BDB005-AB5F-4C20-B588-E4F7E678C782}"/>
              </a:ext>
            </a:extLst>
          </p:cNvPr>
          <p:cNvSpPr>
            <a:spLocks noGrp="1"/>
          </p:cNvSpPr>
          <p:nvPr>
            <p:ph type="title"/>
          </p:nvPr>
        </p:nvSpPr>
        <p:spPr/>
        <p:txBody>
          <a:bodyPr/>
          <a:lstStyle/>
          <a:p>
            <a:r>
              <a:rPr lang="en-US"/>
              <a:t>Biến</a:t>
            </a:r>
          </a:p>
        </p:txBody>
      </p:sp>
      <p:sp>
        <p:nvSpPr>
          <p:cNvPr id="7" name="Content Placeholder 6">
            <a:extLst>
              <a:ext uri="{FF2B5EF4-FFF2-40B4-BE49-F238E27FC236}">
                <a16:creationId xmlns:a16="http://schemas.microsoft.com/office/drawing/2014/main" id="{D4B7539C-9650-41FE-AFD1-01A9FD2CAD22}"/>
              </a:ext>
            </a:extLst>
          </p:cNvPr>
          <p:cNvSpPr>
            <a:spLocks noGrp="1"/>
          </p:cNvSpPr>
          <p:nvPr>
            <p:ph idx="1"/>
          </p:nvPr>
        </p:nvSpPr>
        <p:spPr/>
        <p:txBody>
          <a:bodyPr/>
          <a:lstStyle/>
          <a:p>
            <a:pPr algn="just"/>
            <a:r>
              <a:rPr lang="vi-VN">
                <a:solidFill>
                  <a:srgbClr val="0000FF"/>
                </a:solidFill>
              </a:rPr>
              <a:t>Biến</a:t>
            </a:r>
            <a:r>
              <a:rPr lang="vi-VN"/>
              <a:t> (variable) là một vùng nhớ dùng để lưu trữ một giá trị dữ liệu. Mỗi biến có tên (name) và kiểu dữ liệu (type).</a:t>
            </a:r>
          </a:p>
          <a:p>
            <a:pPr algn="just"/>
            <a:r>
              <a:rPr lang="vi-VN"/>
              <a:t>Dữ liệu được lưu trữ trong biến gọi là giá trị (value) của biến.</a:t>
            </a:r>
          </a:p>
          <a:p>
            <a:pPr algn="just"/>
            <a:endParaRPr lang="en-US"/>
          </a:p>
          <a:p>
            <a:pPr algn="just"/>
            <a:endParaRPr lang="vi-VN"/>
          </a:p>
          <a:p>
            <a:pPr algn="just"/>
            <a:r>
              <a:rPr lang="vi-VN"/>
              <a:t>Khi thực hiện, chương trình có thể đọc, ghi, hoặc thay thế các giá trị của biến.</a:t>
            </a:r>
          </a:p>
          <a:p>
            <a:pPr algn="just"/>
            <a:r>
              <a:rPr lang="vi-VN"/>
              <a:t>C++ yêu cầu phải khai báo biến trước khi sử dụng.</a:t>
            </a:r>
          </a:p>
          <a:p>
            <a:pPr algn="just"/>
            <a:r>
              <a:rPr lang="vi-VN"/>
              <a:t>Để khai báo một biến, ta cần phải biết kiểu dữ liệu (data type) mà chương trình sẽ sử dụng (số, chuỗi...).</a:t>
            </a:r>
          </a:p>
          <a:p>
            <a:pPr algn="just"/>
            <a:endParaRPr lang="en-US"/>
          </a:p>
        </p:txBody>
      </p:sp>
      <p:sp>
        <p:nvSpPr>
          <p:cNvPr id="4" name="Footer Placeholder 3">
            <a:extLst>
              <a:ext uri="{FF2B5EF4-FFF2-40B4-BE49-F238E27FC236}">
                <a16:creationId xmlns:a16="http://schemas.microsoft.com/office/drawing/2014/main" id="{5CF4CBC6-5C5D-4D55-A5CC-98BACE536395}"/>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D07777B-68F5-428E-8362-54DC1878E284}"/>
              </a:ext>
            </a:extLst>
          </p:cNvPr>
          <p:cNvSpPr>
            <a:spLocks noGrp="1"/>
          </p:cNvSpPr>
          <p:nvPr>
            <p:ph type="sldNum" sz="quarter" idx="12"/>
          </p:nvPr>
        </p:nvSpPr>
        <p:spPr/>
        <p:txBody>
          <a:bodyPr/>
          <a:lstStyle/>
          <a:p>
            <a:fld id="{45CA964B-B8B5-4404-ADB9-CBB2121E234F}" type="slidenum">
              <a:rPr lang="en-US" smtClean="0"/>
              <a:t>20</a:t>
            </a:fld>
            <a:endParaRPr lang="en-US"/>
          </a:p>
        </p:txBody>
      </p:sp>
      <p:pic>
        <p:nvPicPr>
          <p:cNvPr id="9" name="Picture 8">
            <a:extLst>
              <a:ext uri="{FF2B5EF4-FFF2-40B4-BE49-F238E27FC236}">
                <a16:creationId xmlns:a16="http://schemas.microsoft.com/office/drawing/2014/main" id="{DB26F80B-6007-40A6-A182-9D6B7B9487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332" y="2482288"/>
            <a:ext cx="1810669" cy="542591"/>
          </a:xfrm>
          <a:prstGeom prst="rect">
            <a:avLst/>
          </a:prstGeom>
        </p:spPr>
      </p:pic>
      <p:pic>
        <p:nvPicPr>
          <p:cNvPr id="11" name="Picture 10">
            <a:extLst>
              <a:ext uri="{FF2B5EF4-FFF2-40B4-BE49-F238E27FC236}">
                <a16:creationId xmlns:a16="http://schemas.microsoft.com/office/drawing/2014/main" id="{1ED596C2-905B-42C7-887A-D6ACD8349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2451805"/>
            <a:ext cx="2060627" cy="573074"/>
          </a:xfrm>
          <a:prstGeom prst="rect">
            <a:avLst/>
          </a:prstGeom>
        </p:spPr>
      </p:pic>
    </p:spTree>
    <p:extLst>
      <p:ext uri="{BB962C8B-B14F-4D97-AF65-F5344CB8AC3E}">
        <p14:creationId xmlns:p14="http://schemas.microsoft.com/office/powerpoint/2010/main" val="2570925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F25C1F0-DC47-4D84-AE1E-FC67FE92F890}"/>
              </a:ext>
            </a:extLst>
          </p:cNvPr>
          <p:cNvSpPr>
            <a:spLocks noGrp="1"/>
          </p:cNvSpPr>
          <p:nvPr>
            <p:ph idx="1"/>
          </p:nvPr>
        </p:nvSpPr>
        <p:spPr/>
        <p:txBody>
          <a:bodyPr>
            <a:normAutofit/>
          </a:bodyPr>
          <a:lstStyle/>
          <a:p>
            <a:r>
              <a:rPr lang="vi-VN"/>
              <a:t>Cú pháp khai báo biến:</a:t>
            </a:r>
          </a:p>
          <a:p>
            <a:pPr lvl="4">
              <a:spcBef>
                <a:spcPts val="1200"/>
              </a:spcBef>
              <a:spcAft>
                <a:spcPts val="1200"/>
              </a:spcAft>
            </a:pPr>
            <a:r>
              <a:rPr lang="vi-VN"/>
              <a:t>dataType variableName; </a:t>
            </a:r>
            <a:endParaRPr lang="en-US"/>
          </a:p>
          <a:p>
            <a:pPr lvl="1" algn="just"/>
            <a:r>
              <a:rPr lang="vi-VN">
                <a:latin typeface="Consolas" panose="020B0609020204030204" pitchFamily="49" charset="0"/>
              </a:rPr>
              <a:t>dataType</a:t>
            </a:r>
            <a:r>
              <a:rPr lang="vi-VN"/>
              <a:t>: kiểu dữ liệu (có trong C++, là kiểu cơ bản hoặc kiểu do người dùng tạo).</a:t>
            </a:r>
          </a:p>
          <a:p>
            <a:pPr lvl="1"/>
            <a:r>
              <a:rPr lang="vi-VN">
                <a:latin typeface="Consolas" panose="020B0609020204030204" pitchFamily="49" charset="0"/>
              </a:rPr>
              <a:t>variableName</a:t>
            </a:r>
            <a:r>
              <a:rPr lang="vi-VN"/>
              <a:t>: tên biến (theo luật đặt tên của C++). </a:t>
            </a:r>
            <a:endParaRPr lang="en-US"/>
          </a:p>
          <a:p>
            <a:r>
              <a:rPr lang="vi-VN"/>
              <a:t>Ví dụ:</a:t>
            </a:r>
          </a:p>
          <a:p>
            <a:pPr lvl="4"/>
            <a:r>
              <a:rPr lang="vi-VN"/>
              <a:t>int soluong; </a:t>
            </a:r>
            <a:endParaRPr lang="en-US"/>
          </a:p>
          <a:p>
            <a:pPr lvl="4"/>
            <a:endParaRPr lang="en-US"/>
          </a:p>
          <a:p>
            <a:pPr lvl="4"/>
            <a:r>
              <a:rPr lang="vi-VN"/>
              <a:t>double tyle; </a:t>
            </a:r>
            <a:endParaRPr lang="en-US"/>
          </a:p>
          <a:p>
            <a:pPr lvl="4"/>
            <a:endParaRPr lang="en-US"/>
          </a:p>
          <a:p>
            <a:pPr lvl="4"/>
            <a:r>
              <a:rPr lang="vi-VN"/>
              <a:t>char loaiSP; </a:t>
            </a:r>
            <a:endParaRPr lang="en-US"/>
          </a:p>
          <a:p>
            <a:pPr lvl="4"/>
            <a:endParaRPr lang="en-US"/>
          </a:p>
          <a:p>
            <a:pPr lvl="4"/>
            <a:r>
              <a:rPr lang="vi-VN"/>
              <a:t>string tenSP;</a:t>
            </a:r>
          </a:p>
          <a:p>
            <a:endParaRPr lang="en-US"/>
          </a:p>
          <a:p>
            <a:r>
              <a:rPr lang="vi-VN"/>
              <a:t>Có thể khai báo nhiều biến có cùng kiểu dữ liệu:</a:t>
            </a:r>
          </a:p>
          <a:p>
            <a:pPr lvl="4"/>
            <a:r>
              <a:rPr lang="vi-VN"/>
              <a:t>int a, b, c, d;</a:t>
            </a:r>
          </a:p>
        </p:txBody>
      </p:sp>
      <p:sp>
        <p:nvSpPr>
          <p:cNvPr id="4" name="Footer Placeholder 3">
            <a:extLst>
              <a:ext uri="{FF2B5EF4-FFF2-40B4-BE49-F238E27FC236}">
                <a16:creationId xmlns:a16="http://schemas.microsoft.com/office/drawing/2014/main" id="{E2961FD5-8546-42D7-AB4A-DCAC807B877D}"/>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B20CF93A-BFC8-4E4F-A670-230E327CD3DC}"/>
              </a:ext>
            </a:extLst>
          </p:cNvPr>
          <p:cNvSpPr>
            <a:spLocks noGrp="1"/>
          </p:cNvSpPr>
          <p:nvPr>
            <p:ph type="sldNum" sz="quarter" idx="12"/>
          </p:nvPr>
        </p:nvSpPr>
        <p:spPr/>
        <p:txBody>
          <a:bodyPr/>
          <a:lstStyle/>
          <a:p>
            <a:fld id="{45CA964B-B8B5-4404-ADB9-CBB2121E234F}" type="slidenum">
              <a:rPr lang="en-US" smtClean="0"/>
              <a:t>21</a:t>
            </a:fld>
            <a:endParaRPr lang="en-US"/>
          </a:p>
        </p:txBody>
      </p:sp>
      <p:sp>
        <p:nvSpPr>
          <p:cNvPr id="7" name="Rectangle 6">
            <a:extLst>
              <a:ext uri="{FF2B5EF4-FFF2-40B4-BE49-F238E27FC236}">
                <a16:creationId xmlns:a16="http://schemas.microsoft.com/office/drawing/2014/main" id="{E8812CB6-F86B-4591-8645-ABACDC0728BF}"/>
              </a:ext>
            </a:extLst>
          </p:cNvPr>
          <p:cNvSpPr/>
          <p:nvPr/>
        </p:nvSpPr>
        <p:spPr>
          <a:xfrm>
            <a:off x="516193" y="769632"/>
            <a:ext cx="3937820"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AC56A65-DDF1-466C-912A-20AAE6444C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6122" y="4117237"/>
            <a:ext cx="1487553" cy="536494"/>
          </a:xfrm>
          <a:prstGeom prst="rect">
            <a:avLst/>
          </a:prstGeom>
        </p:spPr>
      </p:pic>
      <p:pic>
        <p:nvPicPr>
          <p:cNvPr id="11" name="Picture 10">
            <a:extLst>
              <a:ext uri="{FF2B5EF4-FFF2-40B4-BE49-F238E27FC236}">
                <a16:creationId xmlns:a16="http://schemas.microsoft.com/office/drawing/2014/main" id="{F3E15C62-DEEC-41E9-936F-C7E9BC5D1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4294" y="2761419"/>
            <a:ext cx="1810669" cy="536494"/>
          </a:xfrm>
          <a:prstGeom prst="rect">
            <a:avLst/>
          </a:prstGeom>
        </p:spPr>
      </p:pic>
      <p:pic>
        <p:nvPicPr>
          <p:cNvPr id="13" name="Picture 12">
            <a:extLst>
              <a:ext uri="{FF2B5EF4-FFF2-40B4-BE49-F238E27FC236}">
                <a16:creationId xmlns:a16="http://schemas.microsoft.com/office/drawing/2014/main" id="{BF60AB42-BA22-4E4D-9F36-4E9A297878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3531" y="4748086"/>
            <a:ext cx="3499407" cy="536494"/>
          </a:xfrm>
          <a:prstGeom prst="rect">
            <a:avLst/>
          </a:prstGeom>
        </p:spPr>
      </p:pic>
      <p:pic>
        <p:nvPicPr>
          <p:cNvPr id="15" name="Picture 14">
            <a:extLst>
              <a:ext uri="{FF2B5EF4-FFF2-40B4-BE49-F238E27FC236}">
                <a16:creationId xmlns:a16="http://schemas.microsoft.com/office/drawing/2014/main" id="{F822263E-D831-4CB7-8AE0-F3E331FBBC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6122" y="3405905"/>
            <a:ext cx="2493480" cy="536494"/>
          </a:xfrm>
          <a:prstGeom prst="rect">
            <a:avLst/>
          </a:prstGeom>
        </p:spPr>
      </p:pic>
    </p:spTree>
    <p:extLst>
      <p:ext uri="{BB962C8B-B14F-4D97-AF65-F5344CB8AC3E}">
        <p14:creationId xmlns:p14="http://schemas.microsoft.com/office/powerpoint/2010/main" val="1184174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D7BC1B-134E-49FB-8309-55EF65CCA234}"/>
              </a:ext>
            </a:extLst>
          </p:cNvPr>
          <p:cNvSpPr>
            <a:spLocks noGrp="1"/>
          </p:cNvSpPr>
          <p:nvPr>
            <p:ph idx="1"/>
          </p:nvPr>
        </p:nvSpPr>
        <p:spPr/>
        <p:txBody>
          <a:bodyPr/>
          <a:lstStyle/>
          <a:p>
            <a:r>
              <a:rPr lang="vi-VN"/>
              <a:t>Cú pháp khai báo biến và khởi tạo giá trị:</a:t>
            </a:r>
          </a:p>
          <a:p>
            <a:pPr lvl="4">
              <a:spcBef>
                <a:spcPts val="1200"/>
              </a:spcBef>
              <a:spcAft>
                <a:spcPts val="1200"/>
              </a:spcAft>
            </a:pPr>
            <a:r>
              <a:rPr lang="vi-VN"/>
              <a:t>dataType variableName = initialValue; </a:t>
            </a:r>
            <a:endParaRPr lang="en-US"/>
          </a:p>
          <a:p>
            <a:r>
              <a:rPr lang="vi-VN"/>
              <a:t>Ví dụ:</a:t>
            </a:r>
          </a:p>
          <a:p>
            <a:pPr lvl="4"/>
            <a:r>
              <a:rPr lang="vi-VN"/>
              <a:t>int soluong = 5; </a:t>
            </a:r>
            <a:endParaRPr lang="en-US"/>
          </a:p>
          <a:p>
            <a:pPr lvl="4"/>
            <a:endParaRPr lang="en-US"/>
          </a:p>
          <a:p>
            <a:pPr lvl="4"/>
            <a:r>
              <a:rPr lang="vi-VN"/>
              <a:t>double tyle = 0.05; </a:t>
            </a:r>
            <a:endParaRPr lang="en-US"/>
          </a:p>
          <a:p>
            <a:pPr lvl="4"/>
            <a:endParaRPr lang="en-US"/>
          </a:p>
          <a:p>
            <a:pPr lvl="4"/>
            <a:r>
              <a:rPr lang="vi-VN"/>
              <a:t>char loaiSP = 'K'; </a:t>
            </a:r>
            <a:endParaRPr lang="en-US"/>
          </a:p>
          <a:p>
            <a:pPr lvl="4"/>
            <a:endParaRPr lang="en-US"/>
          </a:p>
          <a:p>
            <a:pPr lvl="4"/>
            <a:r>
              <a:rPr lang="vi-VN"/>
              <a:t>string tenSP = "Kem danh rang";</a:t>
            </a:r>
          </a:p>
          <a:p>
            <a:pPr lvl="1"/>
            <a:endParaRPr lang="en-US"/>
          </a:p>
          <a:p>
            <a:pPr lvl="1"/>
            <a:r>
              <a:rPr lang="vi-VN"/>
              <a:t>5, 0.05, 'K', "Kem danh rang" được gọi là </a:t>
            </a:r>
            <a:r>
              <a:rPr lang="vi-VN" i="1">
                <a:solidFill>
                  <a:srgbClr val="0000FF"/>
                </a:solidFill>
              </a:rPr>
              <a:t>literal constant</a:t>
            </a:r>
            <a:r>
              <a:rPr lang="vi-VN"/>
              <a:t>.</a:t>
            </a:r>
          </a:p>
          <a:p>
            <a:endParaRPr lang="en-US"/>
          </a:p>
        </p:txBody>
      </p:sp>
      <p:sp>
        <p:nvSpPr>
          <p:cNvPr id="3" name="Footer Placeholder 2">
            <a:extLst>
              <a:ext uri="{FF2B5EF4-FFF2-40B4-BE49-F238E27FC236}">
                <a16:creationId xmlns:a16="http://schemas.microsoft.com/office/drawing/2014/main" id="{A5C48436-F80C-4ABE-84E7-17478E9A1290}"/>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03EF6D00-28AB-4C1D-AA86-4F4E235D5D20}"/>
              </a:ext>
            </a:extLst>
          </p:cNvPr>
          <p:cNvSpPr>
            <a:spLocks noGrp="1"/>
          </p:cNvSpPr>
          <p:nvPr>
            <p:ph type="sldNum" sz="quarter" idx="12"/>
          </p:nvPr>
        </p:nvSpPr>
        <p:spPr/>
        <p:txBody>
          <a:bodyPr/>
          <a:lstStyle/>
          <a:p>
            <a:fld id="{45CA964B-B8B5-4404-ADB9-CBB2121E234F}" type="slidenum">
              <a:rPr lang="en-US" smtClean="0"/>
              <a:t>22</a:t>
            </a:fld>
            <a:endParaRPr lang="en-US"/>
          </a:p>
        </p:txBody>
      </p:sp>
      <p:sp>
        <p:nvSpPr>
          <p:cNvPr id="5" name="Rectangle 4">
            <a:extLst>
              <a:ext uri="{FF2B5EF4-FFF2-40B4-BE49-F238E27FC236}">
                <a16:creationId xmlns:a16="http://schemas.microsoft.com/office/drawing/2014/main" id="{61763B4E-068B-439D-A99C-80736969116B}"/>
              </a:ext>
            </a:extLst>
          </p:cNvPr>
          <p:cNvSpPr/>
          <p:nvPr/>
        </p:nvSpPr>
        <p:spPr>
          <a:xfrm>
            <a:off x="516192" y="769632"/>
            <a:ext cx="6504039"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5BBED46-18C5-412F-9EA4-1A094911F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7162" y="2961939"/>
            <a:ext cx="1524132" cy="536494"/>
          </a:xfrm>
          <a:prstGeom prst="rect">
            <a:avLst/>
          </a:prstGeom>
        </p:spPr>
      </p:pic>
      <p:pic>
        <p:nvPicPr>
          <p:cNvPr id="9" name="Picture 8">
            <a:extLst>
              <a:ext uri="{FF2B5EF4-FFF2-40B4-BE49-F238E27FC236}">
                <a16:creationId xmlns:a16="http://schemas.microsoft.com/office/drawing/2014/main" id="{C1657815-76B2-458D-BD73-A29AE93FCC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9577" y="1674133"/>
            <a:ext cx="1810669" cy="536494"/>
          </a:xfrm>
          <a:prstGeom prst="rect">
            <a:avLst/>
          </a:prstGeom>
        </p:spPr>
      </p:pic>
      <p:pic>
        <p:nvPicPr>
          <p:cNvPr id="11" name="Picture 10">
            <a:extLst>
              <a:ext uri="{FF2B5EF4-FFF2-40B4-BE49-F238E27FC236}">
                <a16:creationId xmlns:a16="http://schemas.microsoft.com/office/drawing/2014/main" id="{98BA39E3-D24B-4517-8848-F369637662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325" y="3689933"/>
            <a:ext cx="3493311" cy="536494"/>
          </a:xfrm>
          <a:prstGeom prst="rect">
            <a:avLst/>
          </a:prstGeom>
        </p:spPr>
      </p:pic>
      <p:pic>
        <p:nvPicPr>
          <p:cNvPr id="13" name="Picture 12">
            <a:extLst>
              <a:ext uri="{FF2B5EF4-FFF2-40B4-BE49-F238E27FC236}">
                <a16:creationId xmlns:a16="http://schemas.microsoft.com/office/drawing/2014/main" id="{BC71C386-4C30-4541-861F-E12FF99985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47162" y="2287267"/>
            <a:ext cx="2487384" cy="536494"/>
          </a:xfrm>
          <a:prstGeom prst="rect">
            <a:avLst/>
          </a:prstGeom>
        </p:spPr>
      </p:pic>
    </p:spTree>
    <p:extLst>
      <p:ext uri="{BB962C8B-B14F-4D97-AF65-F5344CB8AC3E}">
        <p14:creationId xmlns:p14="http://schemas.microsoft.com/office/powerpoint/2010/main" val="2239167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724D7D-F989-44EF-93DF-06AB038F9BE8}"/>
              </a:ext>
            </a:extLst>
          </p:cNvPr>
          <p:cNvSpPr>
            <a:spLocks noGrp="1"/>
          </p:cNvSpPr>
          <p:nvPr>
            <p:ph type="title"/>
          </p:nvPr>
        </p:nvSpPr>
        <p:spPr/>
        <p:txBody>
          <a:bodyPr/>
          <a:lstStyle/>
          <a:p>
            <a:r>
              <a:rPr lang="en-US"/>
              <a:t>Ví dụ</a:t>
            </a:r>
          </a:p>
        </p:txBody>
      </p:sp>
      <p:sp>
        <p:nvSpPr>
          <p:cNvPr id="3" name="Footer Placeholder 2">
            <a:extLst>
              <a:ext uri="{FF2B5EF4-FFF2-40B4-BE49-F238E27FC236}">
                <a16:creationId xmlns:a16="http://schemas.microsoft.com/office/drawing/2014/main" id="{E460D203-4352-4FDE-AF00-34EFF60F5610}"/>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BF655EBB-4E94-4587-B902-CBFBBC9B3E4E}"/>
              </a:ext>
            </a:extLst>
          </p:cNvPr>
          <p:cNvSpPr>
            <a:spLocks noGrp="1"/>
          </p:cNvSpPr>
          <p:nvPr>
            <p:ph type="sldNum" sz="quarter" idx="12"/>
          </p:nvPr>
        </p:nvSpPr>
        <p:spPr/>
        <p:txBody>
          <a:bodyPr/>
          <a:lstStyle/>
          <a:p>
            <a:fld id="{45CA964B-B8B5-4404-ADB9-CBB2121E234F}" type="slidenum">
              <a:rPr lang="en-US" smtClean="0"/>
              <a:t>23</a:t>
            </a:fld>
            <a:endParaRPr lang="en-US"/>
          </a:p>
        </p:txBody>
      </p:sp>
      <p:sp>
        <p:nvSpPr>
          <p:cNvPr id="6" name="Text Placeholder 5">
            <a:extLst>
              <a:ext uri="{FF2B5EF4-FFF2-40B4-BE49-F238E27FC236}">
                <a16:creationId xmlns:a16="http://schemas.microsoft.com/office/drawing/2014/main" id="{07D21683-BAD3-4CF9-BB4C-E70A82E14A07}"/>
              </a:ext>
            </a:extLst>
          </p:cNvPr>
          <p:cNvSpPr>
            <a:spLocks noGrp="1"/>
          </p:cNvSpPr>
          <p:nvPr>
            <p:ph type="body" sz="quarter" idx="13"/>
          </p:nvPr>
        </p:nvSpPr>
        <p:spPr/>
        <p:txBody>
          <a:bodyPr>
            <a:noAutofit/>
          </a:bodyPr>
          <a:lstStyle/>
          <a:p>
            <a:r>
              <a:rPr lang="it-IT">
                <a:solidFill>
                  <a:srgbClr val="008000"/>
                </a:solidFill>
              </a:rPr>
              <a:t>//In gia tri cua cac bien</a:t>
            </a:r>
            <a:endParaRPr lang="it-IT">
              <a:solidFill>
                <a:srgbClr val="000000"/>
              </a:solidFill>
            </a:endParaRPr>
          </a:p>
          <a:p>
            <a:r>
              <a:rPr lang="en-US">
                <a:solidFill>
                  <a:schemeClr val="tx1">
                    <a:lumMod val="50000"/>
                    <a:lumOff val="50000"/>
                  </a:schemeClr>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int</a:t>
            </a:r>
            <a:r>
              <a:rPr lang="en-US">
                <a:solidFill>
                  <a:srgbClr val="000000"/>
                </a:solidFill>
              </a:rPr>
              <a:t> soTao = 5;</a:t>
            </a:r>
          </a:p>
          <a:p>
            <a:r>
              <a:rPr lang="en-US">
                <a:solidFill>
                  <a:srgbClr val="000000"/>
                </a:solidFill>
              </a:rPr>
              <a:t>    </a:t>
            </a:r>
            <a:r>
              <a:rPr lang="en-US">
                <a:solidFill>
                  <a:srgbClr val="0000FF"/>
                </a:solidFill>
              </a:rPr>
              <a:t>int</a:t>
            </a:r>
            <a:r>
              <a:rPr lang="en-US">
                <a:solidFill>
                  <a:srgbClr val="000000"/>
                </a:solidFill>
              </a:rPr>
              <a:t> soCam = 20;</a:t>
            </a:r>
          </a:p>
          <a:p>
            <a:r>
              <a:rPr lang="en-US">
                <a:solidFill>
                  <a:srgbClr val="000000"/>
                </a:solidFill>
              </a:rPr>
              <a:t>    </a:t>
            </a:r>
            <a:r>
              <a:rPr lang="en-US">
                <a:solidFill>
                  <a:srgbClr val="0000FF"/>
                </a:solidFill>
              </a:rPr>
              <a:t>int</a:t>
            </a:r>
            <a:r>
              <a:rPr lang="en-US">
                <a:solidFill>
                  <a:srgbClr val="000000"/>
                </a:solidFill>
              </a:rPr>
              <a:t> tongcong = soTao + soCam;</a:t>
            </a:r>
          </a:p>
          <a:p>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"So trai tao: "</a:t>
            </a:r>
            <a:r>
              <a:rPr lang="en-US">
                <a:solidFill>
                  <a:srgbClr val="000000"/>
                </a:solidFill>
              </a:rPr>
              <a:t> </a:t>
            </a:r>
            <a:r>
              <a:rPr lang="en-US">
                <a:solidFill>
                  <a:srgbClr val="008080"/>
                </a:solidFill>
              </a:rPr>
              <a:t>&lt;&lt;</a:t>
            </a:r>
            <a:r>
              <a:rPr lang="en-US">
                <a:solidFill>
                  <a:srgbClr val="000000"/>
                </a:solidFill>
              </a:rPr>
              <a:t> soTao </a:t>
            </a:r>
            <a:r>
              <a:rPr lang="en-US">
                <a:solidFill>
                  <a:srgbClr val="008080"/>
                </a:solidFill>
              </a:rPr>
              <a:t>&lt;&lt;</a:t>
            </a:r>
            <a:r>
              <a:rPr lang="en-US">
                <a:solidFill>
                  <a:srgbClr val="000000"/>
                </a:solidFill>
              </a:rPr>
              <a:t> endl;</a:t>
            </a:r>
          </a:p>
          <a:p>
            <a:r>
              <a:rPr lang="pt-BR">
                <a:solidFill>
                  <a:srgbClr val="000000"/>
                </a:solidFill>
              </a:rPr>
              <a:t>    cout </a:t>
            </a:r>
            <a:r>
              <a:rPr lang="pt-BR">
                <a:solidFill>
                  <a:srgbClr val="008080"/>
                </a:solidFill>
              </a:rPr>
              <a:t>&lt;&lt;</a:t>
            </a:r>
            <a:r>
              <a:rPr lang="pt-BR">
                <a:solidFill>
                  <a:srgbClr val="000000"/>
                </a:solidFill>
              </a:rPr>
              <a:t> </a:t>
            </a:r>
            <a:r>
              <a:rPr lang="pt-BR">
                <a:solidFill>
                  <a:srgbClr val="A31515"/>
                </a:solidFill>
              </a:rPr>
              <a:t>"So trai tao: "</a:t>
            </a:r>
            <a:r>
              <a:rPr lang="pt-BR">
                <a:solidFill>
                  <a:srgbClr val="000000"/>
                </a:solidFill>
              </a:rPr>
              <a:t> </a:t>
            </a:r>
            <a:r>
              <a:rPr lang="pt-BR">
                <a:solidFill>
                  <a:srgbClr val="008080"/>
                </a:solidFill>
              </a:rPr>
              <a:t>&lt;&lt;</a:t>
            </a:r>
            <a:r>
              <a:rPr lang="pt-BR">
                <a:solidFill>
                  <a:srgbClr val="000000"/>
                </a:solidFill>
              </a:rPr>
              <a:t> soCam </a:t>
            </a:r>
            <a:r>
              <a:rPr lang="pt-BR">
                <a:solidFill>
                  <a:srgbClr val="008080"/>
                </a:solidFill>
              </a:rPr>
              <a:t>&lt;&lt;</a:t>
            </a:r>
            <a:r>
              <a:rPr lang="pt-BR">
                <a:solidFill>
                  <a:srgbClr val="000000"/>
                </a:solidFill>
              </a:rPr>
              <a:t> endl;</a:t>
            </a: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"Tong cong: "</a:t>
            </a:r>
            <a:r>
              <a:rPr lang="en-US">
                <a:solidFill>
                  <a:srgbClr val="000000"/>
                </a:solidFill>
              </a:rPr>
              <a:t> </a:t>
            </a:r>
            <a:r>
              <a:rPr lang="en-US">
                <a:solidFill>
                  <a:srgbClr val="008080"/>
                </a:solidFill>
              </a:rPr>
              <a:t>&lt;&lt;</a:t>
            </a:r>
            <a:r>
              <a:rPr lang="en-US">
                <a:solidFill>
                  <a:srgbClr val="000000"/>
                </a:solidFill>
              </a:rPr>
              <a:t> tongcong </a:t>
            </a:r>
            <a:r>
              <a:rPr lang="en-US">
                <a:solidFill>
                  <a:srgbClr val="008080"/>
                </a:solidFill>
              </a:rPr>
              <a:t>&lt;&lt;</a:t>
            </a:r>
            <a:r>
              <a:rPr lang="en-US">
                <a:solidFill>
                  <a:srgbClr val="000000"/>
                </a:solidFill>
              </a:rPr>
              <a:t> endl;</a:t>
            </a: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1733542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3421F-AEF2-41C2-BF15-200859CE11B5}"/>
              </a:ext>
            </a:extLst>
          </p:cNvPr>
          <p:cNvSpPr>
            <a:spLocks noGrp="1"/>
          </p:cNvSpPr>
          <p:nvPr>
            <p:ph type="title"/>
          </p:nvPr>
        </p:nvSpPr>
        <p:spPr/>
        <p:txBody>
          <a:bodyPr/>
          <a:lstStyle/>
          <a:p>
            <a:r>
              <a:rPr lang="en-US"/>
              <a:t>Một số lỗi th</a:t>
            </a:r>
            <a:r>
              <a:rPr lang="vi-VN"/>
              <a:t>ư</a:t>
            </a:r>
            <a:r>
              <a:rPr lang="en-US"/>
              <a:t>ờng gặp</a:t>
            </a:r>
          </a:p>
        </p:txBody>
      </p:sp>
      <p:sp>
        <p:nvSpPr>
          <p:cNvPr id="6" name="Content Placeholder 5">
            <a:extLst>
              <a:ext uri="{FF2B5EF4-FFF2-40B4-BE49-F238E27FC236}">
                <a16:creationId xmlns:a16="http://schemas.microsoft.com/office/drawing/2014/main" id="{6F091146-2CF5-4DCE-8361-741C691C2BBD}"/>
              </a:ext>
            </a:extLst>
          </p:cNvPr>
          <p:cNvSpPr>
            <a:spLocks noGrp="1"/>
          </p:cNvSpPr>
          <p:nvPr>
            <p:ph idx="1"/>
          </p:nvPr>
        </p:nvSpPr>
        <p:spPr/>
        <p:txBody>
          <a:bodyPr/>
          <a:lstStyle/>
          <a:p>
            <a:r>
              <a:rPr lang="vi-VN"/>
              <a:t>Sử dụng biến chưa khai báo.</a:t>
            </a:r>
          </a:p>
          <a:p>
            <a:pPr lvl="4"/>
            <a:r>
              <a:rPr lang="vi-VN"/>
              <a:t>double x = 12 * y; //loi vi bien y chua khai bao </a:t>
            </a:r>
            <a:endParaRPr lang="en-US"/>
          </a:p>
          <a:p>
            <a:pPr lvl="4"/>
            <a:r>
              <a:rPr lang="vi-VN"/>
              <a:t>double y = 0.0296; </a:t>
            </a:r>
            <a:endParaRPr lang="en-US"/>
          </a:p>
          <a:p>
            <a:pPr lvl="4"/>
            <a:r>
              <a:rPr lang="vi-VN"/>
              <a:t>  </a:t>
            </a:r>
            <a:endParaRPr lang="en-US"/>
          </a:p>
          <a:p>
            <a:r>
              <a:rPr lang="vi-VN"/>
              <a:t>Sử dụng biến chưa được khởi tạo giá trị.</a:t>
            </a:r>
          </a:p>
          <a:p>
            <a:pPr lvl="4"/>
            <a:r>
              <a:rPr lang="vi-VN"/>
              <a:t>double x; </a:t>
            </a:r>
            <a:endParaRPr lang="en-US"/>
          </a:p>
          <a:p>
            <a:pPr lvl="4"/>
            <a:r>
              <a:rPr lang="vi-VN"/>
              <a:t>double y = x * 2;</a:t>
            </a:r>
            <a:endParaRPr lang="en-US"/>
          </a:p>
          <a:p>
            <a:pPr lvl="4"/>
            <a:endParaRPr lang="vi-VN"/>
          </a:p>
          <a:p>
            <a:r>
              <a:rPr lang="vi-VN"/>
              <a:t>Gán giá trị khác kiểu cho biến. </a:t>
            </a:r>
            <a:endParaRPr lang="en-US"/>
          </a:p>
          <a:p>
            <a:pPr lvl="4"/>
            <a:r>
              <a:rPr lang="vi-VN"/>
              <a:t>string hoten = 39; //loi </a:t>
            </a:r>
            <a:endParaRPr lang="en-US"/>
          </a:p>
          <a:p>
            <a:pPr lvl="4"/>
            <a:r>
              <a:rPr lang="vi-VN"/>
              <a:t>int n = "Hoai Thu"; //loi</a:t>
            </a:r>
          </a:p>
          <a:p>
            <a:endParaRPr lang="en-US"/>
          </a:p>
        </p:txBody>
      </p:sp>
      <p:sp>
        <p:nvSpPr>
          <p:cNvPr id="3" name="Footer Placeholder 2">
            <a:extLst>
              <a:ext uri="{FF2B5EF4-FFF2-40B4-BE49-F238E27FC236}">
                <a16:creationId xmlns:a16="http://schemas.microsoft.com/office/drawing/2014/main" id="{5DC80EF7-D715-4B1C-9433-81DD816FC73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F1D2A6F2-D621-4A40-8F1F-E0ED8E4A2634}"/>
              </a:ext>
            </a:extLst>
          </p:cNvPr>
          <p:cNvSpPr>
            <a:spLocks noGrp="1"/>
          </p:cNvSpPr>
          <p:nvPr>
            <p:ph type="sldNum" sz="quarter" idx="12"/>
          </p:nvPr>
        </p:nvSpPr>
        <p:spPr/>
        <p:txBody>
          <a:bodyPr/>
          <a:lstStyle/>
          <a:p>
            <a:fld id="{45CA964B-B8B5-4404-ADB9-CBB2121E234F}" type="slidenum">
              <a:rPr lang="en-US" smtClean="0"/>
              <a:t>24</a:t>
            </a:fld>
            <a:endParaRPr lang="en-US"/>
          </a:p>
        </p:txBody>
      </p:sp>
    </p:spTree>
    <p:extLst>
      <p:ext uri="{BB962C8B-B14F-4D97-AF65-F5344CB8AC3E}">
        <p14:creationId xmlns:p14="http://schemas.microsoft.com/office/powerpoint/2010/main" val="2268154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E9C4-A56B-4C6F-BAFC-C7B5A8669E78}"/>
              </a:ext>
            </a:extLst>
          </p:cNvPr>
          <p:cNvSpPr>
            <a:spLocks noGrp="1"/>
          </p:cNvSpPr>
          <p:nvPr>
            <p:ph type="title"/>
          </p:nvPr>
        </p:nvSpPr>
        <p:spPr/>
        <p:txBody>
          <a:bodyPr/>
          <a:lstStyle/>
          <a:p>
            <a:r>
              <a:rPr lang="en-US"/>
              <a:t>Hằng</a:t>
            </a:r>
          </a:p>
        </p:txBody>
      </p:sp>
      <p:sp>
        <p:nvSpPr>
          <p:cNvPr id="3" name="Content Placeholder 2">
            <a:extLst>
              <a:ext uri="{FF2B5EF4-FFF2-40B4-BE49-F238E27FC236}">
                <a16:creationId xmlns:a16="http://schemas.microsoft.com/office/drawing/2014/main" id="{43C5D575-34E1-46F6-953E-0AAC35139B2E}"/>
              </a:ext>
            </a:extLst>
          </p:cNvPr>
          <p:cNvSpPr>
            <a:spLocks noGrp="1"/>
          </p:cNvSpPr>
          <p:nvPr>
            <p:ph idx="1"/>
          </p:nvPr>
        </p:nvSpPr>
        <p:spPr/>
        <p:txBody>
          <a:bodyPr/>
          <a:lstStyle/>
          <a:p>
            <a:pPr algn="just"/>
            <a:r>
              <a:rPr lang="vi-VN" dirty="0">
                <a:solidFill>
                  <a:srgbClr val="0000FF"/>
                </a:solidFill>
              </a:rPr>
              <a:t>Hằng</a:t>
            </a:r>
            <a:r>
              <a:rPr lang="vi-VN" dirty="0"/>
              <a:t> (named constant) là một vùng nhớ dùng để lưu trữ một giá trị dữ liệu không thay đổi trong suốt thời gian chương trình thực thi.</a:t>
            </a:r>
          </a:p>
          <a:p>
            <a:r>
              <a:rPr lang="vi-VN" dirty="0"/>
              <a:t>Cú pháp định nghĩa hằng:</a:t>
            </a:r>
          </a:p>
          <a:p>
            <a:pPr lvl="4">
              <a:spcBef>
                <a:spcPts val="600"/>
              </a:spcBef>
              <a:spcAft>
                <a:spcPts val="600"/>
              </a:spcAft>
            </a:pPr>
            <a:r>
              <a:rPr lang="vi-VN" dirty="0"/>
              <a:t>const dataType constantName = value;</a:t>
            </a:r>
          </a:p>
          <a:p>
            <a:pPr lvl="1"/>
            <a:r>
              <a:rPr lang="vi-VN" dirty="0">
                <a:latin typeface="Consolas" panose="020B0609020204030204" pitchFamily="49" charset="0"/>
              </a:rPr>
              <a:t>dataType</a:t>
            </a:r>
            <a:r>
              <a:rPr lang="vi-VN" dirty="0"/>
              <a:t>: kiểu dữ liệu </a:t>
            </a:r>
            <a:endParaRPr lang="en-US" dirty="0"/>
          </a:p>
          <a:p>
            <a:pPr lvl="1" algn="just"/>
            <a:r>
              <a:rPr lang="vi-VN" dirty="0">
                <a:latin typeface="Consolas" panose="020B0609020204030204" pitchFamily="49" charset="0"/>
              </a:rPr>
              <a:t>constantName</a:t>
            </a:r>
            <a:r>
              <a:rPr lang="vi-VN" dirty="0"/>
              <a:t>: tên hằng (theo luật đặt tên của C++), thường dùng chữ in hoa.</a:t>
            </a:r>
          </a:p>
          <a:p>
            <a:pPr lvl="1"/>
            <a:r>
              <a:rPr lang="vi-VN" dirty="0">
                <a:latin typeface="Consolas" panose="020B0609020204030204" pitchFamily="49" charset="0"/>
              </a:rPr>
              <a:t>value</a:t>
            </a:r>
            <a:r>
              <a:rPr lang="vi-VN" dirty="0"/>
              <a:t>: giá trị phù hợp với kiểu dữ liệu. </a:t>
            </a:r>
            <a:endParaRPr lang="en-US" dirty="0"/>
          </a:p>
          <a:p>
            <a:r>
              <a:rPr lang="vi-VN" dirty="0"/>
              <a:t>Ví dụ:</a:t>
            </a:r>
          </a:p>
          <a:p>
            <a:pPr lvl="4"/>
            <a:r>
              <a:rPr lang="vi-VN" dirty="0"/>
              <a:t>const double PI = 3.141593; </a:t>
            </a:r>
            <a:endParaRPr lang="en-US" dirty="0"/>
          </a:p>
          <a:p>
            <a:pPr lvl="4"/>
            <a:r>
              <a:rPr lang="vi-VN" dirty="0"/>
              <a:t>const double CM_PER_INCH = 2.54; </a:t>
            </a:r>
            <a:endParaRPr lang="en-US" dirty="0"/>
          </a:p>
          <a:p>
            <a:pPr lvl="4"/>
            <a:r>
              <a:rPr lang="vi-VN" dirty="0"/>
              <a:t>const int SISO = 20; </a:t>
            </a:r>
            <a:endParaRPr lang="en-US" dirty="0"/>
          </a:p>
          <a:p>
            <a:pPr lvl="4"/>
            <a:r>
              <a:rPr lang="vi-VN" dirty="0"/>
              <a:t>const char BLANK = ' ';</a:t>
            </a:r>
          </a:p>
          <a:p>
            <a:endParaRPr lang="en-US" dirty="0"/>
          </a:p>
        </p:txBody>
      </p:sp>
      <p:sp>
        <p:nvSpPr>
          <p:cNvPr id="4" name="Footer Placeholder 3">
            <a:extLst>
              <a:ext uri="{FF2B5EF4-FFF2-40B4-BE49-F238E27FC236}">
                <a16:creationId xmlns:a16="http://schemas.microsoft.com/office/drawing/2014/main" id="{77B6CCBA-4E60-4B72-9192-E505739ACFF2}"/>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21917B9F-2B01-4249-87E2-F40A0A358610}"/>
              </a:ext>
            </a:extLst>
          </p:cNvPr>
          <p:cNvSpPr>
            <a:spLocks noGrp="1"/>
          </p:cNvSpPr>
          <p:nvPr>
            <p:ph type="sldNum" sz="quarter" idx="12"/>
          </p:nvPr>
        </p:nvSpPr>
        <p:spPr/>
        <p:txBody>
          <a:bodyPr/>
          <a:lstStyle/>
          <a:p>
            <a:fld id="{45CA964B-B8B5-4404-ADB9-CBB2121E234F}" type="slidenum">
              <a:rPr lang="en-US" smtClean="0"/>
              <a:t>25</a:t>
            </a:fld>
            <a:endParaRPr lang="en-US"/>
          </a:p>
        </p:txBody>
      </p:sp>
      <p:sp>
        <p:nvSpPr>
          <p:cNvPr id="6" name="Rectangle 5">
            <a:extLst>
              <a:ext uri="{FF2B5EF4-FFF2-40B4-BE49-F238E27FC236}">
                <a16:creationId xmlns:a16="http://schemas.microsoft.com/office/drawing/2014/main" id="{5464B7B2-0012-4A50-A94B-D193FACFC5AA}"/>
              </a:ext>
            </a:extLst>
          </p:cNvPr>
          <p:cNvSpPr/>
          <p:nvPr/>
        </p:nvSpPr>
        <p:spPr>
          <a:xfrm>
            <a:off x="516193" y="2642678"/>
            <a:ext cx="6209072"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9625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EF58C-6631-4E4B-A1CA-631BEEB1E2DC}"/>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CA9B277F-D103-489B-BDF2-E47BDA2CD30F}"/>
              </a:ext>
            </a:extLst>
          </p:cNvPr>
          <p:cNvSpPr>
            <a:spLocks noGrp="1"/>
          </p:cNvSpPr>
          <p:nvPr>
            <p:ph idx="1"/>
          </p:nvPr>
        </p:nvSpPr>
        <p:spPr/>
        <p:txBody>
          <a:bodyPr>
            <a:noAutofit/>
          </a:bodyPr>
          <a:lstStyle/>
          <a:p>
            <a:r>
              <a:rPr lang="vi-VN"/>
              <a:t>Cho lưu đồ IPO như sau:</a:t>
            </a:r>
            <a:endParaRPr lang="en-US"/>
          </a:p>
          <a:p>
            <a:pPr lvl="2"/>
            <a:endParaRPr lang="en-US"/>
          </a:p>
          <a:p>
            <a:pPr lvl="2"/>
            <a:endParaRPr lang="en-US"/>
          </a:p>
          <a:p>
            <a:pPr lvl="2"/>
            <a:endParaRPr lang="en-US"/>
          </a:p>
          <a:p>
            <a:pPr lvl="2"/>
            <a:endParaRPr lang="en-US"/>
          </a:p>
          <a:p>
            <a:pPr lvl="2"/>
            <a:endParaRPr lang="en-US"/>
          </a:p>
          <a:p>
            <a:pPr lvl="2"/>
            <a:endParaRPr lang="en-US"/>
          </a:p>
          <a:p>
            <a:pPr lvl="2"/>
            <a:endParaRPr lang="en-US"/>
          </a:p>
          <a:p>
            <a:pPr lvl="2"/>
            <a:endParaRPr lang="en-US"/>
          </a:p>
          <a:p>
            <a:pPr lvl="2"/>
            <a:endParaRPr lang="en-US"/>
          </a:p>
          <a:p>
            <a:pPr lvl="1"/>
            <a:r>
              <a:rPr lang="vi-VN"/>
              <a:t>Hãy cho biết cần có bao nhiêu biến, bao nhiêu hằng.</a:t>
            </a:r>
          </a:p>
          <a:p>
            <a:pPr lvl="1"/>
            <a:r>
              <a:rPr lang="en-US"/>
              <a:t>V</a:t>
            </a:r>
            <a:r>
              <a:rPr lang="vi-VN"/>
              <a:t>iết khai báo số lượng bán có kiểu int, các dữ liệu còn lại có kiểu double.</a:t>
            </a:r>
          </a:p>
        </p:txBody>
      </p:sp>
      <p:sp>
        <p:nvSpPr>
          <p:cNvPr id="4" name="Footer Placeholder 3">
            <a:extLst>
              <a:ext uri="{FF2B5EF4-FFF2-40B4-BE49-F238E27FC236}">
                <a16:creationId xmlns:a16="http://schemas.microsoft.com/office/drawing/2014/main" id="{3573BD70-9FC8-4A67-88CB-3F356E1DCF83}"/>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4145F076-2DF0-4D7F-A693-523D39435ED8}"/>
              </a:ext>
            </a:extLst>
          </p:cNvPr>
          <p:cNvSpPr>
            <a:spLocks noGrp="1"/>
          </p:cNvSpPr>
          <p:nvPr>
            <p:ph type="sldNum" sz="quarter" idx="12"/>
          </p:nvPr>
        </p:nvSpPr>
        <p:spPr/>
        <p:txBody>
          <a:bodyPr/>
          <a:lstStyle/>
          <a:p>
            <a:fld id="{45CA964B-B8B5-4404-ADB9-CBB2121E234F}" type="slidenum">
              <a:rPr lang="en-US" smtClean="0"/>
              <a:t>26</a:t>
            </a:fld>
            <a:endParaRPr lang="en-US"/>
          </a:p>
        </p:txBody>
      </p:sp>
      <p:graphicFrame>
        <p:nvGraphicFramePr>
          <p:cNvPr id="6" name="Table 5">
            <a:extLst>
              <a:ext uri="{FF2B5EF4-FFF2-40B4-BE49-F238E27FC236}">
                <a16:creationId xmlns:a16="http://schemas.microsoft.com/office/drawing/2014/main" id="{61D44239-3130-4C3F-80E9-DBBF3CA9C44D}"/>
              </a:ext>
            </a:extLst>
          </p:cNvPr>
          <p:cNvGraphicFramePr>
            <a:graphicFrameLocks noGrp="1"/>
          </p:cNvGraphicFramePr>
          <p:nvPr>
            <p:extLst>
              <p:ext uri="{D42A27DB-BD31-4B8C-83A1-F6EECF244321}">
                <p14:modId xmlns:p14="http://schemas.microsoft.com/office/powerpoint/2010/main" val="10763063"/>
              </p:ext>
            </p:extLst>
          </p:nvPr>
        </p:nvGraphicFramePr>
        <p:xfrm>
          <a:off x="300251" y="1571239"/>
          <a:ext cx="8523709" cy="3509972"/>
        </p:xfrm>
        <a:graphic>
          <a:graphicData uri="http://schemas.openxmlformats.org/drawingml/2006/table">
            <a:tbl>
              <a:tblPr firstRow="1">
                <a:tableStyleId>{5940675A-B579-460E-94D1-54222C63F5DA}</a:tableStyleId>
              </a:tblPr>
              <a:tblGrid>
                <a:gridCol w="2044743">
                  <a:extLst>
                    <a:ext uri="{9D8B030D-6E8A-4147-A177-3AD203B41FA5}">
                      <a16:colId xmlns:a16="http://schemas.microsoft.com/office/drawing/2014/main" val="2935907536"/>
                    </a:ext>
                  </a:extLst>
                </a:gridCol>
                <a:gridCol w="5126436">
                  <a:extLst>
                    <a:ext uri="{9D8B030D-6E8A-4147-A177-3AD203B41FA5}">
                      <a16:colId xmlns:a16="http://schemas.microsoft.com/office/drawing/2014/main" val="2804856273"/>
                    </a:ext>
                  </a:extLst>
                </a:gridCol>
                <a:gridCol w="1352530">
                  <a:extLst>
                    <a:ext uri="{9D8B030D-6E8A-4147-A177-3AD203B41FA5}">
                      <a16:colId xmlns:a16="http://schemas.microsoft.com/office/drawing/2014/main" val="2941926442"/>
                    </a:ext>
                  </a:extLst>
                </a:gridCol>
              </a:tblGrid>
              <a:tr h="372691">
                <a:tc>
                  <a:txBody>
                    <a:bodyPr/>
                    <a:lstStyle/>
                    <a:p>
                      <a:pPr marL="78740" marR="0">
                        <a:lnSpc>
                          <a:spcPct val="90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5176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90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5176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90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5176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0137223"/>
                  </a:ext>
                </a:extLst>
              </a:tr>
              <a:tr h="2724470">
                <a:tc>
                  <a:txBody>
                    <a:bodyPr/>
                    <a:lstStyle/>
                    <a:p>
                      <a:pPr marL="78740" marR="6350">
                        <a:lnSpc>
                          <a:spcPct val="90000"/>
                        </a:lnSpc>
                        <a:spcBef>
                          <a:spcPts val="0"/>
                        </a:spcBef>
                        <a:spcAft>
                          <a:spcPts val="0"/>
                        </a:spcAft>
                      </a:pPr>
                      <a:r>
                        <a:rPr lang="en-US" sz="2400">
                          <a:effectLst/>
                        </a:rPr>
                        <a:t>số lượng bán, </a:t>
                      </a:r>
                    </a:p>
                    <a:p>
                      <a:pPr marL="78740" marR="6350">
                        <a:lnSpc>
                          <a:spcPct val="90000"/>
                        </a:lnSpc>
                        <a:spcBef>
                          <a:spcPts val="0"/>
                        </a:spcBef>
                        <a:spcAft>
                          <a:spcPts val="0"/>
                        </a:spcAft>
                      </a:pPr>
                      <a:r>
                        <a:rPr lang="en-US" sz="2400">
                          <a:effectLst/>
                        </a:rPr>
                        <a:t>giá mua, </a:t>
                      </a:r>
                    </a:p>
                    <a:p>
                      <a:pPr marL="78740" marR="6350">
                        <a:lnSpc>
                          <a:spcPct val="90000"/>
                        </a:lnSpc>
                        <a:spcBef>
                          <a:spcPts val="0"/>
                        </a:spcBef>
                        <a:spcAft>
                          <a:spcPts val="0"/>
                        </a:spcAft>
                      </a:pPr>
                      <a:r>
                        <a:rPr lang="en-US" sz="2400">
                          <a:effectLst/>
                        </a:rPr>
                        <a:t>giá bán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5176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90000"/>
                        </a:lnSpc>
                        <a:spcBef>
                          <a:spcPts val="0"/>
                        </a:spcBef>
                        <a:spcAft>
                          <a:spcPts val="1080"/>
                        </a:spcAft>
                      </a:pPr>
                      <a:r>
                        <a:rPr lang="en-US" sz="2400" i="1" dirty="0">
                          <a:effectLst/>
                        </a:rPr>
                        <a:t>Processing items</a:t>
                      </a:r>
                      <a:r>
                        <a:rPr lang="en-US" sz="2400" dirty="0">
                          <a:effectLst/>
                        </a:rPr>
                        <a:t>: </a:t>
                      </a:r>
                      <a:r>
                        <a:rPr lang="en-US" sz="2400" dirty="0" err="1">
                          <a:effectLst/>
                        </a:rPr>
                        <a:t>tiền</a:t>
                      </a:r>
                      <a:r>
                        <a:rPr lang="en-US" sz="2400" dirty="0">
                          <a:effectLst/>
                        </a:rPr>
                        <a:t> </a:t>
                      </a:r>
                      <a:r>
                        <a:rPr lang="en-US" sz="2400" dirty="0" err="1">
                          <a:effectLst/>
                        </a:rPr>
                        <a:t>chênh</a:t>
                      </a:r>
                      <a:r>
                        <a:rPr lang="en-US" sz="2400" dirty="0">
                          <a:effectLst/>
                        </a:rPr>
                        <a:t> </a:t>
                      </a:r>
                      <a:r>
                        <a:rPr lang="en-US" sz="2400" dirty="0" err="1">
                          <a:effectLst/>
                        </a:rPr>
                        <a:t>lệch</a:t>
                      </a:r>
                      <a:endParaRPr lang="en-US" sz="2400" dirty="0">
                        <a:effectLst/>
                      </a:endParaRPr>
                    </a:p>
                    <a:p>
                      <a:pPr marL="0" marR="0">
                        <a:lnSpc>
                          <a:spcPct val="90000"/>
                        </a:lnSpc>
                        <a:spcBef>
                          <a:spcPts val="0"/>
                        </a:spcBef>
                        <a:spcAft>
                          <a:spcPts val="0"/>
                        </a:spcAft>
                      </a:pPr>
                      <a:r>
                        <a:rPr lang="en-US" sz="2400" i="1" dirty="0">
                          <a:effectLst/>
                        </a:rPr>
                        <a:t>Algorithm</a:t>
                      </a:r>
                      <a:r>
                        <a:rPr lang="en-US" sz="2400" dirty="0">
                          <a:effectLst/>
                        </a:rPr>
                        <a:t>:</a:t>
                      </a:r>
                    </a:p>
                    <a:p>
                      <a:pPr marL="0" marR="0" lvl="0" indent="0" fontAlgn="base">
                        <a:lnSpc>
                          <a:spcPct val="90000"/>
                        </a:lnSpc>
                        <a:spcBef>
                          <a:spcPts val="0"/>
                        </a:spcBef>
                        <a:spcAft>
                          <a:spcPts val="0"/>
                        </a:spcAft>
                        <a:buClr>
                          <a:srgbClr val="000000"/>
                        </a:buClr>
                        <a:buSzPts val="1000"/>
                        <a:buFont typeface="+mj-lt"/>
                        <a:buNone/>
                      </a:pPr>
                      <a:r>
                        <a:rPr lang="en-US" sz="2400" u="none" strike="noStrike" dirty="0">
                          <a:effectLst/>
                          <a:uFill>
                            <a:solidFill>
                              <a:srgbClr val="000000"/>
                            </a:solidFill>
                          </a:uFill>
                        </a:rPr>
                        <a:t>1. </a:t>
                      </a:r>
                      <a:r>
                        <a:rPr lang="en-US" sz="2400" u="none" strike="noStrike" dirty="0" err="1">
                          <a:effectLst/>
                          <a:uFill>
                            <a:solidFill>
                              <a:srgbClr val="000000"/>
                            </a:solidFill>
                          </a:uFill>
                        </a:rPr>
                        <a:t>nhập</a:t>
                      </a:r>
                      <a:r>
                        <a:rPr lang="en-US" sz="2400" u="none" strike="noStrike" dirty="0">
                          <a:effectLst/>
                          <a:uFill>
                            <a:solidFill>
                              <a:srgbClr val="000000"/>
                            </a:solidFill>
                          </a:uFill>
                        </a:rPr>
                        <a:t> </a:t>
                      </a:r>
                      <a:r>
                        <a:rPr lang="en-US" sz="2400" u="none" strike="noStrike" dirty="0" err="1">
                          <a:effectLst/>
                          <a:uFill>
                            <a:solidFill>
                              <a:srgbClr val="000000"/>
                            </a:solidFill>
                          </a:uFill>
                        </a:rPr>
                        <a:t>số</a:t>
                      </a:r>
                      <a:r>
                        <a:rPr lang="en-US" sz="2400" u="none" strike="noStrike" dirty="0">
                          <a:effectLst/>
                          <a:uFill>
                            <a:solidFill>
                              <a:srgbClr val="000000"/>
                            </a:solidFill>
                          </a:uFill>
                        </a:rPr>
                        <a:t> </a:t>
                      </a:r>
                      <a:r>
                        <a:rPr lang="en-US" sz="2400" u="none" strike="noStrike" dirty="0" err="1">
                          <a:effectLst/>
                          <a:uFill>
                            <a:solidFill>
                              <a:srgbClr val="000000"/>
                            </a:solidFill>
                          </a:uFill>
                        </a:rPr>
                        <a:t>lượng</a:t>
                      </a:r>
                      <a:r>
                        <a:rPr lang="en-US" sz="2400" u="none" strike="noStrike" dirty="0">
                          <a:effectLst/>
                          <a:uFill>
                            <a:solidFill>
                              <a:srgbClr val="000000"/>
                            </a:solidFill>
                          </a:uFill>
                        </a:rPr>
                        <a:t> </a:t>
                      </a:r>
                      <a:r>
                        <a:rPr lang="en-US" sz="2400" u="none" strike="noStrike" dirty="0" err="1">
                          <a:effectLst/>
                          <a:uFill>
                            <a:solidFill>
                              <a:srgbClr val="000000"/>
                            </a:solidFill>
                          </a:uFill>
                        </a:rPr>
                        <a:t>bán</a:t>
                      </a:r>
                      <a:r>
                        <a:rPr lang="en-US" sz="2400" u="none" strike="noStrike" dirty="0">
                          <a:effectLst/>
                          <a:uFill>
                            <a:solidFill>
                              <a:srgbClr val="000000"/>
                            </a:solidFill>
                          </a:uFill>
                        </a:rPr>
                        <a:t>, </a:t>
                      </a:r>
                      <a:r>
                        <a:rPr lang="en-US" sz="2400" u="none" strike="noStrike" dirty="0" err="1">
                          <a:effectLst/>
                          <a:uFill>
                            <a:solidFill>
                              <a:srgbClr val="000000"/>
                            </a:solidFill>
                          </a:uFill>
                        </a:rPr>
                        <a:t>giá</a:t>
                      </a:r>
                      <a:r>
                        <a:rPr lang="en-US" sz="2400" u="none" strike="noStrike" dirty="0">
                          <a:effectLst/>
                          <a:uFill>
                            <a:solidFill>
                              <a:srgbClr val="000000"/>
                            </a:solidFill>
                          </a:uFill>
                        </a:rPr>
                        <a:t> </a:t>
                      </a:r>
                      <a:r>
                        <a:rPr lang="en-US" sz="2400" u="none" strike="noStrike" dirty="0" err="1">
                          <a:effectLst/>
                          <a:uFill>
                            <a:solidFill>
                              <a:srgbClr val="000000"/>
                            </a:solidFill>
                          </a:uFill>
                        </a:rPr>
                        <a:t>mua</a:t>
                      </a:r>
                      <a:r>
                        <a:rPr lang="en-US" sz="2400" u="none" strike="noStrike" dirty="0">
                          <a:effectLst/>
                          <a:uFill>
                            <a:solidFill>
                              <a:srgbClr val="000000"/>
                            </a:solidFill>
                          </a:uFill>
                        </a:rPr>
                        <a:t> </a:t>
                      </a:r>
                      <a:r>
                        <a:rPr lang="en-US" sz="2400" u="none" strike="noStrike" dirty="0" err="1">
                          <a:effectLst/>
                          <a:uFill>
                            <a:solidFill>
                              <a:srgbClr val="000000"/>
                            </a:solidFill>
                          </a:uFill>
                        </a:rPr>
                        <a:t>và</a:t>
                      </a:r>
                      <a:r>
                        <a:rPr lang="en-US" sz="2400" u="none" strike="noStrike" dirty="0">
                          <a:effectLst/>
                          <a:uFill>
                            <a:solidFill>
                              <a:srgbClr val="000000"/>
                            </a:solidFill>
                          </a:uFill>
                        </a:rPr>
                        <a:t> </a:t>
                      </a:r>
                      <a:r>
                        <a:rPr lang="en-US" sz="2400" u="none" strike="noStrike" dirty="0" err="1">
                          <a:effectLst/>
                          <a:uFill>
                            <a:solidFill>
                              <a:srgbClr val="000000"/>
                            </a:solidFill>
                          </a:uFill>
                        </a:rPr>
                        <a:t>giá</a:t>
                      </a:r>
                      <a:r>
                        <a:rPr lang="en-US" sz="2400" u="none" strike="noStrike" dirty="0">
                          <a:effectLst/>
                          <a:uFill>
                            <a:solidFill>
                              <a:srgbClr val="000000"/>
                            </a:solidFill>
                          </a:uFill>
                        </a:rPr>
                        <a:t> </a:t>
                      </a:r>
                      <a:r>
                        <a:rPr lang="en-US" sz="2400" u="none" strike="noStrike" dirty="0" err="1">
                          <a:effectLst/>
                          <a:uFill>
                            <a:solidFill>
                              <a:srgbClr val="000000"/>
                            </a:solidFill>
                          </a:uFill>
                        </a:rPr>
                        <a:t>bán</a:t>
                      </a:r>
                      <a:endParaRPr lang="en-US" sz="2400" u="none" strike="noStrike" dirty="0">
                        <a:effectLst/>
                        <a:uFill>
                          <a:solidFill>
                            <a:srgbClr val="000000"/>
                          </a:solidFill>
                        </a:uFill>
                      </a:endParaRPr>
                    </a:p>
                    <a:p>
                      <a:pPr marL="0" marR="0" lvl="0" indent="0" fontAlgn="base">
                        <a:lnSpc>
                          <a:spcPct val="90000"/>
                        </a:lnSpc>
                        <a:spcBef>
                          <a:spcPts val="0"/>
                        </a:spcBef>
                        <a:spcAft>
                          <a:spcPts val="0"/>
                        </a:spcAft>
                        <a:buClr>
                          <a:srgbClr val="000000"/>
                        </a:buClr>
                        <a:buSzPts val="1000"/>
                        <a:buFont typeface="+mj-lt"/>
                        <a:buNone/>
                      </a:pPr>
                      <a:r>
                        <a:rPr lang="en-US" sz="2400" u="none" strike="noStrike" dirty="0">
                          <a:effectLst/>
                          <a:uFill>
                            <a:solidFill>
                              <a:srgbClr val="000000"/>
                            </a:solidFill>
                          </a:uFill>
                        </a:rPr>
                        <a:t>2. </a:t>
                      </a:r>
                      <a:r>
                        <a:rPr lang="en-US" sz="2400" u="none" strike="noStrike" dirty="0" err="1">
                          <a:effectLst/>
                          <a:uFill>
                            <a:solidFill>
                              <a:srgbClr val="000000"/>
                            </a:solidFill>
                          </a:uFill>
                        </a:rPr>
                        <a:t>tính</a:t>
                      </a:r>
                      <a:r>
                        <a:rPr lang="en-US" sz="2400" u="none" strike="noStrike" dirty="0">
                          <a:effectLst/>
                          <a:uFill>
                            <a:solidFill>
                              <a:srgbClr val="000000"/>
                            </a:solidFill>
                          </a:uFill>
                        </a:rPr>
                        <a:t> </a:t>
                      </a:r>
                      <a:r>
                        <a:rPr lang="en-US" sz="2400" u="none" strike="noStrike" dirty="0" err="1">
                          <a:effectLst/>
                          <a:uFill>
                            <a:solidFill>
                              <a:srgbClr val="000000"/>
                            </a:solidFill>
                          </a:uFill>
                        </a:rPr>
                        <a:t>tiền</a:t>
                      </a:r>
                      <a:r>
                        <a:rPr lang="en-US" sz="2400" u="none" strike="noStrike" dirty="0">
                          <a:effectLst/>
                          <a:uFill>
                            <a:solidFill>
                              <a:srgbClr val="000000"/>
                            </a:solidFill>
                          </a:uFill>
                        </a:rPr>
                        <a:t> </a:t>
                      </a:r>
                      <a:r>
                        <a:rPr lang="en-US" sz="2400" u="none" strike="noStrike" dirty="0" err="1">
                          <a:effectLst/>
                          <a:uFill>
                            <a:solidFill>
                              <a:srgbClr val="000000"/>
                            </a:solidFill>
                          </a:uFill>
                        </a:rPr>
                        <a:t>chênh</a:t>
                      </a:r>
                      <a:r>
                        <a:rPr lang="en-US" sz="2400" u="none" strike="noStrike" dirty="0">
                          <a:effectLst/>
                          <a:uFill>
                            <a:solidFill>
                              <a:srgbClr val="000000"/>
                            </a:solidFill>
                          </a:uFill>
                        </a:rPr>
                        <a:t> </a:t>
                      </a:r>
                      <a:r>
                        <a:rPr lang="en-US" sz="2400" u="none" strike="noStrike" dirty="0" err="1">
                          <a:effectLst/>
                          <a:uFill>
                            <a:solidFill>
                              <a:srgbClr val="000000"/>
                            </a:solidFill>
                          </a:uFill>
                        </a:rPr>
                        <a:t>lệch</a:t>
                      </a:r>
                      <a:r>
                        <a:rPr lang="en-US" sz="2400" u="none" strike="noStrike" dirty="0">
                          <a:effectLst/>
                          <a:uFill>
                            <a:solidFill>
                              <a:srgbClr val="000000"/>
                            </a:solidFill>
                          </a:uFill>
                        </a:rPr>
                        <a:t> </a:t>
                      </a:r>
                      <a:r>
                        <a:rPr lang="en-US" sz="2400" u="none" strike="noStrike" dirty="0" err="1">
                          <a:effectLst/>
                          <a:uFill>
                            <a:solidFill>
                              <a:srgbClr val="000000"/>
                            </a:solidFill>
                          </a:uFill>
                        </a:rPr>
                        <a:t>giữa</a:t>
                      </a:r>
                      <a:r>
                        <a:rPr lang="en-US" sz="2400" u="none" strike="noStrike" dirty="0">
                          <a:effectLst/>
                          <a:uFill>
                            <a:solidFill>
                              <a:srgbClr val="000000"/>
                            </a:solidFill>
                          </a:uFill>
                        </a:rPr>
                        <a:t> </a:t>
                      </a:r>
                      <a:r>
                        <a:rPr lang="en-US" sz="2400" u="none" strike="noStrike" dirty="0" err="1">
                          <a:effectLst/>
                          <a:uFill>
                            <a:solidFill>
                              <a:srgbClr val="000000"/>
                            </a:solidFill>
                          </a:uFill>
                        </a:rPr>
                        <a:t>giá</a:t>
                      </a:r>
                      <a:r>
                        <a:rPr lang="en-US" sz="2400" u="none" strike="noStrike" dirty="0">
                          <a:effectLst/>
                          <a:uFill>
                            <a:solidFill>
                              <a:srgbClr val="000000"/>
                            </a:solidFill>
                          </a:uFill>
                        </a:rPr>
                        <a:t> </a:t>
                      </a:r>
                      <a:r>
                        <a:rPr lang="en-US" sz="2400" u="none" strike="noStrike" dirty="0" err="1">
                          <a:effectLst/>
                          <a:uFill>
                            <a:solidFill>
                              <a:srgbClr val="000000"/>
                            </a:solidFill>
                          </a:uFill>
                        </a:rPr>
                        <a:t>mua</a:t>
                      </a:r>
                      <a:r>
                        <a:rPr lang="en-US" sz="2400" u="none" strike="noStrike" dirty="0">
                          <a:effectLst/>
                          <a:uFill>
                            <a:solidFill>
                              <a:srgbClr val="000000"/>
                            </a:solidFill>
                          </a:uFill>
                        </a:rPr>
                        <a:t> </a:t>
                      </a:r>
                      <a:r>
                        <a:rPr lang="en-US" sz="2400" u="none" strike="noStrike" dirty="0" err="1">
                          <a:effectLst/>
                          <a:uFill>
                            <a:solidFill>
                              <a:srgbClr val="000000"/>
                            </a:solidFill>
                          </a:uFill>
                        </a:rPr>
                        <a:t>và</a:t>
                      </a:r>
                      <a:r>
                        <a:rPr lang="en-US" sz="2400" u="none" strike="noStrike" dirty="0">
                          <a:effectLst/>
                          <a:uFill>
                            <a:solidFill>
                              <a:srgbClr val="000000"/>
                            </a:solidFill>
                          </a:uFill>
                        </a:rPr>
                        <a:t> </a:t>
                      </a:r>
                      <a:r>
                        <a:rPr lang="en-US" sz="2400" u="none" strike="noStrike" dirty="0" err="1">
                          <a:effectLst/>
                          <a:uFill>
                            <a:solidFill>
                              <a:srgbClr val="000000"/>
                            </a:solidFill>
                          </a:uFill>
                        </a:rPr>
                        <a:t>giá</a:t>
                      </a:r>
                      <a:r>
                        <a:rPr lang="en-US" sz="2400" u="none" strike="noStrike" dirty="0">
                          <a:effectLst/>
                          <a:uFill>
                            <a:solidFill>
                              <a:srgbClr val="000000"/>
                            </a:solidFill>
                          </a:uFill>
                        </a:rPr>
                        <a:t> </a:t>
                      </a:r>
                      <a:r>
                        <a:rPr lang="en-US" sz="2400" u="none" strike="noStrike" dirty="0" err="1">
                          <a:effectLst/>
                          <a:uFill>
                            <a:solidFill>
                              <a:srgbClr val="000000"/>
                            </a:solidFill>
                          </a:uFill>
                        </a:rPr>
                        <a:t>bán</a:t>
                      </a:r>
                      <a:endParaRPr lang="en-US" sz="2400" u="none" strike="noStrike" dirty="0">
                        <a:effectLst/>
                        <a:uFill>
                          <a:solidFill>
                            <a:srgbClr val="000000"/>
                          </a:solidFill>
                        </a:uFill>
                      </a:endParaRPr>
                    </a:p>
                    <a:p>
                      <a:pPr marL="0" marR="0" lvl="0" indent="0" fontAlgn="base">
                        <a:lnSpc>
                          <a:spcPct val="90000"/>
                        </a:lnSpc>
                        <a:spcBef>
                          <a:spcPts val="0"/>
                        </a:spcBef>
                        <a:spcAft>
                          <a:spcPts val="0"/>
                        </a:spcAft>
                        <a:buClr>
                          <a:srgbClr val="000000"/>
                        </a:buClr>
                        <a:buSzPts val="1000"/>
                        <a:buFont typeface="+mj-lt"/>
                        <a:buNone/>
                      </a:pPr>
                      <a:r>
                        <a:rPr lang="en-US" sz="2400" u="none" strike="noStrike" dirty="0">
                          <a:effectLst/>
                          <a:uFill>
                            <a:solidFill>
                              <a:srgbClr val="000000"/>
                            </a:solidFill>
                          </a:uFill>
                        </a:rPr>
                        <a:t>3. </a:t>
                      </a:r>
                      <a:r>
                        <a:rPr lang="en-US" sz="2400" u="none" strike="noStrike" dirty="0" err="1">
                          <a:effectLst/>
                          <a:uFill>
                            <a:solidFill>
                              <a:srgbClr val="000000"/>
                            </a:solidFill>
                          </a:uFill>
                        </a:rPr>
                        <a:t>tính</a:t>
                      </a:r>
                      <a:r>
                        <a:rPr lang="en-US" sz="2400" u="none" strike="noStrike" dirty="0">
                          <a:effectLst/>
                          <a:uFill>
                            <a:solidFill>
                              <a:srgbClr val="000000"/>
                            </a:solidFill>
                          </a:uFill>
                        </a:rPr>
                        <a:t> </a:t>
                      </a:r>
                      <a:r>
                        <a:rPr lang="en-US" sz="2400" u="none" strike="noStrike" dirty="0" err="1">
                          <a:effectLst/>
                          <a:uFill>
                            <a:solidFill>
                              <a:srgbClr val="000000"/>
                            </a:solidFill>
                          </a:uFill>
                        </a:rPr>
                        <a:t>tiền</a:t>
                      </a:r>
                      <a:r>
                        <a:rPr lang="en-US" sz="2400" u="none" strike="noStrike" dirty="0">
                          <a:effectLst/>
                          <a:uFill>
                            <a:solidFill>
                              <a:srgbClr val="000000"/>
                            </a:solidFill>
                          </a:uFill>
                        </a:rPr>
                        <a:t> </a:t>
                      </a:r>
                      <a:r>
                        <a:rPr lang="en-US" sz="2400" u="none" strike="noStrike" dirty="0" err="1">
                          <a:effectLst/>
                          <a:uFill>
                            <a:solidFill>
                              <a:srgbClr val="000000"/>
                            </a:solidFill>
                          </a:uFill>
                        </a:rPr>
                        <a:t>lời</a:t>
                      </a:r>
                      <a:r>
                        <a:rPr lang="en-US" sz="2400" u="none" strike="noStrike" dirty="0">
                          <a:effectLst/>
                          <a:uFill>
                            <a:solidFill>
                              <a:srgbClr val="000000"/>
                            </a:solidFill>
                          </a:uFill>
                        </a:rPr>
                        <a:t> </a:t>
                      </a:r>
                      <a:r>
                        <a:rPr lang="en-US" sz="2400" u="none" strike="noStrike" dirty="0" err="1">
                          <a:effectLst/>
                          <a:uFill>
                            <a:solidFill>
                              <a:srgbClr val="000000"/>
                            </a:solidFill>
                          </a:uFill>
                        </a:rPr>
                        <a:t>bằng</a:t>
                      </a:r>
                      <a:r>
                        <a:rPr lang="en-US" sz="2400" u="none" strike="noStrike" dirty="0">
                          <a:effectLst/>
                          <a:uFill>
                            <a:solidFill>
                              <a:srgbClr val="000000"/>
                            </a:solidFill>
                          </a:uFill>
                        </a:rPr>
                        <a:t> </a:t>
                      </a:r>
                      <a:r>
                        <a:rPr lang="en-US" sz="2400" u="none" strike="noStrike" dirty="0" err="1">
                          <a:effectLst/>
                          <a:uFill>
                            <a:solidFill>
                              <a:srgbClr val="000000"/>
                            </a:solidFill>
                          </a:uFill>
                        </a:rPr>
                        <a:t>cách</a:t>
                      </a:r>
                      <a:r>
                        <a:rPr lang="en-US" sz="2400" u="none" strike="noStrike" dirty="0">
                          <a:effectLst/>
                          <a:uFill>
                            <a:solidFill>
                              <a:srgbClr val="000000"/>
                            </a:solidFill>
                          </a:uFill>
                        </a:rPr>
                        <a:t> </a:t>
                      </a:r>
                      <a:r>
                        <a:rPr lang="en-US" sz="2400" u="none" strike="noStrike" dirty="0" err="1">
                          <a:effectLst/>
                          <a:uFill>
                            <a:solidFill>
                              <a:srgbClr val="000000"/>
                            </a:solidFill>
                          </a:uFill>
                        </a:rPr>
                        <a:t>nhân</a:t>
                      </a:r>
                      <a:r>
                        <a:rPr lang="en-US" sz="2400" u="none" strike="noStrike" dirty="0">
                          <a:effectLst/>
                          <a:uFill>
                            <a:solidFill>
                              <a:srgbClr val="000000"/>
                            </a:solidFill>
                          </a:uFill>
                        </a:rPr>
                        <a:t> </a:t>
                      </a:r>
                      <a:r>
                        <a:rPr lang="en-US" sz="2400" u="none" strike="noStrike" dirty="0" err="1">
                          <a:effectLst/>
                          <a:uFill>
                            <a:solidFill>
                              <a:srgbClr val="000000"/>
                            </a:solidFill>
                          </a:uFill>
                        </a:rPr>
                        <a:t>tiền</a:t>
                      </a:r>
                      <a:r>
                        <a:rPr lang="en-US" sz="2400" u="none" strike="noStrike" dirty="0">
                          <a:effectLst/>
                          <a:uFill>
                            <a:solidFill>
                              <a:srgbClr val="000000"/>
                            </a:solidFill>
                          </a:uFill>
                        </a:rPr>
                        <a:t> </a:t>
                      </a:r>
                      <a:r>
                        <a:rPr lang="en-US" sz="2400" u="none" strike="noStrike" dirty="0" err="1">
                          <a:effectLst/>
                          <a:uFill>
                            <a:solidFill>
                              <a:srgbClr val="000000"/>
                            </a:solidFill>
                          </a:uFill>
                        </a:rPr>
                        <a:t>chênh</a:t>
                      </a:r>
                      <a:r>
                        <a:rPr lang="en-US" sz="2400" u="none" strike="noStrike" dirty="0">
                          <a:effectLst/>
                          <a:uFill>
                            <a:solidFill>
                              <a:srgbClr val="000000"/>
                            </a:solidFill>
                          </a:uFill>
                        </a:rPr>
                        <a:t> </a:t>
                      </a:r>
                      <a:r>
                        <a:rPr lang="en-US" sz="2400" u="none" strike="noStrike" dirty="0" err="1">
                          <a:effectLst/>
                          <a:uFill>
                            <a:solidFill>
                              <a:srgbClr val="000000"/>
                            </a:solidFill>
                          </a:uFill>
                        </a:rPr>
                        <a:t>lệch</a:t>
                      </a:r>
                      <a:r>
                        <a:rPr lang="en-US" sz="2400" u="none" strike="noStrike" dirty="0">
                          <a:effectLst/>
                          <a:uFill>
                            <a:solidFill>
                              <a:srgbClr val="000000"/>
                            </a:solidFill>
                          </a:uFill>
                        </a:rPr>
                        <a:t> </a:t>
                      </a:r>
                      <a:r>
                        <a:rPr lang="en-US" sz="2400" u="none" strike="noStrike" dirty="0" err="1">
                          <a:effectLst/>
                          <a:uFill>
                            <a:solidFill>
                              <a:srgbClr val="000000"/>
                            </a:solidFill>
                          </a:uFill>
                        </a:rPr>
                        <a:t>với</a:t>
                      </a:r>
                      <a:r>
                        <a:rPr lang="en-US" sz="2400" u="none" strike="noStrike" dirty="0">
                          <a:effectLst/>
                          <a:uFill>
                            <a:solidFill>
                              <a:srgbClr val="000000"/>
                            </a:solidFill>
                          </a:uFill>
                        </a:rPr>
                        <a:t> </a:t>
                      </a:r>
                      <a:r>
                        <a:rPr lang="en-US" sz="2400" u="none" strike="noStrike" dirty="0" err="1">
                          <a:effectLst/>
                          <a:uFill>
                            <a:solidFill>
                              <a:srgbClr val="000000"/>
                            </a:solidFill>
                          </a:uFill>
                        </a:rPr>
                        <a:t>số</a:t>
                      </a:r>
                      <a:r>
                        <a:rPr lang="en-US" sz="2400" u="none" strike="noStrike" dirty="0">
                          <a:effectLst/>
                          <a:uFill>
                            <a:solidFill>
                              <a:srgbClr val="000000"/>
                            </a:solidFill>
                          </a:uFill>
                        </a:rPr>
                        <a:t> </a:t>
                      </a:r>
                      <a:r>
                        <a:rPr lang="en-US" sz="2400" u="none" strike="noStrike" dirty="0" err="1">
                          <a:effectLst/>
                          <a:uFill>
                            <a:solidFill>
                              <a:srgbClr val="000000"/>
                            </a:solidFill>
                          </a:uFill>
                        </a:rPr>
                        <a:t>lượng</a:t>
                      </a:r>
                      <a:r>
                        <a:rPr lang="en-US" sz="2400" u="none" strike="noStrike" dirty="0">
                          <a:effectLst/>
                          <a:uFill>
                            <a:solidFill>
                              <a:srgbClr val="000000"/>
                            </a:solidFill>
                          </a:uFill>
                        </a:rPr>
                        <a:t> </a:t>
                      </a:r>
                      <a:r>
                        <a:rPr lang="en-US" sz="2400" u="none" strike="noStrike" dirty="0" err="1">
                          <a:effectLst/>
                          <a:uFill>
                            <a:solidFill>
                              <a:srgbClr val="000000"/>
                            </a:solidFill>
                          </a:uFill>
                        </a:rPr>
                        <a:t>bán</a:t>
                      </a:r>
                      <a:endParaRPr lang="en-US" sz="2400" u="none" strike="noStrike" dirty="0">
                        <a:effectLst/>
                        <a:uFill>
                          <a:solidFill>
                            <a:srgbClr val="000000"/>
                          </a:solidFill>
                        </a:uFill>
                      </a:endParaRPr>
                    </a:p>
                    <a:p>
                      <a:pPr marL="0" marR="0">
                        <a:lnSpc>
                          <a:spcPct val="90000"/>
                        </a:lnSpc>
                        <a:spcBef>
                          <a:spcPts val="0"/>
                        </a:spcBef>
                        <a:spcAft>
                          <a:spcPts val="0"/>
                        </a:spcAft>
                      </a:pPr>
                      <a:r>
                        <a:rPr lang="en-US" sz="2400" dirty="0">
                          <a:effectLst/>
                        </a:rPr>
                        <a:t>4. </a:t>
                      </a:r>
                      <a:r>
                        <a:rPr lang="en-US" sz="2400" dirty="0" err="1">
                          <a:effectLst/>
                        </a:rPr>
                        <a:t>Xuất</a:t>
                      </a:r>
                      <a:r>
                        <a:rPr lang="en-US" sz="2400" dirty="0">
                          <a:effectLst/>
                        </a:rPr>
                        <a:t> </a:t>
                      </a:r>
                      <a:r>
                        <a:rPr lang="en-US" sz="2400" dirty="0" err="1">
                          <a:effectLst/>
                        </a:rPr>
                        <a:t>tiền</a:t>
                      </a:r>
                      <a:r>
                        <a:rPr lang="en-US" sz="2400" dirty="0">
                          <a:effectLst/>
                        </a:rPr>
                        <a:t> </a:t>
                      </a:r>
                      <a:r>
                        <a:rPr lang="en-US" sz="2400" dirty="0" err="1">
                          <a:effectLst/>
                        </a:rPr>
                        <a:t>lời</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5176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90000"/>
                        </a:lnSpc>
                        <a:spcBef>
                          <a:spcPts val="0"/>
                        </a:spcBef>
                        <a:spcAft>
                          <a:spcPts val="0"/>
                        </a:spcAft>
                      </a:pPr>
                      <a:r>
                        <a:rPr lang="en-US" sz="2400" dirty="0" err="1">
                          <a:effectLst/>
                        </a:rPr>
                        <a:t>tiền</a:t>
                      </a:r>
                      <a:r>
                        <a:rPr lang="en-US" sz="2400" dirty="0">
                          <a:effectLst/>
                        </a:rPr>
                        <a:t> </a:t>
                      </a:r>
                      <a:r>
                        <a:rPr lang="en-US" sz="2400" dirty="0" err="1">
                          <a:effectLst/>
                        </a:rPr>
                        <a:t>lời</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5176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5134811"/>
                  </a:ext>
                </a:extLst>
              </a:tr>
            </a:tbl>
          </a:graphicData>
        </a:graphic>
      </p:graphicFrame>
    </p:spTree>
    <p:extLst>
      <p:ext uri="{BB962C8B-B14F-4D97-AF65-F5344CB8AC3E}">
        <p14:creationId xmlns:p14="http://schemas.microsoft.com/office/powerpoint/2010/main" val="2620042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tx1">
                    <a:lumMod val="50000"/>
                    <a:lumOff val="50000"/>
                  </a:schemeClr>
                </a:solidFill>
              </a:rPr>
              <a:t>Tên và Từ khóa</a:t>
            </a:r>
          </a:p>
          <a:p>
            <a:r>
              <a:rPr lang="vi-VN">
                <a:solidFill>
                  <a:schemeClr val="tx1">
                    <a:lumMod val="50000"/>
                    <a:lumOff val="50000"/>
                  </a:schemeClr>
                </a:solidFill>
              </a:rPr>
              <a:t>Kiểu dữ liệu</a:t>
            </a:r>
          </a:p>
          <a:p>
            <a:r>
              <a:rPr lang="vi-VN">
                <a:solidFill>
                  <a:schemeClr val="tx1">
                    <a:lumMod val="50000"/>
                    <a:lumOff val="50000"/>
                  </a:schemeClr>
                </a:solidFill>
              </a:rPr>
              <a:t>Biến và Hằng</a:t>
            </a:r>
          </a:p>
          <a:p>
            <a:r>
              <a:rPr lang="vi-VN"/>
              <a:t>Nhập dữ liệu</a:t>
            </a:r>
            <a:endParaRPr lang="en-US"/>
          </a:p>
          <a:p>
            <a:pPr lvl="1"/>
            <a:r>
              <a:rPr lang="vi-VN"/>
              <a:t>Câu lệnh nhập dữ liệu</a:t>
            </a:r>
          </a:p>
          <a:p>
            <a:pPr lvl="1"/>
            <a:r>
              <a:rPr lang="vi-VN"/>
              <a:t>Câu lệnh gán</a:t>
            </a:r>
          </a:p>
          <a:p>
            <a:r>
              <a:rPr lang="vi-VN">
                <a:solidFill>
                  <a:schemeClr val="tx1">
                    <a:lumMod val="50000"/>
                    <a:lumOff val="50000"/>
                  </a:schemeClr>
                </a:solidFill>
              </a:rPr>
              <a:t>Xuất dữ liệu và Định dạng xuất</a:t>
            </a:r>
            <a:endParaRPr lang="en-US">
              <a:solidFill>
                <a:schemeClr val="tx1">
                  <a:lumMod val="50000"/>
                  <a:lumOff val="50000"/>
                </a:schemeClr>
              </a:solidFill>
            </a:endParaRPr>
          </a:p>
          <a:p>
            <a:r>
              <a:rPr lang="en-US">
                <a:solidFill>
                  <a:schemeClr val="tx1">
                    <a:lumMod val="50000"/>
                    <a:lumOff val="50000"/>
                  </a:schemeClr>
                </a:solidFill>
              </a:rPr>
              <a:t>Biểu thức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27</a:t>
            </a:fld>
            <a:endParaRPr lang="en-US"/>
          </a:p>
        </p:txBody>
      </p:sp>
    </p:spTree>
    <p:extLst>
      <p:ext uri="{BB962C8B-B14F-4D97-AF65-F5344CB8AC3E}">
        <p14:creationId xmlns:p14="http://schemas.microsoft.com/office/powerpoint/2010/main" val="830086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2377F3A-E784-4020-B419-9D5BB23447A0}"/>
              </a:ext>
            </a:extLst>
          </p:cNvPr>
          <p:cNvSpPr>
            <a:spLocks noGrp="1"/>
          </p:cNvSpPr>
          <p:nvPr>
            <p:ph type="title"/>
          </p:nvPr>
        </p:nvSpPr>
        <p:spPr/>
        <p:txBody>
          <a:bodyPr/>
          <a:lstStyle/>
          <a:p>
            <a:r>
              <a:rPr lang="en-US"/>
              <a:t>Nhập dữ liệu</a:t>
            </a:r>
          </a:p>
        </p:txBody>
      </p:sp>
      <p:sp>
        <p:nvSpPr>
          <p:cNvPr id="7" name="Content Placeholder 6">
            <a:extLst>
              <a:ext uri="{FF2B5EF4-FFF2-40B4-BE49-F238E27FC236}">
                <a16:creationId xmlns:a16="http://schemas.microsoft.com/office/drawing/2014/main" id="{12BE3C28-4A0A-49D2-877E-AC2447610F95}"/>
              </a:ext>
            </a:extLst>
          </p:cNvPr>
          <p:cNvSpPr>
            <a:spLocks noGrp="1"/>
          </p:cNvSpPr>
          <p:nvPr>
            <p:ph idx="1"/>
          </p:nvPr>
        </p:nvSpPr>
        <p:spPr/>
        <p:txBody>
          <a:bodyPr/>
          <a:lstStyle/>
          <a:p>
            <a:pPr algn="just"/>
            <a:r>
              <a:rPr lang="en-US"/>
              <a:t>Dùng câu lệnh nhập (input statement): đọc dữ liệu từ bàn phím. </a:t>
            </a:r>
          </a:p>
          <a:p>
            <a:pPr lvl="4">
              <a:spcBef>
                <a:spcPts val="1200"/>
              </a:spcBef>
              <a:spcAft>
                <a:spcPts val="1200"/>
              </a:spcAft>
            </a:pPr>
            <a:r>
              <a:rPr lang="en-US"/>
              <a:t>cin &gt;&gt; variableName;</a:t>
            </a:r>
          </a:p>
          <a:p>
            <a:r>
              <a:rPr lang="en-US"/>
              <a:t>Ví dụ:</a:t>
            </a:r>
          </a:p>
          <a:p>
            <a:pPr lvl="4"/>
            <a:r>
              <a:rPr lang="en-US"/>
              <a:t>cin &gt;&gt; bankinh;</a:t>
            </a:r>
          </a:p>
          <a:p>
            <a:endParaRPr lang="en-US"/>
          </a:p>
          <a:p>
            <a:r>
              <a:rPr lang="en-US"/>
              <a:t>Dùng câu lệnh gán (asignment statement). </a:t>
            </a:r>
          </a:p>
          <a:p>
            <a:pPr lvl="4">
              <a:spcBef>
                <a:spcPts val="1200"/>
              </a:spcBef>
              <a:spcAft>
                <a:spcPts val="1200"/>
              </a:spcAft>
            </a:pPr>
            <a:r>
              <a:rPr lang="en-US"/>
              <a:t>variableName = expression;</a:t>
            </a:r>
          </a:p>
          <a:p>
            <a:pPr lvl="1"/>
            <a:r>
              <a:rPr lang="en-US"/>
              <a:t>Giá trị của biểu thức phải phù hợp với kiểu dữ liệu của biến.</a:t>
            </a:r>
          </a:p>
          <a:p>
            <a:pPr lvl="1"/>
            <a:r>
              <a:rPr lang="en-US"/>
              <a:t>Dấu = gọi là toán tử gán (assignment operator).</a:t>
            </a:r>
          </a:p>
          <a:p>
            <a:r>
              <a:rPr lang="en-US"/>
              <a:t>Ví dụ:</a:t>
            </a:r>
          </a:p>
          <a:p>
            <a:pPr lvl="4"/>
            <a:r>
              <a:rPr lang="en-US"/>
              <a:t>dientich = 3.14 * bankinh * bankinh;</a:t>
            </a:r>
          </a:p>
        </p:txBody>
      </p:sp>
      <p:sp>
        <p:nvSpPr>
          <p:cNvPr id="4" name="Footer Placeholder 3">
            <a:extLst>
              <a:ext uri="{FF2B5EF4-FFF2-40B4-BE49-F238E27FC236}">
                <a16:creationId xmlns:a16="http://schemas.microsoft.com/office/drawing/2014/main" id="{6C6D31B6-90DB-4E24-AE95-3708926C9011}"/>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5B41C000-2893-4721-A771-356FD8395F8B}"/>
              </a:ext>
            </a:extLst>
          </p:cNvPr>
          <p:cNvSpPr>
            <a:spLocks noGrp="1"/>
          </p:cNvSpPr>
          <p:nvPr>
            <p:ph type="sldNum" sz="quarter" idx="12"/>
          </p:nvPr>
        </p:nvSpPr>
        <p:spPr/>
        <p:txBody>
          <a:bodyPr/>
          <a:lstStyle/>
          <a:p>
            <a:fld id="{45CA964B-B8B5-4404-ADB9-CBB2121E234F}" type="slidenum">
              <a:rPr lang="en-US" smtClean="0"/>
              <a:t>28</a:t>
            </a:fld>
            <a:endParaRPr lang="en-US"/>
          </a:p>
        </p:txBody>
      </p:sp>
      <p:sp>
        <p:nvSpPr>
          <p:cNvPr id="8" name="Rectangle 7">
            <a:extLst>
              <a:ext uri="{FF2B5EF4-FFF2-40B4-BE49-F238E27FC236}">
                <a16:creationId xmlns:a16="http://schemas.microsoft.com/office/drawing/2014/main" id="{E80543B2-C092-462B-8D5D-3A06C2D472F5}"/>
              </a:ext>
            </a:extLst>
          </p:cNvPr>
          <p:cNvSpPr/>
          <p:nvPr/>
        </p:nvSpPr>
        <p:spPr>
          <a:xfrm>
            <a:off x="530942" y="4191259"/>
            <a:ext cx="4689987"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200EE8-E636-4C7F-9F44-352A5A1EC19C}"/>
              </a:ext>
            </a:extLst>
          </p:cNvPr>
          <p:cNvSpPr/>
          <p:nvPr/>
        </p:nvSpPr>
        <p:spPr>
          <a:xfrm>
            <a:off x="530941" y="1937160"/>
            <a:ext cx="3642853"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7316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A540-50E4-4977-A9C8-D71337B6631D}"/>
              </a:ext>
            </a:extLst>
          </p:cNvPr>
          <p:cNvSpPr>
            <a:spLocks noGrp="1"/>
          </p:cNvSpPr>
          <p:nvPr>
            <p:ph type="title"/>
          </p:nvPr>
        </p:nvSpPr>
        <p:spPr/>
        <p:txBody>
          <a:bodyPr/>
          <a:lstStyle/>
          <a:p>
            <a:r>
              <a:rPr lang="en-US"/>
              <a:t>Câu lệnh nhập dữ liệu</a:t>
            </a:r>
          </a:p>
        </p:txBody>
      </p:sp>
      <p:sp>
        <p:nvSpPr>
          <p:cNvPr id="3" name="Content Placeholder 2">
            <a:extLst>
              <a:ext uri="{FF2B5EF4-FFF2-40B4-BE49-F238E27FC236}">
                <a16:creationId xmlns:a16="http://schemas.microsoft.com/office/drawing/2014/main" id="{C3EF01DC-2F04-4395-A507-5A9C6FD9FEA9}"/>
              </a:ext>
            </a:extLst>
          </p:cNvPr>
          <p:cNvSpPr>
            <a:spLocks noGrp="1"/>
          </p:cNvSpPr>
          <p:nvPr>
            <p:ph idx="1"/>
          </p:nvPr>
        </p:nvSpPr>
        <p:spPr/>
        <p:txBody>
          <a:bodyPr/>
          <a:lstStyle/>
          <a:p>
            <a:endParaRPr lang="en-US"/>
          </a:p>
          <a:p>
            <a:endParaRPr lang="en-US"/>
          </a:p>
          <a:p>
            <a:endParaRPr lang="en-US"/>
          </a:p>
          <a:p>
            <a:endParaRPr lang="en-US"/>
          </a:p>
          <a:p>
            <a:endParaRPr lang="en-US"/>
          </a:p>
          <a:p>
            <a:endParaRPr lang="en-US"/>
          </a:p>
          <a:p>
            <a:endParaRPr lang="en-US"/>
          </a:p>
          <a:p>
            <a:endParaRPr lang="en-US"/>
          </a:p>
          <a:p>
            <a:r>
              <a:rPr lang="vi-VN"/>
              <a:t>Đối tượng</a:t>
            </a:r>
            <a:r>
              <a:rPr lang="en-US"/>
              <a:t> </a:t>
            </a:r>
            <a:r>
              <a:rPr lang="en-US">
                <a:latin typeface="Consolas" panose="020B0609020204030204" pitchFamily="49" charset="0"/>
              </a:rPr>
              <a:t>cin</a:t>
            </a:r>
            <a:r>
              <a:rPr lang="en-US"/>
              <a:t> </a:t>
            </a:r>
            <a:r>
              <a:rPr lang="vi-VN"/>
              <a:t>được sử dụng cùng với toán tử</a:t>
            </a:r>
            <a:r>
              <a:rPr lang="en-US"/>
              <a:t> </a:t>
            </a:r>
            <a:r>
              <a:rPr lang="en-US">
                <a:latin typeface="Consolas" panose="020B0609020204030204" pitchFamily="49" charset="0"/>
              </a:rPr>
              <a:t>&gt;&gt;</a:t>
            </a:r>
            <a:r>
              <a:rPr lang="en-US"/>
              <a:t>.</a:t>
            </a:r>
          </a:p>
          <a:p>
            <a:pPr algn="just"/>
            <a:r>
              <a:rPr lang="en-US"/>
              <a:t>T</a:t>
            </a:r>
            <a:r>
              <a:rPr lang="vi-VN"/>
              <a:t>oán tử</a:t>
            </a:r>
            <a:r>
              <a:rPr lang="en-US"/>
              <a:t> </a:t>
            </a:r>
            <a:r>
              <a:rPr lang="en-US">
                <a:latin typeface="Consolas" panose="020B0609020204030204" pitchFamily="49" charset="0"/>
              </a:rPr>
              <a:t>&gt;&gt;</a:t>
            </a:r>
            <a:r>
              <a:rPr lang="en-US"/>
              <a:t> </a:t>
            </a:r>
            <a:r>
              <a:rPr lang="vi-VN"/>
              <a:t>sẽ lấy ra các ký tự từ đối tượng</a:t>
            </a:r>
            <a:r>
              <a:rPr lang="en-US"/>
              <a:t> và chuyển vào bộ nhớ, cho đến khi gặp </a:t>
            </a:r>
            <a:r>
              <a:rPr lang="en-US">
                <a:solidFill>
                  <a:srgbClr val="0000FF"/>
                </a:solidFill>
              </a:rPr>
              <a:t>ký tự khoảng trắng</a:t>
            </a:r>
            <a:r>
              <a:rPr lang="en-US"/>
              <a:t> (tab, space, enter).</a:t>
            </a:r>
          </a:p>
        </p:txBody>
      </p:sp>
      <p:sp>
        <p:nvSpPr>
          <p:cNvPr id="4" name="Footer Placeholder 3">
            <a:extLst>
              <a:ext uri="{FF2B5EF4-FFF2-40B4-BE49-F238E27FC236}">
                <a16:creationId xmlns:a16="http://schemas.microsoft.com/office/drawing/2014/main" id="{B12BFBE9-916F-4206-81A9-0A7855182A0E}"/>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CF07920F-9543-4C0E-B66E-344D15A16675}"/>
              </a:ext>
            </a:extLst>
          </p:cNvPr>
          <p:cNvSpPr>
            <a:spLocks noGrp="1"/>
          </p:cNvSpPr>
          <p:nvPr>
            <p:ph type="sldNum" sz="quarter" idx="12"/>
          </p:nvPr>
        </p:nvSpPr>
        <p:spPr/>
        <p:txBody>
          <a:bodyPr/>
          <a:lstStyle/>
          <a:p>
            <a:fld id="{45CA964B-B8B5-4404-ADB9-CBB2121E234F}" type="slidenum">
              <a:rPr lang="en-US" smtClean="0"/>
              <a:t>29</a:t>
            </a:fld>
            <a:endParaRPr lang="en-US"/>
          </a:p>
        </p:txBody>
      </p:sp>
      <p:pic>
        <p:nvPicPr>
          <p:cNvPr id="8" name="Picture 7" descr="A close up of a logo&#10;&#10;Description generated with high confidence">
            <a:extLst>
              <a:ext uri="{FF2B5EF4-FFF2-40B4-BE49-F238E27FC236}">
                <a16:creationId xmlns:a16="http://schemas.microsoft.com/office/drawing/2014/main" id="{9A9E1B79-0577-4290-8C89-D9BCF5C28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982" y="1204118"/>
            <a:ext cx="8718036" cy="3151905"/>
          </a:xfrm>
          <a:prstGeom prst="rect">
            <a:avLst/>
          </a:prstGeom>
        </p:spPr>
      </p:pic>
    </p:spTree>
    <p:extLst>
      <p:ext uri="{BB962C8B-B14F-4D97-AF65-F5344CB8AC3E}">
        <p14:creationId xmlns:p14="http://schemas.microsoft.com/office/powerpoint/2010/main" val="1427866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98A4-9B77-45B8-A673-B84F8DEF19D7}"/>
              </a:ext>
            </a:extLst>
          </p:cNvPr>
          <p:cNvSpPr>
            <a:spLocks noGrp="1"/>
          </p:cNvSpPr>
          <p:nvPr>
            <p:ph type="title"/>
          </p:nvPr>
        </p:nvSpPr>
        <p:spPr/>
        <p:txBody>
          <a:bodyPr/>
          <a:lstStyle/>
          <a:p>
            <a:r>
              <a:rPr lang="en-US"/>
              <a:t>Ví dụ 4.1.1</a:t>
            </a:r>
          </a:p>
        </p:txBody>
      </p:sp>
      <p:sp>
        <p:nvSpPr>
          <p:cNvPr id="3" name="Content Placeholder 2">
            <a:extLst>
              <a:ext uri="{FF2B5EF4-FFF2-40B4-BE49-F238E27FC236}">
                <a16:creationId xmlns:a16="http://schemas.microsoft.com/office/drawing/2014/main" id="{3D20596C-3291-44DD-BE0C-4E5D0ADDC459}"/>
              </a:ext>
            </a:extLst>
          </p:cNvPr>
          <p:cNvSpPr>
            <a:spLocks noGrp="1"/>
          </p:cNvSpPr>
          <p:nvPr>
            <p:ph idx="1"/>
          </p:nvPr>
        </p:nvSpPr>
        <p:spPr/>
        <p:txBody>
          <a:bodyPr/>
          <a:lstStyle/>
          <a:p>
            <a:pPr algn="just"/>
            <a:r>
              <a:rPr lang="vi-VN"/>
              <a:t>Viết chương trình nhập vào bán kính hình tròn, tính và in ra diện tích hình tròn.</a:t>
            </a:r>
            <a:endParaRPr lang="en-US"/>
          </a:p>
          <a:p>
            <a:endParaRPr lang="en-US"/>
          </a:p>
        </p:txBody>
      </p:sp>
      <p:sp>
        <p:nvSpPr>
          <p:cNvPr id="4" name="Footer Placeholder 3">
            <a:extLst>
              <a:ext uri="{FF2B5EF4-FFF2-40B4-BE49-F238E27FC236}">
                <a16:creationId xmlns:a16="http://schemas.microsoft.com/office/drawing/2014/main" id="{483DC431-102D-46CA-AEBD-7C521E723EDA}"/>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615E8F91-4D12-4A1B-ADDA-13C3CE290223}"/>
              </a:ext>
            </a:extLst>
          </p:cNvPr>
          <p:cNvSpPr>
            <a:spLocks noGrp="1"/>
          </p:cNvSpPr>
          <p:nvPr>
            <p:ph type="sldNum" sz="quarter" idx="12"/>
          </p:nvPr>
        </p:nvSpPr>
        <p:spPr/>
        <p:txBody>
          <a:bodyPr/>
          <a:lstStyle/>
          <a:p>
            <a:fld id="{45CA964B-B8B5-4404-ADB9-CBB2121E234F}" type="slidenum">
              <a:rPr lang="en-US" smtClean="0"/>
              <a:t>30</a:t>
            </a:fld>
            <a:endParaRPr lang="en-US"/>
          </a:p>
        </p:txBody>
      </p:sp>
      <p:graphicFrame>
        <p:nvGraphicFramePr>
          <p:cNvPr id="6" name="Table 5">
            <a:extLst>
              <a:ext uri="{FF2B5EF4-FFF2-40B4-BE49-F238E27FC236}">
                <a16:creationId xmlns:a16="http://schemas.microsoft.com/office/drawing/2014/main" id="{80CDD225-FFC7-4C44-85F6-ADDC7F86D452}"/>
              </a:ext>
            </a:extLst>
          </p:cNvPr>
          <p:cNvGraphicFramePr>
            <a:graphicFrameLocks noGrp="1"/>
          </p:cNvGraphicFramePr>
          <p:nvPr>
            <p:extLst>
              <p:ext uri="{D42A27DB-BD31-4B8C-83A1-F6EECF244321}">
                <p14:modId xmlns:p14="http://schemas.microsoft.com/office/powerpoint/2010/main" val="1796416250"/>
              </p:ext>
            </p:extLst>
          </p:nvPr>
        </p:nvGraphicFramePr>
        <p:xfrm>
          <a:off x="327547" y="2285998"/>
          <a:ext cx="8496412" cy="2728454"/>
        </p:xfrm>
        <a:graphic>
          <a:graphicData uri="http://schemas.openxmlformats.org/drawingml/2006/table">
            <a:tbl>
              <a:tblPr firstRow="1">
                <a:tableStyleId>{5940675A-B579-460E-94D1-54222C63F5DA}</a:tableStyleId>
              </a:tblPr>
              <a:tblGrid>
                <a:gridCol w="1471756">
                  <a:extLst>
                    <a:ext uri="{9D8B030D-6E8A-4147-A177-3AD203B41FA5}">
                      <a16:colId xmlns:a16="http://schemas.microsoft.com/office/drawing/2014/main" val="3676053665"/>
                    </a:ext>
                  </a:extLst>
                </a:gridCol>
                <a:gridCol w="5676258">
                  <a:extLst>
                    <a:ext uri="{9D8B030D-6E8A-4147-A177-3AD203B41FA5}">
                      <a16:colId xmlns:a16="http://schemas.microsoft.com/office/drawing/2014/main" val="93223546"/>
                    </a:ext>
                  </a:extLst>
                </a:gridCol>
                <a:gridCol w="1348398">
                  <a:extLst>
                    <a:ext uri="{9D8B030D-6E8A-4147-A177-3AD203B41FA5}">
                      <a16:colId xmlns:a16="http://schemas.microsoft.com/office/drawing/2014/main" val="1347827207"/>
                    </a:ext>
                  </a:extLst>
                </a:gridCol>
              </a:tblGrid>
              <a:tr h="557731">
                <a:tc>
                  <a:txBody>
                    <a:bodyPr/>
                    <a:lstStyle/>
                    <a:p>
                      <a:pPr marL="78740" marR="0">
                        <a:lnSpc>
                          <a:spcPct val="107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1476643"/>
                  </a:ext>
                </a:extLst>
              </a:tr>
              <a:tr h="2170723">
                <a:tc>
                  <a:txBody>
                    <a:bodyPr/>
                    <a:lstStyle/>
                    <a:p>
                      <a:pPr marL="78740" marR="0">
                        <a:lnSpc>
                          <a:spcPct val="107000"/>
                        </a:lnSpc>
                        <a:spcBef>
                          <a:spcPts val="0"/>
                        </a:spcBef>
                        <a:spcAft>
                          <a:spcPts val="0"/>
                        </a:spcAft>
                      </a:pPr>
                      <a:r>
                        <a:rPr lang="en-US" sz="2400">
                          <a:effectLst/>
                        </a:rPr>
                        <a:t>bán kính</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i="1">
                          <a:effectLst/>
                        </a:rPr>
                        <a:t>Algorithm</a:t>
                      </a:r>
                      <a:r>
                        <a:rPr lang="en-US" sz="2400">
                          <a:effectLst/>
                        </a:rPr>
                        <a:t>:</a:t>
                      </a:r>
                    </a:p>
                    <a:p>
                      <a:pPr marL="0" marR="0" lvl="0" indent="0" fontAlgn="base">
                        <a:lnSpc>
                          <a:spcPct val="107000"/>
                        </a:lnSpc>
                        <a:spcBef>
                          <a:spcPts val="0"/>
                        </a:spcBef>
                        <a:spcAft>
                          <a:spcPts val="0"/>
                        </a:spcAft>
                        <a:buClr>
                          <a:srgbClr val="000000"/>
                        </a:buClr>
                        <a:buSzPts val="1000"/>
                        <a:buFont typeface="+mj-lt"/>
                        <a:buNone/>
                      </a:pPr>
                      <a:r>
                        <a:rPr lang="en-US" sz="2400" u="none" strike="noStrike">
                          <a:effectLst/>
                          <a:uFill>
                            <a:solidFill>
                              <a:srgbClr val="000000"/>
                            </a:solidFill>
                          </a:uFill>
                        </a:rPr>
                        <a:t>1. nhập độ bán kính</a:t>
                      </a:r>
                    </a:p>
                    <a:p>
                      <a:pPr marL="0" marR="0" lvl="0" indent="0" fontAlgn="base">
                        <a:lnSpc>
                          <a:spcPct val="107000"/>
                        </a:lnSpc>
                        <a:spcBef>
                          <a:spcPts val="0"/>
                        </a:spcBef>
                        <a:spcAft>
                          <a:spcPts val="0"/>
                        </a:spcAft>
                        <a:buClr>
                          <a:srgbClr val="000000"/>
                        </a:buClr>
                        <a:buSzPts val="1000"/>
                        <a:buFont typeface="+mj-lt"/>
                        <a:buNone/>
                      </a:pPr>
                      <a:r>
                        <a:rPr lang="en-US" sz="2400" u="none" strike="noStrike">
                          <a:effectLst/>
                          <a:uFill>
                            <a:solidFill>
                              <a:srgbClr val="000000"/>
                            </a:solidFill>
                          </a:uFill>
                        </a:rPr>
                        <a:t>2. tính diện tích = 3.14 * bán kính * bán kính</a:t>
                      </a:r>
                    </a:p>
                    <a:p>
                      <a:pPr marL="0" marR="0" lvl="0" indent="0" fontAlgn="base">
                        <a:lnSpc>
                          <a:spcPct val="107000"/>
                        </a:lnSpc>
                        <a:spcBef>
                          <a:spcPts val="0"/>
                        </a:spcBef>
                        <a:spcAft>
                          <a:spcPts val="0"/>
                        </a:spcAft>
                        <a:buClr>
                          <a:srgbClr val="000000"/>
                        </a:buClr>
                        <a:buSzPts val="1000"/>
                        <a:buFont typeface="+mj-lt"/>
                        <a:buNone/>
                      </a:pPr>
                      <a:r>
                        <a:rPr lang="en-US" sz="2400" u="none" strike="noStrike">
                          <a:effectLst/>
                          <a:uFill>
                            <a:solidFill>
                              <a:srgbClr val="000000"/>
                            </a:solidFill>
                          </a:uFill>
                        </a:rPr>
                        <a:t>3. in ra độ diện tích</a:t>
                      </a:r>
                      <a:endPar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a:effectLst/>
                        </a:rPr>
                        <a:t>diện tích</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7340247"/>
                  </a:ext>
                </a:extLst>
              </a:tr>
            </a:tbl>
          </a:graphicData>
        </a:graphic>
      </p:graphicFrame>
    </p:spTree>
    <p:extLst>
      <p:ext uri="{BB962C8B-B14F-4D97-AF65-F5344CB8AC3E}">
        <p14:creationId xmlns:p14="http://schemas.microsoft.com/office/powerpoint/2010/main" val="285142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57FDDD-7A67-4231-A5F8-7B0E7E6A4AA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5EC844B-C8AD-4A4F-8134-A7FBF44DAE1D}"/>
              </a:ext>
            </a:extLst>
          </p:cNvPr>
          <p:cNvSpPr>
            <a:spLocks noGrp="1"/>
          </p:cNvSpPr>
          <p:nvPr>
            <p:ph type="sldNum" sz="quarter" idx="12"/>
          </p:nvPr>
        </p:nvSpPr>
        <p:spPr/>
        <p:txBody>
          <a:bodyPr/>
          <a:lstStyle/>
          <a:p>
            <a:fld id="{45CA964B-B8B5-4404-ADB9-CBB2121E234F}" type="slidenum">
              <a:rPr lang="en-US" smtClean="0"/>
              <a:t>31</a:t>
            </a:fld>
            <a:endParaRPr lang="en-US"/>
          </a:p>
        </p:txBody>
      </p:sp>
      <p:sp>
        <p:nvSpPr>
          <p:cNvPr id="6" name="Text Placeholder 5">
            <a:extLst>
              <a:ext uri="{FF2B5EF4-FFF2-40B4-BE49-F238E27FC236}">
                <a16:creationId xmlns:a16="http://schemas.microsoft.com/office/drawing/2014/main" id="{FB4B733E-9171-49FC-9921-DA37706042A3}"/>
              </a:ext>
            </a:extLst>
          </p:cNvPr>
          <p:cNvSpPr>
            <a:spLocks noGrp="1"/>
          </p:cNvSpPr>
          <p:nvPr>
            <p:ph type="body" sz="quarter" idx="13"/>
          </p:nvPr>
        </p:nvSpPr>
        <p:spPr/>
        <p:txBody>
          <a:bodyPr>
            <a:noAutofit/>
          </a:bodyPr>
          <a:lstStyle/>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const</a:t>
            </a:r>
            <a:r>
              <a:rPr lang="en-US">
                <a:solidFill>
                  <a:srgbClr val="000000"/>
                </a:solidFill>
              </a:rPr>
              <a:t> </a:t>
            </a:r>
            <a:r>
              <a:rPr lang="en-US">
                <a:solidFill>
                  <a:srgbClr val="0000FF"/>
                </a:solidFill>
              </a:rPr>
              <a:t>double</a:t>
            </a:r>
            <a:r>
              <a:rPr lang="en-US">
                <a:solidFill>
                  <a:srgbClr val="000000"/>
                </a:solidFill>
              </a:rPr>
              <a:t> pi = 3.14;</a:t>
            </a:r>
          </a:p>
          <a:p>
            <a:r>
              <a:rPr lang="en-US">
                <a:solidFill>
                  <a:srgbClr val="000000"/>
                </a:solidFill>
              </a:rPr>
              <a:t>    </a:t>
            </a:r>
            <a:r>
              <a:rPr lang="en-US">
                <a:solidFill>
                  <a:srgbClr val="0000FF"/>
                </a:solidFill>
              </a:rPr>
              <a:t>double</a:t>
            </a:r>
            <a:r>
              <a:rPr lang="en-US">
                <a:solidFill>
                  <a:srgbClr val="000000"/>
                </a:solidFill>
              </a:rPr>
              <a:t> bankinh;</a:t>
            </a:r>
          </a:p>
          <a:p>
            <a:r>
              <a:rPr lang="en-US">
                <a:solidFill>
                  <a:srgbClr val="000000"/>
                </a:solidFill>
              </a:rPr>
              <a:t>    </a:t>
            </a:r>
            <a:r>
              <a:rPr lang="en-US">
                <a:solidFill>
                  <a:srgbClr val="0000FF"/>
                </a:solidFill>
              </a:rPr>
              <a:t>double</a:t>
            </a:r>
            <a:r>
              <a:rPr lang="en-US">
                <a:solidFill>
                  <a:srgbClr val="000000"/>
                </a:solidFill>
              </a:rPr>
              <a:t> dientich;</a:t>
            </a:r>
          </a:p>
          <a:p>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"Nhap ban kinh hinh tron: "</a:t>
            </a:r>
            <a:r>
              <a:rPr lang="en-US">
                <a:solidFill>
                  <a:srgbClr val="000000"/>
                </a:solidFill>
              </a:rPr>
              <a:t>;</a:t>
            </a:r>
          </a:p>
          <a:p>
            <a:r>
              <a:rPr lang="en-US">
                <a:solidFill>
                  <a:srgbClr val="000000"/>
                </a:solidFill>
              </a:rPr>
              <a:t>    cin </a:t>
            </a:r>
            <a:r>
              <a:rPr lang="en-US">
                <a:solidFill>
                  <a:srgbClr val="008080"/>
                </a:solidFill>
              </a:rPr>
              <a:t>&gt;&gt;</a:t>
            </a:r>
            <a:r>
              <a:rPr lang="en-US">
                <a:solidFill>
                  <a:srgbClr val="000000"/>
                </a:solidFill>
              </a:rPr>
              <a:t> bankinh;</a:t>
            </a:r>
          </a:p>
          <a:p>
            <a:r>
              <a:rPr lang="en-US">
                <a:solidFill>
                  <a:srgbClr val="000000"/>
                </a:solidFill>
              </a:rPr>
              <a:t>    dientich = pi * bankinh * bankinh;</a:t>
            </a:r>
          </a:p>
          <a:p>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"Dien tich hinh tron la: "</a:t>
            </a:r>
            <a:r>
              <a:rPr lang="en-US">
                <a:solidFill>
                  <a:srgbClr val="000000"/>
                </a:solidFill>
              </a:rPr>
              <a:t> </a:t>
            </a:r>
            <a:r>
              <a:rPr lang="en-US">
                <a:solidFill>
                  <a:srgbClr val="008080"/>
                </a:solidFill>
              </a:rPr>
              <a:t>&lt;&lt;</a:t>
            </a:r>
            <a:r>
              <a:rPr lang="en-US">
                <a:solidFill>
                  <a:srgbClr val="000000"/>
                </a:solidFill>
              </a:rPr>
              <a:t> dientich </a:t>
            </a:r>
          </a:p>
          <a:p>
            <a:r>
              <a:rPr lang="en-US">
                <a:solidFill>
                  <a:srgbClr val="000000"/>
                </a:solidFill>
              </a:rPr>
              <a:t>         </a:t>
            </a:r>
            <a:r>
              <a:rPr lang="en-US">
                <a:solidFill>
                  <a:srgbClr val="008080"/>
                </a:solidFill>
              </a:rPr>
              <a:t>&lt;&lt;</a:t>
            </a:r>
            <a:r>
              <a:rPr lang="en-US">
                <a:solidFill>
                  <a:srgbClr val="000000"/>
                </a:solidFill>
              </a:rPr>
              <a:t> endl;</a:t>
            </a:r>
          </a:p>
          <a:p>
            <a:endParaRPr lang="en-US">
              <a:solidFill>
                <a:srgbClr val="000000"/>
              </a:solidFill>
            </a:endParaRP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3679367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20A009-86A1-406A-8150-7778AFE3CEF1}"/>
              </a:ext>
            </a:extLst>
          </p:cNvPr>
          <p:cNvSpPr>
            <a:spLocks noGrp="1"/>
          </p:cNvSpPr>
          <p:nvPr>
            <p:ph type="title"/>
          </p:nvPr>
        </p:nvSpPr>
        <p:spPr/>
        <p:txBody>
          <a:bodyPr/>
          <a:lstStyle/>
          <a:p>
            <a:r>
              <a:rPr lang="en-US"/>
              <a:t>Ví dụ 4.1.2</a:t>
            </a:r>
          </a:p>
        </p:txBody>
      </p:sp>
      <p:sp>
        <p:nvSpPr>
          <p:cNvPr id="6" name="Content Placeholder 5">
            <a:extLst>
              <a:ext uri="{FF2B5EF4-FFF2-40B4-BE49-F238E27FC236}">
                <a16:creationId xmlns:a16="http://schemas.microsoft.com/office/drawing/2014/main" id="{AB6049AB-C7F5-46B7-9044-61FEECF60855}"/>
              </a:ext>
            </a:extLst>
          </p:cNvPr>
          <p:cNvSpPr>
            <a:spLocks noGrp="1"/>
          </p:cNvSpPr>
          <p:nvPr>
            <p:ph idx="1"/>
          </p:nvPr>
        </p:nvSpPr>
        <p:spPr/>
        <p:txBody>
          <a:bodyPr/>
          <a:lstStyle/>
          <a:p>
            <a:pPr algn="just"/>
            <a:r>
              <a:rPr lang="vi-VN"/>
              <a:t>Viết chương trình nhập vào độ Celsius, chuyển sang độ Fahrenheit và in ra kết quả.</a:t>
            </a:r>
            <a:endParaRPr lang="en-US"/>
          </a:p>
          <a:p>
            <a:endParaRPr lang="en-US"/>
          </a:p>
        </p:txBody>
      </p:sp>
      <p:sp>
        <p:nvSpPr>
          <p:cNvPr id="2" name="Footer Placeholder 1">
            <a:extLst>
              <a:ext uri="{FF2B5EF4-FFF2-40B4-BE49-F238E27FC236}">
                <a16:creationId xmlns:a16="http://schemas.microsoft.com/office/drawing/2014/main" id="{08E60761-643D-4EB6-A275-BA6C4C8A6946}"/>
              </a:ext>
            </a:extLst>
          </p:cNvPr>
          <p:cNvSpPr>
            <a:spLocks noGrp="1"/>
          </p:cNvSpPr>
          <p:nvPr>
            <p:ph type="ftr" sz="quarter" idx="11"/>
          </p:nvPr>
        </p:nvSpPr>
        <p:spPr/>
        <p:txBody>
          <a:bodyPr/>
          <a:lstStyle/>
          <a:p>
            <a:r>
              <a:rPr lang="vi-VN"/>
              <a:t>Cơ sở lập trình - Biến &amp; Kiểu dữ liệu</a:t>
            </a:r>
            <a:endParaRPr lang="en-US"/>
          </a:p>
        </p:txBody>
      </p:sp>
      <p:sp>
        <p:nvSpPr>
          <p:cNvPr id="3" name="Slide Number Placeholder 2">
            <a:extLst>
              <a:ext uri="{FF2B5EF4-FFF2-40B4-BE49-F238E27FC236}">
                <a16:creationId xmlns:a16="http://schemas.microsoft.com/office/drawing/2014/main" id="{D61B4E84-9827-46B5-B0BA-AFF4D96B184D}"/>
              </a:ext>
            </a:extLst>
          </p:cNvPr>
          <p:cNvSpPr>
            <a:spLocks noGrp="1"/>
          </p:cNvSpPr>
          <p:nvPr>
            <p:ph type="sldNum" sz="quarter" idx="12"/>
          </p:nvPr>
        </p:nvSpPr>
        <p:spPr/>
        <p:txBody>
          <a:bodyPr/>
          <a:lstStyle/>
          <a:p>
            <a:fld id="{45CA964B-B8B5-4404-ADB9-CBB2121E234F}" type="slidenum">
              <a:rPr lang="en-US" smtClean="0"/>
              <a:t>32</a:t>
            </a:fld>
            <a:endParaRPr lang="en-US"/>
          </a:p>
        </p:txBody>
      </p:sp>
      <p:graphicFrame>
        <p:nvGraphicFramePr>
          <p:cNvPr id="7" name="Table 6">
            <a:extLst>
              <a:ext uri="{FF2B5EF4-FFF2-40B4-BE49-F238E27FC236}">
                <a16:creationId xmlns:a16="http://schemas.microsoft.com/office/drawing/2014/main" id="{78CF3E23-7193-4BB9-8A03-A49B59826A0F}"/>
              </a:ext>
            </a:extLst>
          </p:cNvPr>
          <p:cNvGraphicFramePr>
            <a:graphicFrameLocks noGrp="1"/>
          </p:cNvGraphicFramePr>
          <p:nvPr>
            <p:extLst>
              <p:ext uri="{D42A27DB-BD31-4B8C-83A1-F6EECF244321}">
                <p14:modId xmlns:p14="http://schemas.microsoft.com/office/powerpoint/2010/main" val="2659988480"/>
              </p:ext>
            </p:extLst>
          </p:nvPr>
        </p:nvGraphicFramePr>
        <p:xfrm>
          <a:off x="327547" y="2123768"/>
          <a:ext cx="8496413" cy="2552056"/>
        </p:xfrm>
        <a:graphic>
          <a:graphicData uri="http://schemas.openxmlformats.org/drawingml/2006/table">
            <a:tbl>
              <a:tblPr firstRow="1">
                <a:tableStyleId>{5940675A-B579-460E-94D1-54222C63F5DA}</a:tableStyleId>
              </a:tblPr>
              <a:tblGrid>
                <a:gridCol w="1132543">
                  <a:extLst>
                    <a:ext uri="{9D8B030D-6E8A-4147-A177-3AD203B41FA5}">
                      <a16:colId xmlns:a16="http://schemas.microsoft.com/office/drawing/2014/main" val="3577124302"/>
                    </a:ext>
                  </a:extLst>
                </a:gridCol>
                <a:gridCol w="5781368">
                  <a:extLst>
                    <a:ext uri="{9D8B030D-6E8A-4147-A177-3AD203B41FA5}">
                      <a16:colId xmlns:a16="http://schemas.microsoft.com/office/drawing/2014/main" val="2556479314"/>
                    </a:ext>
                  </a:extLst>
                </a:gridCol>
                <a:gridCol w="1582502">
                  <a:extLst>
                    <a:ext uri="{9D8B030D-6E8A-4147-A177-3AD203B41FA5}">
                      <a16:colId xmlns:a16="http://schemas.microsoft.com/office/drawing/2014/main" val="1931560747"/>
                    </a:ext>
                  </a:extLst>
                </a:gridCol>
              </a:tblGrid>
              <a:tr h="235974">
                <a:tc>
                  <a:txBody>
                    <a:bodyPr/>
                    <a:lstStyle/>
                    <a:p>
                      <a:pPr marL="78740" marR="0">
                        <a:lnSpc>
                          <a:spcPct val="100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576005"/>
                  </a:ext>
                </a:extLst>
              </a:tr>
              <a:tr h="2151371">
                <a:tc>
                  <a:txBody>
                    <a:bodyPr/>
                    <a:lstStyle/>
                    <a:p>
                      <a:pPr marL="78740" marR="0">
                        <a:lnSpc>
                          <a:spcPct val="100000"/>
                        </a:lnSpc>
                        <a:spcBef>
                          <a:spcPts val="0"/>
                        </a:spcBef>
                        <a:spcAft>
                          <a:spcPts val="0"/>
                        </a:spcAft>
                      </a:pPr>
                      <a:r>
                        <a:rPr lang="en-US" sz="2400">
                          <a:effectLst/>
                        </a:rPr>
                        <a:t>celsius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a:effectLst/>
                        </a:rPr>
                        <a:t>Algorithm:</a:t>
                      </a:r>
                    </a:p>
                    <a:p>
                      <a:pPr marL="0" marR="0" lvl="0" indent="0" fontAlgn="base">
                        <a:lnSpc>
                          <a:spcPct val="100000"/>
                        </a:lnSpc>
                        <a:spcBef>
                          <a:spcPts val="0"/>
                        </a:spcBef>
                        <a:spcAft>
                          <a:spcPts val="5"/>
                        </a:spcAft>
                        <a:buClr>
                          <a:srgbClr val="000000"/>
                        </a:buClr>
                        <a:buSzPts val="1000"/>
                        <a:buFont typeface="+mj-lt"/>
                        <a:buNone/>
                      </a:pPr>
                      <a:r>
                        <a:rPr lang="en-US" sz="2400" u="none" strike="noStrike">
                          <a:effectLst/>
                          <a:uFill>
                            <a:solidFill>
                              <a:srgbClr val="000000"/>
                            </a:solidFill>
                          </a:uFill>
                        </a:rPr>
                        <a:t>1. nhập độ celsius</a:t>
                      </a:r>
                    </a:p>
                    <a:p>
                      <a:pPr marL="0" marR="0" lvl="0" indent="0" fontAlgn="base">
                        <a:lnSpc>
                          <a:spcPct val="100000"/>
                        </a:lnSpc>
                        <a:spcBef>
                          <a:spcPts val="0"/>
                        </a:spcBef>
                        <a:spcAft>
                          <a:spcPts val="0"/>
                        </a:spcAft>
                        <a:buClr>
                          <a:srgbClr val="000000"/>
                        </a:buClr>
                        <a:buSzPts val="1000"/>
                        <a:buFont typeface="+mj-lt"/>
                        <a:buNone/>
                      </a:pPr>
                      <a:r>
                        <a:rPr lang="en-US" sz="2400" u="none" strike="noStrike">
                          <a:effectLst/>
                          <a:uFill>
                            <a:solidFill>
                              <a:srgbClr val="000000"/>
                            </a:solidFill>
                          </a:uFill>
                        </a:rPr>
                        <a:t>2. tính độ fahrenheit = (độ celsius * 1.8) + 32</a:t>
                      </a:r>
                    </a:p>
                    <a:p>
                      <a:pPr marL="0" marR="0" lvl="0" indent="0" fontAlgn="base">
                        <a:lnSpc>
                          <a:spcPct val="100000"/>
                        </a:lnSpc>
                        <a:spcBef>
                          <a:spcPts val="0"/>
                        </a:spcBef>
                        <a:spcAft>
                          <a:spcPts val="0"/>
                        </a:spcAft>
                        <a:buClr>
                          <a:srgbClr val="000000"/>
                        </a:buClr>
                        <a:buSzPts val="1000"/>
                        <a:buFont typeface="+mj-lt"/>
                        <a:buNone/>
                      </a:pPr>
                      <a:r>
                        <a:rPr lang="en-US" sz="2400" u="none" strike="noStrike">
                          <a:effectLst/>
                          <a:uFill>
                            <a:solidFill>
                              <a:srgbClr val="000000"/>
                            </a:solidFill>
                          </a:uFill>
                        </a:rPr>
                        <a:t>3. in ra độ Fahrenheit</a:t>
                      </a:r>
                      <a:endPar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a:effectLst/>
                        </a:rPr>
                        <a:t>fahrenheit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169256"/>
                  </a:ext>
                </a:extLst>
              </a:tr>
            </a:tbl>
          </a:graphicData>
        </a:graphic>
      </p:graphicFrame>
    </p:spTree>
    <p:extLst>
      <p:ext uri="{BB962C8B-B14F-4D97-AF65-F5344CB8AC3E}">
        <p14:creationId xmlns:p14="http://schemas.microsoft.com/office/powerpoint/2010/main" val="1676849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57FDDD-7A67-4231-A5F8-7B0E7E6A4AA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5EC844B-C8AD-4A4F-8134-A7FBF44DAE1D}"/>
              </a:ext>
            </a:extLst>
          </p:cNvPr>
          <p:cNvSpPr>
            <a:spLocks noGrp="1"/>
          </p:cNvSpPr>
          <p:nvPr>
            <p:ph type="sldNum" sz="quarter" idx="12"/>
          </p:nvPr>
        </p:nvSpPr>
        <p:spPr/>
        <p:txBody>
          <a:bodyPr/>
          <a:lstStyle/>
          <a:p>
            <a:fld id="{45CA964B-B8B5-4404-ADB9-CBB2121E234F}" type="slidenum">
              <a:rPr lang="en-US" smtClean="0"/>
              <a:t>33</a:t>
            </a:fld>
            <a:endParaRPr lang="en-US"/>
          </a:p>
        </p:txBody>
      </p:sp>
      <p:sp>
        <p:nvSpPr>
          <p:cNvPr id="6" name="Text Placeholder 5">
            <a:extLst>
              <a:ext uri="{FF2B5EF4-FFF2-40B4-BE49-F238E27FC236}">
                <a16:creationId xmlns:a16="http://schemas.microsoft.com/office/drawing/2014/main" id="{FB4B733E-9171-49FC-9921-DA37706042A3}"/>
              </a:ext>
            </a:extLst>
          </p:cNvPr>
          <p:cNvSpPr>
            <a:spLocks noGrp="1"/>
          </p:cNvSpPr>
          <p:nvPr>
            <p:ph type="body" sz="quarter" idx="13"/>
          </p:nvPr>
        </p:nvSpPr>
        <p:spPr/>
        <p:txBody>
          <a:bodyPr>
            <a:noAutofit/>
          </a:bodyPr>
          <a:lstStyle/>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double</a:t>
            </a:r>
            <a:r>
              <a:rPr lang="en-US">
                <a:solidFill>
                  <a:srgbClr val="000000"/>
                </a:solidFill>
              </a:rPr>
              <a:t> doC = 0.0;   </a:t>
            </a:r>
            <a:r>
              <a:rPr lang="en-US">
                <a:solidFill>
                  <a:srgbClr val="008000"/>
                </a:solidFill>
              </a:rPr>
              <a:t>//do Celsius</a:t>
            </a:r>
            <a:endParaRPr lang="en-US">
              <a:solidFill>
                <a:srgbClr val="000000"/>
              </a:solidFill>
            </a:endParaRPr>
          </a:p>
          <a:p>
            <a:r>
              <a:rPr lang="de-DE">
                <a:solidFill>
                  <a:srgbClr val="000000"/>
                </a:solidFill>
              </a:rPr>
              <a:t>    </a:t>
            </a:r>
            <a:r>
              <a:rPr lang="de-DE">
                <a:solidFill>
                  <a:srgbClr val="0000FF"/>
                </a:solidFill>
              </a:rPr>
              <a:t>double</a:t>
            </a:r>
            <a:r>
              <a:rPr lang="de-DE">
                <a:solidFill>
                  <a:srgbClr val="000000"/>
                </a:solidFill>
              </a:rPr>
              <a:t> doF = 0.0;   </a:t>
            </a:r>
            <a:r>
              <a:rPr lang="de-DE">
                <a:solidFill>
                  <a:srgbClr val="008000"/>
                </a:solidFill>
              </a:rPr>
              <a:t>//do Fahrenheit</a:t>
            </a:r>
            <a:endParaRPr lang="de-DE">
              <a:solidFill>
                <a:srgbClr val="000000"/>
              </a:solidFill>
            </a:endParaRPr>
          </a:p>
          <a:p>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"Nhap do Celsius: "</a:t>
            </a:r>
            <a:r>
              <a:rPr lang="en-US">
                <a:solidFill>
                  <a:srgbClr val="000000"/>
                </a:solidFill>
              </a:rPr>
              <a:t>;</a:t>
            </a:r>
          </a:p>
          <a:p>
            <a:r>
              <a:rPr lang="en-US">
                <a:solidFill>
                  <a:srgbClr val="000000"/>
                </a:solidFill>
              </a:rPr>
              <a:t>    cin </a:t>
            </a:r>
            <a:r>
              <a:rPr lang="en-US">
                <a:solidFill>
                  <a:srgbClr val="008080"/>
                </a:solidFill>
              </a:rPr>
              <a:t>&gt;&gt;</a:t>
            </a:r>
            <a:r>
              <a:rPr lang="en-US">
                <a:solidFill>
                  <a:srgbClr val="000000"/>
                </a:solidFill>
              </a:rPr>
              <a:t> doC;</a:t>
            </a:r>
          </a:p>
          <a:p>
            <a:endParaRPr lang="en-US">
              <a:solidFill>
                <a:srgbClr val="000000"/>
              </a:solidFill>
            </a:endParaRPr>
          </a:p>
          <a:p>
            <a:r>
              <a:rPr lang="en-US">
                <a:solidFill>
                  <a:srgbClr val="000000"/>
                </a:solidFill>
              </a:rPr>
              <a:t>    doF = (doC * 1.8) + 32;</a:t>
            </a:r>
          </a:p>
          <a:p>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"Do Fahrenheit la: "</a:t>
            </a:r>
            <a:r>
              <a:rPr lang="en-US">
                <a:solidFill>
                  <a:srgbClr val="000000"/>
                </a:solidFill>
              </a:rPr>
              <a:t> </a:t>
            </a:r>
            <a:r>
              <a:rPr lang="en-US">
                <a:solidFill>
                  <a:srgbClr val="008080"/>
                </a:solidFill>
              </a:rPr>
              <a:t>&lt;&lt;</a:t>
            </a:r>
            <a:r>
              <a:rPr lang="en-US">
                <a:solidFill>
                  <a:srgbClr val="000000"/>
                </a:solidFill>
              </a:rPr>
              <a:t> doF </a:t>
            </a:r>
            <a:r>
              <a:rPr lang="en-US">
                <a:solidFill>
                  <a:srgbClr val="008080"/>
                </a:solidFill>
              </a:rPr>
              <a:t>&lt;&lt;</a:t>
            </a:r>
            <a:r>
              <a:rPr lang="en-US">
                <a:solidFill>
                  <a:srgbClr val="000000"/>
                </a:solidFill>
              </a:rPr>
              <a:t> endl;</a:t>
            </a:r>
          </a:p>
          <a:p>
            <a:endParaRPr lang="en-US">
              <a:solidFill>
                <a:srgbClr val="000000"/>
              </a:solidFill>
            </a:endParaRP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2854498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20A009-86A1-406A-8150-7778AFE3CEF1}"/>
              </a:ext>
            </a:extLst>
          </p:cNvPr>
          <p:cNvSpPr>
            <a:spLocks noGrp="1"/>
          </p:cNvSpPr>
          <p:nvPr>
            <p:ph type="title"/>
          </p:nvPr>
        </p:nvSpPr>
        <p:spPr/>
        <p:txBody>
          <a:bodyPr/>
          <a:lstStyle/>
          <a:p>
            <a:r>
              <a:rPr lang="en-US"/>
              <a:t>Ví dụ 4.1.3</a:t>
            </a:r>
          </a:p>
        </p:txBody>
      </p:sp>
      <p:sp>
        <p:nvSpPr>
          <p:cNvPr id="6" name="Content Placeholder 5">
            <a:extLst>
              <a:ext uri="{FF2B5EF4-FFF2-40B4-BE49-F238E27FC236}">
                <a16:creationId xmlns:a16="http://schemas.microsoft.com/office/drawing/2014/main" id="{AB6049AB-C7F5-46B7-9044-61FEECF60855}"/>
              </a:ext>
            </a:extLst>
          </p:cNvPr>
          <p:cNvSpPr>
            <a:spLocks noGrp="1"/>
          </p:cNvSpPr>
          <p:nvPr>
            <p:ph idx="1"/>
          </p:nvPr>
        </p:nvSpPr>
        <p:spPr/>
        <p:txBody>
          <a:bodyPr/>
          <a:lstStyle/>
          <a:p>
            <a:r>
              <a:rPr lang="vi-VN"/>
              <a:t>Viết chương trình nhập một số và in ra bình phương của số đó.</a:t>
            </a:r>
            <a:endParaRPr lang="en-US"/>
          </a:p>
          <a:p>
            <a:endParaRPr lang="en-US"/>
          </a:p>
        </p:txBody>
      </p:sp>
      <p:sp>
        <p:nvSpPr>
          <p:cNvPr id="2" name="Footer Placeholder 1">
            <a:extLst>
              <a:ext uri="{FF2B5EF4-FFF2-40B4-BE49-F238E27FC236}">
                <a16:creationId xmlns:a16="http://schemas.microsoft.com/office/drawing/2014/main" id="{08E60761-643D-4EB6-A275-BA6C4C8A6946}"/>
              </a:ext>
            </a:extLst>
          </p:cNvPr>
          <p:cNvSpPr>
            <a:spLocks noGrp="1"/>
          </p:cNvSpPr>
          <p:nvPr>
            <p:ph type="ftr" sz="quarter" idx="11"/>
          </p:nvPr>
        </p:nvSpPr>
        <p:spPr/>
        <p:txBody>
          <a:bodyPr/>
          <a:lstStyle/>
          <a:p>
            <a:r>
              <a:rPr lang="vi-VN"/>
              <a:t>Cơ sở lập trình - Biến &amp; Kiểu dữ liệu</a:t>
            </a:r>
            <a:endParaRPr lang="en-US"/>
          </a:p>
        </p:txBody>
      </p:sp>
      <p:sp>
        <p:nvSpPr>
          <p:cNvPr id="3" name="Slide Number Placeholder 2">
            <a:extLst>
              <a:ext uri="{FF2B5EF4-FFF2-40B4-BE49-F238E27FC236}">
                <a16:creationId xmlns:a16="http://schemas.microsoft.com/office/drawing/2014/main" id="{D61B4E84-9827-46B5-B0BA-AFF4D96B184D}"/>
              </a:ext>
            </a:extLst>
          </p:cNvPr>
          <p:cNvSpPr>
            <a:spLocks noGrp="1"/>
          </p:cNvSpPr>
          <p:nvPr>
            <p:ph type="sldNum" sz="quarter" idx="12"/>
          </p:nvPr>
        </p:nvSpPr>
        <p:spPr/>
        <p:txBody>
          <a:bodyPr/>
          <a:lstStyle/>
          <a:p>
            <a:fld id="{45CA964B-B8B5-4404-ADB9-CBB2121E234F}" type="slidenum">
              <a:rPr lang="en-US" smtClean="0"/>
              <a:t>34</a:t>
            </a:fld>
            <a:endParaRPr lang="en-US"/>
          </a:p>
        </p:txBody>
      </p:sp>
      <p:graphicFrame>
        <p:nvGraphicFramePr>
          <p:cNvPr id="7" name="Table 6">
            <a:extLst>
              <a:ext uri="{FF2B5EF4-FFF2-40B4-BE49-F238E27FC236}">
                <a16:creationId xmlns:a16="http://schemas.microsoft.com/office/drawing/2014/main" id="{78CF3E23-7193-4BB9-8A03-A49B59826A0F}"/>
              </a:ext>
            </a:extLst>
          </p:cNvPr>
          <p:cNvGraphicFramePr>
            <a:graphicFrameLocks noGrp="1"/>
          </p:cNvGraphicFramePr>
          <p:nvPr>
            <p:extLst>
              <p:ext uri="{D42A27DB-BD31-4B8C-83A1-F6EECF244321}">
                <p14:modId xmlns:p14="http://schemas.microsoft.com/office/powerpoint/2010/main" val="2479060819"/>
              </p:ext>
            </p:extLst>
          </p:nvPr>
        </p:nvGraphicFramePr>
        <p:xfrm>
          <a:off x="327547" y="2123768"/>
          <a:ext cx="8496413" cy="2552056"/>
        </p:xfrm>
        <a:graphic>
          <a:graphicData uri="http://schemas.openxmlformats.org/drawingml/2006/table">
            <a:tbl>
              <a:tblPr firstRow="1">
                <a:tableStyleId>{5940675A-B579-460E-94D1-54222C63F5DA}</a:tableStyleId>
              </a:tblPr>
              <a:tblGrid>
                <a:gridCol w="1825718">
                  <a:extLst>
                    <a:ext uri="{9D8B030D-6E8A-4147-A177-3AD203B41FA5}">
                      <a16:colId xmlns:a16="http://schemas.microsoft.com/office/drawing/2014/main" val="3577124302"/>
                    </a:ext>
                  </a:extLst>
                </a:gridCol>
                <a:gridCol w="5088193">
                  <a:extLst>
                    <a:ext uri="{9D8B030D-6E8A-4147-A177-3AD203B41FA5}">
                      <a16:colId xmlns:a16="http://schemas.microsoft.com/office/drawing/2014/main" val="2556479314"/>
                    </a:ext>
                  </a:extLst>
                </a:gridCol>
                <a:gridCol w="1582502">
                  <a:extLst>
                    <a:ext uri="{9D8B030D-6E8A-4147-A177-3AD203B41FA5}">
                      <a16:colId xmlns:a16="http://schemas.microsoft.com/office/drawing/2014/main" val="1931560747"/>
                    </a:ext>
                  </a:extLst>
                </a:gridCol>
              </a:tblGrid>
              <a:tr h="235974">
                <a:tc>
                  <a:txBody>
                    <a:bodyPr/>
                    <a:lstStyle/>
                    <a:p>
                      <a:pPr marL="78740" marR="0">
                        <a:lnSpc>
                          <a:spcPct val="100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576005"/>
                  </a:ext>
                </a:extLst>
              </a:tr>
              <a:tr h="2151371">
                <a:tc>
                  <a:txBody>
                    <a:bodyPr/>
                    <a:lstStyle/>
                    <a:p>
                      <a:pPr marL="78740" marR="0">
                        <a:lnSpc>
                          <a:spcPct val="107000"/>
                        </a:lnSpc>
                        <a:spcBef>
                          <a:spcPts val="0"/>
                        </a:spcBef>
                        <a:spcAft>
                          <a:spcPts val="0"/>
                        </a:spcAft>
                      </a:pPr>
                      <a:r>
                        <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x</a:t>
                      </a: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i="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Algorithm:</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fontAlgn="base">
                        <a:lnSpc>
                          <a:spcPct val="107000"/>
                        </a:lnSpc>
                        <a:spcBef>
                          <a:spcPts val="0"/>
                        </a:spcBef>
                        <a:spcAft>
                          <a:spcPts val="0"/>
                        </a:spcAft>
                        <a:buClr>
                          <a:srgbClr val="000000"/>
                        </a:buClr>
                        <a:buSzPts val="1000"/>
                        <a:buFont typeface="+mj-lt"/>
                        <a:buNone/>
                      </a:pPr>
                      <a:r>
                        <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1. nhập giá trị vào x</a:t>
                      </a:r>
                    </a:p>
                    <a:p>
                      <a:pPr marL="0" marR="0" lvl="0" indent="0" fontAlgn="base">
                        <a:lnSpc>
                          <a:spcPct val="107000"/>
                        </a:lnSpc>
                        <a:spcBef>
                          <a:spcPts val="0"/>
                        </a:spcBef>
                        <a:spcAft>
                          <a:spcPts val="0"/>
                        </a:spcAft>
                        <a:buClr>
                          <a:srgbClr val="000000"/>
                        </a:buClr>
                        <a:buSzPts val="1000"/>
                        <a:buFont typeface="+mj-lt"/>
                        <a:buNone/>
                      </a:pPr>
                      <a:r>
                        <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2. in ra x * x</a:t>
                      </a: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x * x</a:t>
                      </a: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169256"/>
                  </a:ext>
                </a:extLst>
              </a:tr>
            </a:tbl>
          </a:graphicData>
        </a:graphic>
      </p:graphicFrame>
    </p:spTree>
    <p:extLst>
      <p:ext uri="{BB962C8B-B14F-4D97-AF65-F5344CB8AC3E}">
        <p14:creationId xmlns:p14="http://schemas.microsoft.com/office/powerpoint/2010/main" val="3850507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57FDDD-7A67-4231-A5F8-7B0E7E6A4AA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5EC844B-C8AD-4A4F-8134-A7FBF44DAE1D}"/>
              </a:ext>
            </a:extLst>
          </p:cNvPr>
          <p:cNvSpPr>
            <a:spLocks noGrp="1"/>
          </p:cNvSpPr>
          <p:nvPr>
            <p:ph type="sldNum" sz="quarter" idx="12"/>
          </p:nvPr>
        </p:nvSpPr>
        <p:spPr/>
        <p:txBody>
          <a:bodyPr/>
          <a:lstStyle/>
          <a:p>
            <a:fld id="{45CA964B-B8B5-4404-ADB9-CBB2121E234F}" type="slidenum">
              <a:rPr lang="en-US" smtClean="0"/>
              <a:t>35</a:t>
            </a:fld>
            <a:endParaRPr lang="en-US"/>
          </a:p>
        </p:txBody>
      </p:sp>
      <p:sp>
        <p:nvSpPr>
          <p:cNvPr id="6" name="Text Placeholder 5">
            <a:extLst>
              <a:ext uri="{FF2B5EF4-FFF2-40B4-BE49-F238E27FC236}">
                <a16:creationId xmlns:a16="http://schemas.microsoft.com/office/drawing/2014/main" id="{FB4B733E-9171-49FC-9921-DA37706042A3}"/>
              </a:ext>
            </a:extLst>
          </p:cNvPr>
          <p:cNvSpPr>
            <a:spLocks noGrp="1"/>
          </p:cNvSpPr>
          <p:nvPr>
            <p:ph type="body" sz="quarter" idx="13"/>
          </p:nvPr>
        </p:nvSpPr>
        <p:spPr/>
        <p:txBody>
          <a:bodyPr>
            <a:noAutofit/>
          </a:bodyPr>
          <a:lstStyle/>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double</a:t>
            </a:r>
            <a:r>
              <a:rPr lang="en-US">
                <a:solidFill>
                  <a:srgbClr val="000000"/>
                </a:solidFill>
              </a:rPr>
              <a:t> x = 0.0;</a:t>
            </a:r>
          </a:p>
          <a:p>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"Nhap mot so: "</a:t>
            </a:r>
            <a:r>
              <a:rPr lang="en-US">
                <a:solidFill>
                  <a:srgbClr val="000000"/>
                </a:solidFill>
              </a:rPr>
              <a:t>;</a:t>
            </a:r>
          </a:p>
          <a:p>
            <a:r>
              <a:rPr lang="en-US">
                <a:solidFill>
                  <a:srgbClr val="000000"/>
                </a:solidFill>
              </a:rPr>
              <a:t>    cin </a:t>
            </a:r>
            <a:r>
              <a:rPr lang="en-US">
                <a:solidFill>
                  <a:srgbClr val="008080"/>
                </a:solidFill>
              </a:rPr>
              <a:t>&gt;&gt;</a:t>
            </a:r>
            <a:r>
              <a:rPr lang="en-US">
                <a:solidFill>
                  <a:srgbClr val="000000"/>
                </a:solidFill>
              </a:rPr>
              <a:t> x;</a:t>
            </a:r>
          </a:p>
          <a:p>
            <a:endParaRPr lang="en-US">
              <a:solidFill>
                <a:srgbClr val="000000"/>
              </a:solidFill>
            </a:endParaRPr>
          </a:p>
          <a:p>
            <a:r>
              <a:rPr lang="fr-FR">
                <a:solidFill>
                  <a:srgbClr val="000000"/>
                </a:solidFill>
              </a:rPr>
              <a:t>    cout </a:t>
            </a:r>
            <a:r>
              <a:rPr lang="fr-FR">
                <a:solidFill>
                  <a:srgbClr val="008080"/>
                </a:solidFill>
              </a:rPr>
              <a:t>&lt;&lt;</a:t>
            </a:r>
            <a:r>
              <a:rPr lang="fr-FR">
                <a:solidFill>
                  <a:srgbClr val="000000"/>
                </a:solidFill>
              </a:rPr>
              <a:t> </a:t>
            </a:r>
            <a:r>
              <a:rPr lang="fr-FR">
                <a:solidFill>
                  <a:srgbClr val="A31515"/>
                </a:solidFill>
              </a:rPr>
              <a:t>"Binh phuong la: "</a:t>
            </a:r>
            <a:r>
              <a:rPr lang="fr-FR">
                <a:solidFill>
                  <a:srgbClr val="000000"/>
                </a:solidFill>
              </a:rPr>
              <a:t> </a:t>
            </a:r>
            <a:r>
              <a:rPr lang="fr-FR">
                <a:solidFill>
                  <a:srgbClr val="008080"/>
                </a:solidFill>
              </a:rPr>
              <a:t>&lt;&lt;</a:t>
            </a:r>
            <a:r>
              <a:rPr lang="fr-FR">
                <a:solidFill>
                  <a:srgbClr val="000000"/>
                </a:solidFill>
              </a:rPr>
              <a:t> x * x </a:t>
            </a:r>
            <a:r>
              <a:rPr lang="fr-FR">
                <a:solidFill>
                  <a:srgbClr val="008080"/>
                </a:solidFill>
              </a:rPr>
              <a:t>&lt;&lt;</a:t>
            </a:r>
            <a:r>
              <a:rPr lang="fr-FR">
                <a:solidFill>
                  <a:srgbClr val="000000"/>
                </a:solidFill>
              </a:rPr>
              <a:t> endl;</a:t>
            </a:r>
          </a:p>
          <a:p>
            <a:endParaRPr lang="en-US">
              <a:solidFill>
                <a:srgbClr val="000000"/>
              </a:solidFill>
            </a:endParaRP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1550894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20A009-86A1-406A-8150-7778AFE3CEF1}"/>
              </a:ext>
            </a:extLst>
          </p:cNvPr>
          <p:cNvSpPr>
            <a:spLocks noGrp="1"/>
          </p:cNvSpPr>
          <p:nvPr>
            <p:ph type="title"/>
          </p:nvPr>
        </p:nvSpPr>
        <p:spPr/>
        <p:txBody>
          <a:bodyPr/>
          <a:lstStyle/>
          <a:p>
            <a:r>
              <a:rPr lang="en-US"/>
              <a:t>Ví dụ 4.1.4</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B6049AB-C7F5-46B7-9044-61FEECF60855}"/>
                  </a:ext>
                </a:extLst>
              </p:cNvPr>
              <p:cNvSpPr>
                <a:spLocks noGrp="1"/>
              </p:cNvSpPr>
              <p:nvPr>
                <p:ph idx="1"/>
              </p:nvPr>
            </p:nvSpPr>
            <p:spPr/>
            <p:txBody>
              <a:bodyPr/>
              <a:lstStyle/>
              <a:p>
                <a:r>
                  <a:rPr lang="vi-VN"/>
                  <a:t>Viết chương trình nhập vào chiều cao (m) và cân nặng (kg), tín và in ra chỉ số BMI (body mass index) của người đó.</a:t>
                </a:r>
              </a:p>
              <a:p>
                <a:r>
                  <a:rPr lang="vi-VN"/>
                  <a:t>Công thức tính như sau:</a:t>
                </a:r>
                <a:endParaRPr lang="en-US"/>
              </a:p>
              <a:p>
                <a:pPr marL="109538"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𝑏𝑚𝑖</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c</m:t>
                          </m:r>
                          <m:r>
                            <m:rPr>
                              <m:nor/>
                            </m:rPr>
                            <a:rPr lang="en-US" b="0" i="0" smtClean="0">
                              <a:latin typeface="Cambria Math" panose="02040503050406030204" pitchFamily="18" charset="0"/>
                            </a:rPr>
                            <m:t>â</m:t>
                          </m:r>
                          <m:r>
                            <m:rPr>
                              <m:nor/>
                            </m:rPr>
                            <a:rPr lang="en-US" b="0" i="0" smtClean="0">
                              <a:latin typeface="Cambria Math" panose="02040503050406030204" pitchFamily="18" charset="0"/>
                            </a:rPr>
                            <m:t>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m:t>
                          </m:r>
                          <m:r>
                            <m:rPr>
                              <m:nor/>
                            </m:rPr>
                            <a:rPr lang="en-US" b="0" i="0" smtClean="0">
                              <a:latin typeface="Cambria Math" panose="02040503050406030204" pitchFamily="18" charset="0"/>
                            </a:rPr>
                            <m:t>ặ</m:t>
                          </m:r>
                          <m:r>
                            <m:rPr>
                              <m:nor/>
                            </m:rPr>
                            <a:rPr lang="en-US" b="0" i="0" smtClean="0">
                              <a:latin typeface="Cambria Math" panose="02040503050406030204" pitchFamily="18" charset="0"/>
                            </a:rPr>
                            <m:t>ng</m:t>
                          </m:r>
                          <m:r>
                            <m:rPr>
                              <m:nor/>
                            </m:rPr>
                            <a:rPr lang="en-US" b="0" i="0" smtClean="0">
                              <a:latin typeface="Cambria Math" panose="02040503050406030204" pitchFamily="18" charset="0"/>
                            </a:rPr>
                            <m:t> (</m:t>
                          </m:r>
                          <m:r>
                            <m:rPr>
                              <m:nor/>
                            </m:rPr>
                            <a:rPr lang="en-US" b="0" i="0" smtClean="0">
                              <a:latin typeface="Cambria Math" panose="02040503050406030204" pitchFamily="18" charset="0"/>
                            </a:rPr>
                            <m:t>kg</m:t>
                          </m:r>
                          <m:r>
                            <m:rPr>
                              <m:nor/>
                            </m:rPr>
                            <a:rPr lang="en-US" b="0" i="0" smtClean="0">
                              <a:latin typeface="Cambria Math" panose="02040503050406030204" pitchFamily="18" charset="0"/>
                            </a:rPr>
                            <m:t>)</m:t>
                          </m:r>
                        </m:num>
                        <m:den>
                          <m:r>
                            <m:rPr>
                              <m:nor/>
                            </m:rPr>
                            <a:rPr lang="en-US" b="0" i="0" smtClean="0">
                              <a:latin typeface="Cambria Math" panose="02040503050406030204" pitchFamily="18" charset="0"/>
                            </a:rPr>
                            <m:t>chi</m:t>
                          </m:r>
                          <m:r>
                            <m:rPr>
                              <m:nor/>
                            </m:rPr>
                            <a:rPr lang="en-US" b="0" i="0" smtClean="0">
                              <a:latin typeface="Cambria Math" panose="02040503050406030204" pitchFamily="18" charset="0"/>
                            </a:rPr>
                            <m:t>ề</m:t>
                          </m:r>
                          <m:r>
                            <m:rPr>
                              <m:nor/>
                            </m:rPr>
                            <a:rPr lang="en-US" b="0" i="0" smtClean="0">
                              <a:latin typeface="Cambria Math" panose="02040503050406030204" pitchFamily="18" charset="0"/>
                            </a:rPr>
                            <m:t>u</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cao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chi</m:t>
                          </m:r>
                          <m:r>
                            <m:rPr>
                              <m:nor/>
                            </m:rPr>
                            <a:rPr lang="en-US" b="0" i="0" smtClean="0">
                              <a:latin typeface="Cambria Math" panose="02040503050406030204" pitchFamily="18" charset="0"/>
                              <a:ea typeface="Cambria Math" panose="02040503050406030204" pitchFamily="18" charset="0"/>
                            </a:rPr>
                            <m:t>ề</m:t>
                          </m:r>
                          <m:r>
                            <m:rPr>
                              <m:nor/>
                            </m:rPr>
                            <a:rPr lang="en-US" b="0" i="0" smtClean="0">
                              <a:latin typeface="Cambria Math" panose="02040503050406030204" pitchFamily="18" charset="0"/>
                              <a:ea typeface="Cambria Math" panose="02040503050406030204" pitchFamily="18" charset="0"/>
                            </a:rPr>
                            <m:t>u</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cao</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m</m:t>
                          </m:r>
                          <m:r>
                            <m:rPr>
                              <m:nor/>
                            </m:rPr>
                            <a:rPr lang="en-US" b="0" i="0" smtClean="0">
                              <a:latin typeface="Cambria Math" panose="02040503050406030204" pitchFamily="18" charset="0"/>
                              <a:ea typeface="Cambria Math" panose="02040503050406030204" pitchFamily="18" charset="0"/>
                            </a:rPr>
                            <m:t>)</m:t>
                          </m:r>
                        </m:den>
                      </m:f>
                    </m:oMath>
                  </m:oMathPara>
                </a14:m>
                <a:endParaRPr lang="en-US"/>
              </a:p>
              <a:p>
                <a:endParaRPr lang="en-US"/>
              </a:p>
            </p:txBody>
          </p:sp>
        </mc:Choice>
        <mc:Fallback xmlns="">
          <p:sp>
            <p:nvSpPr>
              <p:cNvPr id="6" name="Content Placeholder 5">
                <a:extLst>
                  <a:ext uri="{FF2B5EF4-FFF2-40B4-BE49-F238E27FC236}">
                    <a16:creationId xmlns:a16="http://schemas.microsoft.com/office/drawing/2014/main" id="{AB6049AB-C7F5-46B7-9044-61FEECF60855}"/>
                  </a:ext>
                </a:extLst>
              </p:cNvPr>
              <p:cNvSpPr>
                <a:spLocks noGrp="1" noRot="1" noChangeAspect="1" noMove="1" noResize="1" noEditPoints="1" noAdjustHandles="1" noChangeArrowheads="1" noChangeShapeType="1" noTextEdit="1"/>
              </p:cNvSpPr>
              <p:nvPr>
                <p:ph idx="1"/>
              </p:nvPr>
            </p:nvSpPr>
            <p:spPr>
              <a:blipFill>
                <a:blip r:embed="rId2"/>
                <a:stretch>
                  <a:fillRect l="-932" t="-1808"/>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8E60761-643D-4EB6-A275-BA6C4C8A6946}"/>
              </a:ext>
            </a:extLst>
          </p:cNvPr>
          <p:cNvSpPr>
            <a:spLocks noGrp="1"/>
          </p:cNvSpPr>
          <p:nvPr>
            <p:ph type="ftr" sz="quarter" idx="11"/>
          </p:nvPr>
        </p:nvSpPr>
        <p:spPr/>
        <p:txBody>
          <a:bodyPr/>
          <a:lstStyle/>
          <a:p>
            <a:r>
              <a:rPr lang="vi-VN"/>
              <a:t>Cơ sở lập trình - Biến &amp; Kiểu dữ liệu</a:t>
            </a:r>
            <a:endParaRPr lang="en-US"/>
          </a:p>
        </p:txBody>
      </p:sp>
      <p:sp>
        <p:nvSpPr>
          <p:cNvPr id="3" name="Slide Number Placeholder 2">
            <a:extLst>
              <a:ext uri="{FF2B5EF4-FFF2-40B4-BE49-F238E27FC236}">
                <a16:creationId xmlns:a16="http://schemas.microsoft.com/office/drawing/2014/main" id="{D61B4E84-9827-46B5-B0BA-AFF4D96B184D}"/>
              </a:ext>
            </a:extLst>
          </p:cNvPr>
          <p:cNvSpPr>
            <a:spLocks noGrp="1"/>
          </p:cNvSpPr>
          <p:nvPr>
            <p:ph type="sldNum" sz="quarter" idx="12"/>
          </p:nvPr>
        </p:nvSpPr>
        <p:spPr/>
        <p:txBody>
          <a:bodyPr/>
          <a:lstStyle/>
          <a:p>
            <a:fld id="{45CA964B-B8B5-4404-ADB9-CBB2121E234F}" type="slidenum">
              <a:rPr lang="en-US" smtClean="0"/>
              <a:t>36</a:t>
            </a:fld>
            <a:endParaRPr lang="en-US"/>
          </a:p>
        </p:txBody>
      </p:sp>
      <p:graphicFrame>
        <p:nvGraphicFramePr>
          <p:cNvPr id="7" name="Table 6">
            <a:extLst>
              <a:ext uri="{FF2B5EF4-FFF2-40B4-BE49-F238E27FC236}">
                <a16:creationId xmlns:a16="http://schemas.microsoft.com/office/drawing/2014/main" id="{78CF3E23-7193-4BB9-8A03-A49B59826A0F}"/>
              </a:ext>
            </a:extLst>
          </p:cNvPr>
          <p:cNvGraphicFramePr>
            <a:graphicFrameLocks noGrp="1"/>
          </p:cNvGraphicFramePr>
          <p:nvPr>
            <p:extLst>
              <p:ext uri="{D42A27DB-BD31-4B8C-83A1-F6EECF244321}">
                <p14:modId xmlns:p14="http://schemas.microsoft.com/office/powerpoint/2010/main" val="3979833294"/>
              </p:ext>
            </p:extLst>
          </p:nvPr>
        </p:nvGraphicFramePr>
        <p:xfrm>
          <a:off x="327547" y="3259394"/>
          <a:ext cx="8496413" cy="2552056"/>
        </p:xfrm>
        <a:graphic>
          <a:graphicData uri="http://schemas.openxmlformats.org/drawingml/2006/table">
            <a:tbl>
              <a:tblPr firstRow="1">
                <a:tableStyleId>{5940675A-B579-460E-94D1-54222C63F5DA}</a:tableStyleId>
              </a:tblPr>
              <a:tblGrid>
                <a:gridCol w="1457008">
                  <a:extLst>
                    <a:ext uri="{9D8B030D-6E8A-4147-A177-3AD203B41FA5}">
                      <a16:colId xmlns:a16="http://schemas.microsoft.com/office/drawing/2014/main" val="3577124302"/>
                    </a:ext>
                  </a:extLst>
                </a:gridCol>
                <a:gridCol w="5914103">
                  <a:extLst>
                    <a:ext uri="{9D8B030D-6E8A-4147-A177-3AD203B41FA5}">
                      <a16:colId xmlns:a16="http://schemas.microsoft.com/office/drawing/2014/main" val="2556479314"/>
                    </a:ext>
                  </a:extLst>
                </a:gridCol>
                <a:gridCol w="1125302">
                  <a:extLst>
                    <a:ext uri="{9D8B030D-6E8A-4147-A177-3AD203B41FA5}">
                      <a16:colId xmlns:a16="http://schemas.microsoft.com/office/drawing/2014/main" val="1931560747"/>
                    </a:ext>
                  </a:extLst>
                </a:gridCol>
              </a:tblGrid>
              <a:tr h="235974">
                <a:tc>
                  <a:txBody>
                    <a:bodyPr/>
                    <a:lstStyle/>
                    <a:p>
                      <a:pPr marL="78740" marR="0">
                        <a:lnSpc>
                          <a:spcPct val="100000"/>
                        </a:lnSpc>
                        <a:spcBef>
                          <a:spcPts val="0"/>
                        </a:spcBef>
                        <a:spcAft>
                          <a:spcPts val="0"/>
                        </a:spcAft>
                      </a:pPr>
                      <a:r>
                        <a:rPr lang="en-US" sz="2400" b="1">
                          <a:effectLst/>
                        </a:rPr>
                        <a:t>Input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b="1">
                          <a:effectLst/>
                        </a:rPr>
                        <a:t>Processing</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2400" b="1">
                          <a:effectLst/>
                        </a:rPr>
                        <a:t>Output</a:t>
                      </a:r>
                      <a:endParaRPr lang="en-US"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576005"/>
                  </a:ext>
                </a:extLst>
              </a:tr>
              <a:tr h="2151371">
                <a:tc>
                  <a:txBody>
                    <a:bodyPr/>
                    <a:lstStyle/>
                    <a:p>
                      <a:pPr marL="78740" marR="0">
                        <a:lnSpc>
                          <a:spcPct val="107000"/>
                        </a:lnSpc>
                        <a:spcBef>
                          <a:spcPts val="0"/>
                        </a:spcBef>
                        <a:spcAft>
                          <a:spcPts val="0"/>
                        </a:spcAft>
                      </a:pPr>
                      <a:r>
                        <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chiều cao</a:t>
                      </a:r>
                    </a:p>
                    <a:p>
                      <a:pPr marL="78740" marR="0">
                        <a:lnSpc>
                          <a:spcPct val="107000"/>
                        </a:lnSpc>
                        <a:spcBef>
                          <a:spcPts val="0"/>
                        </a:spcBef>
                        <a:spcAft>
                          <a:spcPts val="0"/>
                        </a:spcAft>
                      </a:pPr>
                      <a:r>
                        <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cân nặng</a:t>
                      </a:r>
                    </a:p>
                  </a:txBody>
                  <a:tcPr marL="0" marR="73025" marT="34925"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i="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Algorithm:</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fontAlgn="base">
                        <a:lnSpc>
                          <a:spcPct val="107000"/>
                        </a:lnSpc>
                        <a:spcBef>
                          <a:spcPts val="0"/>
                        </a:spcBef>
                        <a:spcAft>
                          <a:spcPts val="0"/>
                        </a:spcAft>
                        <a:buClr>
                          <a:srgbClr val="000000"/>
                        </a:buClr>
                        <a:buSzPts val="1000"/>
                        <a:buFont typeface="+mj-lt"/>
                        <a:buNone/>
                      </a:pPr>
                      <a:r>
                        <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1. nhập chiều cao </a:t>
                      </a:r>
                    </a:p>
                    <a:p>
                      <a:pPr marL="0" marR="0" lvl="0" indent="0" fontAlgn="base">
                        <a:lnSpc>
                          <a:spcPct val="107000"/>
                        </a:lnSpc>
                        <a:spcBef>
                          <a:spcPts val="0"/>
                        </a:spcBef>
                        <a:spcAft>
                          <a:spcPts val="0"/>
                        </a:spcAft>
                        <a:buClr>
                          <a:srgbClr val="000000"/>
                        </a:buClr>
                        <a:buSzPts val="1000"/>
                        <a:buFont typeface="+mj-lt"/>
                        <a:buNone/>
                      </a:pPr>
                      <a:r>
                        <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2. nhập cân nặng </a:t>
                      </a:r>
                    </a:p>
                    <a:p>
                      <a:pPr marL="0" marR="0" lvl="0" indent="0" fontAlgn="base">
                        <a:lnSpc>
                          <a:spcPct val="107000"/>
                        </a:lnSpc>
                        <a:spcBef>
                          <a:spcPts val="0"/>
                        </a:spcBef>
                        <a:spcAft>
                          <a:spcPts val="0"/>
                        </a:spcAft>
                        <a:buClr>
                          <a:srgbClr val="000000"/>
                        </a:buClr>
                        <a:buSzPts val="1000"/>
                        <a:buFont typeface="+mj-lt"/>
                        <a:buNone/>
                      </a:pPr>
                      <a:r>
                        <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3. tính BMI = cân nặng / (chiều cao * chiều cao) </a:t>
                      </a:r>
                    </a:p>
                    <a:p>
                      <a:pPr marL="0" marR="0" lvl="0" indent="0" fontAlgn="base">
                        <a:lnSpc>
                          <a:spcPct val="107000"/>
                        </a:lnSpc>
                        <a:spcBef>
                          <a:spcPts val="0"/>
                        </a:spcBef>
                        <a:spcAft>
                          <a:spcPts val="0"/>
                        </a:spcAft>
                        <a:buClr>
                          <a:srgbClr val="000000"/>
                        </a:buClr>
                        <a:buSzPts val="1000"/>
                        <a:buFont typeface="+mj-lt"/>
                        <a:buNone/>
                      </a:pPr>
                      <a:r>
                        <a:rPr lang="en-US" sz="2400" u="none" strike="noStrike">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4. in ra BMI</a:t>
                      </a:r>
                    </a:p>
                  </a:txBody>
                  <a:tcPr marL="0" marR="73025" marT="34925"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BMI</a:t>
                      </a:r>
                    </a:p>
                  </a:txBody>
                  <a:tcPr marL="0" marR="73025" marT="34925"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169256"/>
                  </a:ext>
                </a:extLst>
              </a:tr>
            </a:tbl>
          </a:graphicData>
        </a:graphic>
      </p:graphicFrame>
    </p:spTree>
    <p:extLst>
      <p:ext uri="{BB962C8B-B14F-4D97-AF65-F5344CB8AC3E}">
        <p14:creationId xmlns:p14="http://schemas.microsoft.com/office/powerpoint/2010/main" val="3753105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57FDDD-7A67-4231-A5F8-7B0E7E6A4AA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5EC844B-C8AD-4A4F-8134-A7FBF44DAE1D}"/>
              </a:ext>
            </a:extLst>
          </p:cNvPr>
          <p:cNvSpPr>
            <a:spLocks noGrp="1"/>
          </p:cNvSpPr>
          <p:nvPr>
            <p:ph type="sldNum" sz="quarter" idx="12"/>
          </p:nvPr>
        </p:nvSpPr>
        <p:spPr/>
        <p:txBody>
          <a:bodyPr/>
          <a:lstStyle/>
          <a:p>
            <a:fld id="{45CA964B-B8B5-4404-ADB9-CBB2121E234F}" type="slidenum">
              <a:rPr lang="en-US" smtClean="0"/>
              <a:t>37</a:t>
            </a:fld>
            <a:endParaRPr lang="en-US"/>
          </a:p>
        </p:txBody>
      </p:sp>
      <p:sp>
        <p:nvSpPr>
          <p:cNvPr id="6" name="Text Placeholder 5">
            <a:extLst>
              <a:ext uri="{FF2B5EF4-FFF2-40B4-BE49-F238E27FC236}">
                <a16:creationId xmlns:a16="http://schemas.microsoft.com/office/drawing/2014/main" id="{FB4B733E-9171-49FC-9921-DA37706042A3}"/>
              </a:ext>
            </a:extLst>
          </p:cNvPr>
          <p:cNvSpPr>
            <a:spLocks noGrp="1"/>
          </p:cNvSpPr>
          <p:nvPr>
            <p:ph type="body" sz="quarter" idx="13"/>
          </p:nvPr>
        </p:nvSpPr>
        <p:spPr/>
        <p:txBody>
          <a:bodyPr>
            <a:noAutofit/>
          </a:bodyPr>
          <a:lstStyle/>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double</a:t>
            </a:r>
            <a:r>
              <a:rPr lang="en-US">
                <a:solidFill>
                  <a:srgbClr val="000000"/>
                </a:solidFill>
              </a:rPr>
              <a:t> cannang = 0.0;</a:t>
            </a:r>
          </a:p>
          <a:p>
            <a:r>
              <a:rPr lang="en-US">
                <a:solidFill>
                  <a:srgbClr val="000000"/>
                </a:solidFill>
              </a:rPr>
              <a:t>    </a:t>
            </a:r>
            <a:r>
              <a:rPr lang="en-US">
                <a:solidFill>
                  <a:srgbClr val="0000FF"/>
                </a:solidFill>
              </a:rPr>
              <a:t>double</a:t>
            </a:r>
            <a:r>
              <a:rPr lang="en-US">
                <a:solidFill>
                  <a:srgbClr val="000000"/>
                </a:solidFill>
              </a:rPr>
              <a:t> chieucao = 0.0;</a:t>
            </a:r>
          </a:p>
          <a:p>
            <a:r>
              <a:rPr lang="en-US">
                <a:solidFill>
                  <a:srgbClr val="000000"/>
                </a:solidFill>
              </a:rPr>
              <a:t>    </a:t>
            </a:r>
            <a:r>
              <a:rPr lang="en-US">
                <a:solidFill>
                  <a:srgbClr val="0000FF"/>
                </a:solidFill>
              </a:rPr>
              <a:t>double</a:t>
            </a:r>
            <a:r>
              <a:rPr lang="en-US">
                <a:solidFill>
                  <a:srgbClr val="000000"/>
                </a:solidFill>
              </a:rPr>
              <a:t> bmi = 0.0;</a:t>
            </a:r>
          </a:p>
          <a:p>
            <a:endParaRPr lang="en-US">
              <a:solidFill>
                <a:srgbClr val="000000"/>
              </a:solidFill>
            </a:endParaRPr>
          </a:p>
          <a:p>
            <a:r>
              <a:rPr lang="fr-FR">
                <a:solidFill>
                  <a:srgbClr val="000000"/>
                </a:solidFill>
              </a:rPr>
              <a:t>    cout </a:t>
            </a:r>
            <a:r>
              <a:rPr lang="fr-FR">
                <a:solidFill>
                  <a:srgbClr val="008080"/>
                </a:solidFill>
              </a:rPr>
              <a:t>&lt;&lt;</a:t>
            </a:r>
            <a:r>
              <a:rPr lang="fr-FR">
                <a:solidFill>
                  <a:srgbClr val="000000"/>
                </a:solidFill>
              </a:rPr>
              <a:t> </a:t>
            </a:r>
            <a:r>
              <a:rPr lang="fr-FR">
                <a:solidFill>
                  <a:srgbClr val="A31515"/>
                </a:solidFill>
              </a:rPr>
              <a:t>"Nhap can nang va chieu cao: "</a:t>
            </a:r>
            <a:r>
              <a:rPr lang="fr-FR">
                <a:solidFill>
                  <a:srgbClr val="000000"/>
                </a:solidFill>
              </a:rPr>
              <a:t>;</a:t>
            </a:r>
          </a:p>
          <a:p>
            <a:r>
              <a:rPr lang="en-US">
                <a:solidFill>
                  <a:srgbClr val="000000"/>
                </a:solidFill>
              </a:rPr>
              <a:t>    cin </a:t>
            </a:r>
            <a:r>
              <a:rPr lang="en-US">
                <a:solidFill>
                  <a:srgbClr val="008080"/>
                </a:solidFill>
              </a:rPr>
              <a:t>&gt;&gt;</a:t>
            </a:r>
            <a:r>
              <a:rPr lang="en-US">
                <a:solidFill>
                  <a:srgbClr val="000000"/>
                </a:solidFill>
              </a:rPr>
              <a:t> cannang </a:t>
            </a:r>
            <a:r>
              <a:rPr lang="en-US">
                <a:solidFill>
                  <a:srgbClr val="008080"/>
                </a:solidFill>
              </a:rPr>
              <a:t>&gt;&gt;</a:t>
            </a:r>
            <a:r>
              <a:rPr lang="en-US">
                <a:solidFill>
                  <a:srgbClr val="000000"/>
                </a:solidFill>
              </a:rPr>
              <a:t> chieucao;</a:t>
            </a:r>
          </a:p>
          <a:p>
            <a:endParaRPr lang="en-US">
              <a:solidFill>
                <a:srgbClr val="000000"/>
              </a:solidFill>
            </a:endParaRPr>
          </a:p>
          <a:p>
            <a:r>
              <a:rPr lang="en-US">
                <a:solidFill>
                  <a:srgbClr val="000000"/>
                </a:solidFill>
              </a:rPr>
              <a:t>    bmi = cannang / (chieucao * chieucao);</a:t>
            </a:r>
          </a:p>
          <a:p>
            <a:r>
              <a:rPr lang="fr-FR">
                <a:solidFill>
                  <a:srgbClr val="000000"/>
                </a:solidFill>
              </a:rPr>
              <a:t>    cout </a:t>
            </a:r>
            <a:r>
              <a:rPr lang="fr-FR">
                <a:solidFill>
                  <a:srgbClr val="008080"/>
                </a:solidFill>
              </a:rPr>
              <a:t>&lt;&lt;</a:t>
            </a:r>
            <a:r>
              <a:rPr lang="fr-FR">
                <a:solidFill>
                  <a:srgbClr val="000000"/>
                </a:solidFill>
              </a:rPr>
              <a:t> </a:t>
            </a:r>
            <a:r>
              <a:rPr lang="fr-FR">
                <a:solidFill>
                  <a:srgbClr val="A31515"/>
                </a:solidFill>
              </a:rPr>
              <a:t>"BMI la "</a:t>
            </a:r>
            <a:r>
              <a:rPr lang="fr-FR">
                <a:solidFill>
                  <a:srgbClr val="000000"/>
                </a:solidFill>
              </a:rPr>
              <a:t> </a:t>
            </a:r>
            <a:r>
              <a:rPr lang="fr-FR">
                <a:solidFill>
                  <a:srgbClr val="008080"/>
                </a:solidFill>
              </a:rPr>
              <a:t>&lt;&lt;</a:t>
            </a:r>
            <a:r>
              <a:rPr lang="fr-FR">
                <a:solidFill>
                  <a:srgbClr val="000000"/>
                </a:solidFill>
              </a:rPr>
              <a:t> bmi </a:t>
            </a:r>
            <a:r>
              <a:rPr lang="fr-FR">
                <a:solidFill>
                  <a:srgbClr val="008080"/>
                </a:solidFill>
              </a:rPr>
              <a:t>&lt;&lt;</a:t>
            </a:r>
            <a:r>
              <a:rPr lang="fr-FR">
                <a:solidFill>
                  <a:srgbClr val="000000"/>
                </a:solidFill>
              </a:rPr>
              <a:t> endl;</a:t>
            </a:r>
          </a:p>
          <a:p>
            <a:endParaRPr lang="en-US">
              <a:solidFill>
                <a:srgbClr val="000000"/>
              </a:solidFill>
            </a:endParaRP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1639696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48CBD4-7B6F-4049-ACC1-CF54C876327B}"/>
              </a:ext>
            </a:extLst>
          </p:cNvPr>
          <p:cNvSpPr>
            <a:spLocks noGrp="1"/>
          </p:cNvSpPr>
          <p:nvPr>
            <p:ph type="title"/>
          </p:nvPr>
        </p:nvSpPr>
        <p:spPr/>
        <p:txBody>
          <a:bodyPr/>
          <a:lstStyle/>
          <a:p>
            <a:r>
              <a:rPr lang="en-US"/>
              <a:t>Bài tập</a:t>
            </a:r>
          </a:p>
        </p:txBody>
      </p:sp>
      <p:sp>
        <p:nvSpPr>
          <p:cNvPr id="6" name="Content Placeholder 5">
            <a:extLst>
              <a:ext uri="{FF2B5EF4-FFF2-40B4-BE49-F238E27FC236}">
                <a16:creationId xmlns:a16="http://schemas.microsoft.com/office/drawing/2014/main" id="{EF0DB4B4-9C6A-4B98-9BE7-BC63D8DD6E88}"/>
              </a:ext>
            </a:extLst>
          </p:cNvPr>
          <p:cNvSpPr>
            <a:spLocks noGrp="1"/>
          </p:cNvSpPr>
          <p:nvPr>
            <p:ph idx="1"/>
          </p:nvPr>
        </p:nvSpPr>
        <p:spPr/>
        <p:txBody>
          <a:bodyPr/>
          <a:lstStyle/>
          <a:p>
            <a:r>
              <a:rPr lang="vi-VN"/>
              <a:t>Viết chương trình nhập vào độ Fahrenheit, chuyển sang độ Celsius và in ra kết quả.</a:t>
            </a:r>
          </a:p>
          <a:p>
            <a:pPr lvl="1"/>
            <a:r>
              <a:rPr lang="vi-VN"/>
              <a:t>Công thức chuyển đổi là doC = (doF - 32) / 1.8.)</a:t>
            </a:r>
          </a:p>
          <a:p>
            <a:endParaRPr lang="en-US"/>
          </a:p>
          <a:p>
            <a:r>
              <a:rPr lang="vi-VN"/>
              <a:t>Viết chương trình nhập một số và in ra lập phương của số đó.</a:t>
            </a:r>
            <a:endParaRPr lang="en-US"/>
          </a:p>
        </p:txBody>
      </p:sp>
      <p:sp>
        <p:nvSpPr>
          <p:cNvPr id="2" name="Footer Placeholder 1">
            <a:extLst>
              <a:ext uri="{FF2B5EF4-FFF2-40B4-BE49-F238E27FC236}">
                <a16:creationId xmlns:a16="http://schemas.microsoft.com/office/drawing/2014/main" id="{7826371C-1D7F-4063-9475-50500BD4B30D}"/>
              </a:ext>
            </a:extLst>
          </p:cNvPr>
          <p:cNvSpPr>
            <a:spLocks noGrp="1"/>
          </p:cNvSpPr>
          <p:nvPr>
            <p:ph type="ftr" sz="quarter" idx="11"/>
          </p:nvPr>
        </p:nvSpPr>
        <p:spPr/>
        <p:txBody>
          <a:bodyPr/>
          <a:lstStyle/>
          <a:p>
            <a:r>
              <a:rPr lang="vi-VN"/>
              <a:t>Cơ sở lập trình - Biến &amp; Kiểu dữ liệu</a:t>
            </a:r>
            <a:endParaRPr lang="en-US"/>
          </a:p>
        </p:txBody>
      </p:sp>
      <p:sp>
        <p:nvSpPr>
          <p:cNvPr id="3" name="Slide Number Placeholder 2">
            <a:extLst>
              <a:ext uri="{FF2B5EF4-FFF2-40B4-BE49-F238E27FC236}">
                <a16:creationId xmlns:a16="http://schemas.microsoft.com/office/drawing/2014/main" id="{F87E9E4A-8C14-405C-A784-1561A21D311C}"/>
              </a:ext>
            </a:extLst>
          </p:cNvPr>
          <p:cNvSpPr>
            <a:spLocks noGrp="1"/>
          </p:cNvSpPr>
          <p:nvPr>
            <p:ph type="sldNum" sz="quarter" idx="12"/>
          </p:nvPr>
        </p:nvSpPr>
        <p:spPr/>
        <p:txBody>
          <a:bodyPr/>
          <a:lstStyle/>
          <a:p>
            <a:fld id="{45CA964B-B8B5-4404-ADB9-CBB2121E234F}" type="slidenum">
              <a:rPr lang="en-US" smtClean="0"/>
              <a:t>38</a:t>
            </a:fld>
            <a:endParaRPr lang="en-US"/>
          </a:p>
        </p:txBody>
      </p:sp>
    </p:spTree>
    <p:extLst>
      <p:ext uri="{BB962C8B-B14F-4D97-AF65-F5344CB8AC3E}">
        <p14:creationId xmlns:p14="http://schemas.microsoft.com/office/powerpoint/2010/main" val="1191407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7B946-BFFF-40CD-BC73-58EAD166EC2E}"/>
              </a:ext>
            </a:extLst>
          </p:cNvPr>
          <p:cNvSpPr>
            <a:spLocks noGrp="1"/>
          </p:cNvSpPr>
          <p:nvPr>
            <p:ph type="title"/>
          </p:nvPr>
        </p:nvSpPr>
        <p:spPr/>
        <p:txBody>
          <a:bodyPr/>
          <a:lstStyle/>
          <a:p>
            <a:r>
              <a:rPr lang="en-US"/>
              <a:t>Nhập dữ liệu kiểu string</a:t>
            </a:r>
          </a:p>
        </p:txBody>
      </p:sp>
      <p:sp>
        <p:nvSpPr>
          <p:cNvPr id="3" name="Content Placeholder 2">
            <a:extLst>
              <a:ext uri="{FF2B5EF4-FFF2-40B4-BE49-F238E27FC236}">
                <a16:creationId xmlns:a16="http://schemas.microsoft.com/office/drawing/2014/main" id="{53B66520-0D4E-4EEB-A785-42356F3B5FB2}"/>
              </a:ext>
            </a:extLst>
          </p:cNvPr>
          <p:cNvSpPr>
            <a:spLocks noGrp="1"/>
          </p:cNvSpPr>
          <p:nvPr>
            <p:ph idx="1"/>
          </p:nvPr>
        </p:nvSpPr>
        <p:spPr/>
        <p:txBody>
          <a:bodyPr>
            <a:noAutofit/>
          </a:bodyPr>
          <a:lstStyle/>
          <a:p>
            <a:pPr lvl="4">
              <a:spcBef>
                <a:spcPts val="1200"/>
              </a:spcBef>
              <a:spcAft>
                <a:spcPts val="1200"/>
              </a:spcAft>
            </a:pPr>
            <a:r>
              <a:rPr lang="en-US"/>
              <a:t>getline(cin, str);</a:t>
            </a:r>
          </a:p>
          <a:p>
            <a:pPr lvl="1"/>
            <a:r>
              <a:rPr lang="vi-VN"/>
              <a:t>str là biến có kiểu string</a:t>
            </a:r>
          </a:p>
          <a:p>
            <a:pPr lvl="1"/>
            <a:r>
              <a:rPr lang="en-US"/>
              <a:t>đ</a:t>
            </a:r>
            <a:r>
              <a:rPr lang="vi-VN"/>
              <a:t>ọc một chuỗi, kể cả khoảng trắng và lưu vào str</a:t>
            </a:r>
            <a:endParaRPr lang="en-US"/>
          </a:p>
          <a:p>
            <a:r>
              <a:rPr lang="en-US"/>
              <a:t>Ví dụ:</a:t>
            </a:r>
          </a:p>
          <a:p>
            <a:pPr lvl="3">
              <a:spcBef>
                <a:spcPts val="0"/>
              </a:spcBef>
              <a:spcAft>
                <a:spcPts val="0"/>
              </a:spcAft>
            </a:pPr>
            <a:r>
              <a:rPr lang="en-US" sz="2200">
                <a:solidFill>
                  <a:srgbClr val="808080"/>
                </a:solidFill>
                <a:latin typeface="Consolas" panose="020B0609020204030204" pitchFamily="49" charset="0"/>
              </a:rPr>
              <a:t>#include</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&lt;iostream&gt;</a:t>
            </a:r>
            <a:endParaRPr lang="en-US" sz="2200">
              <a:solidFill>
                <a:srgbClr val="000000"/>
              </a:solidFill>
              <a:latin typeface="Consolas" panose="020B0609020204030204" pitchFamily="49" charset="0"/>
            </a:endParaRPr>
          </a:p>
          <a:p>
            <a:pPr lvl="3">
              <a:spcBef>
                <a:spcPts val="0"/>
              </a:spcBef>
              <a:spcAft>
                <a:spcPts val="0"/>
              </a:spcAft>
            </a:pPr>
            <a:r>
              <a:rPr lang="en-US" sz="2200">
                <a:solidFill>
                  <a:srgbClr val="808080"/>
                </a:solidFill>
                <a:latin typeface="Consolas" panose="020B0609020204030204" pitchFamily="49" charset="0"/>
              </a:rPr>
              <a:t>#include</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&lt;string&gt;</a:t>
            </a:r>
            <a:endParaRPr lang="en-US" sz="2200">
              <a:solidFill>
                <a:srgbClr val="000000"/>
              </a:solidFill>
              <a:latin typeface="Consolas" panose="020B0609020204030204" pitchFamily="49" charset="0"/>
            </a:endParaRPr>
          </a:p>
          <a:p>
            <a:pPr lvl="3">
              <a:spcBef>
                <a:spcPts val="0"/>
              </a:spcBef>
              <a:spcAft>
                <a:spcPts val="0"/>
              </a:spcAft>
            </a:pPr>
            <a:r>
              <a:rPr lang="en-US" sz="2200">
                <a:solidFill>
                  <a:srgbClr val="0000FF"/>
                </a:solidFill>
                <a:latin typeface="Consolas" panose="020B0609020204030204" pitchFamily="49" charset="0"/>
              </a:rPr>
              <a:t>using</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namespace</a:t>
            </a:r>
            <a:r>
              <a:rPr lang="en-US" sz="2200">
                <a:solidFill>
                  <a:srgbClr val="000000"/>
                </a:solidFill>
                <a:latin typeface="Consolas" panose="020B0609020204030204" pitchFamily="49" charset="0"/>
              </a:rPr>
              <a:t> std;</a:t>
            </a:r>
          </a:p>
          <a:p>
            <a:pPr lvl="3">
              <a:spcBef>
                <a:spcPts val="0"/>
              </a:spcBef>
              <a:spcAft>
                <a:spcPts val="0"/>
              </a:spcAft>
            </a:pPr>
            <a:endParaRPr lang="en-US" sz="2200">
              <a:solidFill>
                <a:srgbClr val="000000"/>
              </a:solidFill>
              <a:latin typeface="Consolas" panose="020B0609020204030204" pitchFamily="49" charset="0"/>
            </a:endParaRPr>
          </a:p>
          <a:p>
            <a:pPr lvl="3">
              <a:spcBef>
                <a:spcPts val="0"/>
              </a:spcBef>
              <a:spcAft>
                <a:spcPts val="0"/>
              </a:spcAft>
            </a:pP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main()</a:t>
            </a:r>
          </a:p>
          <a:p>
            <a:pPr lvl="3">
              <a:spcBef>
                <a:spcPts val="0"/>
              </a:spcBef>
              <a:spcAft>
                <a:spcPts val="0"/>
              </a:spcAft>
            </a:pPr>
            <a:r>
              <a:rPr lang="en-US" sz="2200">
                <a:solidFill>
                  <a:srgbClr val="000000"/>
                </a:solidFill>
                <a:latin typeface="Consolas" panose="020B0609020204030204" pitchFamily="49" charset="0"/>
              </a:rPr>
              <a:t>{</a:t>
            </a:r>
          </a:p>
          <a:p>
            <a:pPr lvl="3">
              <a:spcBef>
                <a:spcPts val="0"/>
              </a:spcBef>
              <a:spcAft>
                <a:spcPts val="0"/>
              </a:spcAft>
            </a:pPr>
            <a:r>
              <a:rPr lang="en-US" sz="2200">
                <a:solidFill>
                  <a:srgbClr val="000000"/>
                </a:solidFill>
                <a:latin typeface="Consolas" panose="020B0609020204030204" pitchFamily="49" charset="0"/>
              </a:rPr>
              <a:t>    </a:t>
            </a:r>
            <a:r>
              <a:rPr lang="en-US" sz="2200">
                <a:solidFill>
                  <a:srgbClr val="2B91AF"/>
                </a:solidFill>
                <a:latin typeface="Consolas" panose="020B0609020204030204" pitchFamily="49" charset="0"/>
              </a:rPr>
              <a:t>string</a:t>
            </a:r>
            <a:r>
              <a:rPr lang="en-US" sz="2200">
                <a:solidFill>
                  <a:srgbClr val="000000"/>
                </a:solidFill>
                <a:latin typeface="Consolas" panose="020B0609020204030204" pitchFamily="49" charset="0"/>
              </a:rPr>
              <a:t> hoten;</a:t>
            </a:r>
          </a:p>
          <a:p>
            <a:pPr lvl="3">
              <a:spcBef>
                <a:spcPts val="0"/>
              </a:spcBef>
              <a:spcAft>
                <a:spcPts val="0"/>
              </a:spcAft>
            </a:pPr>
            <a:r>
              <a:rPr lang="it-IT" sz="2200">
                <a:solidFill>
                  <a:srgbClr val="000000"/>
                </a:solidFill>
                <a:latin typeface="Consolas" panose="020B0609020204030204" pitchFamily="49" charset="0"/>
              </a:rPr>
              <a:t>    cout </a:t>
            </a:r>
            <a:r>
              <a:rPr lang="it-IT" sz="2200">
                <a:solidFill>
                  <a:srgbClr val="008080"/>
                </a:solidFill>
                <a:latin typeface="Consolas" panose="020B0609020204030204" pitchFamily="49" charset="0"/>
              </a:rPr>
              <a:t>&lt;&lt;</a:t>
            </a:r>
            <a:r>
              <a:rPr lang="it-IT" sz="2200">
                <a:solidFill>
                  <a:srgbClr val="000000"/>
                </a:solidFill>
                <a:latin typeface="Consolas" panose="020B0609020204030204" pitchFamily="49" charset="0"/>
              </a:rPr>
              <a:t> </a:t>
            </a:r>
            <a:r>
              <a:rPr lang="it-IT" sz="2200">
                <a:solidFill>
                  <a:srgbClr val="A31515"/>
                </a:solidFill>
                <a:latin typeface="Consolas" panose="020B0609020204030204" pitchFamily="49" charset="0"/>
              </a:rPr>
              <a:t>"Nhap vao ho va ten: "</a:t>
            </a:r>
            <a:r>
              <a:rPr lang="it-IT" sz="2200">
                <a:solidFill>
                  <a:srgbClr val="000000"/>
                </a:solidFill>
                <a:latin typeface="Consolas" panose="020B0609020204030204" pitchFamily="49" charset="0"/>
              </a:rPr>
              <a:t>;</a:t>
            </a:r>
          </a:p>
          <a:p>
            <a:pPr lvl="3">
              <a:spcBef>
                <a:spcPts val="0"/>
              </a:spcBef>
              <a:spcAft>
                <a:spcPts val="0"/>
              </a:spcAft>
            </a:pPr>
            <a:r>
              <a:rPr lang="en-US" sz="2200">
                <a:solidFill>
                  <a:srgbClr val="000000"/>
                </a:solidFill>
                <a:latin typeface="Consolas" panose="020B0609020204030204" pitchFamily="49" charset="0"/>
              </a:rPr>
              <a:t>    getline(cin, hoten);</a:t>
            </a:r>
          </a:p>
          <a:p>
            <a:pPr lvl="3">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"Chao ban "</a:t>
            </a:r>
            <a:r>
              <a:rPr lang="en-US" sz="2200">
                <a:solidFill>
                  <a:srgbClr val="000000"/>
                </a:solidFill>
                <a:latin typeface="Consolas" panose="020B0609020204030204" pitchFamily="49" charset="0"/>
              </a:rPr>
              <a: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hoten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endl;</a:t>
            </a:r>
          </a:p>
          <a:p>
            <a:pPr lvl="3">
              <a:spcBef>
                <a:spcPts val="0"/>
              </a:spcBef>
              <a:spcAft>
                <a:spcPts val="0"/>
              </a:spcAft>
            </a:pPr>
            <a:r>
              <a:rPr lang="en-US" sz="2200">
                <a:solidFill>
                  <a:srgbClr val="000000"/>
                </a:solidFill>
                <a:latin typeface="Consolas" panose="020B0609020204030204" pitchFamily="49" charset="0"/>
              </a:rPr>
              <a:t>}</a:t>
            </a:r>
            <a:endParaRPr lang="en-US" sz="2200"/>
          </a:p>
        </p:txBody>
      </p:sp>
      <p:sp>
        <p:nvSpPr>
          <p:cNvPr id="4" name="Footer Placeholder 3">
            <a:extLst>
              <a:ext uri="{FF2B5EF4-FFF2-40B4-BE49-F238E27FC236}">
                <a16:creationId xmlns:a16="http://schemas.microsoft.com/office/drawing/2014/main" id="{FD49629B-CDB0-41C9-8687-744D5E6FEF99}"/>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45F68B6D-6299-46B1-877E-3F392D879CE8}"/>
              </a:ext>
            </a:extLst>
          </p:cNvPr>
          <p:cNvSpPr>
            <a:spLocks noGrp="1"/>
          </p:cNvSpPr>
          <p:nvPr>
            <p:ph type="sldNum" sz="quarter" idx="12"/>
          </p:nvPr>
        </p:nvSpPr>
        <p:spPr/>
        <p:txBody>
          <a:bodyPr/>
          <a:lstStyle/>
          <a:p>
            <a:fld id="{45CA964B-B8B5-4404-ADB9-CBB2121E234F}" type="slidenum">
              <a:rPr lang="en-US" smtClean="0"/>
              <a:t>39</a:t>
            </a:fld>
            <a:endParaRPr lang="en-US"/>
          </a:p>
        </p:txBody>
      </p:sp>
      <p:sp>
        <p:nvSpPr>
          <p:cNvPr id="6" name="Rectangle 5">
            <a:extLst>
              <a:ext uri="{FF2B5EF4-FFF2-40B4-BE49-F238E27FC236}">
                <a16:creationId xmlns:a16="http://schemas.microsoft.com/office/drawing/2014/main" id="{2E7106BE-FF87-4A44-9033-40CE9A75A4C6}"/>
              </a:ext>
            </a:extLst>
          </p:cNvPr>
          <p:cNvSpPr/>
          <p:nvPr/>
        </p:nvSpPr>
        <p:spPr>
          <a:xfrm>
            <a:off x="486696" y="1079894"/>
            <a:ext cx="3347885"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36374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2E62E-ECC4-4DC4-8F5E-1EAA1EA359EE}"/>
              </a:ext>
            </a:extLst>
          </p:cNvPr>
          <p:cNvSpPr>
            <a:spLocks noGrp="1"/>
          </p:cNvSpPr>
          <p:nvPr>
            <p:ph type="title"/>
          </p:nvPr>
        </p:nvSpPr>
        <p:spPr/>
        <p:txBody>
          <a:bodyPr/>
          <a:lstStyle/>
          <a:p>
            <a:r>
              <a:rPr lang="en-US"/>
              <a:t>Câu lệnh gán</a:t>
            </a:r>
          </a:p>
        </p:txBody>
      </p:sp>
      <p:sp>
        <p:nvSpPr>
          <p:cNvPr id="3" name="Content Placeholder 2">
            <a:extLst>
              <a:ext uri="{FF2B5EF4-FFF2-40B4-BE49-F238E27FC236}">
                <a16:creationId xmlns:a16="http://schemas.microsoft.com/office/drawing/2014/main" id="{F45F8113-E1E0-47E6-A886-D3389C3371DB}"/>
              </a:ext>
            </a:extLst>
          </p:cNvPr>
          <p:cNvSpPr>
            <a:spLocks noGrp="1"/>
          </p:cNvSpPr>
          <p:nvPr>
            <p:ph idx="1"/>
          </p:nvPr>
        </p:nvSpPr>
        <p:spPr/>
        <p:txBody>
          <a:bodyPr/>
          <a:lstStyle/>
          <a:p>
            <a:r>
              <a:rPr lang="vi-VN"/>
              <a:t>Câu lệnh gán (assignment statement) dùng để gán giá trị cho biến trong khi chương trình đang thực hiện.</a:t>
            </a:r>
            <a:endParaRPr lang="en-US"/>
          </a:p>
          <a:p>
            <a:pPr lvl="4"/>
            <a:endParaRPr lang="pt-BR"/>
          </a:p>
          <a:p>
            <a:pPr lvl="4"/>
            <a:r>
              <a:rPr lang="pt-BR"/>
              <a:t>int a = 3; </a:t>
            </a:r>
          </a:p>
          <a:p>
            <a:pPr lvl="4"/>
            <a:endParaRPr lang="pt-BR"/>
          </a:p>
          <a:p>
            <a:pPr lvl="4"/>
            <a:r>
              <a:rPr lang="pt-BR"/>
              <a:t>a = 4; </a:t>
            </a:r>
          </a:p>
          <a:p>
            <a:pPr lvl="4"/>
            <a:endParaRPr lang="pt-BR"/>
          </a:p>
          <a:p>
            <a:pPr lvl="4"/>
            <a:r>
              <a:rPr lang="pt-BR"/>
              <a:t>int b = a; </a:t>
            </a:r>
          </a:p>
          <a:p>
            <a:pPr lvl="4"/>
            <a:endParaRPr lang="pt-BR"/>
          </a:p>
          <a:p>
            <a:pPr lvl="4"/>
            <a:r>
              <a:rPr lang="pt-BR"/>
              <a:t>b = a + 5; </a:t>
            </a:r>
          </a:p>
          <a:p>
            <a:pPr lvl="4"/>
            <a:endParaRPr lang="pt-BR"/>
          </a:p>
          <a:p>
            <a:pPr lvl="4"/>
            <a:r>
              <a:rPr lang="pt-BR"/>
              <a:t>a = a + 7;</a:t>
            </a:r>
          </a:p>
          <a:p>
            <a:pPr lvl="4"/>
            <a:endParaRPr lang="pt-BR"/>
          </a:p>
          <a:p>
            <a:r>
              <a:rPr lang="en-US"/>
              <a:t>Kiểu dữ liệu của biểu thức trong câu lệnh gán phải phù hợp với kiểu dữ liệu của biến.</a:t>
            </a:r>
          </a:p>
        </p:txBody>
      </p:sp>
      <p:sp>
        <p:nvSpPr>
          <p:cNvPr id="4" name="Footer Placeholder 3">
            <a:extLst>
              <a:ext uri="{FF2B5EF4-FFF2-40B4-BE49-F238E27FC236}">
                <a16:creationId xmlns:a16="http://schemas.microsoft.com/office/drawing/2014/main" id="{3A2C8C6F-3EA3-4E2C-BC42-BF073B1D7AC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EFFB3EC9-F5DF-4B55-ABA2-1A972B47F586}"/>
              </a:ext>
            </a:extLst>
          </p:cNvPr>
          <p:cNvSpPr>
            <a:spLocks noGrp="1"/>
          </p:cNvSpPr>
          <p:nvPr>
            <p:ph type="sldNum" sz="quarter" idx="12"/>
          </p:nvPr>
        </p:nvSpPr>
        <p:spPr/>
        <p:txBody>
          <a:bodyPr/>
          <a:lstStyle/>
          <a:p>
            <a:fld id="{45CA964B-B8B5-4404-ADB9-CBB2121E234F}" type="slidenum">
              <a:rPr lang="en-US" smtClean="0"/>
              <a:t>40</a:t>
            </a:fld>
            <a:endParaRPr lang="en-US"/>
          </a:p>
        </p:txBody>
      </p:sp>
      <p:pic>
        <p:nvPicPr>
          <p:cNvPr id="7" name="Picture 6">
            <a:extLst>
              <a:ext uri="{FF2B5EF4-FFF2-40B4-BE49-F238E27FC236}">
                <a16:creationId xmlns:a16="http://schemas.microsoft.com/office/drawing/2014/main" id="{B1F9828C-B7A8-404D-B926-7D7B337481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911" y="2157071"/>
            <a:ext cx="1883827" cy="536494"/>
          </a:xfrm>
          <a:prstGeom prst="rect">
            <a:avLst/>
          </a:prstGeom>
        </p:spPr>
      </p:pic>
      <p:pic>
        <p:nvPicPr>
          <p:cNvPr id="9" name="Picture 8">
            <a:extLst>
              <a:ext uri="{FF2B5EF4-FFF2-40B4-BE49-F238E27FC236}">
                <a16:creationId xmlns:a16="http://schemas.microsoft.com/office/drawing/2014/main" id="{3628383B-68ED-4DEF-A7F5-4ACF382BB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0911" y="2784829"/>
            <a:ext cx="1883827" cy="536494"/>
          </a:xfrm>
          <a:prstGeom prst="rect">
            <a:avLst/>
          </a:prstGeom>
        </p:spPr>
      </p:pic>
      <p:pic>
        <p:nvPicPr>
          <p:cNvPr id="11" name="Picture 10">
            <a:extLst>
              <a:ext uri="{FF2B5EF4-FFF2-40B4-BE49-F238E27FC236}">
                <a16:creationId xmlns:a16="http://schemas.microsoft.com/office/drawing/2014/main" id="{33780A80-F298-4A44-A115-BB8A44AABB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0911" y="3412587"/>
            <a:ext cx="4243184" cy="536494"/>
          </a:xfrm>
          <a:prstGeom prst="rect">
            <a:avLst/>
          </a:prstGeom>
        </p:spPr>
      </p:pic>
      <p:pic>
        <p:nvPicPr>
          <p:cNvPr id="13" name="Picture 12">
            <a:extLst>
              <a:ext uri="{FF2B5EF4-FFF2-40B4-BE49-F238E27FC236}">
                <a16:creationId xmlns:a16="http://schemas.microsoft.com/office/drawing/2014/main" id="{3EA9F363-0B47-42C6-B87D-FB5D36317D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20911" y="4040345"/>
            <a:ext cx="4243184" cy="536494"/>
          </a:xfrm>
          <a:prstGeom prst="rect">
            <a:avLst/>
          </a:prstGeom>
        </p:spPr>
      </p:pic>
      <p:pic>
        <p:nvPicPr>
          <p:cNvPr id="15" name="Picture 14">
            <a:extLst>
              <a:ext uri="{FF2B5EF4-FFF2-40B4-BE49-F238E27FC236}">
                <a16:creationId xmlns:a16="http://schemas.microsoft.com/office/drawing/2014/main" id="{0942FC6D-506E-414F-80FF-E27E28A3C2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20911" y="4668101"/>
            <a:ext cx="4243184" cy="536494"/>
          </a:xfrm>
          <a:prstGeom prst="rect">
            <a:avLst/>
          </a:prstGeom>
        </p:spPr>
      </p:pic>
    </p:spTree>
    <p:extLst>
      <p:ext uri="{BB962C8B-B14F-4D97-AF65-F5344CB8AC3E}">
        <p14:creationId xmlns:p14="http://schemas.microsoft.com/office/powerpoint/2010/main" val="2741795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3780D24-0EEE-4339-A6B0-51AE45EF3B5C}"/>
              </a:ext>
            </a:extLst>
          </p:cNvPr>
          <p:cNvSpPr>
            <a:spLocks noGrp="1"/>
          </p:cNvSpPr>
          <p:nvPr>
            <p:ph idx="1"/>
          </p:nvPr>
        </p:nvSpPr>
        <p:spPr/>
        <p:txBody>
          <a:bodyPr/>
          <a:lstStyle/>
          <a:p>
            <a:r>
              <a:rPr lang="en-US"/>
              <a:t>Có thể dùng câu lệnh gán cho biến kiểu string: </a:t>
            </a:r>
          </a:p>
          <a:p>
            <a:pPr lvl="4"/>
            <a:endParaRPr lang="en-US"/>
          </a:p>
          <a:p>
            <a:pPr lvl="4"/>
            <a:r>
              <a:rPr lang="en-US"/>
              <a:t>string s1 = "alpha"; </a:t>
            </a:r>
          </a:p>
          <a:p>
            <a:pPr lvl="4"/>
            <a:endParaRPr lang="en-US"/>
          </a:p>
          <a:p>
            <a:pPr lvl="4"/>
            <a:r>
              <a:rPr lang="en-US"/>
              <a:t>s1 = "beta"; </a:t>
            </a:r>
          </a:p>
          <a:p>
            <a:pPr lvl="4"/>
            <a:endParaRPr lang="en-US"/>
          </a:p>
          <a:p>
            <a:pPr lvl="4"/>
            <a:r>
              <a:rPr lang="en-US"/>
              <a:t>string s2 = s1; </a:t>
            </a:r>
          </a:p>
          <a:p>
            <a:pPr lvl="4"/>
            <a:endParaRPr lang="en-US"/>
          </a:p>
          <a:p>
            <a:pPr lvl="4"/>
            <a:r>
              <a:rPr lang="en-US"/>
              <a:t>s2 = s1 + "gamma"; </a:t>
            </a:r>
          </a:p>
          <a:p>
            <a:pPr lvl="4"/>
            <a:endParaRPr lang="en-US"/>
          </a:p>
          <a:p>
            <a:pPr lvl="4"/>
            <a:r>
              <a:rPr lang="en-US"/>
              <a:t>s1 = s1 + "delta";</a:t>
            </a:r>
          </a:p>
          <a:p>
            <a:endParaRPr lang="en-US"/>
          </a:p>
          <a:p>
            <a:r>
              <a:rPr lang="en-US"/>
              <a:t>Câu lệnh khai báo và khởi tạo (initialization): tạo một biến mới và gán cho biến giá trị ban đầu.</a:t>
            </a:r>
          </a:p>
          <a:p>
            <a:r>
              <a:rPr lang="en-US"/>
              <a:t>Câu lệnh gán (assignment): gán cho biến đã có một giá trị mới.</a:t>
            </a:r>
          </a:p>
          <a:p>
            <a:endParaRPr lang="en-US"/>
          </a:p>
        </p:txBody>
      </p:sp>
      <p:sp>
        <p:nvSpPr>
          <p:cNvPr id="4" name="Footer Placeholder 3">
            <a:extLst>
              <a:ext uri="{FF2B5EF4-FFF2-40B4-BE49-F238E27FC236}">
                <a16:creationId xmlns:a16="http://schemas.microsoft.com/office/drawing/2014/main" id="{4CF9EB94-EFB3-4D66-B051-08F4886D2C3B}"/>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47C04E0C-E7E1-4846-A806-6416B8717E9B}"/>
              </a:ext>
            </a:extLst>
          </p:cNvPr>
          <p:cNvSpPr>
            <a:spLocks noGrp="1"/>
          </p:cNvSpPr>
          <p:nvPr>
            <p:ph type="sldNum" sz="quarter" idx="12"/>
          </p:nvPr>
        </p:nvSpPr>
        <p:spPr/>
        <p:txBody>
          <a:bodyPr/>
          <a:lstStyle/>
          <a:p>
            <a:fld id="{45CA964B-B8B5-4404-ADB9-CBB2121E234F}" type="slidenum">
              <a:rPr lang="en-US" smtClean="0"/>
              <a:t>41</a:t>
            </a:fld>
            <a:endParaRPr lang="en-US"/>
          </a:p>
        </p:txBody>
      </p:sp>
      <p:pic>
        <p:nvPicPr>
          <p:cNvPr id="8" name="Picture 7">
            <a:extLst>
              <a:ext uri="{FF2B5EF4-FFF2-40B4-BE49-F238E27FC236}">
                <a16:creationId xmlns:a16="http://schemas.microsoft.com/office/drawing/2014/main" id="{7809D081-E72D-49A5-BDEA-C391815357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6629" y="938260"/>
            <a:ext cx="2152075" cy="542591"/>
          </a:xfrm>
          <a:prstGeom prst="rect">
            <a:avLst/>
          </a:prstGeom>
        </p:spPr>
      </p:pic>
      <p:pic>
        <p:nvPicPr>
          <p:cNvPr id="10" name="Picture 9">
            <a:extLst>
              <a:ext uri="{FF2B5EF4-FFF2-40B4-BE49-F238E27FC236}">
                <a16:creationId xmlns:a16="http://schemas.microsoft.com/office/drawing/2014/main" id="{CDA2670F-5B76-47B3-91D1-A63EB8B36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6629" y="1582600"/>
            <a:ext cx="2152075" cy="536494"/>
          </a:xfrm>
          <a:prstGeom prst="rect">
            <a:avLst/>
          </a:prstGeom>
        </p:spPr>
      </p:pic>
      <p:pic>
        <p:nvPicPr>
          <p:cNvPr id="12" name="Picture 11">
            <a:extLst>
              <a:ext uri="{FF2B5EF4-FFF2-40B4-BE49-F238E27FC236}">
                <a16:creationId xmlns:a16="http://schemas.microsoft.com/office/drawing/2014/main" id="{6BBA74CE-D4E4-404F-B165-5E17AFBE9B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6629" y="2220843"/>
            <a:ext cx="4730906" cy="536494"/>
          </a:xfrm>
          <a:prstGeom prst="rect">
            <a:avLst/>
          </a:prstGeom>
        </p:spPr>
      </p:pic>
      <p:pic>
        <p:nvPicPr>
          <p:cNvPr id="14" name="Picture 13">
            <a:extLst>
              <a:ext uri="{FF2B5EF4-FFF2-40B4-BE49-F238E27FC236}">
                <a16:creationId xmlns:a16="http://schemas.microsoft.com/office/drawing/2014/main" id="{1207D85C-7DA1-4F61-B68C-452C2FE76E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56629" y="2859086"/>
            <a:ext cx="5279594" cy="542591"/>
          </a:xfrm>
          <a:prstGeom prst="rect">
            <a:avLst/>
          </a:prstGeom>
        </p:spPr>
      </p:pic>
      <p:pic>
        <p:nvPicPr>
          <p:cNvPr id="16" name="Picture 15">
            <a:extLst>
              <a:ext uri="{FF2B5EF4-FFF2-40B4-BE49-F238E27FC236}">
                <a16:creationId xmlns:a16="http://schemas.microsoft.com/office/drawing/2014/main" id="{E432B687-DCB9-4ED4-9AB9-9DC3E26377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6629" y="3503427"/>
            <a:ext cx="5279594" cy="536494"/>
          </a:xfrm>
          <a:prstGeom prst="rect">
            <a:avLst/>
          </a:prstGeom>
        </p:spPr>
      </p:pic>
    </p:spTree>
    <p:extLst>
      <p:ext uri="{BB962C8B-B14F-4D97-AF65-F5344CB8AC3E}">
        <p14:creationId xmlns:p14="http://schemas.microsoft.com/office/powerpoint/2010/main" val="294531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3780D24-0EEE-4339-A6B0-51AE45EF3B5C}"/>
              </a:ext>
            </a:extLst>
          </p:cNvPr>
          <p:cNvSpPr>
            <a:spLocks noGrp="1"/>
          </p:cNvSpPr>
          <p:nvPr>
            <p:ph idx="1"/>
          </p:nvPr>
        </p:nvSpPr>
        <p:spPr/>
        <p:txBody>
          <a:bodyPr>
            <a:noAutofit/>
          </a:bodyPr>
          <a:lstStyle/>
          <a:p>
            <a:r>
              <a:rPr lang="en-US"/>
              <a:t>Ví dụ c</a:t>
            </a:r>
            <a:r>
              <a:rPr lang="vi-VN"/>
              <a:t>hương trình tính giá bán tivi, tỷ lệ giảm giá là 15%</a:t>
            </a:r>
            <a:r>
              <a:rPr lang="en-US"/>
              <a:t>.</a:t>
            </a:r>
          </a:p>
          <a:p>
            <a:pPr lvl="4"/>
            <a:r>
              <a:rPr lang="en-US" sz="2200">
                <a:solidFill>
                  <a:srgbClr val="808080"/>
                </a:solidFill>
                <a:latin typeface="Consolas" panose="020B0609020204030204" pitchFamily="49" charset="0"/>
              </a:rPr>
              <a:t>#include</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&lt;iostream&gt;</a:t>
            </a:r>
            <a:endParaRPr lang="en-US" sz="2200">
              <a:solidFill>
                <a:srgbClr val="000000"/>
              </a:solidFill>
              <a:latin typeface="Consolas" panose="020B0609020204030204" pitchFamily="49" charset="0"/>
            </a:endParaRPr>
          </a:p>
          <a:p>
            <a:pPr lvl="4"/>
            <a:r>
              <a:rPr lang="en-US" sz="2200">
                <a:solidFill>
                  <a:srgbClr val="0000FF"/>
                </a:solidFill>
                <a:latin typeface="Consolas" panose="020B0609020204030204" pitchFamily="49" charset="0"/>
              </a:rPr>
              <a:t>using</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namespace</a:t>
            </a:r>
            <a:r>
              <a:rPr lang="en-US" sz="2200">
                <a:solidFill>
                  <a:srgbClr val="000000"/>
                </a:solidFill>
                <a:latin typeface="Consolas" panose="020B0609020204030204" pitchFamily="49" charset="0"/>
              </a:rPr>
              <a:t> std;</a:t>
            </a:r>
          </a:p>
          <a:p>
            <a:pPr lvl="4"/>
            <a:endParaRPr lang="en-US" sz="2200">
              <a:solidFill>
                <a:srgbClr val="000000"/>
              </a:solidFill>
              <a:latin typeface="Consolas" panose="020B0609020204030204" pitchFamily="49" charset="0"/>
            </a:endParaRPr>
          </a:p>
          <a:p>
            <a:pPr lvl="4"/>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main()</a:t>
            </a:r>
          </a:p>
          <a:p>
            <a:pPr lvl="4"/>
            <a:r>
              <a:rPr lang="en-US" sz="2200">
                <a:solidFill>
                  <a:srgbClr val="000000"/>
                </a:solidFill>
                <a:latin typeface="Consolas" panose="020B0609020204030204" pitchFamily="49" charset="0"/>
              </a:rPr>
              <a:t>{</a:t>
            </a:r>
          </a:p>
          <a:p>
            <a:pPr lvl="4"/>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const</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tylegiam = 0.15;</a:t>
            </a:r>
          </a:p>
          <a:p>
            <a:pPr lvl="4"/>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giaban = 0.0;</a:t>
            </a:r>
          </a:p>
          <a:p>
            <a:pPr lvl="4"/>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sotiengiam = 0.0;</a:t>
            </a:r>
          </a:p>
          <a:p>
            <a:pPr lvl="4"/>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sotientra = 0.0;</a:t>
            </a:r>
          </a:p>
          <a:p>
            <a:pPr lvl="4"/>
            <a:endParaRPr lang="en-US" sz="2200">
              <a:solidFill>
                <a:srgbClr val="000000"/>
              </a:solidFill>
              <a:latin typeface="Consolas" panose="020B0609020204030204" pitchFamily="49" charset="0"/>
            </a:endParaRPr>
          </a:p>
          <a:p>
            <a:pPr lvl="4"/>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"Nhap gia tivi: "</a:t>
            </a:r>
            <a:r>
              <a:rPr lang="en-US" sz="2200">
                <a:solidFill>
                  <a:srgbClr val="000000"/>
                </a:solidFill>
                <a:latin typeface="Consolas" panose="020B0609020204030204" pitchFamily="49" charset="0"/>
              </a:rPr>
              <a:t>;</a:t>
            </a:r>
          </a:p>
          <a:p>
            <a:pPr lvl="4"/>
            <a:r>
              <a:rPr lang="en-US" sz="2200">
                <a:solidFill>
                  <a:srgbClr val="000000"/>
                </a:solidFill>
                <a:latin typeface="Consolas" panose="020B0609020204030204" pitchFamily="49" charset="0"/>
              </a:rPr>
              <a:t>    cin </a:t>
            </a:r>
            <a:r>
              <a:rPr lang="en-US" sz="2200">
                <a:solidFill>
                  <a:srgbClr val="008080"/>
                </a:solidFill>
                <a:latin typeface="Consolas" panose="020B0609020204030204" pitchFamily="49" charset="0"/>
              </a:rPr>
              <a:t>&gt;&gt;</a:t>
            </a:r>
            <a:r>
              <a:rPr lang="en-US" sz="2200">
                <a:solidFill>
                  <a:srgbClr val="000000"/>
                </a:solidFill>
                <a:latin typeface="Consolas" panose="020B0609020204030204" pitchFamily="49" charset="0"/>
              </a:rPr>
              <a:t> giaban;</a:t>
            </a:r>
          </a:p>
          <a:p>
            <a:pPr lvl="4"/>
            <a:r>
              <a:rPr lang="en-US" sz="2200">
                <a:solidFill>
                  <a:srgbClr val="000000"/>
                </a:solidFill>
                <a:latin typeface="Consolas" panose="020B0609020204030204" pitchFamily="49" charset="0"/>
              </a:rPr>
              <a:t>    sotiengiam = giaban * tylegiam;</a:t>
            </a:r>
          </a:p>
          <a:p>
            <a:pPr lvl="4"/>
            <a:r>
              <a:rPr lang="en-US" sz="2200">
                <a:solidFill>
                  <a:srgbClr val="000000"/>
                </a:solidFill>
                <a:latin typeface="Consolas" panose="020B0609020204030204" pitchFamily="49" charset="0"/>
              </a:rPr>
              <a:t>    sotientra = giaban - sotiengiam;</a:t>
            </a:r>
          </a:p>
          <a:p>
            <a:pPr lvl="4"/>
            <a:endParaRPr lang="en-US" sz="2200">
              <a:solidFill>
                <a:srgbClr val="000000"/>
              </a:solidFill>
              <a:latin typeface="Consolas" panose="020B0609020204030204" pitchFamily="49" charset="0"/>
            </a:endParaRPr>
          </a:p>
          <a:p>
            <a:pPr lvl="4"/>
            <a:r>
              <a:rPr lang="it-IT" sz="2200">
                <a:solidFill>
                  <a:srgbClr val="000000"/>
                </a:solidFill>
                <a:latin typeface="Consolas" panose="020B0609020204030204" pitchFamily="49" charset="0"/>
              </a:rPr>
              <a:t>    cout </a:t>
            </a:r>
            <a:r>
              <a:rPr lang="it-IT" sz="2200">
                <a:solidFill>
                  <a:srgbClr val="008080"/>
                </a:solidFill>
                <a:latin typeface="Consolas" panose="020B0609020204030204" pitchFamily="49" charset="0"/>
              </a:rPr>
              <a:t>&lt;&lt;</a:t>
            </a:r>
            <a:r>
              <a:rPr lang="it-IT" sz="2200">
                <a:solidFill>
                  <a:srgbClr val="000000"/>
                </a:solidFill>
                <a:latin typeface="Consolas" panose="020B0609020204030204" pitchFamily="49" charset="0"/>
              </a:rPr>
              <a:t> </a:t>
            </a:r>
            <a:r>
              <a:rPr lang="it-IT" sz="2200">
                <a:solidFill>
                  <a:srgbClr val="A31515"/>
                </a:solidFill>
                <a:latin typeface="Consolas" panose="020B0609020204030204" pitchFamily="49" charset="0"/>
              </a:rPr>
              <a:t>"So tien phai tra: "</a:t>
            </a:r>
            <a:r>
              <a:rPr lang="it-IT" sz="2200">
                <a:solidFill>
                  <a:srgbClr val="000000"/>
                </a:solidFill>
                <a:latin typeface="Consolas" panose="020B0609020204030204" pitchFamily="49" charset="0"/>
              </a:rPr>
              <a:t> </a:t>
            </a:r>
            <a:r>
              <a:rPr lang="it-IT" sz="2200">
                <a:solidFill>
                  <a:srgbClr val="008080"/>
                </a:solidFill>
                <a:latin typeface="Consolas" panose="020B0609020204030204" pitchFamily="49" charset="0"/>
              </a:rPr>
              <a:t>&lt;&lt;</a:t>
            </a:r>
            <a:r>
              <a:rPr lang="it-IT" sz="2200">
                <a:solidFill>
                  <a:srgbClr val="000000"/>
                </a:solidFill>
                <a:latin typeface="Consolas" panose="020B0609020204030204" pitchFamily="49" charset="0"/>
              </a:rPr>
              <a:t> sotientra </a:t>
            </a:r>
            <a:r>
              <a:rPr lang="it-IT" sz="2200">
                <a:solidFill>
                  <a:srgbClr val="008080"/>
                </a:solidFill>
                <a:latin typeface="Consolas" panose="020B0609020204030204" pitchFamily="49" charset="0"/>
              </a:rPr>
              <a:t>&lt;&lt;</a:t>
            </a:r>
            <a:r>
              <a:rPr lang="it-IT" sz="2200">
                <a:solidFill>
                  <a:srgbClr val="000000"/>
                </a:solidFill>
                <a:latin typeface="Consolas" panose="020B0609020204030204" pitchFamily="49" charset="0"/>
              </a:rPr>
              <a:t> endl;</a:t>
            </a:r>
          </a:p>
          <a:p>
            <a:pPr lvl="4"/>
            <a:r>
              <a:rPr lang="en-US" sz="2200">
                <a:solidFill>
                  <a:srgbClr val="000000"/>
                </a:solidFill>
                <a:latin typeface="Consolas" panose="020B0609020204030204" pitchFamily="49" charset="0"/>
              </a:rPr>
              <a:t>}</a:t>
            </a:r>
            <a:endParaRPr lang="en-US" sz="2200"/>
          </a:p>
        </p:txBody>
      </p:sp>
      <p:sp>
        <p:nvSpPr>
          <p:cNvPr id="4" name="Footer Placeholder 3">
            <a:extLst>
              <a:ext uri="{FF2B5EF4-FFF2-40B4-BE49-F238E27FC236}">
                <a16:creationId xmlns:a16="http://schemas.microsoft.com/office/drawing/2014/main" id="{4CF9EB94-EFB3-4D66-B051-08F4886D2C3B}"/>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47C04E0C-E7E1-4846-A806-6416B8717E9B}"/>
              </a:ext>
            </a:extLst>
          </p:cNvPr>
          <p:cNvSpPr>
            <a:spLocks noGrp="1"/>
          </p:cNvSpPr>
          <p:nvPr>
            <p:ph type="sldNum" sz="quarter" idx="12"/>
          </p:nvPr>
        </p:nvSpPr>
        <p:spPr/>
        <p:txBody>
          <a:bodyPr/>
          <a:lstStyle/>
          <a:p>
            <a:fld id="{45CA964B-B8B5-4404-ADB9-CBB2121E234F}" type="slidenum">
              <a:rPr lang="en-US" smtClean="0"/>
              <a:t>42</a:t>
            </a:fld>
            <a:endParaRPr lang="en-US"/>
          </a:p>
        </p:txBody>
      </p:sp>
    </p:spTree>
    <p:extLst>
      <p:ext uri="{BB962C8B-B14F-4D97-AF65-F5344CB8AC3E}">
        <p14:creationId xmlns:p14="http://schemas.microsoft.com/office/powerpoint/2010/main" val="3239810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2A2962-927F-4783-ABB8-7567D8E14353}"/>
              </a:ext>
            </a:extLst>
          </p:cNvPr>
          <p:cNvSpPr>
            <a:spLocks noGrp="1"/>
          </p:cNvSpPr>
          <p:nvPr>
            <p:ph type="title"/>
          </p:nvPr>
        </p:nvSpPr>
        <p:spPr/>
        <p:txBody>
          <a:bodyPr/>
          <a:lstStyle/>
          <a:p>
            <a:r>
              <a:rPr lang="en-US"/>
              <a:t>Toán tử gán phức hợp</a:t>
            </a:r>
          </a:p>
        </p:txBody>
      </p:sp>
      <p:sp>
        <p:nvSpPr>
          <p:cNvPr id="7" name="Content Placeholder 6">
            <a:extLst>
              <a:ext uri="{FF2B5EF4-FFF2-40B4-BE49-F238E27FC236}">
                <a16:creationId xmlns:a16="http://schemas.microsoft.com/office/drawing/2014/main" id="{64E9A62C-6CEA-435D-9B97-EE7D02CF6D93}"/>
              </a:ext>
            </a:extLst>
          </p:cNvPr>
          <p:cNvSpPr>
            <a:spLocks noGrp="1"/>
          </p:cNvSpPr>
          <p:nvPr>
            <p:ph idx="1"/>
          </p:nvPr>
        </p:nvSpPr>
        <p:spPr/>
        <p:txBody>
          <a:bodyPr/>
          <a:lstStyle/>
          <a:p>
            <a:r>
              <a:rPr lang="vi-VN"/>
              <a:t>Các toán tử gán phức hợp (composite assignment operators) dùng để rút ngắn câu lệnh gán:</a:t>
            </a:r>
          </a:p>
          <a:p>
            <a:pPr lvl="1"/>
            <a:r>
              <a:rPr lang="vi-VN"/>
              <a:t>+=	cộng gán</a:t>
            </a:r>
          </a:p>
          <a:p>
            <a:pPr lvl="1"/>
            <a:r>
              <a:rPr lang="vi-VN"/>
              <a:t>-=	trừ gán</a:t>
            </a:r>
          </a:p>
          <a:p>
            <a:pPr lvl="1"/>
            <a:r>
              <a:rPr lang="vi-VN"/>
              <a:t>*=	nhân gán</a:t>
            </a:r>
          </a:p>
          <a:p>
            <a:pPr lvl="1"/>
            <a:r>
              <a:rPr lang="vi-VN"/>
              <a:t>/=	chia gán</a:t>
            </a:r>
          </a:p>
          <a:p>
            <a:pPr lvl="1"/>
            <a:r>
              <a:rPr lang="vi-VN"/>
              <a:t>%=   modulo gán</a:t>
            </a:r>
          </a:p>
          <a:p>
            <a:r>
              <a:rPr lang="vi-VN"/>
              <a:t>Ví dụ:	</a:t>
            </a:r>
            <a:endParaRPr lang="en-US"/>
          </a:p>
          <a:p>
            <a:pPr lvl="1">
              <a:tabLst>
                <a:tab pos="2743200" algn="l"/>
              </a:tabLst>
            </a:pPr>
            <a:r>
              <a:rPr lang="vi-VN"/>
              <a:t>a += 7;	//a = a + 7</a:t>
            </a:r>
          </a:p>
          <a:p>
            <a:pPr lvl="1">
              <a:tabLst>
                <a:tab pos="2743200" algn="l"/>
              </a:tabLst>
            </a:pPr>
            <a:r>
              <a:rPr lang="vi-VN"/>
              <a:t>b -= 9;	//b = b - 9</a:t>
            </a:r>
          </a:p>
          <a:p>
            <a:pPr lvl="1">
              <a:tabLst>
                <a:tab pos="2743200" algn="l"/>
              </a:tabLst>
            </a:pPr>
            <a:r>
              <a:rPr lang="vi-VN"/>
              <a:t>c *= 2;	//c = c * 2</a:t>
            </a:r>
          </a:p>
          <a:p>
            <a:r>
              <a:rPr lang="en-US"/>
              <a:t>counter += 1;	//counter = counter + 1;  tương đương ++counter;</a:t>
            </a:r>
          </a:p>
          <a:p>
            <a:pPr lvl="4"/>
            <a:endParaRPr lang="en-US"/>
          </a:p>
        </p:txBody>
      </p:sp>
      <p:sp>
        <p:nvSpPr>
          <p:cNvPr id="4" name="Footer Placeholder 3">
            <a:extLst>
              <a:ext uri="{FF2B5EF4-FFF2-40B4-BE49-F238E27FC236}">
                <a16:creationId xmlns:a16="http://schemas.microsoft.com/office/drawing/2014/main" id="{383F4B93-A596-4B57-BAE4-47B72B1FA963}"/>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5BD8350C-C6CD-4CC1-8565-21F80EEEC2B1}"/>
              </a:ext>
            </a:extLst>
          </p:cNvPr>
          <p:cNvSpPr>
            <a:spLocks noGrp="1"/>
          </p:cNvSpPr>
          <p:nvPr>
            <p:ph type="sldNum" sz="quarter" idx="12"/>
          </p:nvPr>
        </p:nvSpPr>
        <p:spPr/>
        <p:txBody>
          <a:bodyPr/>
          <a:lstStyle/>
          <a:p>
            <a:fld id="{45CA964B-B8B5-4404-ADB9-CBB2121E234F}" type="slidenum">
              <a:rPr lang="en-US" smtClean="0"/>
              <a:t>43</a:t>
            </a:fld>
            <a:endParaRPr lang="en-US"/>
          </a:p>
        </p:txBody>
      </p:sp>
    </p:spTree>
    <p:extLst>
      <p:ext uri="{BB962C8B-B14F-4D97-AF65-F5344CB8AC3E}">
        <p14:creationId xmlns:p14="http://schemas.microsoft.com/office/powerpoint/2010/main" val="17410675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tx1">
                    <a:lumMod val="50000"/>
                    <a:lumOff val="50000"/>
                  </a:schemeClr>
                </a:solidFill>
              </a:rPr>
              <a:t>Tên và Từ khóa</a:t>
            </a:r>
          </a:p>
          <a:p>
            <a:r>
              <a:rPr lang="vi-VN">
                <a:solidFill>
                  <a:schemeClr val="tx1">
                    <a:lumMod val="50000"/>
                    <a:lumOff val="50000"/>
                  </a:schemeClr>
                </a:solidFill>
              </a:rPr>
              <a:t>Kiểu dữ liệu</a:t>
            </a:r>
          </a:p>
          <a:p>
            <a:r>
              <a:rPr lang="vi-VN">
                <a:solidFill>
                  <a:schemeClr val="tx1">
                    <a:lumMod val="50000"/>
                    <a:lumOff val="50000"/>
                  </a:schemeClr>
                </a:solidFill>
              </a:rPr>
              <a:t>Biến và Hằng</a:t>
            </a:r>
          </a:p>
          <a:p>
            <a:r>
              <a:rPr lang="vi-VN">
                <a:solidFill>
                  <a:schemeClr val="tx1">
                    <a:lumMod val="50000"/>
                    <a:lumOff val="50000"/>
                  </a:schemeClr>
                </a:solidFill>
              </a:rPr>
              <a:t>Nhập dữ liệu</a:t>
            </a:r>
          </a:p>
          <a:p>
            <a:r>
              <a:rPr lang="vi-VN"/>
              <a:t>Xuất dữ liệu và Định dạng xuất</a:t>
            </a:r>
            <a:endParaRPr lang="en-US"/>
          </a:p>
          <a:p>
            <a:r>
              <a:rPr lang="en-US">
                <a:solidFill>
                  <a:schemeClr val="tx1">
                    <a:lumMod val="50000"/>
                    <a:lumOff val="50000"/>
                  </a:schemeClr>
                </a:solidFill>
              </a:rPr>
              <a:t>Biểu thức</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44</a:t>
            </a:fld>
            <a:endParaRPr lang="en-US"/>
          </a:p>
        </p:txBody>
      </p:sp>
    </p:spTree>
    <p:extLst>
      <p:ext uri="{BB962C8B-B14F-4D97-AF65-F5344CB8AC3E}">
        <p14:creationId xmlns:p14="http://schemas.microsoft.com/office/powerpoint/2010/main" val="27508659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2ED608-5E40-4EB9-A32A-EF300B3EA3DF}"/>
              </a:ext>
            </a:extLst>
          </p:cNvPr>
          <p:cNvSpPr>
            <a:spLocks noGrp="1"/>
          </p:cNvSpPr>
          <p:nvPr>
            <p:ph type="title"/>
          </p:nvPr>
        </p:nvSpPr>
        <p:spPr/>
        <p:txBody>
          <a:bodyPr/>
          <a:lstStyle/>
          <a:p>
            <a:r>
              <a:rPr lang="en-US"/>
              <a:t>Câu lệnh xuất</a:t>
            </a:r>
          </a:p>
        </p:txBody>
      </p:sp>
      <p:sp>
        <p:nvSpPr>
          <p:cNvPr id="7" name="Content Placeholder 6">
            <a:extLst>
              <a:ext uri="{FF2B5EF4-FFF2-40B4-BE49-F238E27FC236}">
                <a16:creationId xmlns:a16="http://schemas.microsoft.com/office/drawing/2014/main" id="{E187C1DF-6833-4E0D-9C01-47969CCFFD0C}"/>
              </a:ext>
            </a:extLst>
          </p:cNvPr>
          <p:cNvSpPr>
            <a:spLocks noGrp="1"/>
          </p:cNvSpPr>
          <p:nvPr>
            <p:ph idx="1"/>
          </p:nvPr>
        </p:nvSpPr>
        <p:spPr/>
        <p:txBody>
          <a:bodyPr>
            <a:normAutofit/>
          </a:bodyPr>
          <a:lstStyle/>
          <a:p>
            <a:r>
              <a:rPr lang="en-US"/>
              <a:t>Câu lệnh xuất (output statement): in dữ liệu ra màn hình.</a:t>
            </a:r>
          </a:p>
          <a:p>
            <a:pPr lvl="4">
              <a:spcBef>
                <a:spcPts val="600"/>
              </a:spcBef>
              <a:spcAft>
                <a:spcPts val="600"/>
              </a:spcAft>
            </a:pPr>
            <a:r>
              <a:rPr lang="en-US"/>
              <a:t>cout &lt;&lt; expression or manipulator &lt;&lt; ...;</a:t>
            </a:r>
          </a:p>
          <a:p>
            <a:pPr lvl="1"/>
            <a:r>
              <a:rPr lang="en-US"/>
              <a:t>expression: tính giá trị của biểu thức sau đó in giá trị.</a:t>
            </a:r>
          </a:p>
          <a:p>
            <a:pPr lvl="1"/>
            <a:r>
              <a:rPr lang="en-US"/>
              <a:t>manipulator: định dạng dữ liệu xuất. </a:t>
            </a:r>
          </a:p>
          <a:p>
            <a:r>
              <a:rPr lang="en-US"/>
              <a:t>Ví dụ:</a:t>
            </a:r>
          </a:p>
          <a:p>
            <a:pPr lvl="4"/>
            <a:r>
              <a:rPr lang="en-US"/>
              <a:t>cout &lt;&lt; 29 / 4 &lt;&lt; endl; </a:t>
            </a:r>
          </a:p>
          <a:p>
            <a:pPr lvl="4"/>
            <a:r>
              <a:rPr lang="en-US"/>
              <a:t>cout &lt;&lt; 'A' &lt;&lt; endl; </a:t>
            </a:r>
          </a:p>
          <a:p>
            <a:pPr lvl="4"/>
            <a:r>
              <a:rPr lang="en-US"/>
              <a:t>cout &lt;&lt; "Hello \nthere!" &lt;&lt; endl;</a:t>
            </a:r>
          </a:p>
          <a:p>
            <a:pPr lvl="4"/>
            <a:r>
              <a:rPr lang="en-US"/>
              <a:t>cout &lt;&lt; "4 + 8 = " &lt;&lt; 4 + 8 &lt;&lt; endl;</a:t>
            </a:r>
          </a:p>
          <a:p>
            <a:pPr lvl="4"/>
            <a:r>
              <a:rPr lang="en-US"/>
              <a:t>cout &lt;&lt; "...1\n....2\n.....3\n"; </a:t>
            </a:r>
          </a:p>
          <a:p>
            <a:pPr lvl="3"/>
            <a:r>
              <a:rPr lang="en-US"/>
              <a:t>hoặc </a:t>
            </a:r>
          </a:p>
          <a:p>
            <a:pPr lvl="4"/>
            <a:r>
              <a:rPr lang="en-US"/>
              <a:t>cout &lt;&lt; "...1" &lt;&lt; endl &lt;&lt; "....2" &lt;&lt; endl</a:t>
            </a:r>
            <a:br>
              <a:rPr lang="en-US"/>
            </a:br>
            <a:r>
              <a:rPr lang="en-US"/>
              <a:t>     &lt;&lt; ".....3" &lt;&lt; endl;</a:t>
            </a:r>
          </a:p>
          <a:p>
            <a:endParaRPr lang="en-US"/>
          </a:p>
          <a:p>
            <a:endParaRPr lang="en-US"/>
          </a:p>
        </p:txBody>
      </p:sp>
      <p:sp>
        <p:nvSpPr>
          <p:cNvPr id="4" name="Footer Placeholder 3">
            <a:extLst>
              <a:ext uri="{FF2B5EF4-FFF2-40B4-BE49-F238E27FC236}">
                <a16:creationId xmlns:a16="http://schemas.microsoft.com/office/drawing/2014/main" id="{694AD5A4-DF07-4715-A2CB-10DB5F320CA9}"/>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46482515-E76D-4858-9751-C91752DE4326}"/>
              </a:ext>
            </a:extLst>
          </p:cNvPr>
          <p:cNvSpPr>
            <a:spLocks noGrp="1"/>
          </p:cNvSpPr>
          <p:nvPr>
            <p:ph type="sldNum" sz="quarter" idx="12"/>
          </p:nvPr>
        </p:nvSpPr>
        <p:spPr/>
        <p:txBody>
          <a:bodyPr/>
          <a:lstStyle/>
          <a:p>
            <a:fld id="{45CA964B-B8B5-4404-ADB9-CBB2121E234F}" type="slidenum">
              <a:rPr lang="en-US" smtClean="0"/>
              <a:t>45</a:t>
            </a:fld>
            <a:endParaRPr lang="en-US"/>
          </a:p>
        </p:txBody>
      </p:sp>
      <p:sp>
        <p:nvSpPr>
          <p:cNvPr id="8" name="Rectangle 7">
            <a:extLst>
              <a:ext uri="{FF2B5EF4-FFF2-40B4-BE49-F238E27FC236}">
                <a16:creationId xmlns:a16="http://schemas.microsoft.com/office/drawing/2014/main" id="{D9161AE7-178E-42B8-8A7B-51ECEA12B640}"/>
              </a:ext>
            </a:extLst>
          </p:cNvPr>
          <p:cNvSpPr/>
          <p:nvPr/>
        </p:nvSpPr>
        <p:spPr>
          <a:xfrm>
            <a:off x="575186" y="1507597"/>
            <a:ext cx="7049730"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7310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BC41-9F6D-4B78-893D-850AA7FFCA73}"/>
              </a:ext>
            </a:extLst>
          </p:cNvPr>
          <p:cNvSpPr>
            <a:spLocks noGrp="1"/>
          </p:cNvSpPr>
          <p:nvPr>
            <p:ph type="title"/>
          </p:nvPr>
        </p:nvSpPr>
        <p:spPr/>
        <p:txBody>
          <a:bodyPr/>
          <a:lstStyle/>
          <a:p>
            <a:r>
              <a:rPr lang="en-US"/>
              <a:t>Định dạng xuất</a:t>
            </a:r>
          </a:p>
        </p:txBody>
      </p:sp>
      <p:sp>
        <p:nvSpPr>
          <p:cNvPr id="3" name="Content Placeholder 2">
            <a:extLst>
              <a:ext uri="{FF2B5EF4-FFF2-40B4-BE49-F238E27FC236}">
                <a16:creationId xmlns:a16="http://schemas.microsoft.com/office/drawing/2014/main" id="{19BDD389-5C05-4381-92D3-EBFB70DFAEBB}"/>
              </a:ext>
            </a:extLst>
          </p:cNvPr>
          <p:cNvSpPr>
            <a:spLocks noGrp="1"/>
          </p:cNvSpPr>
          <p:nvPr>
            <p:ph idx="1"/>
          </p:nvPr>
        </p:nvSpPr>
        <p:spPr/>
        <p:txBody>
          <a:bodyPr/>
          <a:lstStyle/>
          <a:p>
            <a:r>
              <a:rPr lang="vi-VN"/>
              <a:t>Môi trường lập trình thường xuất 6 chữ số có nghĩa (mặc định): </a:t>
            </a:r>
            <a:endParaRPr lang="en-US"/>
          </a:p>
          <a:p>
            <a:pPr lvl="4"/>
            <a:r>
              <a:rPr lang="vi-VN"/>
              <a:t>cout &lt;&lt; 12.345678 &lt;&lt; endl; //12.3457</a:t>
            </a:r>
          </a:p>
          <a:p>
            <a:r>
              <a:rPr lang="vi-VN"/>
              <a:t>Để định dạng dữ liệu xuất, ta phải thêm chỉ thị: </a:t>
            </a:r>
            <a:endParaRPr lang="en-US"/>
          </a:p>
          <a:p>
            <a:pPr marL="109538" indent="0" algn="ctr">
              <a:buNone/>
            </a:pPr>
            <a:r>
              <a:rPr lang="vi-VN">
                <a:solidFill>
                  <a:srgbClr val="FF0000"/>
                </a:solidFill>
              </a:rPr>
              <a:t>#include &lt;iomanip&gt; </a:t>
            </a:r>
            <a:endParaRPr lang="en-US">
              <a:solidFill>
                <a:srgbClr val="FF0000"/>
              </a:solidFill>
            </a:endParaRPr>
          </a:p>
          <a:p>
            <a:r>
              <a:rPr lang="vi-VN"/>
              <a:t>Ví dụ hiển thị 2 chữ số lẻ:</a:t>
            </a:r>
          </a:p>
          <a:p>
            <a:pPr lvl="4"/>
            <a:r>
              <a:rPr lang="vi-VN"/>
              <a:t>cout &lt;&lt; fixed &lt;&lt; setprecision(2)</a:t>
            </a:r>
          </a:p>
          <a:p>
            <a:pPr lvl="4">
              <a:tabLst>
                <a:tab pos="1195388" algn="l"/>
                <a:tab pos="6858000" algn="l"/>
              </a:tabLst>
            </a:pPr>
            <a:r>
              <a:rPr lang="vi-VN"/>
              <a:t>	&lt;&lt; 12.345678 &lt;&lt; endl;	//12.35</a:t>
            </a:r>
          </a:p>
          <a:p>
            <a:r>
              <a:rPr lang="vi-VN"/>
              <a:t>  Ví dụ quy định chiều rộng cột hiển thị:</a:t>
            </a:r>
          </a:p>
          <a:p>
            <a:pPr lvl="4">
              <a:tabLst>
                <a:tab pos="5427663" algn="l"/>
              </a:tabLst>
            </a:pPr>
            <a:r>
              <a:rPr lang="fr-FR"/>
              <a:t>cout &lt;&lt; "0123456789" &lt;&lt; endl;	//0123456789 </a:t>
            </a:r>
          </a:p>
          <a:p>
            <a:pPr lvl="4">
              <a:tabLst>
                <a:tab pos="6916738" algn="l"/>
              </a:tabLst>
            </a:pPr>
            <a:r>
              <a:rPr lang="fr-FR"/>
              <a:t>cout &lt;&lt; setw(10) &lt;&lt; 12.345678 &lt;&lt; endl;	//	12.3457</a:t>
            </a:r>
            <a:endParaRPr lang="en-US"/>
          </a:p>
        </p:txBody>
      </p:sp>
      <p:sp>
        <p:nvSpPr>
          <p:cNvPr id="4" name="Footer Placeholder 3">
            <a:extLst>
              <a:ext uri="{FF2B5EF4-FFF2-40B4-BE49-F238E27FC236}">
                <a16:creationId xmlns:a16="http://schemas.microsoft.com/office/drawing/2014/main" id="{39CA94C4-BA1C-476C-BCC2-CA3831052476}"/>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BC79047C-443B-4C0C-A65D-DFDE14D37399}"/>
              </a:ext>
            </a:extLst>
          </p:cNvPr>
          <p:cNvSpPr>
            <a:spLocks noGrp="1"/>
          </p:cNvSpPr>
          <p:nvPr>
            <p:ph type="sldNum" sz="quarter" idx="12"/>
          </p:nvPr>
        </p:nvSpPr>
        <p:spPr/>
        <p:txBody>
          <a:bodyPr/>
          <a:lstStyle/>
          <a:p>
            <a:fld id="{45CA964B-B8B5-4404-ADB9-CBB2121E234F}" type="slidenum">
              <a:rPr lang="en-US" smtClean="0"/>
              <a:t>46</a:t>
            </a:fld>
            <a:endParaRPr lang="en-US"/>
          </a:p>
        </p:txBody>
      </p:sp>
    </p:spTree>
    <p:extLst>
      <p:ext uri="{BB962C8B-B14F-4D97-AF65-F5344CB8AC3E}">
        <p14:creationId xmlns:p14="http://schemas.microsoft.com/office/powerpoint/2010/main" val="163229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E730-5E7D-4F3E-B2D5-A4704192C58E}"/>
              </a:ext>
            </a:extLst>
          </p:cNvPr>
          <p:cNvSpPr>
            <a:spLocks noGrp="1"/>
          </p:cNvSpPr>
          <p:nvPr>
            <p:ph type="title"/>
          </p:nvPr>
        </p:nvSpPr>
        <p:spPr/>
        <p:txBody>
          <a:bodyPr/>
          <a:lstStyle/>
          <a:p>
            <a:r>
              <a:rPr lang="en-US"/>
              <a:t>Nội dung</a:t>
            </a:r>
          </a:p>
        </p:txBody>
      </p:sp>
      <p:sp>
        <p:nvSpPr>
          <p:cNvPr id="6" name="Content Placeholder 5">
            <a:extLst>
              <a:ext uri="{FF2B5EF4-FFF2-40B4-BE49-F238E27FC236}">
                <a16:creationId xmlns:a16="http://schemas.microsoft.com/office/drawing/2014/main" id="{E4969F6F-85F7-41BC-917B-662067F0EC4B}"/>
              </a:ext>
            </a:extLst>
          </p:cNvPr>
          <p:cNvSpPr>
            <a:spLocks noGrp="1"/>
          </p:cNvSpPr>
          <p:nvPr>
            <p:ph idx="1"/>
          </p:nvPr>
        </p:nvSpPr>
        <p:spPr/>
        <p:txBody>
          <a:bodyPr/>
          <a:lstStyle/>
          <a:p>
            <a:r>
              <a:rPr lang="vi-VN">
                <a:solidFill>
                  <a:schemeClr val="tx1">
                    <a:lumMod val="50000"/>
                    <a:lumOff val="50000"/>
                  </a:schemeClr>
                </a:solidFill>
              </a:rPr>
              <a:t>Tên và Từ khóa</a:t>
            </a:r>
          </a:p>
          <a:p>
            <a:r>
              <a:rPr lang="vi-VN">
                <a:solidFill>
                  <a:schemeClr val="tx1">
                    <a:lumMod val="50000"/>
                    <a:lumOff val="50000"/>
                  </a:schemeClr>
                </a:solidFill>
              </a:rPr>
              <a:t>Kiểu dữ liệu</a:t>
            </a:r>
          </a:p>
          <a:p>
            <a:r>
              <a:rPr lang="vi-VN">
                <a:solidFill>
                  <a:schemeClr val="tx1">
                    <a:lumMod val="50000"/>
                    <a:lumOff val="50000"/>
                  </a:schemeClr>
                </a:solidFill>
              </a:rPr>
              <a:t>Biến và Hằng</a:t>
            </a:r>
          </a:p>
          <a:p>
            <a:r>
              <a:rPr lang="vi-VN">
                <a:solidFill>
                  <a:schemeClr val="tx1">
                    <a:lumMod val="50000"/>
                    <a:lumOff val="50000"/>
                  </a:schemeClr>
                </a:solidFill>
              </a:rPr>
              <a:t>Nhập dữ liệu</a:t>
            </a:r>
          </a:p>
          <a:p>
            <a:r>
              <a:rPr lang="vi-VN">
                <a:solidFill>
                  <a:schemeClr val="tx1">
                    <a:lumMod val="50000"/>
                    <a:lumOff val="50000"/>
                  </a:schemeClr>
                </a:solidFill>
              </a:rPr>
              <a:t>Xuất dữ liệu và Định dạng xuất</a:t>
            </a:r>
            <a:endParaRPr lang="en-US">
              <a:solidFill>
                <a:schemeClr val="tx1">
                  <a:lumMod val="50000"/>
                  <a:lumOff val="50000"/>
                </a:schemeClr>
              </a:solidFill>
            </a:endParaRPr>
          </a:p>
          <a:p>
            <a:r>
              <a:rPr lang="en-US"/>
              <a:t>Biểu thức</a:t>
            </a:r>
          </a:p>
          <a:p>
            <a:pPr lvl="1"/>
            <a:r>
              <a:rPr lang="en-US"/>
              <a:t>Biểu thức số học</a:t>
            </a:r>
          </a:p>
          <a:p>
            <a:pPr lvl="1"/>
            <a:r>
              <a:rPr lang="en-US"/>
              <a:t>Biểu thức luận lý</a:t>
            </a:r>
          </a:p>
        </p:txBody>
      </p:sp>
      <p:sp>
        <p:nvSpPr>
          <p:cNvPr id="3" name="Footer Placeholder 2">
            <a:extLst>
              <a:ext uri="{FF2B5EF4-FFF2-40B4-BE49-F238E27FC236}">
                <a16:creationId xmlns:a16="http://schemas.microsoft.com/office/drawing/2014/main" id="{5421A25A-DC0C-494A-9B7A-AC690DFB613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CED90143-ACC9-4004-91AB-89A45C5AF581}"/>
              </a:ext>
            </a:extLst>
          </p:cNvPr>
          <p:cNvSpPr>
            <a:spLocks noGrp="1"/>
          </p:cNvSpPr>
          <p:nvPr>
            <p:ph type="sldNum" sz="quarter" idx="12"/>
          </p:nvPr>
        </p:nvSpPr>
        <p:spPr/>
        <p:txBody>
          <a:bodyPr/>
          <a:lstStyle/>
          <a:p>
            <a:fld id="{45CA964B-B8B5-4404-ADB9-CBB2121E234F}" type="slidenum">
              <a:rPr lang="en-US" smtClean="0"/>
              <a:t>47</a:t>
            </a:fld>
            <a:endParaRPr lang="en-US"/>
          </a:p>
        </p:txBody>
      </p:sp>
    </p:spTree>
    <p:extLst>
      <p:ext uri="{BB962C8B-B14F-4D97-AF65-F5344CB8AC3E}">
        <p14:creationId xmlns:p14="http://schemas.microsoft.com/office/powerpoint/2010/main" val="4165580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BA3CDB2-1BE1-4FEC-A656-C088DCFD0D60}"/>
              </a:ext>
            </a:extLst>
          </p:cNvPr>
          <p:cNvSpPr>
            <a:spLocks noGrp="1"/>
          </p:cNvSpPr>
          <p:nvPr>
            <p:ph type="title"/>
          </p:nvPr>
        </p:nvSpPr>
        <p:spPr/>
        <p:txBody>
          <a:bodyPr/>
          <a:lstStyle/>
          <a:p>
            <a:r>
              <a:rPr lang="vi-VN"/>
              <a:t>Biểu thức</a:t>
            </a:r>
            <a:endParaRPr lang="en-US"/>
          </a:p>
        </p:txBody>
      </p:sp>
      <p:sp>
        <p:nvSpPr>
          <p:cNvPr id="7" name="Content Placeholder 6">
            <a:extLst>
              <a:ext uri="{FF2B5EF4-FFF2-40B4-BE49-F238E27FC236}">
                <a16:creationId xmlns:a16="http://schemas.microsoft.com/office/drawing/2014/main" id="{BBC18B46-DF8E-4A37-8F02-794F3DA6192B}"/>
              </a:ext>
            </a:extLst>
          </p:cNvPr>
          <p:cNvSpPr>
            <a:spLocks noGrp="1"/>
          </p:cNvSpPr>
          <p:nvPr>
            <p:ph idx="1"/>
          </p:nvPr>
        </p:nvSpPr>
        <p:spPr/>
        <p:txBody>
          <a:bodyPr/>
          <a:lstStyle/>
          <a:p>
            <a:pPr algn="just">
              <a:lnSpc>
                <a:spcPct val="100000"/>
              </a:lnSpc>
            </a:pPr>
            <a:r>
              <a:rPr lang="vi-VN"/>
              <a:t>Biểu thức (expression) dùng để tính toán các giá trị, được tạo thành từ toán tử (operators) và toán hạng (operands).</a:t>
            </a:r>
          </a:p>
          <a:p>
            <a:pPr lvl="1" algn="just">
              <a:lnSpc>
                <a:spcPct val="100000"/>
              </a:lnSpc>
            </a:pPr>
            <a:r>
              <a:rPr lang="vi-VN"/>
              <a:t>Toán tử: thực hiện tính toán với toán hạng và cho kết quả là giá trị có một kiểu.</a:t>
            </a:r>
          </a:p>
          <a:p>
            <a:pPr lvl="1">
              <a:lnSpc>
                <a:spcPct val="100000"/>
              </a:lnSpc>
            </a:pPr>
            <a:r>
              <a:rPr lang="vi-VN"/>
              <a:t>Toán hạng: dữ liệu được toán tử tính toán. </a:t>
            </a:r>
            <a:endParaRPr lang="en-US"/>
          </a:p>
          <a:p>
            <a:pPr>
              <a:lnSpc>
                <a:spcPct val="100000"/>
              </a:lnSpc>
            </a:pPr>
            <a:r>
              <a:rPr lang="vi-VN"/>
              <a:t>Ví dụ:</a:t>
            </a:r>
          </a:p>
          <a:p>
            <a:pPr lvl="4">
              <a:lnSpc>
                <a:spcPct val="100000"/>
              </a:lnSpc>
            </a:pPr>
            <a:r>
              <a:rPr lang="vi-VN"/>
              <a:t>2 + 3 * 5 </a:t>
            </a:r>
            <a:endParaRPr lang="en-GB"/>
          </a:p>
          <a:p>
            <a:pPr lvl="4">
              <a:lnSpc>
                <a:spcPct val="100000"/>
              </a:lnSpc>
            </a:pPr>
            <a:r>
              <a:rPr lang="vi-VN"/>
              <a:t>x - y / 7</a:t>
            </a:r>
          </a:p>
          <a:p>
            <a:pPr lvl="4">
              <a:lnSpc>
                <a:spcPct val="100000"/>
              </a:lnSpc>
            </a:pPr>
            <a:r>
              <a:rPr lang="vi-VN"/>
              <a:t>x * 10.5 + y - 16.2</a:t>
            </a:r>
          </a:p>
          <a:p>
            <a:pPr lvl="4">
              <a:lnSpc>
                <a:spcPct val="100000"/>
              </a:lnSpc>
            </a:pPr>
            <a:r>
              <a:rPr lang="vi-VN"/>
              <a:t>2 + 3.5</a:t>
            </a:r>
          </a:p>
          <a:p>
            <a:pPr lvl="4">
              <a:lnSpc>
                <a:spcPct val="100000"/>
              </a:lnSpc>
            </a:pPr>
            <a:r>
              <a:rPr lang="vi-VN"/>
              <a:t>6 / 4 + 3.9</a:t>
            </a:r>
          </a:p>
          <a:p>
            <a:pPr lvl="4">
              <a:lnSpc>
                <a:spcPct val="100000"/>
              </a:lnSpc>
            </a:pPr>
            <a:r>
              <a:rPr lang="vi-VN"/>
              <a:t>5.4 * 2 - 13.6 + 18 / 2</a:t>
            </a:r>
          </a:p>
          <a:p>
            <a:pPr>
              <a:lnSpc>
                <a:spcPct val="100000"/>
              </a:lnSpc>
            </a:pPr>
            <a:endParaRPr lang="en-US"/>
          </a:p>
        </p:txBody>
      </p:sp>
      <p:sp>
        <p:nvSpPr>
          <p:cNvPr id="4" name="Footer Placeholder 3">
            <a:extLst>
              <a:ext uri="{FF2B5EF4-FFF2-40B4-BE49-F238E27FC236}">
                <a16:creationId xmlns:a16="http://schemas.microsoft.com/office/drawing/2014/main" id="{F9188F41-34A5-4867-A00F-E03E8A693022}"/>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88E59F34-122D-4537-B872-EA41E79F2D51}"/>
              </a:ext>
            </a:extLst>
          </p:cNvPr>
          <p:cNvSpPr>
            <a:spLocks noGrp="1"/>
          </p:cNvSpPr>
          <p:nvPr>
            <p:ph type="sldNum" sz="quarter" idx="12"/>
          </p:nvPr>
        </p:nvSpPr>
        <p:spPr/>
        <p:txBody>
          <a:bodyPr/>
          <a:lstStyle/>
          <a:p>
            <a:fld id="{45CA964B-B8B5-4404-ADB9-CBB2121E234F}" type="slidenum">
              <a:rPr lang="en-US" smtClean="0"/>
              <a:t>48</a:t>
            </a:fld>
            <a:endParaRPr lang="en-US"/>
          </a:p>
        </p:txBody>
      </p:sp>
    </p:spTree>
    <p:extLst>
      <p:ext uri="{BB962C8B-B14F-4D97-AF65-F5344CB8AC3E}">
        <p14:creationId xmlns:p14="http://schemas.microsoft.com/office/powerpoint/2010/main" val="36062458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C1DD-F93E-430E-9F61-E89BF0CE8B8D}"/>
              </a:ext>
            </a:extLst>
          </p:cNvPr>
          <p:cNvSpPr>
            <a:spLocks noGrp="1"/>
          </p:cNvSpPr>
          <p:nvPr>
            <p:ph type="title"/>
          </p:nvPr>
        </p:nvSpPr>
        <p:spPr/>
        <p:txBody>
          <a:bodyPr/>
          <a:lstStyle/>
          <a:p>
            <a:r>
              <a:rPr lang="vi-VN"/>
              <a:t>Độ ưu tiên của toán tử</a:t>
            </a:r>
            <a:endParaRPr lang="en-US"/>
          </a:p>
        </p:txBody>
      </p:sp>
      <p:sp>
        <p:nvSpPr>
          <p:cNvPr id="3" name="Content Placeholder 2">
            <a:extLst>
              <a:ext uri="{FF2B5EF4-FFF2-40B4-BE49-F238E27FC236}">
                <a16:creationId xmlns:a16="http://schemas.microsoft.com/office/drawing/2014/main" id="{F52C1C86-34C4-4662-8C74-0126385F0E1A}"/>
              </a:ext>
            </a:extLst>
          </p:cNvPr>
          <p:cNvSpPr>
            <a:spLocks noGrp="1"/>
          </p:cNvSpPr>
          <p:nvPr>
            <p:ph idx="1"/>
          </p:nvPr>
        </p:nvSpPr>
        <p:spPr>
          <a:xfrm>
            <a:off x="320039" y="1094642"/>
            <a:ext cx="8705973" cy="5394960"/>
          </a:xfrm>
        </p:spPr>
        <p:txBody>
          <a:bodyPr>
            <a:normAutofit/>
          </a:bodyPr>
          <a:lstStyle/>
          <a:p>
            <a:r>
              <a:rPr lang="vi-VN"/>
              <a:t>Khi tính giá trị biểu thức: áp dụng luật ưu tiên của các toán tử.</a:t>
            </a:r>
            <a:endParaRPr lang="en-US"/>
          </a:p>
          <a:p>
            <a:endParaRPr lang="en-US"/>
          </a:p>
          <a:p>
            <a:endParaRPr lang="en-US"/>
          </a:p>
          <a:p>
            <a:endParaRPr lang="en-US"/>
          </a:p>
          <a:p>
            <a:endParaRPr lang="en-US"/>
          </a:p>
          <a:p>
            <a:pPr lvl="1"/>
            <a:endParaRPr lang="en-US"/>
          </a:p>
          <a:p>
            <a:pPr lvl="1"/>
            <a:endParaRPr lang="en-US"/>
          </a:p>
          <a:p>
            <a:pPr lvl="1"/>
            <a:endParaRPr lang="en-US"/>
          </a:p>
          <a:p>
            <a:pPr lvl="1"/>
            <a:endParaRPr lang="en-US"/>
          </a:p>
          <a:p>
            <a:r>
              <a:rPr lang="en-US"/>
              <a:t>Ví dụ:</a:t>
            </a:r>
          </a:p>
          <a:p>
            <a:pPr lvl="1">
              <a:tabLst>
                <a:tab pos="3376613" algn="l"/>
                <a:tab pos="5310188" algn="l"/>
              </a:tabLst>
            </a:pPr>
            <a:r>
              <a:rPr lang="en-US"/>
              <a:t>(dai + rong) * 2	khác với 	dai + rong * 2</a:t>
            </a:r>
          </a:p>
          <a:p>
            <a:pPr lvl="1">
              <a:tabLst>
                <a:tab pos="3376613" algn="l"/>
                <a:tab pos="5310188" algn="l"/>
              </a:tabLst>
            </a:pPr>
            <a:r>
              <a:rPr lang="en-US"/>
              <a:t>a * b + c / d	nghĩa là 	(a * b) + (c / d)</a:t>
            </a:r>
            <a:br>
              <a:rPr lang="en-US"/>
            </a:br>
            <a:r>
              <a:rPr lang="en-US"/>
              <a:t>	không phải 	a * (b + c) / d</a:t>
            </a:r>
          </a:p>
          <a:p>
            <a:endParaRPr lang="en-US"/>
          </a:p>
        </p:txBody>
      </p:sp>
      <p:sp>
        <p:nvSpPr>
          <p:cNvPr id="4" name="Footer Placeholder 3">
            <a:extLst>
              <a:ext uri="{FF2B5EF4-FFF2-40B4-BE49-F238E27FC236}">
                <a16:creationId xmlns:a16="http://schemas.microsoft.com/office/drawing/2014/main" id="{E4C21524-FBD3-48BA-841E-8CC0F173F66E}"/>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E85F1061-6790-4E0F-81E7-9CEAEE368BC9}"/>
              </a:ext>
            </a:extLst>
          </p:cNvPr>
          <p:cNvSpPr>
            <a:spLocks noGrp="1"/>
          </p:cNvSpPr>
          <p:nvPr>
            <p:ph type="sldNum" sz="quarter" idx="12"/>
          </p:nvPr>
        </p:nvSpPr>
        <p:spPr/>
        <p:txBody>
          <a:bodyPr/>
          <a:lstStyle/>
          <a:p>
            <a:fld id="{45CA964B-B8B5-4404-ADB9-CBB2121E234F}" type="slidenum">
              <a:rPr lang="en-US" smtClean="0"/>
              <a:t>49</a:t>
            </a:fld>
            <a:endParaRPr lang="en-US"/>
          </a:p>
        </p:txBody>
      </p:sp>
      <p:graphicFrame>
        <p:nvGraphicFramePr>
          <p:cNvPr id="6" name="Table 5">
            <a:extLst>
              <a:ext uri="{FF2B5EF4-FFF2-40B4-BE49-F238E27FC236}">
                <a16:creationId xmlns:a16="http://schemas.microsoft.com/office/drawing/2014/main" id="{91BBD410-8CC7-48BA-BC5A-2D11B86EEF47}"/>
              </a:ext>
            </a:extLst>
          </p:cNvPr>
          <p:cNvGraphicFramePr>
            <a:graphicFrameLocks noGrp="1"/>
          </p:cNvGraphicFramePr>
          <p:nvPr>
            <p:extLst>
              <p:ext uri="{D42A27DB-BD31-4B8C-83A1-F6EECF244321}">
                <p14:modId xmlns:p14="http://schemas.microsoft.com/office/powerpoint/2010/main" val="881238250"/>
              </p:ext>
            </p:extLst>
          </p:nvPr>
        </p:nvGraphicFramePr>
        <p:xfrm>
          <a:off x="742529" y="1542410"/>
          <a:ext cx="5680157" cy="3250813"/>
        </p:xfrm>
        <a:graphic>
          <a:graphicData uri="http://schemas.openxmlformats.org/drawingml/2006/table">
            <a:tbl>
              <a:tblPr firstRow="1">
                <a:tableStyleId>{2D5ABB26-0587-4C30-8999-92F81FD0307C}</a:tableStyleId>
              </a:tblPr>
              <a:tblGrid>
                <a:gridCol w="3628565">
                  <a:extLst>
                    <a:ext uri="{9D8B030D-6E8A-4147-A177-3AD203B41FA5}">
                      <a16:colId xmlns:a16="http://schemas.microsoft.com/office/drawing/2014/main" val="2848917355"/>
                    </a:ext>
                  </a:extLst>
                </a:gridCol>
                <a:gridCol w="2051592">
                  <a:extLst>
                    <a:ext uri="{9D8B030D-6E8A-4147-A177-3AD203B41FA5}">
                      <a16:colId xmlns:a16="http://schemas.microsoft.com/office/drawing/2014/main" val="3712943422"/>
                    </a:ext>
                  </a:extLst>
                </a:gridCol>
              </a:tblGrid>
              <a:tr h="419381">
                <a:tc>
                  <a:txBody>
                    <a:bodyPr/>
                    <a:lstStyle/>
                    <a:p>
                      <a:pPr marL="44450" marR="0">
                        <a:lnSpc>
                          <a:spcPct val="107000"/>
                        </a:lnSpc>
                        <a:spcBef>
                          <a:spcPts val="0"/>
                        </a:spcBef>
                        <a:spcAft>
                          <a:spcPts val="0"/>
                        </a:spcAft>
                      </a:pPr>
                      <a:r>
                        <a:rPr lang="en-US" sz="2400">
                          <a:effectLst/>
                        </a:rPr>
                        <a:t>Toán tử</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400">
                          <a:effectLst/>
                        </a:rPr>
                        <a:t>Độ ưu tiên</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779339"/>
                  </a:ext>
                </a:extLst>
              </a:tr>
              <a:tr h="353929">
                <a:tc>
                  <a:txBody>
                    <a:bodyPr/>
                    <a:lstStyle/>
                    <a:p>
                      <a:pPr marL="44450" marR="0">
                        <a:lnSpc>
                          <a:spcPct val="90000"/>
                        </a:lnSpc>
                        <a:spcBef>
                          <a:spcPts val="0"/>
                        </a:spcBef>
                        <a:spcAft>
                          <a:spcPts val="0"/>
                        </a:spcAft>
                      </a:pPr>
                      <a:r>
                        <a:rPr lang="en-US" sz="2400">
                          <a:effectLst/>
                        </a:rPr>
                        <a:t>! </a:t>
                      </a:r>
                      <a:r>
                        <a:rPr lang="en-US" sz="2400">
                          <a:effectLst/>
                          <a:sym typeface="Symbol" panose="05050102010706020507" pitchFamily="18" charset="2"/>
                        </a:rPr>
                        <a:t></a:t>
                      </a:r>
                      <a:r>
                        <a:rPr lang="en-US" sz="2400">
                          <a:effectLst/>
                        </a:rPr>
                        <a:t> (unary operator)</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253365" marR="0" algn="ctr">
                        <a:lnSpc>
                          <a:spcPct val="90000"/>
                        </a:lnSpc>
                        <a:spcBef>
                          <a:spcPts val="0"/>
                        </a:spcBef>
                        <a:spcAft>
                          <a:spcPts val="0"/>
                        </a:spcAft>
                      </a:pPr>
                      <a:r>
                        <a:rPr lang="en-US" sz="2400">
                          <a:effectLst/>
                        </a:rPr>
                        <a:t>1</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62497396"/>
                  </a:ext>
                </a:extLst>
              </a:tr>
              <a:tr h="353929">
                <a:tc>
                  <a:txBody>
                    <a:bodyPr/>
                    <a:lstStyle/>
                    <a:p>
                      <a:pPr marL="44450" marR="0">
                        <a:lnSpc>
                          <a:spcPct val="90000"/>
                        </a:lnSpc>
                        <a:spcBef>
                          <a:spcPts val="0"/>
                        </a:spcBef>
                        <a:spcAft>
                          <a:spcPts val="0"/>
                        </a:spcAft>
                      </a:pPr>
                      <a:r>
                        <a:rPr lang="en-US" sz="2400">
                          <a:effectLst/>
                        </a:rPr>
                        <a:t>* /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tcPr>
                </a:tc>
                <a:tc>
                  <a:txBody>
                    <a:bodyPr/>
                    <a:lstStyle/>
                    <a:p>
                      <a:pPr marL="254000" marR="0" algn="ctr">
                        <a:lnSpc>
                          <a:spcPct val="90000"/>
                        </a:lnSpc>
                        <a:spcBef>
                          <a:spcPts val="0"/>
                        </a:spcBef>
                        <a:spcAft>
                          <a:spcPts val="0"/>
                        </a:spcAft>
                      </a:pPr>
                      <a:r>
                        <a:rPr lang="en-US" sz="2400">
                          <a:effectLst/>
                        </a:rPr>
                        <a:t>2</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99600679"/>
                  </a:ext>
                </a:extLst>
              </a:tr>
              <a:tr h="353929">
                <a:tc>
                  <a:txBody>
                    <a:bodyPr/>
                    <a:lstStyle/>
                    <a:p>
                      <a:pPr marL="44450" marR="0">
                        <a:lnSpc>
                          <a:spcPct val="90000"/>
                        </a:lnSpc>
                        <a:spcBef>
                          <a:spcPts val="0"/>
                        </a:spcBef>
                        <a:spcAft>
                          <a:spcPts val="0"/>
                        </a:spcAft>
                      </a:pPr>
                      <a:r>
                        <a:rPr lang="en-US" sz="2400">
                          <a:effectLst/>
                        </a:rPr>
                        <a:t>+ </a:t>
                      </a:r>
                      <a:r>
                        <a:rPr lang="en-US" sz="2400">
                          <a:effectLst/>
                          <a:sym typeface="Symbol" panose="05050102010706020507" pitchFamily="18" charset="2"/>
                        </a:rPr>
                        <a: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tcPr>
                </a:tc>
                <a:tc>
                  <a:txBody>
                    <a:bodyPr/>
                    <a:lstStyle/>
                    <a:p>
                      <a:pPr marL="254000" marR="0" algn="ctr">
                        <a:lnSpc>
                          <a:spcPct val="90000"/>
                        </a:lnSpc>
                        <a:spcBef>
                          <a:spcPts val="0"/>
                        </a:spcBef>
                        <a:spcAft>
                          <a:spcPts val="0"/>
                        </a:spcAft>
                      </a:pPr>
                      <a:r>
                        <a:rPr lang="en-US" sz="2400">
                          <a:effectLst/>
                        </a:rPr>
                        <a:t>3</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28870306"/>
                  </a:ext>
                </a:extLst>
              </a:tr>
              <a:tr h="353929">
                <a:tc>
                  <a:txBody>
                    <a:bodyPr/>
                    <a:lstStyle/>
                    <a:p>
                      <a:pPr marL="44450" marR="0">
                        <a:lnSpc>
                          <a:spcPct val="90000"/>
                        </a:lnSpc>
                        <a:spcBef>
                          <a:spcPts val="0"/>
                        </a:spcBef>
                        <a:spcAft>
                          <a:spcPts val="0"/>
                        </a:spcAft>
                      </a:pPr>
                      <a:r>
                        <a:rPr lang="en-US" sz="2400">
                          <a:effectLst/>
                        </a:rPr>
                        <a:t>&lt; &lt;= &gt;= &gt;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tcPr>
                </a:tc>
                <a:tc>
                  <a:txBody>
                    <a:bodyPr/>
                    <a:lstStyle/>
                    <a:p>
                      <a:pPr marL="254000" marR="0" algn="ctr">
                        <a:lnSpc>
                          <a:spcPct val="90000"/>
                        </a:lnSpc>
                        <a:spcBef>
                          <a:spcPts val="0"/>
                        </a:spcBef>
                        <a:spcAft>
                          <a:spcPts val="0"/>
                        </a:spcAft>
                      </a:pPr>
                      <a:r>
                        <a:rPr lang="en-US" sz="2400">
                          <a:effectLst/>
                        </a:rPr>
                        <a:t>4</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48285693"/>
                  </a:ext>
                </a:extLst>
              </a:tr>
              <a:tr h="353929">
                <a:tc>
                  <a:txBody>
                    <a:bodyPr/>
                    <a:lstStyle/>
                    <a:p>
                      <a:pPr marL="44450" marR="0">
                        <a:lnSpc>
                          <a:spcPct val="90000"/>
                        </a:lnSpc>
                        <a:spcBef>
                          <a:spcPts val="0"/>
                        </a:spcBef>
                        <a:spcAft>
                          <a:spcPts val="0"/>
                        </a:spcAft>
                      </a:pPr>
                      <a:r>
                        <a:rPr lang="en-US" sz="2400">
                          <a:effectLst/>
                        </a:rPr>
                        <a:t>==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tcPr>
                </a:tc>
                <a:tc>
                  <a:txBody>
                    <a:bodyPr/>
                    <a:lstStyle/>
                    <a:p>
                      <a:pPr marL="254000" marR="0" algn="ctr">
                        <a:lnSpc>
                          <a:spcPct val="90000"/>
                        </a:lnSpc>
                        <a:spcBef>
                          <a:spcPts val="0"/>
                        </a:spcBef>
                        <a:spcAft>
                          <a:spcPts val="0"/>
                        </a:spcAft>
                      </a:pPr>
                      <a:r>
                        <a:rPr lang="en-US" sz="2400">
                          <a:effectLst/>
                        </a:rPr>
                        <a:t>5</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50287320"/>
                  </a:ext>
                </a:extLst>
              </a:tr>
              <a:tr h="353929">
                <a:tc>
                  <a:txBody>
                    <a:bodyPr/>
                    <a:lstStyle/>
                    <a:p>
                      <a:pPr marL="44450" marR="0">
                        <a:lnSpc>
                          <a:spcPct val="90000"/>
                        </a:lnSpc>
                        <a:spcBef>
                          <a:spcPts val="0"/>
                        </a:spcBef>
                        <a:spcAft>
                          <a:spcPts val="0"/>
                        </a:spcAft>
                      </a:pPr>
                      <a:r>
                        <a:rPr lang="en-US" sz="2400">
                          <a:effectLst/>
                        </a:rPr>
                        <a:t>&amp;&amp;</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tcPr>
                </a:tc>
                <a:tc>
                  <a:txBody>
                    <a:bodyPr/>
                    <a:lstStyle/>
                    <a:p>
                      <a:pPr marL="254000" marR="0" algn="ctr">
                        <a:lnSpc>
                          <a:spcPct val="90000"/>
                        </a:lnSpc>
                        <a:spcBef>
                          <a:spcPts val="0"/>
                        </a:spcBef>
                        <a:spcAft>
                          <a:spcPts val="0"/>
                        </a:spcAft>
                      </a:pPr>
                      <a:r>
                        <a:rPr lang="en-US" sz="2400">
                          <a:effectLst/>
                        </a:rPr>
                        <a:t>6</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36312389"/>
                  </a:ext>
                </a:extLst>
              </a:tr>
              <a:tr h="353929">
                <a:tc>
                  <a:txBody>
                    <a:bodyPr/>
                    <a:lstStyle/>
                    <a:p>
                      <a:pPr marL="44450" marR="0">
                        <a:lnSpc>
                          <a:spcPct val="90000"/>
                        </a:lnSpc>
                        <a:spcBef>
                          <a:spcPts val="0"/>
                        </a:spcBef>
                        <a:spcAft>
                          <a:spcPts val="0"/>
                        </a:spcAft>
                      </a:pPr>
                      <a:r>
                        <a:rPr lang="en-US" sz="2400">
                          <a:effectLst/>
                        </a:rPr>
                        <a: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tcPr>
                </a:tc>
                <a:tc>
                  <a:txBody>
                    <a:bodyPr/>
                    <a:lstStyle/>
                    <a:p>
                      <a:pPr marL="254000" marR="0" algn="ctr">
                        <a:lnSpc>
                          <a:spcPct val="90000"/>
                        </a:lnSpc>
                        <a:spcBef>
                          <a:spcPts val="0"/>
                        </a:spcBef>
                        <a:spcAft>
                          <a:spcPts val="0"/>
                        </a:spcAft>
                      </a:pPr>
                      <a:r>
                        <a:rPr lang="en-US" sz="2400">
                          <a:effectLst/>
                        </a:rPr>
                        <a:t>7</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27698794"/>
                  </a:ext>
                </a:extLst>
              </a:tr>
              <a:tr h="353929">
                <a:tc>
                  <a:txBody>
                    <a:bodyPr/>
                    <a:lstStyle/>
                    <a:p>
                      <a:pPr marL="44450" marR="0">
                        <a:lnSpc>
                          <a:spcPct val="90000"/>
                        </a:lnSpc>
                        <a:spcBef>
                          <a:spcPts val="0"/>
                        </a:spcBef>
                        <a:spcAft>
                          <a:spcPts val="0"/>
                        </a:spcAft>
                      </a:pPr>
                      <a:r>
                        <a:rPr lang="en-US" sz="2400">
                          <a:effectLst/>
                        </a:rPr>
                        <a:t>= (assignment operator)</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253365" marR="0" algn="ctr">
                        <a:lnSpc>
                          <a:spcPct val="90000"/>
                        </a:lnSpc>
                        <a:spcBef>
                          <a:spcPts val="0"/>
                        </a:spcBef>
                        <a:spcAft>
                          <a:spcPts val="0"/>
                        </a:spcAft>
                      </a:pPr>
                      <a:r>
                        <a:rPr lang="en-US" sz="2400">
                          <a:effectLst/>
                        </a:rPr>
                        <a:t>8</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6985"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8410860"/>
                  </a:ext>
                </a:extLst>
              </a:tr>
            </a:tbl>
          </a:graphicData>
        </a:graphic>
      </p:graphicFrame>
    </p:spTree>
    <p:extLst>
      <p:ext uri="{BB962C8B-B14F-4D97-AF65-F5344CB8AC3E}">
        <p14:creationId xmlns:p14="http://schemas.microsoft.com/office/powerpoint/2010/main" val="368096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D68AA-E38B-462D-8C4C-DB3EE5396FAA}"/>
              </a:ext>
            </a:extLst>
          </p:cNvPr>
          <p:cNvSpPr>
            <a:spLocks noGrp="1"/>
          </p:cNvSpPr>
          <p:nvPr>
            <p:ph type="title"/>
          </p:nvPr>
        </p:nvSpPr>
        <p:spPr/>
        <p:txBody>
          <a:bodyPr/>
          <a:lstStyle/>
          <a:p>
            <a:r>
              <a:rPr lang="en-US"/>
              <a:t>Lưu ý khi viết biểu thức</a:t>
            </a:r>
          </a:p>
        </p:txBody>
      </p:sp>
      <p:sp>
        <p:nvSpPr>
          <p:cNvPr id="3" name="Content Placeholder 2">
            <a:extLst>
              <a:ext uri="{FF2B5EF4-FFF2-40B4-BE49-F238E27FC236}">
                <a16:creationId xmlns:a16="http://schemas.microsoft.com/office/drawing/2014/main" id="{10D5AC2D-B73A-4B5D-AFC4-D52CF79F0866}"/>
              </a:ext>
            </a:extLst>
          </p:cNvPr>
          <p:cNvSpPr>
            <a:spLocks noGrp="1"/>
          </p:cNvSpPr>
          <p:nvPr>
            <p:ph idx="1"/>
          </p:nvPr>
        </p:nvSpPr>
        <p:spPr/>
        <p:txBody>
          <a:bodyPr/>
          <a:lstStyle/>
          <a:p>
            <a:r>
              <a:rPr lang="vi-VN">
                <a:solidFill>
                  <a:srgbClr val="FF0000"/>
                </a:solidFill>
              </a:rPr>
              <a:t>Thêm khoảng trắng trước và sau các toán tử trong biểu thức</a:t>
            </a:r>
            <a:r>
              <a:rPr lang="vi-VN"/>
              <a:t>.</a:t>
            </a:r>
            <a:endParaRPr lang="en-US"/>
          </a:p>
          <a:p>
            <a:pPr lvl="4"/>
            <a:r>
              <a:rPr lang="vi-VN"/>
              <a:t>x1 - (-b + sqrt(b * b - 4 * a * c)) / (2 * a);</a:t>
            </a:r>
          </a:p>
          <a:p>
            <a:pPr lvl="3"/>
            <a:r>
              <a:rPr lang="vi-VN"/>
              <a:t>dễ đọc hơn:</a:t>
            </a:r>
          </a:p>
          <a:p>
            <a:pPr lvl="4"/>
            <a:r>
              <a:rPr lang="vi-VN"/>
              <a:t>x1-(-b+sqrt(b*b-4*a*c))/(2*a);</a:t>
            </a:r>
          </a:p>
          <a:p>
            <a:endParaRPr lang="en-US"/>
          </a:p>
          <a:p>
            <a:r>
              <a:rPr lang="vi-VN">
                <a:solidFill>
                  <a:srgbClr val="FF0000"/>
                </a:solidFill>
              </a:rPr>
              <a:t>Không thêm khoảng trắng sau tên hàm</a:t>
            </a:r>
            <a:r>
              <a:rPr lang="vi-VN"/>
              <a:t>.</a:t>
            </a:r>
          </a:p>
          <a:p>
            <a:pPr lvl="4"/>
            <a:r>
              <a:rPr lang="vi-VN"/>
              <a:t>sqrt(x), </a:t>
            </a:r>
            <a:endParaRPr lang="en-US"/>
          </a:p>
          <a:p>
            <a:pPr lvl="3"/>
            <a:r>
              <a:rPr lang="vi-VN"/>
              <a:t>không viết </a:t>
            </a:r>
            <a:endParaRPr lang="en-US"/>
          </a:p>
          <a:p>
            <a:pPr lvl="4"/>
            <a:r>
              <a:rPr lang="vi-VN"/>
              <a:t>sqrt (x)</a:t>
            </a:r>
          </a:p>
          <a:p>
            <a:endParaRPr lang="en-US"/>
          </a:p>
        </p:txBody>
      </p:sp>
      <p:sp>
        <p:nvSpPr>
          <p:cNvPr id="4" name="Footer Placeholder 3">
            <a:extLst>
              <a:ext uri="{FF2B5EF4-FFF2-40B4-BE49-F238E27FC236}">
                <a16:creationId xmlns:a16="http://schemas.microsoft.com/office/drawing/2014/main" id="{3594861C-1CEF-4594-A5BF-E5811FC6B3E1}"/>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6CD11B67-A786-4B28-AE96-D9DDE4BB6019}"/>
              </a:ext>
            </a:extLst>
          </p:cNvPr>
          <p:cNvSpPr>
            <a:spLocks noGrp="1"/>
          </p:cNvSpPr>
          <p:nvPr>
            <p:ph type="sldNum" sz="quarter" idx="12"/>
          </p:nvPr>
        </p:nvSpPr>
        <p:spPr/>
        <p:txBody>
          <a:bodyPr/>
          <a:lstStyle/>
          <a:p>
            <a:fld id="{45CA964B-B8B5-4404-ADB9-CBB2121E234F}" type="slidenum">
              <a:rPr lang="en-US" smtClean="0"/>
              <a:t>50</a:t>
            </a:fld>
            <a:endParaRPr lang="en-US"/>
          </a:p>
        </p:txBody>
      </p:sp>
    </p:spTree>
    <p:extLst>
      <p:ext uri="{BB962C8B-B14F-4D97-AF65-F5344CB8AC3E}">
        <p14:creationId xmlns:p14="http://schemas.microsoft.com/office/powerpoint/2010/main" val="3618926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1F374-B41A-4F0D-B923-97D8F5B1C228}"/>
              </a:ext>
            </a:extLst>
          </p:cNvPr>
          <p:cNvSpPr>
            <a:spLocks noGrp="1"/>
          </p:cNvSpPr>
          <p:nvPr>
            <p:ph type="title"/>
          </p:nvPr>
        </p:nvSpPr>
        <p:spPr/>
        <p:txBody>
          <a:bodyPr/>
          <a:lstStyle/>
          <a:p>
            <a:r>
              <a:rPr lang="en-US"/>
              <a:t>Biểu thức số học</a:t>
            </a:r>
          </a:p>
        </p:txBody>
      </p:sp>
      <p:sp>
        <p:nvSpPr>
          <p:cNvPr id="3" name="Content Placeholder 2">
            <a:extLst>
              <a:ext uri="{FF2B5EF4-FFF2-40B4-BE49-F238E27FC236}">
                <a16:creationId xmlns:a16="http://schemas.microsoft.com/office/drawing/2014/main" id="{CD191693-A0FF-4C5E-8EFF-C30D29192221}"/>
              </a:ext>
            </a:extLst>
          </p:cNvPr>
          <p:cNvSpPr>
            <a:spLocks noGrp="1"/>
          </p:cNvSpPr>
          <p:nvPr>
            <p:ph idx="1"/>
          </p:nvPr>
        </p:nvSpPr>
        <p:spPr/>
        <p:txBody>
          <a:bodyPr/>
          <a:lstStyle/>
          <a:p>
            <a:pPr algn="just"/>
            <a:r>
              <a:rPr lang="vi-VN"/>
              <a:t>Biểu thức số gồm toán tử số học và các toán hạng là số nguyên hoặc số dấu chấm động.</a:t>
            </a:r>
          </a:p>
          <a:p>
            <a:pPr lvl="1">
              <a:tabLst>
                <a:tab pos="2743200" algn="l"/>
              </a:tabLst>
            </a:pPr>
            <a:r>
              <a:rPr lang="vi-VN"/>
              <a:t>Toán tử số học: </a:t>
            </a:r>
            <a:r>
              <a:rPr lang="en-US"/>
              <a:t>	</a:t>
            </a:r>
            <a:r>
              <a:rPr lang="vi-VN">
                <a:latin typeface="Consolas" panose="020B0609020204030204" pitchFamily="49" charset="0"/>
              </a:rPr>
              <a:t>+ </a:t>
            </a:r>
            <a:r>
              <a:rPr lang="vi-VN">
                <a:latin typeface="Consolas" panose="020B0609020204030204" pitchFamily="49" charset="0"/>
                <a:sym typeface="Symbol" panose="05050102010706020507" pitchFamily="18" charset="2"/>
              </a:rPr>
              <a:t></a:t>
            </a:r>
            <a:r>
              <a:rPr lang="vi-VN">
                <a:latin typeface="Consolas" panose="020B0609020204030204" pitchFamily="49" charset="0"/>
              </a:rPr>
              <a:t> * / %</a:t>
            </a:r>
          </a:p>
          <a:p>
            <a:pPr lvl="1">
              <a:tabLst>
                <a:tab pos="2743200" algn="l"/>
              </a:tabLst>
            </a:pPr>
            <a:r>
              <a:rPr lang="vi-VN"/>
              <a:t>Thứ tự ưu tiên:</a:t>
            </a:r>
            <a:r>
              <a:rPr lang="en-US"/>
              <a:t> 	</a:t>
            </a:r>
            <a:r>
              <a:rPr lang="vi-VN">
                <a:latin typeface="Consolas" panose="020B0609020204030204" pitchFamily="49" charset="0"/>
              </a:rPr>
              <a:t>* /</a:t>
            </a:r>
            <a:br>
              <a:rPr lang="en-US">
                <a:latin typeface="Consolas" panose="020B0609020204030204" pitchFamily="49" charset="0"/>
              </a:rPr>
            </a:br>
            <a:r>
              <a:rPr lang="en-US">
                <a:latin typeface="Consolas" panose="020B0609020204030204" pitchFamily="49" charset="0"/>
              </a:rPr>
              <a:t>	</a:t>
            </a:r>
            <a:r>
              <a:rPr lang="vi-VN">
                <a:latin typeface="Consolas" panose="020B0609020204030204" pitchFamily="49" charset="0"/>
              </a:rPr>
              <a:t>% </a:t>
            </a:r>
            <a:br>
              <a:rPr lang="en-US">
                <a:latin typeface="Consolas" panose="020B0609020204030204" pitchFamily="49" charset="0"/>
              </a:rPr>
            </a:br>
            <a:r>
              <a:rPr lang="en-US">
                <a:latin typeface="Consolas" panose="020B0609020204030204" pitchFamily="49" charset="0"/>
              </a:rPr>
              <a:t>	</a:t>
            </a:r>
            <a:r>
              <a:rPr lang="vi-VN">
                <a:latin typeface="Consolas" panose="020B0609020204030204" pitchFamily="49" charset="0"/>
              </a:rPr>
              <a:t>+ </a:t>
            </a:r>
            <a:r>
              <a:rPr lang="vi-VN">
                <a:latin typeface="Consolas" panose="020B0609020204030204" pitchFamily="49" charset="0"/>
                <a:sym typeface="Symbol" panose="05050102010706020507" pitchFamily="18" charset="2"/>
              </a:rPr>
              <a:t></a:t>
            </a:r>
            <a:endParaRPr lang="vi-VN">
              <a:latin typeface="Consolas" panose="020B0609020204030204" pitchFamily="49" charset="0"/>
            </a:endParaRPr>
          </a:p>
          <a:p>
            <a:pPr lvl="1"/>
            <a:r>
              <a:rPr lang="vi-VN"/>
              <a:t>Lưu ý: toán tử % (modulo) chỉ dùng cho kiểu số nguyên.</a:t>
            </a:r>
          </a:p>
          <a:p>
            <a:endParaRPr lang="en-US"/>
          </a:p>
          <a:p>
            <a:pPr algn="just"/>
            <a:r>
              <a:rPr lang="vi-VN"/>
              <a:t>Biểu thức kiểu số nguyên nếu các toán hạng có kiểu số nguyên.</a:t>
            </a:r>
          </a:p>
          <a:p>
            <a:endParaRPr lang="en-US"/>
          </a:p>
          <a:p>
            <a:pPr algn="just"/>
            <a:r>
              <a:rPr lang="vi-VN"/>
              <a:t>Biểu thức kiểu số dấu chấm động nếu các toán hạng có kiểu số số dấu chấm động.</a:t>
            </a:r>
          </a:p>
        </p:txBody>
      </p:sp>
      <p:sp>
        <p:nvSpPr>
          <p:cNvPr id="4" name="Footer Placeholder 3">
            <a:extLst>
              <a:ext uri="{FF2B5EF4-FFF2-40B4-BE49-F238E27FC236}">
                <a16:creationId xmlns:a16="http://schemas.microsoft.com/office/drawing/2014/main" id="{339363D5-4FF7-4D84-BA24-DAA527B1CC0B}"/>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9B7BCE14-DB77-437E-8594-AA9ABD3E5451}"/>
              </a:ext>
            </a:extLst>
          </p:cNvPr>
          <p:cNvSpPr>
            <a:spLocks noGrp="1"/>
          </p:cNvSpPr>
          <p:nvPr>
            <p:ph type="sldNum" sz="quarter" idx="12"/>
          </p:nvPr>
        </p:nvSpPr>
        <p:spPr/>
        <p:txBody>
          <a:bodyPr/>
          <a:lstStyle/>
          <a:p>
            <a:fld id="{45CA964B-B8B5-4404-ADB9-CBB2121E234F}" type="slidenum">
              <a:rPr lang="en-US" smtClean="0"/>
              <a:t>51</a:t>
            </a:fld>
            <a:endParaRPr lang="en-US"/>
          </a:p>
        </p:txBody>
      </p:sp>
    </p:spTree>
    <p:extLst>
      <p:ext uri="{BB962C8B-B14F-4D97-AF65-F5344CB8AC3E}">
        <p14:creationId xmlns:p14="http://schemas.microsoft.com/office/powerpoint/2010/main" val="34983177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C032208-1A22-444F-AFD2-206BF6DB33D3}"/>
              </a:ext>
            </a:extLst>
          </p:cNvPr>
          <p:cNvSpPr>
            <a:spLocks noGrp="1"/>
          </p:cNvSpPr>
          <p:nvPr>
            <p:ph idx="1"/>
          </p:nvPr>
        </p:nvSpPr>
        <p:spPr/>
        <p:txBody>
          <a:bodyPr/>
          <a:lstStyle/>
          <a:p>
            <a:r>
              <a:rPr lang="en-US"/>
              <a:t>Ví dụ biểu thức kiểu số nguyên:</a:t>
            </a:r>
          </a:p>
          <a:p>
            <a:pPr lvl="4"/>
            <a:r>
              <a:rPr lang="en-US"/>
              <a:t>int dai = 4; </a:t>
            </a:r>
          </a:p>
          <a:p>
            <a:pPr lvl="4"/>
            <a:r>
              <a:rPr lang="en-US"/>
              <a:t>int rong = 5;</a:t>
            </a:r>
          </a:p>
          <a:p>
            <a:pPr lvl="4"/>
            <a:r>
              <a:rPr lang="en-US"/>
              <a:t>int dientich, chuvi;</a:t>
            </a:r>
          </a:p>
          <a:p>
            <a:endParaRPr lang="en-US"/>
          </a:p>
          <a:p>
            <a:pPr lvl="4"/>
            <a:r>
              <a:rPr lang="en-US"/>
              <a:t>dientich = dai * rong; </a:t>
            </a:r>
          </a:p>
          <a:p>
            <a:pPr lvl="4"/>
            <a:r>
              <a:rPr lang="en-US"/>
              <a:t>chuvi = (dai + rong) * 2</a:t>
            </a:r>
          </a:p>
          <a:p>
            <a:pPr lvl="4"/>
            <a:endParaRPr lang="en-US"/>
          </a:p>
          <a:p>
            <a:r>
              <a:rPr lang="en-US"/>
              <a:t>Ví dụ biểu thức kiểu số dấu chấm động: </a:t>
            </a:r>
          </a:p>
          <a:p>
            <a:pPr lvl="4"/>
            <a:r>
              <a:rPr lang="en-US"/>
              <a:t>const double PI = 3.1414296; </a:t>
            </a:r>
          </a:p>
          <a:p>
            <a:pPr lvl="4"/>
            <a:r>
              <a:rPr lang="en-US"/>
              <a:t>double bankinh = 5.5; </a:t>
            </a:r>
          </a:p>
          <a:p>
            <a:pPr lvl="4"/>
            <a:r>
              <a:rPr lang="en-US"/>
              <a:t>double dientich; </a:t>
            </a:r>
          </a:p>
          <a:p>
            <a:pPr lvl="4"/>
            <a:endParaRPr lang="en-US"/>
          </a:p>
          <a:p>
            <a:pPr lvl="4"/>
            <a:r>
              <a:rPr lang="en-US"/>
              <a:t>dientich = PI * bankinh * bankinh;</a:t>
            </a:r>
          </a:p>
        </p:txBody>
      </p:sp>
      <p:sp>
        <p:nvSpPr>
          <p:cNvPr id="4" name="Footer Placeholder 3">
            <a:extLst>
              <a:ext uri="{FF2B5EF4-FFF2-40B4-BE49-F238E27FC236}">
                <a16:creationId xmlns:a16="http://schemas.microsoft.com/office/drawing/2014/main" id="{FE8CA1A9-794F-4D5F-9659-F3EA69DDF28F}"/>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7A128626-2487-4D9A-9B2D-03D9AB0B0785}"/>
              </a:ext>
            </a:extLst>
          </p:cNvPr>
          <p:cNvSpPr>
            <a:spLocks noGrp="1"/>
          </p:cNvSpPr>
          <p:nvPr>
            <p:ph type="sldNum" sz="quarter" idx="12"/>
          </p:nvPr>
        </p:nvSpPr>
        <p:spPr/>
        <p:txBody>
          <a:bodyPr/>
          <a:lstStyle/>
          <a:p>
            <a:fld id="{45CA964B-B8B5-4404-ADB9-CBB2121E234F}" type="slidenum">
              <a:rPr lang="en-US" smtClean="0"/>
              <a:t>52</a:t>
            </a:fld>
            <a:endParaRPr lang="en-US"/>
          </a:p>
        </p:txBody>
      </p:sp>
    </p:spTree>
    <p:extLst>
      <p:ext uri="{BB962C8B-B14F-4D97-AF65-F5344CB8AC3E}">
        <p14:creationId xmlns:p14="http://schemas.microsoft.com/office/powerpoint/2010/main" val="31899108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EC46B1-A0A0-4E01-B4C9-A346BD5E8082}"/>
              </a:ext>
            </a:extLst>
          </p:cNvPr>
          <p:cNvSpPr>
            <a:spLocks noGrp="1"/>
          </p:cNvSpPr>
          <p:nvPr>
            <p:ph idx="1"/>
          </p:nvPr>
        </p:nvSpPr>
        <p:spPr/>
        <p:txBody>
          <a:bodyPr/>
          <a:lstStyle/>
          <a:p>
            <a:r>
              <a:rPr lang="en-US"/>
              <a:t>Ví dụ viết các biểu thức số học bằng C++:</a:t>
            </a:r>
          </a:p>
        </p:txBody>
      </p:sp>
      <p:sp>
        <p:nvSpPr>
          <p:cNvPr id="3" name="Footer Placeholder 2">
            <a:extLst>
              <a:ext uri="{FF2B5EF4-FFF2-40B4-BE49-F238E27FC236}">
                <a16:creationId xmlns:a16="http://schemas.microsoft.com/office/drawing/2014/main" id="{8B09881C-FDBE-47E5-99BE-5DFAB8E26791}"/>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989B624E-69D6-4A20-B005-52E701B5D305}"/>
              </a:ext>
            </a:extLst>
          </p:cNvPr>
          <p:cNvSpPr>
            <a:spLocks noGrp="1"/>
          </p:cNvSpPr>
          <p:nvPr>
            <p:ph type="sldNum" sz="quarter" idx="12"/>
          </p:nvPr>
        </p:nvSpPr>
        <p:spPr/>
        <p:txBody>
          <a:bodyPr/>
          <a:lstStyle/>
          <a:p>
            <a:fld id="{45CA964B-B8B5-4404-ADB9-CBB2121E234F}" type="slidenum">
              <a:rPr lang="en-US" smtClean="0"/>
              <a:t>53</a:t>
            </a:fld>
            <a:endParaRPr lang="en-US"/>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A303B383-4D1F-4DC3-A373-799126649E60}"/>
                  </a:ext>
                </a:extLst>
              </p:cNvPr>
              <p:cNvGraphicFramePr>
                <a:graphicFrameLocks noGrp="1"/>
              </p:cNvGraphicFramePr>
              <p:nvPr>
                <p:extLst>
                  <p:ext uri="{D42A27DB-BD31-4B8C-83A1-F6EECF244321}">
                    <p14:modId xmlns:p14="http://schemas.microsoft.com/office/powerpoint/2010/main" val="2265185921"/>
                  </p:ext>
                </p:extLst>
              </p:nvPr>
            </p:nvGraphicFramePr>
            <p:xfrm>
              <a:off x="327547" y="925944"/>
              <a:ext cx="8248416" cy="5277511"/>
            </p:xfrm>
            <a:graphic>
              <a:graphicData uri="http://schemas.openxmlformats.org/drawingml/2006/table">
                <a:tbl>
                  <a:tblPr firstRow="1" bandRow="1">
                    <a:tableStyleId>{2D5ABB26-0587-4C30-8999-92F81FD0307C}</a:tableStyleId>
                  </a:tblPr>
                  <a:tblGrid>
                    <a:gridCol w="2193980">
                      <a:extLst>
                        <a:ext uri="{9D8B030D-6E8A-4147-A177-3AD203B41FA5}">
                          <a16:colId xmlns:a16="http://schemas.microsoft.com/office/drawing/2014/main" val="3873367121"/>
                        </a:ext>
                      </a:extLst>
                    </a:gridCol>
                    <a:gridCol w="3297382">
                      <a:extLst>
                        <a:ext uri="{9D8B030D-6E8A-4147-A177-3AD203B41FA5}">
                          <a16:colId xmlns:a16="http://schemas.microsoft.com/office/drawing/2014/main" val="1776885264"/>
                        </a:ext>
                      </a:extLst>
                    </a:gridCol>
                    <a:gridCol w="2757054">
                      <a:extLst>
                        <a:ext uri="{9D8B030D-6E8A-4147-A177-3AD203B41FA5}">
                          <a16:colId xmlns:a16="http://schemas.microsoft.com/office/drawing/2014/main" val="2198246338"/>
                        </a:ext>
                      </a:extLst>
                    </a:gridCol>
                  </a:tblGrid>
                  <a:tr h="374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effectLst/>
                            </a:rPr>
                            <a:t>Biểu thức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a:effectLst/>
                            </a:rPr>
                            <a:t>số học</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400">
                              <a:effectLst/>
                            </a:rPr>
                            <a:t>Biểu thức </a:t>
                          </a:r>
                        </a:p>
                        <a:p>
                          <a:pPr marL="0" marR="0">
                            <a:lnSpc>
                              <a:spcPct val="100000"/>
                            </a:lnSpc>
                            <a:spcBef>
                              <a:spcPts val="0"/>
                            </a:spcBef>
                            <a:spcAft>
                              <a:spcPts val="0"/>
                            </a:spcAft>
                          </a:pPr>
                          <a:r>
                            <a:rPr lang="en-US" sz="2400">
                              <a:effectLst/>
                            </a:rPr>
                            <a:t>C++</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00000"/>
                            </a:lnSpc>
                            <a:spcBef>
                              <a:spcPts val="0"/>
                            </a:spcBef>
                            <a:spcAft>
                              <a:spcPts val="0"/>
                            </a:spcAft>
                          </a:pPr>
                          <a:r>
                            <a:rPr lang="en-US" sz="2400">
                              <a:effectLst/>
                            </a:rPr>
                            <a:t>Ghi chú</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7822501"/>
                      </a:ext>
                    </a:extLst>
                  </a:tr>
                  <a:tr h="868639">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400" i="1" smtClean="0">
                                        <a:effectLst/>
                                        <a:latin typeface="Cambria Math" panose="02040503050406030204" pitchFamily="18" charset="0"/>
                                      </a:rPr>
                                    </m:ctrlPr>
                                  </m:fPr>
                                  <m:num>
                                    <m:r>
                                      <a:rPr lang="en-US" sz="2400" smtClean="0">
                                        <a:effectLst/>
                                        <a:latin typeface="Cambria Math" panose="02040503050406030204" pitchFamily="18" charset="0"/>
                                      </a:rPr>
                                      <m:t>𝑥</m:t>
                                    </m:r>
                                    <m:r>
                                      <a:rPr lang="en-US" sz="2400" smtClean="0">
                                        <a:effectLst/>
                                        <a:latin typeface="Cambria Math" panose="02040503050406030204" pitchFamily="18" charset="0"/>
                                      </a:rPr>
                                      <m:t>+</m:t>
                                    </m:r>
                                    <m:r>
                                      <a:rPr lang="en-US" sz="2400" smtClean="0">
                                        <a:effectLst/>
                                        <a:latin typeface="Cambria Math" panose="02040503050406030204" pitchFamily="18" charset="0"/>
                                      </a:rPr>
                                      <m:t>𝑦</m:t>
                                    </m:r>
                                  </m:num>
                                  <m:den>
                                    <m:r>
                                      <a:rPr lang="en-US" sz="2400" smtClean="0">
                                        <a:effectLst/>
                                        <a:latin typeface="Cambria Math" panose="02040503050406030204" pitchFamily="18" charset="0"/>
                                      </a:rPr>
                                      <m:t>2</m:t>
                                    </m:r>
                                  </m:den>
                                </m:f>
                              </m:oMath>
                            </m:oMathPara>
                          </a14:m>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en-US" sz="2400">
                              <a:effectLst/>
                              <a:latin typeface="Consolas" panose="020B0609020204030204" pitchFamily="49" charset="0"/>
                            </a:rPr>
                            <a:t>(x + y) / 2</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en-US" sz="2400">
                              <a:effectLst/>
                            </a:rPr>
                            <a:t>cần có dấu ngoặc:</a:t>
                          </a:r>
                        </a:p>
                        <a:p>
                          <a:pPr marL="0" marR="0">
                            <a:lnSpc>
                              <a:spcPct val="100000"/>
                            </a:lnSpc>
                            <a:spcBef>
                              <a:spcPts val="0"/>
                            </a:spcBef>
                            <a:spcAft>
                              <a:spcPts val="0"/>
                            </a:spcAft>
                          </a:pPr>
                          <a:r>
                            <a:rPr lang="en-US" sz="2400">
                              <a:effectLst/>
                            </a:rPr>
                            <a:t>x + y / 2 sẽ tính x + </a:t>
                          </a:r>
                          <a14:m>
                            <m:oMath xmlns:m="http://schemas.openxmlformats.org/officeDocument/2006/math">
                              <m:f>
                                <m:fPr>
                                  <m:ctrlPr>
                                    <a:rPr lang="en-US" sz="2400" i="1" smtClean="0">
                                      <a:effectLst/>
                                      <a:latin typeface="Cambria Math" panose="02040503050406030204" pitchFamily="18" charset="0"/>
                                    </a:rPr>
                                  </m:ctrlPr>
                                </m:fPr>
                                <m:num>
                                  <m:r>
                                    <a:rPr lang="en-US" sz="2400" smtClean="0">
                                      <a:effectLst/>
                                      <a:latin typeface="Cambria Math" panose="02040503050406030204" pitchFamily="18" charset="0"/>
                                    </a:rPr>
                                    <m:t>𝑦</m:t>
                                  </m:r>
                                </m:num>
                                <m:den>
                                  <m:r>
                                    <a:rPr lang="en-US" sz="2400" smtClean="0">
                                      <a:effectLst/>
                                      <a:latin typeface="Cambria Math" panose="02040503050406030204" pitchFamily="18" charset="0"/>
                                    </a:rPr>
                                    <m:t>2</m:t>
                                  </m:r>
                                </m:den>
                              </m:f>
                            </m:oMath>
                          </a14:m>
                          <a:endParaRPr lang="en-US" sz="2400">
                            <a:effectLst/>
                          </a:endParaRPr>
                        </a:p>
                      </a:txBody>
                      <a:tcPr marL="0" marR="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3487938"/>
                      </a:ext>
                    </a:extLst>
                  </a:tr>
                  <a:tr h="112404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400" i="1" smtClean="0">
                                        <a:effectLst/>
                                        <a:latin typeface="Cambria Math" panose="02040503050406030204" pitchFamily="18" charset="0"/>
                                      </a:rPr>
                                    </m:ctrlPr>
                                  </m:fPr>
                                  <m:num>
                                    <m:r>
                                      <a:rPr lang="en-US" sz="2400" smtClean="0">
                                        <a:effectLst/>
                                        <a:latin typeface="Cambria Math" panose="02040503050406030204" pitchFamily="18" charset="0"/>
                                      </a:rPr>
                                      <m:t>𝑥𝑦</m:t>
                                    </m:r>
                                  </m:num>
                                  <m:den>
                                    <m:r>
                                      <a:rPr lang="en-US" sz="2400" smtClean="0">
                                        <a:effectLst/>
                                        <a:latin typeface="Cambria Math" panose="02040503050406030204" pitchFamily="18" charset="0"/>
                                      </a:rPr>
                                      <m:t>2</m:t>
                                    </m:r>
                                  </m:den>
                                </m:f>
                              </m:oMath>
                            </m:oMathPara>
                          </a14:m>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en-US" sz="2400">
                              <a:effectLst/>
                              <a:latin typeface="Consolas" panose="020B0609020204030204" pitchFamily="49" charset="0"/>
                            </a:rPr>
                            <a:t>x * y / 2</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vi-VN" sz="2400">
                              <a:effectLst/>
                            </a:rPr>
                            <a:t>không cần dấu ngoặc: toán tử</a:t>
                          </a:r>
                          <a:r>
                            <a:rPr lang="en-US" sz="2400">
                              <a:effectLst/>
                            </a:rPr>
                            <a:t> c</a:t>
                          </a:r>
                          <a:r>
                            <a:rPr lang="vi-VN" sz="2400">
                              <a:effectLst/>
                            </a:rPr>
                            <a:t>ùng độ ưu tiên tính từ trái sang</a:t>
                          </a:r>
                          <a:endParaRPr lang="vi-VN"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997523910"/>
                      </a:ext>
                    </a:extLst>
                  </a:tr>
                  <a:tr h="679893">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400" i="1" smtClean="0">
                                        <a:effectLst/>
                                        <a:latin typeface="Cambria Math" panose="02040503050406030204" pitchFamily="18" charset="0"/>
                                      </a:rPr>
                                    </m:ctrlPr>
                                  </m:sSupPr>
                                  <m:e>
                                    <m:d>
                                      <m:dPr>
                                        <m:ctrlPr>
                                          <a:rPr lang="en-US" sz="2400" i="1" smtClean="0">
                                            <a:effectLst/>
                                            <a:latin typeface="Cambria Math" panose="02040503050406030204" pitchFamily="18" charset="0"/>
                                          </a:rPr>
                                        </m:ctrlPr>
                                      </m:dPr>
                                      <m:e>
                                        <m:r>
                                          <a:rPr lang="en-US" sz="2400" smtClean="0">
                                            <a:effectLst/>
                                            <a:latin typeface="Cambria Math" panose="02040503050406030204" pitchFamily="18" charset="0"/>
                                          </a:rPr>
                                          <m:t>1+</m:t>
                                        </m:r>
                                        <m:f>
                                          <m:fPr>
                                            <m:ctrlPr>
                                              <a:rPr lang="en-US" sz="2400" i="1" smtClean="0">
                                                <a:effectLst/>
                                                <a:latin typeface="Cambria Math" panose="02040503050406030204" pitchFamily="18" charset="0"/>
                                              </a:rPr>
                                            </m:ctrlPr>
                                          </m:fPr>
                                          <m:num>
                                            <m:r>
                                              <a:rPr lang="en-US" sz="2400" smtClean="0">
                                                <a:effectLst/>
                                                <a:latin typeface="Cambria Math" panose="02040503050406030204" pitchFamily="18" charset="0"/>
                                              </a:rPr>
                                              <m:t>𝑟</m:t>
                                            </m:r>
                                          </m:num>
                                          <m:den>
                                            <m:r>
                                              <a:rPr lang="en-US" sz="2400" smtClean="0">
                                                <a:effectLst/>
                                                <a:latin typeface="Cambria Math" panose="02040503050406030204" pitchFamily="18" charset="0"/>
                                              </a:rPr>
                                              <m:t>100</m:t>
                                            </m:r>
                                          </m:den>
                                        </m:f>
                                      </m:e>
                                    </m:d>
                                  </m:e>
                                  <m:sup>
                                    <m:r>
                                      <a:rPr lang="en-US" sz="2400" smtClean="0">
                                        <a:effectLst/>
                                        <a:latin typeface="Cambria Math" panose="02040503050406030204" pitchFamily="18" charset="0"/>
                                      </a:rPr>
                                      <m:t>𝑛</m:t>
                                    </m:r>
                                  </m:sup>
                                </m:sSup>
                              </m:oMath>
                            </m:oMathPara>
                          </a14:m>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en-US" sz="2400" dirty="0">
                              <a:effectLst/>
                              <a:latin typeface="Consolas" panose="020B0609020204030204" pitchFamily="49" charset="0"/>
                            </a:rPr>
                            <a:t>pow(1 + r / 100, n)</a:t>
                          </a:r>
                          <a:endParaRPr lang="en-US" sz="2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66420102"/>
                      </a:ext>
                    </a:extLst>
                  </a:tr>
                  <a:tr h="749365">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en-US" sz="2400" i="1" smtClean="0">
                                        <a:effectLst/>
                                        <a:latin typeface="Cambria Math" panose="02040503050406030204" pitchFamily="18" charset="0"/>
                                      </a:rPr>
                                    </m:ctrlPr>
                                  </m:radPr>
                                  <m:deg/>
                                  <m:e>
                                    <m:sSup>
                                      <m:sSupPr>
                                        <m:ctrlPr>
                                          <a:rPr lang="en-US" sz="2400" i="1" smtClean="0">
                                            <a:effectLst/>
                                            <a:latin typeface="Cambria Math" panose="02040503050406030204" pitchFamily="18" charset="0"/>
                                          </a:rPr>
                                        </m:ctrlPr>
                                      </m:sSupPr>
                                      <m:e>
                                        <m:r>
                                          <a:rPr lang="en-US" sz="2400" smtClean="0">
                                            <a:effectLst/>
                                            <a:latin typeface="Cambria Math" panose="02040503050406030204" pitchFamily="18" charset="0"/>
                                          </a:rPr>
                                          <m:t>𝑎</m:t>
                                        </m:r>
                                      </m:e>
                                      <m:sup>
                                        <m:r>
                                          <a:rPr lang="en-US" sz="2400" smtClean="0">
                                            <a:effectLst/>
                                            <a:latin typeface="Cambria Math" panose="02040503050406030204" pitchFamily="18" charset="0"/>
                                          </a:rPr>
                                          <m:t>2</m:t>
                                        </m:r>
                                      </m:sup>
                                    </m:sSup>
                                    <m:r>
                                      <a:rPr lang="en-US" sz="2400" smtClean="0">
                                        <a:effectLst/>
                                        <a:latin typeface="Cambria Math" panose="02040503050406030204" pitchFamily="18" charset="0"/>
                                      </a:rPr>
                                      <m:t>+</m:t>
                                    </m:r>
                                    <m:sSup>
                                      <m:sSupPr>
                                        <m:ctrlPr>
                                          <a:rPr lang="en-US" sz="2400" i="1" smtClean="0">
                                            <a:effectLst/>
                                            <a:latin typeface="Cambria Math" panose="02040503050406030204" pitchFamily="18" charset="0"/>
                                          </a:rPr>
                                        </m:ctrlPr>
                                      </m:sSupPr>
                                      <m:e>
                                        <m:r>
                                          <a:rPr lang="en-US" sz="2400" smtClean="0">
                                            <a:effectLst/>
                                            <a:latin typeface="Cambria Math" panose="02040503050406030204" pitchFamily="18" charset="0"/>
                                          </a:rPr>
                                          <m:t>𝑏</m:t>
                                        </m:r>
                                      </m:e>
                                      <m:sup>
                                        <m:r>
                                          <a:rPr lang="en-US" sz="2400" smtClean="0">
                                            <a:effectLst/>
                                            <a:latin typeface="Cambria Math" panose="02040503050406030204" pitchFamily="18" charset="0"/>
                                          </a:rPr>
                                          <m:t>2</m:t>
                                        </m:r>
                                      </m:sup>
                                    </m:sSup>
                                  </m:e>
                                </m:rad>
                              </m:oMath>
                            </m:oMathPara>
                          </a14:m>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en-US" sz="2400">
                              <a:effectLst/>
                              <a:latin typeface="Consolas" panose="020B0609020204030204" pitchFamily="49" charset="0"/>
                            </a:rPr>
                            <a:t>sqrt(a * a + b * b)</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vi-VN" sz="2400">
                              <a:effectLst/>
                            </a:rPr>
                            <a:t>a * a đơn giản hơn</a:t>
                          </a:r>
                          <a:r>
                            <a:rPr lang="en-US" sz="2400">
                              <a:effectLst/>
                            </a:rPr>
                            <a:t> </a:t>
                          </a:r>
                          <a:r>
                            <a:rPr lang="vi-VN" sz="2400">
                              <a:effectLst/>
                            </a:rPr>
                            <a:t>pow(a,2)</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73632307"/>
                      </a:ext>
                    </a:extLst>
                  </a:tr>
                  <a:tr h="1124047">
                    <a:tc>
                      <a:txBody>
                        <a:bodyPr/>
                        <a:lstStyle/>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400" i="1" smtClean="0">
                                        <a:effectLst/>
                                        <a:latin typeface="Cambria Math" panose="02040503050406030204" pitchFamily="18" charset="0"/>
                                      </a:rPr>
                                    </m:ctrlPr>
                                  </m:fPr>
                                  <m:num>
                                    <m:r>
                                      <a:rPr lang="en-US" sz="2400" smtClean="0">
                                        <a:effectLst/>
                                        <a:latin typeface="Cambria Math" panose="02040503050406030204" pitchFamily="18" charset="0"/>
                                      </a:rPr>
                                      <m:t>𝑖</m:t>
                                    </m:r>
                                    <m:r>
                                      <a:rPr lang="en-US" sz="2400" smtClean="0">
                                        <a:effectLst/>
                                        <a:latin typeface="Cambria Math" panose="02040503050406030204" pitchFamily="18" charset="0"/>
                                      </a:rPr>
                                      <m:t>+</m:t>
                                    </m:r>
                                    <m:r>
                                      <a:rPr lang="en-US" sz="2400" smtClean="0">
                                        <a:effectLst/>
                                        <a:latin typeface="Cambria Math" panose="02040503050406030204" pitchFamily="18" charset="0"/>
                                      </a:rPr>
                                      <m:t>𝑗</m:t>
                                    </m:r>
                                    <m:r>
                                      <a:rPr lang="en-US" sz="2400" smtClean="0">
                                        <a:effectLst/>
                                        <a:latin typeface="Cambria Math" panose="02040503050406030204" pitchFamily="18" charset="0"/>
                                      </a:rPr>
                                      <m:t>+</m:t>
                                    </m:r>
                                    <m:r>
                                      <a:rPr lang="en-US" sz="2400" smtClean="0">
                                        <a:effectLst/>
                                        <a:latin typeface="Cambria Math" panose="02040503050406030204" pitchFamily="18" charset="0"/>
                                      </a:rPr>
                                      <m:t>𝑘</m:t>
                                    </m:r>
                                  </m:num>
                                  <m:den>
                                    <m:r>
                                      <a:rPr lang="en-US" sz="2400" smtClean="0">
                                        <a:effectLst/>
                                        <a:latin typeface="Cambria Math" panose="02040503050406030204" pitchFamily="18" charset="0"/>
                                      </a:rPr>
                                      <m:t>3</m:t>
                                    </m:r>
                                  </m:den>
                                </m:f>
                              </m:oMath>
                            </m:oMathPara>
                          </a14:m>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400">
                              <a:effectLst/>
                              <a:latin typeface="Consolas" panose="020B0609020204030204" pitchFamily="49" charset="0"/>
                            </a:rPr>
                            <a:t>(i + j + k) / 3.0</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400" dirty="0" err="1">
                              <a:effectLst/>
                            </a:rPr>
                            <a:t>nếu</a:t>
                          </a:r>
                          <a:r>
                            <a:rPr lang="en-US" sz="2400" dirty="0">
                              <a:effectLst/>
                            </a:rPr>
                            <a:t> </a:t>
                          </a:r>
                          <a:r>
                            <a:rPr lang="fr-FR" sz="2400" dirty="0">
                              <a:effectLst/>
                            </a:rPr>
                            <a:t>là </a:t>
                          </a:r>
                          <a:r>
                            <a:rPr lang="fr-FR" sz="2400" dirty="0" err="1">
                              <a:effectLst/>
                            </a:rPr>
                            <a:t>số</a:t>
                          </a:r>
                          <a:r>
                            <a:rPr lang="fr-FR" sz="2400" dirty="0">
                              <a:effectLst/>
                            </a:rPr>
                            <a:t> </a:t>
                          </a:r>
                          <a:r>
                            <a:rPr lang="fr-FR" sz="2400" dirty="0" err="1">
                              <a:effectLst/>
                            </a:rPr>
                            <a:t>nguyên</a:t>
                          </a:r>
                          <a:r>
                            <a:rPr lang="fr-FR" sz="2400" dirty="0">
                              <a:effectLst/>
                            </a:rPr>
                            <a:t> </a:t>
                          </a:r>
                          <a:r>
                            <a:rPr lang="fr-FR" sz="2400" dirty="0" err="1">
                              <a:effectLst/>
                            </a:rPr>
                            <a:t>thì</a:t>
                          </a:r>
                          <a:r>
                            <a:rPr lang="fr-FR" sz="2400" dirty="0">
                              <a:effectLst/>
                            </a:rPr>
                            <a:t> 3.0 </a:t>
                          </a:r>
                          <a:r>
                            <a:rPr lang="fr-FR" sz="2400" dirty="0" err="1">
                              <a:effectLst/>
                            </a:rPr>
                            <a:t>chuyển</a:t>
                          </a:r>
                          <a:r>
                            <a:rPr lang="fr-FR" sz="2400" dirty="0">
                              <a:effectLst/>
                            </a:rPr>
                            <a:t> sang </a:t>
                          </a:r>
                          <a:r>
                            <a:rPr lang="fr-FR" sz="2400" dirty="0" err="1">
                              <a:effectLst/>
                            </a:rPr>
                            <a:t>số</a:t>
                          </a:r>
                          <a:r>
                            <a:rPr lang="fr-FR" sz="2400" dirty="0">
                              <a:effectLst/>
                            </a:rPr>
                            <a:t> </a:t>
                          </a:r>
                          <a:r>
                            <a:rPr lang="fr-FR" sz="2400" dirty="0" err="1">
                              <a:effectLst/>
                            </a:rPr>
                            <a:t>dấu</a:t>
                          </a:r>
                          <a:r>
                            <a:rPr lang="fr-FR" sz="2400" dirty="0">
                              <a:effectLst/>
                            </a:rPr>
                            <a:t> </a:t>
                          </a:r>
                          <a:r>
                            <a:rPr lang="fr-FR" sz="2400" dirty="0" err="1">
                              <a:effectLst/>
                            </a:rPr>
                            <a:t>chấm</a:t>
                          </a:r>
                          <a:r>
                            <a:rPr lang="fr-FR" sz="2400" dirty="0">
                              <a:effectLst/>
                            </a:rPr>
                            <a:t> </a:t>
                          </a:r>
                          <a:r>
                            <a:rPr lang="fr-FR" sz="2400" dirty="0" err="1">
                              <a:effectLst/>
                            </a:rPr>
                            <a:t>động</a:t>
                          </a:r>
                          <a:r>
                            <a:rPr lang="fr-FR" sz="2400" dirty="0">
                              <a:effectLst/>
                            </a:rPr>
                            <a:t> </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2257855"/>
                      </a:ext>
                    </a:extLst>
                  </a:tr>
                </a:tbl>
              </a:graphicData>
            </a:graphic>
          </p:graphicFrame>
        </mc:Choice>
        <mc:Fallback xmlns="">
          <p:graphicFrame>
            <p:nvGraphicFramePr>
              <p:cNvPr id="6" name="Table 5">
                <a:extLst>
                  <a:ext uri="{FF2B5EF4-FFF2-40B4-BE49-F238E27FC236}">
                    <a16:creationId xmlns:a16="http://schemas.microsoft.com/office/drawing/2014/main" id="{A303B383-4D1F-4DC3-A373-799126649E60}"/>
                  </a:ext>
                </a:extLst>
              </p:cNvPr>
              <p:cNvGraphicFramePr>
                <a:graphicFrameLocks noGrp="1"/>
              </p:cNvGraphicFramePr>
              <p:nvPr>
                <p:extLst>
                  <p:ext uri="{D42A27DB-BD31-4B8C-83A1-F6EECF244321}">
                    <p14:modId xmlns:p14="http://schemas.microsoft.com/office/powerpoint/2010/main" val="2265185921"/>
                  </p:ext>
                </p:extLst>
              </p:nvPr>
            </p:nvGraphicFramePr>
            <p:xfrm>
              <a:off x="327547" y="925944"/>
              <a:ext cx="8248416" cy="5277511"/>
            </p:xfrm>
            <a:graphic>
              <a:graphicData uri="http://schemas.openxmlformats.org/drawingml/2006/table">
                <a:tbl>
                  <a:tblPr firstRow="1" bandRow="1">
                    <a:tableStyleId>{2D5ABB26-0587-4C30-8999-92F81FD0307C}</a:tableStyleId>
                  </a:tblPr>
                  <a:tblGrid>
                    <a:gridCol w="2193980">
                      <a:extLst>
                        <a:ext uri="{9D8B030D-6E8A-4147-A177-3AD203B41FA5}">
                          <a16:colId xmlns:a16="http://schemas.microsoft.com/office/drawing/2014/main" val="3873367121"/>
                        </a:ext>
                      </a:extLst>
                    </a:gridCol>
                    <a:gridCol w="3297382">
                      <a:extLst>
                        <a:ext uri="{9D8B030D-6E8A-4147-A177-3AD203B41FA5}">
                          <a16:colId xmlns:a16="http://schemas.microsoft.com/office/drawing/2014/main" val="1776885264"/>
                        </a:ext>
                      </a:extLst>
                    </a:gridCol>
                    <a:gridCol w="2757054">
                      <a:extLst>
                        <a:ext uri="{9D8B030D-6E8A-4147-A177-3AD203B41FA5}">
                          <a16:colId xmlns:a16="http://schemas.microsoft.com/office/drawing/2014/main" val="2198246338"/>
                        </a:ext>
                      </a:extLst>
                    </a:gridCol>
                  </a:tblGrid>
                  <a:tr h="731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effectLst/>
                            </a:rPr>
                            <a:t>Biểu thức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a:effectLst/>
                            </a:rPr>
                            <a:t>số học</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400">
                              <a:effectLst/>
                            </a:rPr>
                            <a:t>Biểu thức </a:t>
                          </a:r>
                        </a:p>
                        <a:p>
                          <a:pPr marL="0" marR="0">
                            <a:lnSpc>
                              <a:spcPct val="100000"/>
                            </a:lnSpc>
                            <a:spcBef>
                              <a:spcPts val="0"/>
                            </a:spcBef>
                            <a:spcAft>
                              <a:spcPts val="0"/>
                            </a:spcAft>
                          </a:pPr>
                          <a:r>
                            <a:rPr lang="en-US" sz="2400">
                              <a:effectLst/>
                            </a:rPr>
                            <a:t>C++</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00000"/>
                            </a:lnSpc>
                            <a:spcBef>
                              <a:spcPts val="0"/>
                            </a:spcBef>
                            <a:spcAft>
                              <a:spcPts val="0"/>
                            </a:spcAft>
                          </a:pPr>
                          <a:r>
                            <a:rPr lang="en-US" sz="2400">
                              <a:effectLst/>
                            </a:rPr>
                            <a:t>Ghi chú</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7822501"/>
                      </a:ext>
                    </a:extLst>
                  </a:tr>
                  <a:tr h="868639">
                    <a:tc>
                      <a:txBody>
                        <a:bodyPr/>
                        <a:lstStyle/>
                        <a:p>
                          <a:endParaRPr lang="en-VN"/>
                        </a:p>
                      </a:txBody>
                      <a:tcPr marL="0" marR="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blipFill>
                          <a:blip r:embed="rId2"/>
                          <a:stretch>
                            <a:fillRect l="-578" t="-95588" r="-276879" b="-445588"/>
                          </a:stretch>
                        </a:blipFill>
                      </a:tcPr>
                    </a:tc>
                    <a:tc>
                      <a:txBody>
                        <a:bodyPr/>
                        <a:lstStyle/>
                        <a:p>
                          <a:pPr marL="0" marR="0">
                            <a:lnSpc>
                              <a:spcPct val="100000"/>
                            </a:lnSpc>
                            <a:spcBef>
                              <a:spcPts val="0"/>
                            </a:spcBef>
                            <a:spcAft>
                              <a:spcPts val="0"/>
                            </a:spcAft>
                          </a:pPr>
                          <a:r>
                            <a:rPr lang="en-US" sz="2400">
                              <a:effectLst/>
                              <a:latin typeface="Consolas" panose="020B0609020204030204" pitchFamily="49" charset="0"/>
                            </a:rPr>
                            <a:t>(x + y) / 2</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VN"/>
                        </a:p>
                      </a:txBody>
                      <a:tcPr marL="0" marR="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blipFill>
                          <a:blip r:embed="rId2"/>
                          <a:stretch>
                            <a:fillRect l="-199083" t="-95588" r="-459" b="-445588"/>
                          </a:stretch>
                        </a:blipFill>
                      </a:tcPr>
                    </a:tc>
                    <a:extLst>
                      <a:ext uri="{0D108BD9-81ED-4DB2-BD59-A6C34878D82A}">
                        <a16:rowId xmlns:a16="http://schemas.microsoft.com/office/drawing/2014/main" val="303487938"/>
                      </a:ext>
                    </a:extLst>
                  </a:tr>
                  <a:tr h="1124047">
                    <a:tc>
                      <a:txBody>
                        <a:bodyPr/>
                        <a:lstStyle/>
                        <a:p>
                          <a:endParaRPr lang="en-VN"/>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578" t="-149438" r="-276879" b="-240449"/>
                          </a:stretch>
                        </a:blipFill>
                      </a:tcPr>
                    </a:tc>
                    <a:tc>
                      <a:txBody>
                        <a:bodyPr/>
                        <a:lstStyle/>
                        <a:p>
                          <a:pPr marL="0" marR="0">
                            <a:lnSpc>
                              <a:spcPct val="100000"/>
                            </a:lnSpc>
                            <a:spcBef>
                              <a:spcPts val="0"/>
                            </a:spcBef>
                            <a:spcAft>
                              <a:spcPts val="0"/>
                            </a:spcAft>
                          </a:pPr>
                          <a:r>
                            <a:rPr lang="en-US" sz="2400">
                              <a:effectLst/>
                              <a:latin typeface="Consolas" panose="020B0609020204030204" pitchFamily="49" charset="0"/>
                            </a:rPr>
                            <a:t>x * y / 2</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vi-VN" sz="2400">
                              <a:effectLst/>
                            </a:rPr>
                            <a:t>không cần dấu ngoặc: toán tử</a:t>
                          </a:r>
                          <a:r>
                            <a:rPr lang="en-US" sz="2400">
                              <a:effectLst/>
                            </a:rPr>
                            <a:t> c</a:t>
                          </a:r>
                          <a:r>
                            <a:rPr lang="vi-VN" sz="2400">
                              <a:effectLst/>
                            </a:rPr>
                            <a:t>ùng độ ưu tiên tính từ trái sang</a:t>
                          </a:r>
                          <a:endParaRPr lang="vi-VN"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997523910"/>
                      </a:ext>
                    </a:extLst>
                  </a:tr>
                  <a:tr h="679893">
                    <a:tc>
                      <a:txBody>
                        <a:bodyPr/>
                        <a:lstStyle/>
                        <a:p>
                          <a:endParaRPr lang="en-VN"/>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578" t="-411111" r="-276879" b="-296296"/>
                          </a:stretch>
                        </a:blipFill>
                      </a:tcPr>
                    </a:tc>
                    <a:tc>
                      <a:txBody>
                        <a:bodyPr/>
                        <a:lstStyle/>
                        <a:p>
                          <a:pPr marL="0" marR="0">
                            <a:lnSpc>
                              <a:spcPct val="100000"/>
                            </a:lnSpc>
                            <a:spcBef>
                              <a:spcPts val="0"/>
                            </a:spcBef>
                            <a:spcAft>
                              <a:spcPts val="0"/>
                            </a:spcAft>
                          </a:pPr>
                          <a:r>
                            <a:rPr lang="en-US" sz="2400" dirty="0">
                              <a:effectLst/>
                              <a:latin typeface="Consolas" panose="020B0609020204030204" pitchFamily="49" charset="0"/>
                            </a:rPr>
                            <a:t>pow(1 + r / 100, n)</a:t>
                          </a:r>
                          <a:endParaRPr lang="en-US" sz="2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66420102"/>
                      </a:ext>
                    </a:extLst>
                  </a:tr>
                  <a:tr h="749365">
                    <a:tc>
                      <a:txBody>
                        <a:bodyPr/>
                        <a:lstStyle/>
                        <a:p>
                          <a:endParaRPr lang="en-VN"/>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578" t="-467797" r="-276879" b="-171186"/>
                          </a:stretch>
                        </a:blipFill>
                      </a:tcPr>
                    </a:tc>
                    <a:tc>
                      <a:txBody>
                        <a:bodyPr/>
                        <a:lstStyle/>
                        <a:p>
                          <a:pPr marL="0" marR="0">
                            <a:lnSpc>
                              <a:spcPct val="100000"/>
                            </a:lnSpc>
                            <a:spcBef>
                              <a:spcPts val="0"/>
                            </a:spcBef>
                            <a:spcAft>
                              <a:spcPts val="0"/>
                            </a:spcAft>
                          </a:pPr>
                          <a:r>
                            <a:rPr lang="en-US" sz="2400">
                              <a:effectLst/>
                              <a:latin typeface="Consolas" panose="020B0609020204030204" pitchFamily="49" charset="0"/>
                            </a:rPr>
                            <a:t>sqrt(a * a + b * b)</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nSpc>
                              <a:spcPct val="100000"/>
                            </a:lnSpc>
                            <a:spcBef>
                              <a:spcPts val="0"/>
                            </a:spcBef>
                            <a:spcAft>
                              <a:spcPts val="0"/>
                            </a:spcAft>
                          </a:pPr>
                          <a:r>
                            <a:rPr lang="vi-VN" sz="2400">
                              <a:effectLst/>
                            </a:rPr>
                            <a:t>a * a đơn giản hơn</a:t>
                          </a:r>
                          <a:r>
                            <a:rPr lang="en-US" sz="2400">
                              <a:effectLst/>
                            </a:rPr>
                            <a:t> </a:t>
                          </a:r>
                          <a:r>
                            <a:rPr lang="vi-VN" sz="2400">
                              <a:effectLst/>
                            </a:rPr>
                            <a:t>pow(a,2)</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73632307"/>
                      </a:ext>
                    </a:extLst>
                  </a:tr>
                  <a:tr h="1124047">
                    <a:tc>
                      <a:txBody>
                        <a:bodyPr/>
                        <a:lstStyle/>
                        <a:p>
                          <a:endParaRPr lang="en-VN"/>
                        </a:p>
                      </a:txBody>
                      <a:tcPr marL="0" marR="0" marT="0" marB="0">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78" t="-376404" r="-276879" b="-13483"/>
                          </a:stretch>
                        </a:blipFill>
                      </a:tcPr>
                    </a:tc>
                    <a:tc>
                      <a:txBody>
                        <a:bodyPr/>
                        <a:lstStyle/>
                        <a:p>
                          <a:pPr marL="0" marR="0">
                            <a:lnSpc>
                              <a:spcPct val="100000"/>
                            </a:lnSpc>
                            <a:spcBef>
                              <a:spcPts val="0"/>
                            </a:spcBef>
                            <a:spcAft>
                              <a:spcPts val="0"/>
                            </a:spcAft>
                          </a:pPr>
                          <a:r>
                            <a:rPr lang="en-US" sz="2400">
                              <a:effectLst/>
                              <a:latin typeface="Consolas" panose="020B0609020204030204" pitchFamily="49" charset="0"/>
                            </a:rPr>
                            <a:t>(i + j + k) / 3.0</a:t>
                          </a:r>
                          <a:endParaRPr lang="en-US" sz="24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txBody>
                      <a:tcPr marL="0" marR="0" marT="0" marB="0">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400" dirty="0" err="1">
                              <a:effectLst/>
                            </a:rPr>
                            <a:t>nếu</a:t>
                          </a:r>
                          <a:r>
                            <a:rPr lang="en-US" sz="2400" dirty="0">
                              <a:effectLst/>
                            </a:rPr>
                            <a:t> </a:t>
                          </a:r>
                          <a:r>
                            <a:rPr lang="fr-FR" sz="2400" dirty="0">
                              <a:effectLst/>
                            </a:rPr>
                            <a:t>là </a:t>
                          </a:r>
                          <a:r>
                            <a:rPr lang="fr-FR" sz="2400" dirty="0" err="1">
                              <a:effectLst/>
                            </a:rPr>
                            <a:t>số</a:t>
                          </a:r>
                          <a:r>
                            <a:rPr lang="fr-FR" sz="2400" dirty="0">
                              <a:effectLst/>
                            </a:rPr>
                            <a:t> </a:t>
                          </a:r>
                          <a:r>
                            <a:rPr lang="fr-FR" sz="2400" dirty="0" err="1">
                              <a:effectLst/>
                            </a:rPr>
                            <a:t>nguyên</a:t>
                          </a:r>
                          <a:r>
                            <a:rPr lang="fr-FR" sz="2400" dirty="0">
                              <a:effectLst/>
                            </a:rPr>
                            <a:t> </a:t>
                          </a:r>
                          <a:r>
                            <a:rPr lang="fr-FR" sz="2400" dirty="0" err="1">
                              <a:effectLst/>
                            </a:rPr>
                            <a:t>thì</a:t>
                          </a:r>
                          <a:r>
                            <a:rPr lang="fr-FR" sz="2400" dirty="0">
                              <a:effectLst/>
                            </a:rPr>
                            <a:t> 3.0 </a:t>
                          </a:r>
                          <a:r>
                            <a:rPr lang="fr-FR" sz="2400" dirty="0" err="1">
                              <a:effectLst/>
                            </a:rPr>
                            <a:t>chuyển</a:t>
                          </a:r>
                          <a:r>
                            <a:rPr lang="fr-FR" sz="2400" dirty="0">
                              <a:effectLst/>
                            </a:rPr>
                            <a:t> sang </a:t>
                          </a:r>
                          <a:r>
                            <a:rPr lang="fr-FR" sz="2400" dirty="0" err="1">
                              <a:effectLst/>
                            </a:rPr>
                            <a:t>số</a:t>
                          </a:r>
                          <a:r>
                            <a:rPr lang="fr-FR" sz="2400" dirty="0">
                              <a:effectLst/>
                            </a:rPr>
                            <a:t> </a:t>
                          </a:r>
                          <a:r>
                            <a:rPr lang="fr-FR" sz="2400" dirty="0" err="1">
                              <a:effectLst/>
                            </a:rPr>
                            <a:t>dấu</a:t>
                          </a:r>
                          <a:r>
                            <a:rPr lang="fr-FR" sz="2400" dirty="0">
                              <a:effectLst/>
                            </a:rPr>
                            <a:t> </a:t>
                          </a:r>
                          <a:r>
                            <a:rPr lang="fr-FR" sz="2400" dirty="0" err="1">
                              <a:effectLst/>
                            </a:rPr>
                            <a:t>chấm</a:t>
                          </a:r>
                          <a:r>
                            <a:rPr lang="fr-FR" sz="2400" dirty="0">
                              <a:effectLst/>
                            </a:rPr>
                            <a:t> </a:t>
                          </a:r>
                          <a:r>
                            <a:rPr lang="fr-FR" sz="2400" dirty="0" err="1">
                              <a:effectLst/>
                            </a:rPr>
                            <a:t>động</a:t>
                          </a:r>
                          <a:r>
                            <a:rPr lang="fr-FR" sz="2400" dirty="0">
                              <a:effectLst/>
                            </a:rPr>
                            <a:t> </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2257855"/>
                      </a:ext>
                    </a:extLst>
                  </a:tr>
                </a:tbl>
              </a:graphicData>
            </a:graphic>
          </p:graphicFrame>
        </mc:Fallback>
      </mc:AlternateContent>
    </p:spTree>
    <p:extLst>
      <p:ext uri="{BB962C8B-B14F-4D97-AF65-F5344CB8AC3E}">
        <p14:creationId xmlns:p14="http://schemas.microsoft.com/office/powerpoint/2010/main" val="8326480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89C101-641D-4EDB-BDE9-F55FF8E65B4B}"/>
              </a:ext>
            </a:extLst>
          </p:cNvPr>
          <p:cNvSpPr>
            <a:spLocks noGrp="1"/>
          </p:cNvSpPr>
          <p:nvPr>
            <p:ph type="title"/>
          </p:nvPr>
        </p:nvSpPr>
        <p:spPr/>
        <p:txBody>
          <a:bodyPr/>
          <a:lstStyle/>
          <a:p>
            <a:r>
              <a:rPr lang="en-US"/>
              <a:t>L</a:t>
            </a:r>
            <a:r>
              <a:rPr lang="vi-VN"/>
              <a:t>ư</a:t>
            </a:r>
            <a:r>
              <a:rPr lang="en-US"/>
              <a:t>u ý</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C6C02F51-7276-4414-98DE-B095B000CBBC}"/>
                  </a:ext>
                </a:extLst>
              </p:cNvPr>
              <p:cNvSpPr>
                <a:spLocks noGrp="1"/>
              </p:cNvSpPr>
              <p:nvPr>
                <p:ph idx="1"/>
              </p:nvPr>
            </p:nvSpPr>
            <p:spPr/>
            <p:txBody>
              <a:bodyPr/>
              <a:lstStyle/>
              <a:p>
                <a:r>
                  <a:rPr lang="vi-VN"/>
                  <a:t>Nếu chia hai số nguyên thì phần dư sẽ bị cắt bỏ.</a:t>
                </a:r>
              </a:p>
              <a:p>
                <a:pPr lvl="4"/>
                <a:r>
                  <a:rPr lang="vi-VN"/>
                  <a:t>int tongsogiay = 3790; </a:t>
                </a:r>
                <a:endParaRPr lang="en-US"/>
              </a:p>
              <a:p>
                <a:pPr lvl="4"/>
                <a:r>
                  <a:rPr lang="vi-VN"/>
                  <a:t>int sogio = tongsogiay / 3600;	// sogio == 1</a:t>
                </a:r>
                <a:endParaRPr lang="en-US"/>
              </a:p>
              <a:p>
                <a:pPr lvl="4"/>
                <a:endParaRPr lang="vi-VN"/>
              </a:p>
              <a:p>
                <a:r>
                  <a:rPr lang="vi-VN"/>
                  <a:t>Phép chia lấy dư % dùng để lấy phần dư.</a:t>
                </a:r>
              </a:p>
              <a:p>
                <a:pPr lvl="4"/>
                <a:r>
                  <a:rPr lang="vi-VN"/>
                  <a:t>int sophut = tongsogiay % 3600 / 60;//sophut==3 </a:t>
                </a:r>
                <a:endParaRPr lang="en-US"/>
              </a:p>
              <a:p>
                <a:pPr lvl="4"/>
                <a:r>
                  <a:rPr lang="vi-VN"/>
                  <a:t>int sogiay = tongsogiay % 3600 % 60;//sogiay==10</a:t>
                </a:r>
                <a:endParaRPr lang="en-US"/>
              </a:p>
              <a:p>
                <a:pPr lvl="4"/>
                <a:endParaRPr lang="vi-VN"/>
              </a:p>
              <a:p>
                <a:r>
                  <a:rPr lang="vi-VN"/>
                  <a:t>Tính lũy thừa và tính căn bậc 2: sử dụng hàm thư viện.</a:t>
                </a:r>
              </a:p>
              <a:p>
                <a:pPr lvl="1"/>
                <a14:m>
                  <m:oMath xmlns:m="http://schemas.openxmlformats.org/officeDocument/2006/math">
                    <m:rad>
                      <m:radPr>
                        <m:degHide m:val="on"/>
                        <m:ctrlPr>
                          <a:rPr lang="vi-VN" i="1" smtClean="0">
                            <a:latin typeface="Cambria Math" panose="02040503050406030204" pitchFamily="18" charset="0"/>
                          </a:rPr>
                        </m:ctrlPr>
                      </m:radPr>
                      <m:deg/>
                      <m:e>
                        <m:r>
                          <a:rPr lang="en-US" b="0" i="1" smtClean="0">
                            <a:latin typeface="Cambria Math" panose="02040503050406030204" pitchFamily="18" charset="0"/>
                          </a:rPr>
                          <m:t>𝑥</m:t>
                        </m:r>
                      </m:e>
                    </m:rad>
                  </m:oMath>
                </a14:m>
                <a:r>
                  <a:rPr lang="en-US"/>
                  <a:t>: </a:t>
                </a:r>
                <a:r>
                  <a:rPr lang="vi-VN"/>
                  <a:t> </a:t>
                </a:r>
                <a:r>
                  <a:rPr lang="vi-VN">
                    <a:latin typeface="Consolas" panose="020B0609020204030204" pitchFamily="49" charset="0"/>
                  </a:rPr>
                  <a:t>sqrt(x)</a:t>
                </a:r>
                <a:r>
                  <a:rPr lang="vi-VN"/>
                  <a:t> </a:t>
                </a:r>
                <a:endParaRPr lang="en-US"/>
              </a:p>
              <a:p>
                <a:pPr lvl="1"/>
                <a14:m>
                  <m:oMath xmlns:m="http://schemas.openxmlformats.org/officeDocument/2006/math">
                    <m:sSup>
                      <m:sSupPr>
                        <m:ctrlPr>
                          <a:rPr lang="vi-VN"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𝑛</m:t>
                        </m:r>
                      </m:sup>
                    </m:sSup>
                  </m:oMath>
                </a14:m>
                <a:r>
                  <a:rPr lang="vi-VN"/>
                  <a:t>: </a:t>
                </a:r>
                <a:r>
                  <a:rPr lang="en-US"/>
                  <a:t> </a:t>
                </a:r>
                <a:r>
                  <a:rPr lang="vi-VN">
                    <a:latin typeface="Consolas" panose="020B0609020204030204" pitchFamily="49" charset="0"/>
                  </a:rPr>
                  <a:t>pow(x, n)</a:t>
                </a:r>
              </a:p>
              <a:p>
                <a:endParaRPr lang="en-US"/>
              </a:p>
            </p:txBody>
          </p:sp>
        </mc:Choice>
        <mc:Fallback xmlns="">
          <p:sp>
            <p:nvSpPr>
              <p:cNvPr id="6" name="Content Placeholder 5">
                <a:extLst>
                  <a:ext uri="{FF2B5EF4-FFF2-40B4-BE49-F238E27FC236}">
                    <a16:creationId xmlns:a16="http://schemas.microsoft.com/office/drawing/2014/main" id="{C6C02F51-7276-4414-98DE-B095B000CBBC}"/>
                  </a:ext>
                </a:extLst>
              </p:cNvPr>
              <p:cNvSpPr>
                <a:spLocks noGrp="1" noRot="1" noChangeAspect="1" noMove="1" noResize="1" noEditPoints="1" noAdjustHandles="1" noChangeArrowheads="1" noChangeShapeType="1" noTextEdit="1"/>
              </p:cNvSpPr>
              <p:nvPr>
                <p:ph idx="1"/>
              </p:nvPr>
            </p:nvSpPr>
            <p:spPr>
              <a:blipFill>
                <a:blip r:embed="rId2"/>
                <a:stretch>
                  <a:fillRect l="-932" t="-1808" r="-1147"/>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743F9477-C99F-4DFB-8C7E-5747A21DE7C5}"/>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AFBB65A4-7FB1-4173-930F-447AB60259F0}"/>
              </a:ext>
            </a:extLst>
          </p:cNvPr>
          <p:cNvSpPr>
            <a:spLocks noGrp="1"/>
          </p:cNvSpPr>
          <p:nvPr>
            <p:ph type="sldNum" sz="quarter" idx="12"/>
          </p:nvPr>
        </p:nvSpPr>
        <p:spPr/>
        <p:txBody>
          <a:bodyPr/>
          <a:lstStyle/>
          <a:p>
            <a:fld id="{45CA964B-B8B5-4404-ADB9-CBB2121E234F}" type="slidenum">
              <a:rPr lang="en-US" smtClean="0"/>
              <a:t>54</a:t>
            </a:fld>
            <a:endParaRPr lang="en-US"/>
          </a:p>
        </p:txBody>
      </p:sp>
    </p:spTree>
    <p:extLst>
      <p:ext uri="{BB962C8B-B14F-4D97-AF65-F5344CB8AC3E}">
        <p14:creationId xmlns:p14="http://schemas.microsoft.com/office/powerpoint/2010/main" val="11433092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D212-2F8C-4CD8-B7F7-5A07EDD09223}"/>
              </a:ext>
            </a:extLst>
          </p:cNvPr>
          <p:cNvSpPr>
            <a:spLocks noGrp="1"/>
          </p:cNvSpPr>
          <p:nvPr>
            <p:ph type="title"/>
          </p:nvPr>
        </p:nvSpPr>
        <p:spPr/>
        <p:txBody>
          <a:bodyPr/>
          <a:lstStyle/>
          <a:p>
            <a:r>
              <a:rPr lang="en-US"/>
              <a:t>Một số hàm toán học</a:t>
            </a:r>
          </a:p>
        </p:txBody>
      </p:sp>
      <p:sp>
        <p:nvSpPr>
          <p:cNvPr id="3" name="Content Placeholder 2">
            <a:extLst>
              <a:ext uri="{FF2B5EF4-FFF2-40B4-BE49-F238E27FC236}">
                <a16:creationId xmlns:a16="http://schemas.microsoft.com/office/drawing/2014/main" id="{8C3B0765-31CF-4674-B01D-20E099181CB9}"/>
              </a:ext>
            </a:extLst>
          </p:cNvPr>
          <p:cNvSpPr>
            <a:spLocks noGrp="1"/>
          </p:cNvSpPr>
          <p:nvPr>
            <p:ph idx="1"/>
          </p:nvPr>
        </p:nvSpPr>
        <p:spPr/>
        <p:txBody>
          <a:bodyPr/>
          <a:lstStyle/>
          <a:p>
            <a:r>
              <a:rPr lang="vi-VN"/>
              <a:t>Để sử dụng hàm toán học, thêm header file </a:t>
            </a:r>
            <a:r>
              <a:rPr lang="vi-VN">
                <a:latin typeface="Consolas" panose="020B0609020204030204" pitchFamily="49" charset="0"/>
              </a:rPr>
              <a:t>cmath</a:t>
            </a:r>
            <a:r>
              <a:rPr lang="vi-VN"/>
              <a:t> vào đầu chương trình:</a:t>
            </a:r>
          </a:p>
          <a:p>
            <a:pPr lvl="4"/>
            <a:r>
              <a:rPr lang="vi-VN">
                <a:solidFill>
                  <a:srgbClr val="FF0000"/>
                </a:solidFill>
              </a:rPr>
              <a:t>#include &lt;cmath&gt;</a:t>
            </a:r>
            <a:endParaRPr lang="en-US">
              <a:solidFill>
                <a:srgbClr val="FF0000"/>
              </a:solidFill>
            </a:endParaRPr>
          </a:p>
          <a:p>
            <a:endParaRPr lang="vi-VN"/>
          </a:p>
          <a:p>
            <a:endParaRPr lang="en-US"/>
          </a:p>
        </p:txBody>
      </p:sp>
      <p:sp>
        <p:nvSpPr>
          <p:cNvPr id="4" name="Footer Placeholder 3">
            <a:extLst>
              <a:ext uri="{FF2B5EF4-FFF2-40B4-BE49-F238E27FC236}">
                <a16:creationId xmlns:a16="http://schemas.microsoft.com/office/drawing/2014/main" id="{B1783B45-0C99-4B8F-AC38-77A7E77155F1}"/>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7B23985B-A370-40F6-B6CD-D07656F35F8A}"/>
              </a:ext>
            </a:extLst>
          </p:cNvPr>
          <p:cNvSpPr>
            <a:spLocks noGrp="1"/>
          </p:cNvSpPr>
          <p:nvPr>
            <p:ph type="sldNum" sz="quarter" idx="12"/>
          </p:nvPr>
        </p:nvSpPr>
        <p:spPr/>
        <p:txBody>
          <a:bodyPr/>
          <a:lstStyle/>
          <a:p>
            <a:fld id="{45CA964B-B8B5-4404-ADB9-CBB2121E234F}" type="slidenum">
              <a:rPr lang="en-US" smtClean="0"/>
              <a:t>55</a:t>
            </a:fld>
            <a:endParaRPr lang="en-US"/>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CDE627DA-DB3D-4BB4-8BFE-762A4365AE32}"/>
                  </a:ext>
                </a:extLst>
              </p:cNvPr>
              <p:cNvGraphicFramePr>
                <a:graphicFrameLocks noGrp="1"/>
              </p:cNvGraphicFramePr>
              <p:nvPr>
                <p:extLst>
                  <p:ext uri="{D42A27DB-BD31-4B8C-83A1-F6EECF244321}">
                    <p14:modId xmlns:p14="http://schemas.microsoft.com/office/powerpoint/2010/main" val="3222795113"/>
                  </p:ext>
                </p:extLst>
              </p:nvPr>
            </p:nvGraphicFramePr>
            <p:xfrm>
              <a:off x="452775" y="2256504"/>
              <a:ext cx="8503919" cy="3871787"/>
            </p:xfrm>
            <a:graphic>
              <a:graphicData uri="http://schemas.openxmlformats.org/drawingml/2006/table">
                <a:tbl>
                  <a:tblPr firstRow="1">
                    <a:tableStyleId>{2D5ABB26-0587-4C30-8999-92F81FD0307C}</a:tableStyleId>
                  </a:tblPr>
                  <a:tblGrid>
                    <a:gridCol w="1643089">
                      <a:extLst>
                        <a:ext uri="{9D8B030D-6E8A-4147-A177-3AD203B41FA5}">
                          <a16:colId xmlns:a16="http://schemas.microsoft.com/office/drawing/2014/main" val="1669237632"/>
                        </a:ext>
                      </a:extLst>
                    </a:gridCol>
                    <a:gridCol w="2654025">
                      <a:extLst>
                        <a:ext uri="{9D8B030D-6E8A-4147-A177-3AD203B41FA5}">
                          <a16:colId xmlns:a16="http://schemas.microsoft.com/office/drawing/2014/main" val="272366085"/>
                        </a:ext>
                      </a:extLst>
                    </a:gridCol>
                    <a:gridCol w="2327916">
                      <a:extLst>
                        <a:ext uri="{9D8B030D-6E8A-4147-A177-3AD203B41FA5}">
                          <a16:colId xmlns:a16="http://schemas.microsoft.com/office/drawing/2014/main" val="158802979"/>
                        </a:ext>
                      </a:extLst>
                    </a:gridCol>
                    <a:gridCol w="1878889">
                      <a:extLst>
                        <a:ext uri="{9D8B030D-6E8A-4147-A177-3AD203B41FA5}">
                          <a16:colId xmlns:a16="http://schemas.microsoft.com/office/drawing/2014/main" val="561051355"/>
                        </a:ext>
                      </a:extLst>
                    </a:gridCol>
                  </a:tblGrid>
                  <a:tr h="391986">
                    <a:tc>
                      <a:txBody>
                        <a:bodyPr/>
                        <a:lstStyle/>
                        <a:p>
                          <a:pPr marL="44450" marR="0">
                            <a:lnSpc>
                              <a:spcPct val="107000"/>
                            </a:lnSpc>
                            <a:spcBef>
                              <a:spcPts val="0"/>
                            </a:spcBef>
                            <a:spcAft>
                              <a:spcPts val="0"/>
                            </a:spcAft>
                          </a:pPr>
                          <a:r>
                            <a:rPr lang="en-US" sz="2400">
                              <a:effectLst/>
                            </a:rPr>
                            <a:t>Hàm</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355" marR="0">
                            <a:lnSpc>
                              <a:spcPct val="107000"/>
                            </a:lnSpc>
                            <a:spcBef>
                              <a:spcPts val="0"/>
                            </a:spcBef>
                            <a:spcAft>
                              <a:spcPts val="0"/>
                            </a:spcAft>
                          </a:pPr>
                          <a:r>
                            <a:rPr lang="en-US" sz="2400">
                              <a:effectLst/>
                            </a:rPr>
                            <a:t>Mô tả</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Kiểu tham số</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Kiểu trả về</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2682602"/>
                      </a:ext>
                    </a:extLst>
                  </a:tr>
                  <a:tr h="361425">
                    <a:tc>
                      <a:txBody>
                        <a:bodyPr/>
                        <a:lstStyle/>
                        <a:p>
                          <a:pPr marL="44450" marR="0">
                            <a:lnSpc>
                              <a:spcPct val="107000"/>
                            </a:lnSpc>
                            <a:spcBef>
                              <a:spcPts val="0"/>
                            </a:spcBef>
                            <a:spcAft>
                              <a:spcPts val="0"/>
                            </a:spcAft>
                          </a:pPr>
                          <a:r>
                            <a:rPr lang="en-US" sz="2400">
                              <a:effectLst/>
                            </a:rPr>
                            <a:t>abs(x)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173355" marR="0">
                            <a:lnSpc>
                              <a:spcPct val="107000"/>
                            </a:lnSpc>
                            <a:spcBef>
                              <a:spcPts val="0"/>
                            </a:spcBef>
                            <a:spcAft>
                              <a:spcPts val="0"/>
                            </a:spcAft>
                          </a:pPr>
                          <a:r>
                            <a:rPr lang="en-US" sz="2400">
                              <a:effectLst/>
                            </a:rPr>
                            <a:t>|x|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2400">
                              <a:effectLst/>
                            </a:rPr>
                            <a:t>int (double)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2400">
                              <a:effectLst/>
                            </a:rPr>
                            <a:t>int (double)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48371860"/>
                      </a:ext>
                    </a:extLst>
                  </a:tr>
                  <a:tr h="381357">
                    <a:tc>
                      <a:txBody>
                        <a:bodyPr/>
                        <a:lstStyle/>
                        <a:p>
                          <a:pPr marL="44450" marR="0">
                            <a:lnSpc>
                              <a:spcPct val="107000"/>
                            </a:lnSpc>
                            <a:spcBef>
                              <a:spcPts val="0"/>
                            </a:spcBef>
                            <a:spcAft>
                              <a:spcPts val="0"/>
                            </a:spcAft>
                          </a:pPr>
                          <a:r>
                            <a:rPr lang="en-US" sz="2400">
                              <a:effectLst/>
                            </a:rPr>
                            <a:t>exp(x)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e</a:t>
                          </a:r>
                          <a:r>
                            <a:rPr lang="en-US" sz="2400" baseline="30000">
                              <a:effectLst/>
                            </a:rPr>
                            <a:t>x</a:t>
                          </a:r>
                          <a:r>
                            <a:rPr lang="en-US" sz="2400">
                              <a:effectLst/>
                            </a:rPr>
                            <a:t>,e = 2.718</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10847437"/>
                      </a:ext>
                    </a:extLst>
                  </a:tr>
                  <a:tr h="696190">
                    <a:tc>
                      <a:txBody>
                        <a:bodyPr/>
                        <a:lstStyle/>
                        <a:p>
                          <a:pPr marL="44450" marR="0">
                            <a:lnSpc>
                              <a:spcPct val="107000"/>
                            </a:lnSpc>
                            <a:spcBef>
                              <a:spcPts val="0"/>
                            </a:spcBef>
                            <a:spcAft>
                              <a:spcPts val="0"/>
                            </a:spcAft>
                          </a:pPr>
                          <a:r>
                            <a:rPr lang="en-US" sz="2400">
                              <a:effectLst/>
                            </a:rPr>
                            <a:t>pow(x, y) sqrt(x)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x</a:t>
                          </a:r>
                          <a:r>
                            <a:rPr lang="en-US" sz="2400" baseline="30000">
                              <a:effectLst/>
                            </a:rPr>
                            <a:t>y</a:t>
                          </a:r>
                          <a:endParaRPr lang="en-US" sz="2400" baseline="0">
                            <a:effectLst/>
                          </a:endParaRPr>
                        </a:p>
                        <a:p>
                          <a:pPr marL="173355" marR="0">
                            <a:lnSpc>
                              <a:spcPct val="107000"/>
                            </a:lnSpc>
                            <a:spcBef>
                              <a:spcPts val="0"/>
                            </a:spcBef>
                            <a:spcAft>
                              <a:spcPts val="0"/>
                            </a:spcAft>
                          </a:pPr>
                          <a14:m>
                            <m:oMathPara xmlns:m="http://schemas.openxmlformats.org/officeDocument/2006/math">
                              <m:oMathParaPr>
                                <m:jc m:val="left"/>
                              </m:oMathParaPr>
                              <m:oMath xmlns:m="http://schemas.openxmlformats.org/officeDocument/2006/math">
                                <m:rad>
                                  <m:radPr>
                                    <m:degHide m:val="on"/>
                                    <m:ctrlPr>
                                      <a:rPr lang="en-US" sz="2400" i="1" smtClean="0">
                                        <a:solidFill>
                                          <a:srgbClr val="000000"/>
                                        </a:solidFill>
                                        <a:effectLst/>
                                        <a:latin typeface="Cambria Math" panose="02040503050406030204" pitchFamily="18" charset="0"/>
                                        <a:cs typeface="Times New Roman" panose="02020603050405020304" pitchFamily="18" charset="0"/>
                                      </a:rPr>
                                    </m:ctrlPr>
                                  </m:radPr>
                                  <m:deg/>
                                  <m:e>
                                    <m:r>
                                      <a:rPr lang="en-US" sz="2400" b="0" i="1" smtClean="0">
                                        <a:solidFill>
                                          <a:srgbClr val="000000"/>
                                        </a:solidFill>
                                        <a:effectLst/>
                                        <a:latin typeface="Cambria Math" panose="02040503050406030204" pitchFamily="18" charset="0"/>
                                        <a:cs typeface="Times New Roman" panose="02020603050405020304" pitchFamily="18" charset="0"/>
                                      </a:rPr>
                                      <m:t>𝑥</m:t>
                                    </m:r>
                                  </m:e>
                                </m:rad>
                              </m:oMath>
                            </m:oMathPara>
                          </a14:m>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232410">
                            <a:lnSpc>
                              <a:spcPct val="107000"/>
                            </a:lnSpc>
                            <a:spcBef>
                              <a:spcPts val="0"/>
                            </a:spcBef>
                            <a:spcAft>
                              <a:spcPts val="0"/>
                            </a:spcAft>
                          </a:pPr>
                          <a:r>
                            <a:rPr lang="en-US" sz="2400">
                              <a:effectLst/>
                            </a:rPr>
                            <a:t>double </a:t>
                          </a:r>
                        </a:p>
                        <a:p>
                          <a:pPr marL="0" marR="23241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5080">
                            <a:lnSpc>
                              <a:spcPct val="107000"/>
                            </a:lnSpc>
                            <a:spcBef>
                              <a:spcPts val="0"/>
                            </a:spcBef>
                            <a:spcAft>
                              <a:spcPts val="0"/>
                            </a:spcAft>
                          </a:pPr>
                          <a:r>
                            <a:rPr lang="en-US" sz="2400">
                              <a:effectLst/>
                            </a:rPr>
                            <a:t>double </a:t>
                          </a:r>
                        </a:p>
                        <a:p>
                          <a:pPr marL="0" marR="508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5531834"/>
                      </a:ext>
                    </a:extLst>
                  </a:tr>
                  <a:tr h="381357">
                    <a:tc>
                      <a:txBody>
                        <a:bodyPr/>
                        <a:lstStyle/>
                        <a:p>
                          <a:pPr marL="44450" marR="0">
                            <a:lnSpc>
                              <a:spcPct val="107000"/>
                            </a:lnSpc>
                            <a:spcBef>
                              <a:spcPts val="0"/>
                            </a:spcBef>
                            <a:spcAft>
                              <a:spcPts val="0"/>
                            </a:spcAft>
                          </a:pPr>
                          <a:r>
                            <a:rPr lang="en-US" sz="2400">
                              <a:effectLst/>
                            </a:rPr>
                            <a:t>sin(x)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sinx, x: radians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32300483"/>
                      </a:ext>
                    </a:extLst>
                  </a:tr>
                  <a:tr h="381357">
                    <a:tc>
                      <a:txBody>
                        <a:bodyPr/>
                        <a:lstStyle/>
                        <a:p>
                          <a:pPr marL="44450" marR="0">
                            <a:lnSpc>
                              <a:spcPct val="107000"/>
                            </a:lnSpc>
                            <a:spcBef>
                              <a:spcPts val="0"/>
                            </a:spcBef>
                            <a:spcAft>
                              <a:spcPts val="0"/>
                            </a:spcAft>
                          </a:pPr>
                          <a:r>
                            <a:rPr lang="en-US" sz="2400">
                              <a:effectLst/>
                            </a:rPr>
                            <a:t>cos(x)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cos x, x: radians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4436734"/>
                      </a:ext>
                    </a:extLst>
                  </a:tr>
                  <a:tr h="381357">
                    <a:tc>
                      <a:txBody>
                        <a:bodyPr/>
                        <a:lstStyle/>
                        <a:p>
                          <a:pPr marL="44450" marR="0">
                            <a:lnSpc>
                              <a:spcPct val="107000"/>
                            </a:lnSpc>
                            <a:spcBef>
                              <a:spcPts val="0"/>
                            </a:spcBef>
                            <a:spcAft>
                              <a:spcPts val="0"/>
                            </a:spcAft>
                          </a:pPr>
                          <a:r>
                            <a:rPr lang="en-US" sz="2400">
                              <a:effectLst/>
                            </a:rPr>
                            <a:t>tan(x)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tanx, x: radians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71359323"/>
                      </a:ext>
                    </a:extLst>
                  </a:tr>
                  <a:tr h="381357">
                    <a:tc>
                      <a:txBody>
                        <a:bodyPr/>
                        <a:lstStyle/>
                        <a:p>
                          <a:pPr marL="44450" marR="0">
                            <a:lnSpc>
                              <a:spcPct val="107000"/>
                            </a:lnSpc>
                            <a:spcBef>
                              <a:spcPts val="0"/>
                            </a:spcBef>
                            <a:spcAft>
                              <a:spcPts val="0"/>
                            </a:spcAft>
                          </a:pPr>
                          <a:r>
                            <a:rPr lang="en-US" sz="2400">
                              <a:effectLst/>
                            </a:rPr>
                            <a:t>log(x)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ln(x),x &gt; 0</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79676429"/>
                      </a:ext>
                    </a:extLst>
                  </a:tr>
                  <a:tr h="411918">
                    <a:tc>
                      <a:txBody>
                        <a:bodyPr/>
                        <a:lstStyle/>
                        <a:p>
                          <a:pPr marL="44450" marR="0">
                            <a:lnSpc>
                              <a:spcPct val="107000"/>
                            </a:lnSpc>
                            <a:spcBef>
                              <a:spcPts val="0"/>
                            </a:spcBef>
                            <a:spcAft>
                              <a:spcPts val="0"/>
                            </a:spcAft>
                          </a:pPr>
                          <a:r>
                            <a:rPr lang="en-US" sz="2400">
                              <a:effectLst/>
                            </a:rPr>
                            <a:t>log10(x)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173355" marR="0">
                            <a:lnSpc>
                              <a:spcPct val="107000"/>
                            </a:lnSpc>
                            <a:spcBef>
                              <a:spcPts val="0"/>
                            </a:spcBef>
                            <a:spcAft>
                              <a:spcPts val="0"/>
                            </a:spcAft>
                          </a:pPr>
                          <a:r>
                            <a:rPr lang="en-US" sz="2400">
                              <a:effectLst/>
                            </a:rPr>
                            <a:t>log</a:t>
                          </a:r>
                          <a:r>
                            <a:rPr lang="en-US" sz="2400" baseline="-25000">
                              <a:effectLst/>
                            </a:rPr>
                            <a:t>10</a:t>
                          </a:r>
                          <a:r>
                            <a:rPr lang="en-US" sz="2400">
                              <a:effectLst/>
                            </a:rPr>
                            <a:t>(x),x &gt; 0</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13923"/>
                      </a:ext>
                    </a:extLst>
                  </a:tr>
                </a:tbl>
              </a:graphicData>
            </a:graphic>
          </p:graphicFrame>
        </mc:Choice>
        <mc:Fallback xmlns="">
          <p:graphicFrame>
            <p:nvGraphicFramePr>
              <p:cNvPr id="12" name="Table 11">
                <a:extLst>
                  <a:ext uri="{FF2B5EF4-FFF2-40B4-BE49-F238E27FC236}">
                    <a16:creationId xmlns:a16="http://schemas.microsoft.com/office/drawing/2014/main" id="{CDE627DA-DB3D-4BB4-8BFE-762A4365AE32}"/>
                  </a:ext>
                </a:extLst>
              </p:cNvPr>
              <p:cNvGraphicFramePr>
                <a:graphicFrameLocks noGrp="1"/>
              </p:cNvGraphicFramePr>
              <p:nvPr>
                <p:extLst>
                  <p:ext uri="{D42A27DB-BD31-4B8C-83A1-F6EECF244321}">
                    <p14:modId xmlns:p14="http://schemas.microsoft.com/office/powerpoint/2010/main" val="3222795113"/>
                  </p:ext>
                </p:extLst>
              </p:nvPr>
            </p:nvGraphicFramePr>
            <p:xfrm>
              <a:off x="452775" y="2256504"/>
              <a:ext cx="8503919" cy="3871787"/>
            </p:xfrm>
            <a:graphic>
              <a:graphicData uri="http://schemas.openxmlformats.org/drawingml/2006/table">
                <a:tbl>
                  <a:tblPr firstRow="1">
                    <a:tableStyleId>{2D5ABB26-0587-4C30-8999-92F81FD0307C}</a:tableStyleId>
                  </a:tblPr>
                  <a:tblGrid>
                    <a:gridCol w="1643089">
                      <a:extLst>
                        <a:ext uri="{9D8B030D-6E8A-4147-A177-3AD203B41FA5}">
                          <a16:colId xmlns:a16="http://schemas.microsoft.com/office/drawing/2014/main" val="1669237632"/>
                        </a:ext>
                      </a:extLst>
                    </a:gridCol>
                    <a:gridCol w="2654025">
                      <a:extLst>
                        <a:ext uri="{9D8B030D-6E8A-4147-A177-3AD203B41FA5}">
                          <a16:colId xmlns:a16="http://schemas.microsoft.com/office/drawing/2014/main" val="272366085"/>
                        </a:ext>
                      </a:extLst>
                    </a:gridCol>
                    <a:gridCol w="2327916">
                      <a:extLst>
                        <a:ext uri="{9D8B030D-6E8A-4147-A177-3AD203B41FA5}">
                          <a16:colId xmlns:a16="http://schemas.microsoft.com/office/drawing/2014/main" val="158802979"/>
                        </a:ext>
                      </a:extLst>
                    </a:gridCol>
                    <a:gridCol w="1878889">
                      <a:extLst>
                        <a:ext uri="{9D8B030D-6E8A-4147-A177-3AD203B41FA5}">
                          <a16:colId xmlns:a16="http://schemas.microsoft.com/office/drawing/2014/main" val="561051355"/>
                        </a:ext>
                      </a:extLst>
                    </a:gridCol>
                  </a:tblGrid>
                  <a:tr h="391986">
                    <a:tc>
                      <a:txBody>
                        <a:bodyPr/>
                        <a:lstStyle/>
                        <a:p>
                          <a:pPr marL="44450" marR="0">
                            <a:lnSpc>
                              <a:spcPct val="107000"/>
                            </a:lnSpc>
                            <a:spcBef>
                              <a:spcPts val="0"/>
                            </a:spcBef>
                            <a:spcAft>
                              <a:spcPts val="0"/>
                            </a:spcAft>
                          </a:pPr>
                          <a:r>
                            <a:rPr lang="en-US" sz="2400">
                              <a:effectLst/>
                            </a:rPr>
                            <a:t>Hàm</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355" marR="0">
                            <a:lnSpc>
                              <a:spcPct val="107000"/>
                            </a:lnSpc>
                            <a:spcBef>
                              <a:spcPts val="0"/>
                            </a:spcBef>
                            <a:spcAft>
                              <a:spcPts val="0"/>
                            </a:spcAft>
                          </a:pPr>
                          <a:r>
                            <a:rPr lang="en-US" sz="2400">
                              <a:effectLst/>
                            </a:rPr>
                            <a:t>Mô tả</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Kiểu tham số</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Kiểu trả về</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2682602"/>
                      </a:ext>
                    </a:extLst>
                  </a:tr>
                  <a:tr h="374015">
                    <a:tc>
                      <a:txBody>
                        <a:bodyPr/>
                        <a:lstStyle/>
                        <a:p>
                          <a:pPr marL="44450" marR="0">
                            <a:lnSpc>
                              <a:spcPct val="107000"/>
                            </a:lnSpc>
                            <a:spcBef>
                              <a:spcPts val="0"/>
                            </a:spcBef>
                            <a:spcAft>
                              <a:spcPts val="0"/>
                            </a:spcAft>
                          </a:pPr>
                          <a:r>
                            <a:rPr lang="en-US" sz="2400">
                              <a:effectLst/>
                            </a:rPr>
                            <a:t>abs(x)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173355" marR="0">
                            <a:lnSpc>
                              <a:spcPct val="107000"/>
                            </a:lnSpc>
                            <a:spcBef>
                              <a:spcPts val="0"/>
                            </a:spcBef>
                            <a:spcAft>
                              <a:spcPts val="0"/>
                            </a:spcAft>
                          </a:pPr>
                          <a:r>
                            <a:rPr lang="en-US" sz="2400">
                              <a:effectLst/>
                            </a:rPr>
                            <a:t>|x|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2400">
                              <a:effectLst/>
                            </a:rPr>
                            <a:t>int (double)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2400">
                              <a:effectLst/>
                            </a:rPr>
                            <a:t>int (double)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48371860"/>
                      </a:ext>
                    </a:extLst>
                  </a:tr>
                  <a:tr h="381357">
                    <a:tc>
                      <a:txBody>
                        <a:bodyPr/>
                        <a:lstStyle/>
                        <a:p>
                          <a:pPr marL="44450" marR="0">
                            <a:lnSpc>
                              <a:spcPct val="107000"/>
                            </a:lnSpc>
                            <a:spcBef>
                              <a:spcPts val="0"/>
                            </a:spcBef>
                            <a:spcAft>
                              <a:spcPts val="0"/>
                            </a:spcAft>
                          </a:pPr>
                          <a:r>
                            <a:rPr lang="en-US" sz="2400">
                              <a:effectLst/>
                            </a:rPr>
                            <a:t>exp(x)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e</a:t>
                          </a:r>
                          <a:r>
                            <a:rPr lang="en-US" sz="2400" baseline="30000">
                              <a:effectLst/>
                            </a:rPr>
                            <a:t>x</a:t>
                          </a:r>
                          <a:r>
                            <a:rPr lang="en-US" sz="2400">
                              <a:effectLst/>
                            </a:rPr>
                            <a:t>,e = 2.718</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10847437"/>
                      </a:ext>
                    </a:extLst>
                  </a:tr>
                  <a:tr h="787083">
                    <a:tc>
                      <a:txBody>
                        <a:bodyPr/>
                        <a:lstStyle/>
                        <a:p>
                          <a:pPr marL="44450" marR="0">
                            <a:lnSpc>
                              <a:spcPct val="107000"/>
                            </a:lnSpc>
                            <a:spcBef>
                              <a:spcPts val="0"/>
                            </a:spcBef>
                            <a:spcAft>
                              <a:spcPts val="0"/>
                            </a:spcAft>
                          </a:pPr>
                          <a:r>
                            <a:rPr lang="en-US" sz="2400">
                              <a:effectLst/>
                            </a:rPr>
                            <a:t>pow(x, y) sqrt(x)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endParaRPr lang="en-US"/>
                        </a:p>
                      </a:txBody>
                      <a:tcPr marL="0" marR="73025" marT="0" marB="0">
                        <a:blipFill>
                          <a:blip r:embed="rId3"/>
                          <a:stretch>
                            <a:fillRect l="-62299" t="-155385" r="-159310" b="-262308"/>
                          </a:stretch>
                        </a:blipFill>
                      </a:tcPr>
                    </a:tc>
                    <a:tc>
                      <a:txBody>
                        <a:bodyPr/>
                        <a:lstStyle/>
                        <a:p>
                          <a:pPr marL="0" marR="232410">
                            <a:lnSpc>
                              <a:spcPct val="107000"/>
                            </a:lnSpc>
                            <a:spcBef>
                              <a:spcPts val="0"/>
                            </a:spcBef>
                            <a:spcAft>
                              <a:spcPts val="0"/>
                            </a:spcAft>
                          </a:pPr>
                          <a:r>
                            <a:rPr lang="en-US" sz="2400">
                              <a:effectLst/>
                            </a:rPr>
                            <a:t>double </a:t>
                          </a:r>
                        </a:p>
                        <a:p>
                          <a:pPr marL="0" marR="23241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5080">
                            <a:lnSpc>
                              <a:spcPct val="107000"/>
                            </a:lnSpc>
                            <a:spcBef>
                              <a:spcPts val="0"/>
                            </a:spcBef>
                            <a:spcAft>
                              <a:spcPts val="0"/>
                            </a:spcAft>
                          </a:pPr>
                          <a:r>
                            <a:rPr lang="en-US" sz="2400">
                              <a:effectLst/>
                            </a:rPr>
                            <a:t>double </a:t>
                          </a:r>
                        </a:p>
                        <a:p>
                          <a:pPr marL="0" marR="508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5531834"/>
                      </a:ext>
                    </a:extLst>
                  </a:tr>
                  <a:tr h="381357">
                    <a:tc>
                      <a:txBody>
                        <a:bodyPr/>
                        <a:lstStyle/>
                        <a:p>
                          <a:pPr marL="44450" marR="0">
                            <a:lnSpc>
                              <a:spcPct val="107000"/>
                            </a:lnSpc>
                            <a:spcBef>
                              <a:spcPts val="0"/>
                            </a:spcBef>
                            <a:spcAft>
                              <a:spcPts val="0"/>
                            </a:spcAft>
                          </a:pPr>
                          <a:r>
                            <a:rPr lang="en-US" sz="2400">
                              <a:effectLst/>
                            </a:rPr>
                            <a:t>sin(x)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sinx, x: radians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32300483"/>
                      </a:ext>
                    </a:extLst>
                  </a:tr>
                  <a:tr h="381357">
                    <a:tc>
                      <a:txBody>
                        <a:bodyPr/>
                        <a:lstStyle/>
                        <a:p>
                          <a:pPr marL="44450" marR="0">
                            <a:lnSpc>
                              <a:spcPct val="107000"/>
                            </a:lnSpc>
                            <a:spcBef>
                              <a:spcPts val="0"/>
                            </a:spcBef>
                            <a:spcAft>
                              <a:spcPts val="0"/>
                            </a:spcAft>
                          </a:pPr>
                          <a:r>
                            <a:rPr lang="en-US" sz="2400">
                              <a:effectLst/>
                            </a:rPr>
                            <a:t>cos(x)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cos x, x: radians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4436734"/>
                      </a:ext>
                    </a:extLst>
                  </a:tr>
                  <a:tr h="381357">
                    <a:tc>
                      <a:txBody>
                        <a:bodyPr/>
                        <a:lstStyle/>
                        <a:p>
                          <a:pPr marL="44450" marR="0">
                            <a:lnSpc>
                              <a:spcPct val="107000"/>
                            </a:lnSpc>
                            <a:spcBef>
                              <a:spcPts val="0"/>
                            </a:spcBef>
                            <a:spcAft>
                              <a:spcPts val="0"/>
                            </a:spcAft>
                          </a:pPr>
                          <a:r>
                            <a:rPr lang="en-US" sz="2400">
                              <a:effectLst/>
                            </a:rPr>
                            <a:t>tan(x)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tanx, x: radians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71359323"/>
                      </a:ext>
                    </a:extLst>
                  </a:tr>
                  <a:tr h="381357">
                    <a:tc>
                      <a:txBody>
                        <a:bodyPr/>
                        <a:lstStyle/>
                        <a:p>
                          <a:pPr marL="44450" marR="0">
                            <a:lnSpc>
                              <a:spcPct val="107000"/>
                            </a:lnSpc>
                            <a:spcBef>
                              <a:spcPts val="0"/>
                            </a:spcBef>
                            <a:spcAft>
                              <a:spcPts val="0"/>
                            </a:spcAft>
                          </a:pPr>
                          <a:r>
                            <a:rPr lang="en-US" sz="2400">
                              <a:effectLst/>
                            </a:rPr>
                            <a:t>log(x)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tcPr>
                    </a:tc>
                    <a:tc>
                      <a:txBody>
                        <a:bodyPr/>
                        <a:lstStyle/>
                        <a:p>
                          <a:pPr marL="173355" marR="0">
                            <a:lnSpc>
                              <a:spcPct val="107000"/>
                            </a:lnSpc>
                            <a:spcBef>
                              <a:spcPts val="0"/>
                            </a:spcBef>
                            <a:spcAft>
                              <a:spcPts val="0"/>
                            </a:spcAft>
                          </a:pPr>
                          <a:r>
                            <a:rPr lang="en-US" sz="2400">
                              <a:effectLst/>
                            </a:rPr>
                            <a:t>ln(x),x &gt; 0</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79676429"/>
                      </a:ext>
                    </a:extLst>
                  </a:tr>
                  <a:tr h="411918">
                    <a:tc>
                      <a:txBody>
                        <a:bodyPr/>
                        <a:lstStyle/>
                        <a:p>
                          <a:pPr marL="44450" marR="0">
                            <a:lnSpc>
                              <a:spcPct val="107000"/>
                            </a:lnSpc>
                            <a:spcBef>
                              <a:spcPts val="0"/>
                            </a:spcBef>
                            <a:spcAft>
                              <a:spcPts val="0"/>
                            </a:spcAft>
                          </a:pPr>
                          <a:r>
                            <a:rPr lang="en-US" sz="2400">
                              <a:effectLst/>
                            </a:rPr>
                            <a:t>log10(x)</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173355" marR="0">
                            <a:lnSpc>
                              <a:spcPct val="107000"/>
                            </a:lnSpc>
                            <a:spcBef>
                              <a:spcPts val="0"/>
                            </a:spcBef>
                            <a:spcAft>
                              <a:spcPts val="0"/>
                            </a:spcAft>
                          </a:pPr>
                          <a:r>
                            <a:rPr lang="en-US" sz="2400">
                              <a:effectLst/>
                            </a:rPr>
                            <a:t>log</a:t>
                          </a:r>
                          <a:r>
                            <a:rPr lang="en-US" sz="2400" baseline="-25000">
                              <a:effectLst/>
                            </a:rPr>
                            <a:t>10</a:t>
                          </a:r>
                          <a:r>
                            <a:rPr lang="en-US" sz="2400">
                              <a:effectLst/>
                            </a:rPr>
                            <a:t>(x),x &gt; 0</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double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13923"/>
                      </a:ext>
                    </a:extLst>
                  </a:tr>
                </a:tbl>
              </a:graphicData>
            </a:graphic>
          </p:graphicFrame>
        </mc:Fallback>
      </mc:AlternateContent>
      <p:grpSp>
        <p:nvGrpSpPr>
          <p:cNvPr id="3073" name="Group 51888"/>
          <p:cNvGrpSpPr>
            <a:grpSpLocks/>
          </p:cNvGrpSpPr>
          <p:nvPr/>
        </p:nvGrpSpPr>
        <p:grpSpPr bwMode="auto">
          <a:xfrm>
            <a:off x="0" y="0"/>
            <a:ext cx="71438" cy="4763"/>
            <a:chOff x="0" y="0"/>
            <a:chExt cx="71425" cy="5055"/>
          </a:xfrm>
        </p:grpSpPr>
      </p:grpSp>
    </p:spTree>
    <p:extLst>
      <p:ext uri="{BB962C8B-B14F-4D97-AF65-F5344CB8AC3E}">
        <p14:creationId xmlns:p14="http://schemas.microsoft.com/office/powerpoint/2010/main" val="11230559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C7A7B-B406-4405-B364-A35E6D90E22A}"/>
              </a:ext>
            </a:extLst>
          </p:cNvPr>
          <p:cNvSpPr>
            <a:spLocks noGrp="1"/>
          </p:cNvSpPr>
          <p:nvPr>
            <p:ph type="title"/>
          </p:nvPr>
        </p:nvSpPr>
        <p:spPr/>
        <p:txBody>
          <a:bodyPr/>
          <a:lstStyle/>
          <a:p>
            <a:r>
              <a:rPr lang="en-US"/>
              <a:t>Toán tử tăng và giảm</a:t>
            </a:r>
          </a:p>
        </p:txBody>
      </p:sp>
      <p:sp>
        <p:nvSpPr>
          <p:cNvPr id="3" name="Content Placeholder 2">
            <a:extLst>
              <a:ext uri="{FF2B5EF4-FFF2-40B4-BE49-F238E27FC236}">
                <a16:creationId xmlns:a16="http://schemas.microsoft.com/office/drawing/2014/main" id="{FB685E63-2FCE-4AF1-B4D7-CF349AB1AB80}"/>
              </a:ext>
            </a:extLst>
          </p:cNvPr>
          <p:cNvSpPr>
            <a:spLocks noGrp="1"/>
          </p:cNvSpPr>
          <p:nvPr>
            <p:ph sz="half" idx="1"/>
          </p:nvPr>
        </p:nvSpPr>
        <p:spPr/>
        <p:txBody>
          <a:bodyPr/>
          <a:lstStyle/>
          <a:p>
            <a:r>
              <a:rPr lang="en-US"/>
              <a:t>Toán tử tăng 1:</a:t>
            </a:r>
          </a:p>
          <a:p>
            <a:pPr lvl="4"/>
            <a:r>
              <a:rPr lang="en-US"/>
              <a:t>++variable </a:t>
            </a:r>
          </a:p>
          <a:p>
            <a:pPr lvl="4"/>
            <a:r>
              <a:rPr lang="en-US"/>
              <a:t>variable++	</a:t>
            </a:r>
          </a:p>
          <a:p>
            <a:pPr lvl="4"/>
            <a:endParaRPr lang="en-US"/>
          </a:p>
          <a:p>
            <a:r>
              <a:rPr lang="en-US"/>
              <a:t>Ví dụ:</a:t>
            </a:r>
          </a:p>
          <a:p>
            <a:pPr lvl="1"/>
            <a:r>
              <a:rPr lang="en-US">
                <a:latin typeface="Consolas" panose="020B0609020204030204" pitchFamily="49" charset="0"/>
              </a:rPr>
              <a:t>++count;</a:t>
            </a:r>
            <a:r>
              <a:rPr lang="en-US"/>
              <a:t> hoặc </a:t>
            </a:r>
            <a:r>
              <a:rPr lang="en-US">
                <a:latin typeface="Consolas" panose="020B0609020204030204" pitchFamily="49" charset="0"/>
              </a:rPr>
              <a:t>count++;</a:t>
            </a:r>
          </a:p>
          <a:p>
            <a:pPr lvl="1"/>
            <a:r>
              <a:rPr lang="en-US">
                <a:latin typeface="Consolas" panose="020B0609020204030204" pitchFamily="49" charset="0"/>
              </a:rPr>
              <a:t>--count;</a:t>
            </a:r>
            <a:r>
              <a:rPr lang="en-US"/>
              <a:t> hoặc </a:t>
            </a:r>
            <a:r>
              <a:rPr lang="en-US">
                <a:latin typeface="Consolas" panose="020B0609020204030204" pitchFamily="49" charset="0"/>
              </a:rPr>
              <a:t>count--;</a:t>
            </a:r>
          </a:p>
          <a:p>
            <a:pPr lvl="1"/>
            <a:r>
              <a:rPr lang="en-US">
                <a:latin typeface="Consolas" panose="020B0609020204030204" pitchFamily="49" charset="0"/>
              </a:rPr>
              <a:t>x	= 5;</a:t>
            </a:r>
            <a:br>
              <a:rPr lang="en-US">
                <a:latin typeface="Consolas" panose="020B0609020204030204" pitchFamily="49" charset="0"/>
              </a:rPr>
            </a:br>
            <a:r>
              <a:rPr lang="en-US">
                <a:latin typeface="Consolas" panose="020B0609020204030204" pitchFamily="49" charset="0"/>
              </a:rPr>
              <a:t>y	= ++x; //x==6, y==6 </a:t>
            </a:r>
          </a:p>
          <a:p>
            <a:pPr lvl="1"/>
            <a:r>
              <a:rPr lang="en-US">
                <a:latin typeface="Consolas" panose="020B0609020204030204" pitchFamily="49" charset="0"/>
              </a:rPr>
              <a:t>x = 5;</a:t>
            </a:r>
            <a:br>
              <a:rPr lang="en-US">
                <a:latin typeface="Consolas" panose="020B0609020204030204" pitchFamily="49" charset="0"/>
              </a:rPr>
            </a:br>
            <a:r>
              <a:rPr lang="en-US">
                <a:latin typeface="Consolas" panose="020B0609020204030204" pitchFamily="49" charset="0"/>
              </a:rPr>
              <a:t>y = x++; //y==5, x==6</a:t>
            </a:r>
          </a:p>
          <a:p>
            <a:endParaRPr lang="en-US"/>
          </a:p>
        </p:txBody>
      </p:sp>
      <p:sp>
        <p:nvSpPr>
          <p:cNvPr id="6" name="Content Placeholder 5">
            <a:extLst>
              <a:ext uri="{FF2B5EF4-FFF2-40B4-BE49-F238E27FC236}">
                <a16:creationId xmlns:a16="http://schemas.microsoft.com/office/drawing/2014/main" id="{A96CC95E-1BB7-45C0-8FD7-637FDC89EB9A}"/>
              </a:ext>
            </a:extLst>
          </p:cNvPr>
          <p:cNvSpPr>
            <a:spLocks noGrp="1"/>
          </p:cNvSpPr>
          <p:nvPr>
            <p:ph sz="half" idx="2"/>
          </p:nvPr>
        </p:nvSpPr>
        <p:spPr/>
        <p:txBody>
          <a:bodyPr/>
          <a:lstStyle/>
          <a:p>
            <a:r>
              <a:rPr lang="en-US"/>
              <a:t> Toán tử giảm 1:</a:t>
            </a:r>
          </a:p>
          <a:p>
            <a:pPr lvl="4"/>
            <a:r>
              <a:rPr lang="en-US"/>
              <a:t>--variable </a:t>
            </a:r>
          </a:p>
          <a:p>
            <a:pPr lvl="4"/>
            <a:r>
              <a:rPr lang="en-US"/>
              <a:t>variable--</a:t>
            </a:r>
          </a:p>
        </p:txBody>
      </p:sp>
      <p:sp>
        <p:nvSpPr>
          <p:cNvPr id="4" name="Footer Placeholder 3">
            <a:extLst>
              <a:ext uri="{FF2B5EF4-FFF2-40B4-BE49-F238E27FC236}">
                <a16:creationId xmlns:a16="http://schemas.microsoft.com/office/drawing/2014/main" id="{6D64EA3C-E8A1-4D43-98B3-B035696DA12C}"/>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126A7201-BE77-4183-A964-1AE1FA3ABAB1}"/>
              </a:ext>
            </a:extLst>
          </p:cNvPr>
          <p:cNvSpPr>
            <a:spLocks noGrp="1"/>
          </p:cNvSpPr>
          <p:nvPr>
            <p:ph type="sldNum" sz="quarter" idx="12"/>
          </p:nvPr>
        </p:nvSpPr>
        <p:spPr/>
        <p:txBody>
          <a:bodyPr/>
          <a:lstStyle/>
          <a:p>
            <a:fld id="{45CA964B-B8B5-4404-ADB9-CBB2121E234F}" type="slidenum">
              <a:rPr lang="en-US" smtClean="0"/>
              <a:t>56</a:t>
            </a:fld>
            <a:endParaRPr lang="en-US"/>
          </a:p>
        </p:txBody>
      </p:sp>
      <p:sp>
        <p:nvSpPr>
          <p:cNvPr id="7" name="Rectangle 6">
            <a:extLst>
              <a:ext uri="{FF2B5EF4-FFF2-40B4-BE49-F238E27FC236}">
                <a16:creationId xmlns:a16="http://schemas.microsoft.com/office/drawing/2014/main" id="{AA54373B-6E00-407A-9053-1316392D7B1A}"/>
              </a:ext>
            </a:extLst>
          </p:cNvPr>
          <p:cNvSpPr/>
          <p:nvPr/>
        </p:nvSpPr>
        <p:spPr>
          <a:xfrm>
            <a:off x="575186" y="1474839"/>
            <a:ext cx="1902543" cy="766916"/>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D0603A8-7AA1-48AB-A588-6CF82F34B04D}"/>
              </a:ext>
            </a:extLst>
          </p:cNvPr>
          <p:cNvSpPr/>
          <p:nvPr/>
        </p:nvSpPr>
        <p:spPr>
          <a:xfrm>
            <a:off x="4945625" y="1474839"/>
            <a:ext cx="1902543" cy="766916"/>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98916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9D0D79F-9B72-4D00-81E6-6934ABEF483D}"/>
              </a:ext>
            </a:extLst>
          </p:cNvPr>
          <p:cNvSpPr>
            <a:spLocks noGrp="1"/>
          </p:cNvSpPr>
          <p:nvPr>
            <p:ph type="title"/>
          </p:nvPr>
        </p:nvSpPr>
        <p:spPr/>
        <p:txBody>
          <a:bodyPr/>
          <a:lstStyle/>
          <a:p>
            <a:r>
              <a:rPr lang="en-US"/>
              <a:t>Ví dụ 6.1</a:t>
            </a:r>
          </a:p>
        </p:txBody>
      </p:sp>
      <p:sp>
        <p:nvSpPr>
          <p:cNvPr id="5" name="Footer Placeholder 4">
            <a:extLst>
              <a:ext uri="{FF2B5EF4-FFF2-40B4-BE49-F238E27FC236}">
                <a16:creationId xmlns:a16="http://schemas.microsoft.com/office/drawing/2014/main" id="{97957DF1-8CA9-4708-80E7-7524F062B0FC}"/>
              </a:ext>
            </a:extLst>
          </p:cNvPr>
          <p:cNvSpPr>
            <a:spLocks noGrp="1"/>
          </p:cNvSpPr>
          <p:nvPr>
            <p:ph type="ftr" sz="quarter" idx="11"/>
          </p:nvPr>
        </p:nvSpPr>
        <p:spPr/>
        <p:txBody>
          <a:bodyPr/>
          <a:lstStyle/>
          <a:p>
            <a:r>
              <a:rPr lang="vi-VN"/>
              <a:t>Cơ sở lập trình - Biến &amp; Kiểu dữ liệu</a:t>
            </a:r>
            <a:endParaRPr lang="en-US"/>
          </a:p>
        </p:txBody>
      </p:sp>
      <p:sp>
        <p:nvSpPr>
          <p:cNvPr id="6" name="Slide Number Placeholder 5">
            <a:extLst>
              <a:ext uri="{FF2B5EF4-FFF2-40B4-BE49-F238E27FC236}">
                <a16:creationId xmlns:a16="http://schemas.microsoft.com/office/drawing/2014/main" id="{9B074D07-E169-4ED9-AA6F-51A752E7BBA3}"/>
              </a:ext>
            </a:extLst>
          </p:cNvPr>
          <p:cNvSpPr>
            <a:spLocks noGrp="1"/>
          </p:cNvSpPr>
          <p:nvPr>
            <p:ph type="sldNum" sz="quarter" idx="12"/>
          </p:nvPr>
        </p:nvSpPr>
        <p:spPr/>
        <p:txBody>
          <a:bodyPr/>
          <a:lstStyle/>
          <a:p>
            <a:fld id="{45CA964B-B8B5-4404-ADB9-CBB2121E234F}" type="slidenum">
              <a:rPr lang="en-US" smtClean="0"/>
              <a:t>57</a:t>
            </a:fld>
            <a:endParaRPr lang="en-US"/>
          </a:p>
        </p:txBody>
      </p:sp>
      <p:sp>
        <p:nvSpPr>
          <p:cNvPr id="9" name="Text Placeholder 8">
            <a:extLst>
              <a:ext uri="{FF2B5EF4-FFF2-40B4-BE49-F238E27FC236}">
                <a16:creationId xmlns:a16="http://schemas.microsoft.com/office/drawing/2014/main" id="{D3A1D03F-3284-4DD9-9BCD-6BAB3275D448}"/>
              </a:ext>
            </a:extLst>
          </p:cNvPr>
          <p:cNvSpPr>
            <a:spLocks noGrp="1"/>
          </p:cNvSpPr>
          <p:nvPr>
            <p:ph type="body" sz="quarter" idx="13"/>
          </p:nvPr>
        </p:nvSpPr>
        <p:spPr/>
        <p:txBody>
          <a:bodyPr>
            <a:noAutofit/>
          </a:bodyPr>
          <a:lstStyle/>
          <a:p>
            <a:r>
              <a:rPr lang="en-US">
                <a:solidFill>
                  <a:srgbClr val="008000"/>
                </a:solidFill>
              </a:rPr>
              <a:t>//Nhap vao so thuc va in ra ket qua cua cac bieu thuc</a:t>
            </a:r>
            <a:endParaRPr lang="en-US">
              <a:solidFill>
                <a:srgbClr val="000000"/>
              </a:solidFill>
            </a:endParaRPr>
          </a:p>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"Nhap so double: "</a:t>
            </a:r>
            <a:r>
              <a:rPr lang="en-US">
                <a:solidFill>
                  <a:srgbClr val="000000"/>
                </a:solidFill>
              </a:rPr>
              <a:t>;</a:t>
            </a:r>
          </a:p>
          <a:p>
            <a:r>
              <a:rPr lang="en-US">
                <a:solidFill>
                  <a:srgbClr val="000000"/>
                </a:solidFill>
              </a:rPr>
              <a:t>    </a:t>
            </a:r>
            <a:r>
              <a:rPr lang="en-US">
                <a:solidFill>
                  <a:srgbClr val="0000FF"/>
                </a:solidFill>
              </a:rPr>
              <a:t>double</a:t>
            </a:r>
            <a:r>
              <a:rPr lang="en-US">
                <a:solidFill>
                  <a:srgbClr val="000000"/>
                </a:solidFill>
              </a:rPr>
              <a:t> n;</a:t>
            </a:r>
          </a:p>
          <a:p>
            <a:r>
              <a:rPr lang="en-US">
                <a:solidFill>
                  <a:srgbClr val="000000"/>
                </a:solidFill>
              </a:rPr>
              <a:t>    cin </a:t>
            </a:r>
            <a:r>
              <a:rPr lang="en-US">
                <a:solidFill>
                  <a:srgbClr val="008080"/>
                </a:solidFill>
              </a:rPr>
              <a:t>&gt;&gt;</a:t>
            </a:r>
            <a:r>
              <a:rPr lang="en-US">
                <a:solidFill>
                  <a:srgbClr val="000000"/>
                </a:solidFill>
              </a:rPr>
              <a:t> n;</a:t>
            </a: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 == "</a:t>
            </a:r>
            <a:r>
              <a:rPr lang="en-US">
                <a:solidFill>
                  <a:srgbClr val="000000"/>
                </a:solidFill>
              </a:rPr>
              <a:t> </a:t>
            </a:r>
            <a:r>
              <a:rPr lang="en-US">
                <a:solidFill>
                  <a:srgbClr val="008080"/>
                </a:solidFill>
              </a:rPr>
              <a:t>&lt;&lt;</a:t>
            </a:r>
            <a:r>
              <a:rPr lang="en-US">
                <a:solidFill>
                  <a:srgbClr val="000000"/>
                </a:solidFill>
              </a:rPr>
              <a:t> n </a:t>
            </a:r>
            <a:r>
              <a:rPr lang="en-US">
                <a:solidFill>
                  <a:srgbClr val="008080"/>
                </a:solidFill>
              </a:rPr>
              <a:t>&lt;&lt;</a:t>
            </a:r>
            <a:r>
              <a:rPr lang="en-US">
                <a:solidFill>
                  <a:srgbClr val="000000"/>
                </a:solidFill>
              </a:rPr>
              <a:t> endl</a:t>
            </a:r>
          </a:p>
          <a:p>
            <a:r>
              <a:rPr lang="pt-BR">
                <a:solidFill>
                  <a:srgbClr val="000000"/>
                </a:solidFill>
              </a:rPr>
              <a:t>        </a:t>
            </a:r>
            <a:r>
              <a:rPr lang="pt-BR">
                <a:solidFill>
                  <a:srgbClr val="008080"/>
                </a:solidFill>
              </a:rPr>
              <a:t>&lt;&lt;</a:t>
            </a:r>
            <a:r>
              <a:rPr lang="pt-BR">
                <a:solidFill>
                  <a:srgbClr val="000000"/>
                </a:solidFill>
              </a:rPr>
              <a:t> </a:t>
            </a:r>
            <a:r>
              <a:rPr lang="pt-BR">
                <a:solidFill>
                  <a:srgbClr val="A31515"/>
                </a:solidFill>
              </a:rPr>
              <a:t>"n+1 == "</a:t>
            </a:r>
            <a:r>
              <a:rPr lang="pt-BR">
                <a:solidFill>
                  <a:srgbClr val="000000"/>
                </a:solidFill>
              </a:rPr>
              <a:t> </a:t>
            </a:r>
            <a:r>
              <a:rPr lang="pt-BR">
                <a:solidFill>
                  <a:srgbClr val="008080"/>
                </a:solidFill>
              </a:rPr>
              <a:t>&lt;&lt;</a:t>
            </a:r>
            <a:r>
              <a:rPr lang="pt-BR">
                <a:solidFill>
                  <a:srgbClr val="000000"/>
                </a:solidFill>
              </a:rPr>
              <a:t> n + 1 </a:t>
            </a:r>
            <a:r>
              <a:rPr lang="pt-BR">
                <a:solidFill>
                  <a:srgbClr val="008080"/>
                </a:solidFill>
              </a:rPr>
              <a:t>&lt;&lt;</a:t>
            </a:r>
            <a:r>
              <a:rPr lang="pt-BR">
                <a:solidFill>
                  <a:srgbClr val="000000"/>
                </a:solidFill>
              </a:rPr>
              <a:t> endl</a:t>
            </a:r>
          </a:p>
          <a:p>
            <a:r>
              <a:rPr lang="pt-BR">
                <a:solidFill>
                  <a:srgbClr val="000000"/>
                </a:solidFill>
              </a:rPr>
              <a:t>        </a:t>
            </a:r>
            <a:r>
              <a:rPr lang="pt-BR">
                <a:solidFill>
                  <a:srgbClr val="008080"/>
                </a:solidFill>
              </a:rPr>
              <a:t>&lt;&lt;</a:t>
            </a:r>
            <a:r>
              <a:rPr lang="pt-BR">
                <a:solidFill>
                  <a:srgbClr val="000000"/>
                </a:solidFill>
              </a:rPr>
              <a:t> </a:t>
            </a:r>
            <a:r>
              <a:rPr lang="pt-BR">
                <a:solidFill>
                  <a:srgbClr val="A31515"/>
                </a:solidFill>
              </a:rPr>
              <a:t>"3*n == "</a:t>
            </a:r>
            <a:r>
              <a:rPr lang="pt-BR">
                <a:solidFill>
                  <a:srgbClr val="000000"/>
                </a:solidFill>
              </a:rPr>
              <a:t> </a:t>
            </a:r>
            <a:r>
              <a:rPr lang="pt-BR">
                <a:solidFill>
                  <a:srgbClr val="008080"/>
                </a:solidFill>
              </a:rPr>
              <a:t>&lt;&lt;</a:t>
            </a:r>
            <a:r>
              <a:rPr lang="pt-BR">
                <a:solidFill>
                  <a:srgbClr val="000000"/>
                </a:solidFill>
              </a:rPr>
              <a:t> 3 * n </a:t>
            </a:r>
            <a:r>
              <a:rPr lang="pt-BR">
                <a:solidFill>
                  <a:srgbClr val="008080"/>
                </a:solidFill>
              </a:rPr>
              <a:t>&lt;&lt;</a:t>
            </a:r>
            <a:r>
              <a:rPr lang="pt-BR">
                <a:solidFill>
                  <a:srgbClr val="000000"/>
                </a:solidFill>
              </a:rPr>
              <a:t> endl</a:t>
            </a:r>
          </a:p>
          <a:p>
            <a:r>
              <a:rPr lang="pt-BR">
                <a:solidFill>
                  <a:srgbClr val="000000"/>
                </a:solidFill>
              </a:rPr>
              <a:t>        </a:t>
            </a:r>
            <a:r>
              <a:rPr lang="pt-BR">
                <a:solidFill>
                  <a:srgbClr val="008080"/>
                </a:solidFill>
              </a:rPr>
              <a:t>&lt;&lt;</a:t>
            </a:r>
            <a:r>
              <a:rPr lang="pt-BR">
                <a:solidFill>
                  <a:srgbClr val="000000"/>
                </a:solidFill>
              </a:rPr>
              <a:t> </a:t>
            </a:r>
            <a:r>
              <a:rPr lang="pt-BR">
                <a:solidFill>
                  <a:srgbClr val="A31515"/>
                </a:solidFill>
              </a:rPr>
              <a:t>"n^2 == "</a:t>
            </a:r>
            <a:r>
              <a:rPr lang="pt-BR">
                <a:solidFill>
                  <a:srgbClr val="000000"/>
                </a:solidFill>
              </a:rPr>
              <a:t> </a:t>
            </a:r>
            <a:r>
              <a:rPr lang="pt-BR">
                <a:solidFill>
                  <a:srgbClr val="008080"/>
                </a:solidFill>
              </a:rPr>
              <a:t>&lt;&lt;</a:t>
            </a:r>
            <a:r>
              <a:rPr lang="pt-BR">
                <a:solidFill>
                  <a:srgbClr val="000000"/>
                </a:solidFill>
              </a:rPr>
              <a:t> n*n </a:t>
            </a:r>
            <a:r>
              <a:rPr lang="pt-BR">
                <a:solidFill>
                  <a:srgbClr val="008080"/>
                </a:solidFill>
              </a:rPr>
              <a:t>&lt;&lt;</a:t>
            </a:r>
            <a:r>
              <a:rPr lang="pt-BR">
                <a:solidFill>
                  <a:srgbClr val="000000"/>
                </a:solidFill>
              </a:rPr>
              <a:t> endl</a:t>
            </a:r>
          </a:p>
          <a:p>
            <a:r>
              <a:rPr lang="pt-BR">
                <a:solidFill>
                  <a:srgbClr val="000000"/>
                </a:solidFill>
              </a:rPr>
              <a:t>        </a:t>
            </a:r>
            <a:r>
              <a:rPr lang="pt-BR">
                <a:solidFill>
                  <a:srgbClr val="008080"/>
                </a:solidFill>
              </a:rPr>
              <a:t>&lt;&lt;</a:t>
            </a:r>
            <a:r>
              <a:rPr lang="pt-BR">
                <a:solidFill>
                  <a:srgbClr val="000000"/>
                </a:solidFill>
              </a:rPr>
              <a:t> </a:t>
            </a:r>
            <a:r>
              <a:rPr lang="pt-BR">
                <a:solidFill>
                  <a:srgbClr val="A31515"/>
                </a:solidFill>
              </a:rPr>
              <a:t>"n/2 == "</a:t>
            </a:r>
            <a:r>
              <a:rPr lang="pt-BR">
                <a:solidFill>
                  <a:srgbClr val="000000"/>
                </a:solidFill>
              </a:rPr>
              <a:t> </a:t>
            </a:r>
            <a:r>
              <a:rPr lang="pt-BR">
                <a:solidFill>
                  <a:srgbClr val="008080"/>
                </a:solidFill>
              </a:rPr>
              <a:t>&lt;&lt;</a:t>
            </a:r>
            <a:r>
              <a:rPr lang="pt-BR">
                <a:solidFill>
                  <a:srgbClr val="000000"/>
                </a:solidFill>
              </a:rPr>
              <a:t> n / 2 </a:t>
            </a:r>
            <a:r>
              <a:rPr lang="pt-BR">
                <a:solidFill>
                  <a:srgbClr val="008080"/>
                </a:solidFill>
              </a:rPr>
              <a:t>&lt;&lt;</a:t>
            </a:r>
            <a:r>
              <a:rPr lang="pt-BR">
                <a:solidFill>
                  <a:srgbClr val="000000"/>
                </a:solidFill>
              </a:rPr>
              <a:t> endl</a:t>
            </a:r>
          </a:p>
          <a:p>
            <a:r>
              <a:rPr lang="pt-BR">
                <a:solidFill>
                  <a:srgbClr val="000000"/>
                </a:solidFill>
              </a:rPr>
              <a:t>        </a:t>
            </a:r>
            <a:r>
              <a:rPr lang="pt-BR">
                <a:solidFill>
                  <a:srgbClr val="008080"/>
                </a:solidFill>
              </a:rPr>
              <a:t>&lt;&lt;</a:t>
            </a:r>
            <a:r>
              <a:rPr lang="pt-BR">
                <a:solidFill>
                  <a:srgbClr val="000000"/>
                </a:solidFill>
              </a:rPr>
              <a:t> </a:t>
            </a:r>
            <a:r>
              <a:rPr lang="pt-BR">
                <a:solidFill>
                  <a:srgbClr val="A31515"/>
                </a:solidFill>
              </a:rPr>
              <a:t>"Can cua n == "</a:t>
            </a:r>
            <a:r>
              <a:rPr lang="pt-BR">
                <a:solidFill>
                  <a:srgbClr val="000000"/>
                </a:solidFill>
              </a:rPr>
              <a:t> </a:t>
            </a:r>
            <a:r>
              <a:rPr lang="pt-BR">
                <a:solidFill>
                  <a:srgbClr val="008080"/>
                </a:solidFill>
              </a:rPr>
              <a:t>&lt;&lt;</a:t>
            </a:r>
            <a:r>
              <a:rPr lang="pt-BR">
                <a:solidFill>
                  <a:srgbClr val="000000"/>
                </a:solidFill>
              </a:rPr>
              <a:t> sqrt(n) </a:t>
            </a:r>
            <a:r>
              <a:rPr lang="pt-BR">
                <a:solidFill>
                  <a:srgbClr val="008080"/>
                </a:solidFill>
              </a:rPr>
              <a:t>&lt;&lt;</a:t>
            </a:r>
            <a:r>
              <a:rPr lang="pt-BR">
                <a:solidFill>
                  <a:srgbClr val="000000"/>
                </a:solidFill>
              </a:rPr>
              <a:t> endl;</a:t>
            </a:r>
          </a:p>
          <a:p>
            <a:r>
              <a:rPr lang="en-US">
                <a:solidFill>
                  <a:srgbClr val="000000"/>
                </a:solidFill>
              </a:rPr>
              <a:t>}</a:t>
            </a:r>
            <a:endParaRPr lang="en-US"/>
          </a:p>
        </p:txBody>
      </p:sp>
    </p:spTree>
    <p:extLst>
      <p:ext uri="{BB962C8B-B14F-4D97-AF65-F5344CB8AC3E}">
        <p14:creationId xmlns:p14="http://schemas.microsoft.com/office/powerpoint/2010/main" val="35985898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85C1300-6156-43FE-89EA-B1037886C51E}"/>
              </a:ext>
            </a:extLst>
          </p:cNvPr>
          <p:cNvSpPr>
            <a:spLocks noGrp="1"/>
          </p:cNvSpPr>
          <p:nvPr>
            <p:ph type="title"/>
          </p:nvPr>
        </p:nvSpPr>
        <p:spPr/>
        <p:txBody>
          <a:bodyPr/>
          <a:lstStyle/>
          <a:p>
            <a:r>
              <a:rPr lang="en-US"/>
              <a:t>Chuyển đổi kiểu</a:t>
            </a:r>
          </a:p>
        </p:txBody>
      </p:sp>
      <p:sp>
        <p:nvSpPr>
          <p:cNvPr id="7" name="Content Placeholder 6">
            <a:extLst>
              <a:ext uri="{FF2B5EF4-FFF2-40B4-BE49-F238E27FC236}">
                <a16:creationId xmlns:a16="http://schemas.microsoft.com/office/drawing/2014/main" id="{83B29986-D9B8-492A-90FA-4E137CAA326D}"/>
              </a:ext>
            </a:extLst>
          </p:cNvPr>
          <p:cNvSpPr>
            <a:spLocks noGrp="1"/>
          </p:cNvSpPr>
          <p:nvPr>
            <p:ph idx="1"/>
          </p:nvPr>
        </p:nvSpPr>
        <p:spPr/>
        <p:txBody>
          <a:bodyPr/>
          <a:lstStyle/>
          <a:p>
            <a:pPr algn="just"/>
            <a:r>
              <a:rPr lang="vi-VN"/>
              <a:t>Biểu thức có thể gồm nhiều kiểu dữ liệu khác nhau.</a:t>
            </a:r>
          </a:p>
          <a:p>
            <a:pPr lvl="1" algn="just"/>
            <a:r>
              <a:rPr lang="vi-VN"/>
              <a:t>2.5/2: double chia cho int, kết quả là double.</a:t>
            </a:r>
          </a:p>
          <a:p>
            <a:pPr algn="just"/>
            <a:r>
              <a:rPr lang="vi-VN"/>
              <a:t>Nếu toán hạng có kiểu double thì kết quả là double, nếu toán hạng có kiểu int thì kết quả là int.</a:t>
            </a:r>
          </a:p>
          <a:p>
            <a:pPr lvl="1" algn="just"/>
            <a:r>
              <a:rPr lang="vi-VN"/>
              <a:t>5/2 kết quả là 2 (không phải 2.5).</a:t>
            </a:r>
          </a:p>
          <a:p>
            <a:pPr lvl="1" algn="just"/>
            <a:r>
              <a:rPr lang="vi-VN"/>
              <a:t>2.5/2 nghĩa là 2.5/double(2) kết quả là 1.25.</a:t>
            </a:r>
          </a:p>
          <a:p>
            <a:pPr lvl="1" algn="just"/>
            <a:r>
              <a:rPr lang="vi-VN"/>
              <a:t>'a'+1 nghĩa là int('a')+1</a:t>
            </a:r>
          </a:p>
          <a:p>
            <a:pPr algn="just"/>
            <a:r>
              <a:rPr lang="vi-VN"/>
              <a:t>Khi cần chương trình dịch sẽ chuyển đổi toán hạng kiểu int sang double, hoặc toán hạng kiểu char sang int. Sau đó chương trình dịch sẽ chuyển đổi kết quả lần nữa để sử dụng như là giá trị khởi tạo, hoặc giá trị bên vế phải phép gán.</a:t>
            </a:r>
          </a:p>
        </p:txBody>
      </p:sp>
      <p:sp>
        <p:nvSpPr>
          <p:cNvPr id="3" name="Footer Placeholder 2">
            <a:extLst>
              <a:ext uri="{FF2B5EF4-FFF2-40B4-BE49-F238E27FC236}">
                <a16:creationId xmlns:a16="http://schemas.microsoft.com/office/drawing/2014/main" id="{D2AD04A3-8E07-415B-BA8C-C1A0B30A03FF}"/>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006F58E0-FE7D-4667-9BB7-B025261FB9E3}"/>
              </a:ext>
            </a:extLst>
          </p:cNvPr>
          <p:cNvSpPr>
            <a:spLocks noGrp="1"/>
          </p:cNvSpPr>
          <p:nvPr>
            <p:ph type="sldNum" sz="quarter" idx="12"/>
          </p:nvPr>
        </p:nvSpPr>
        <p:spPr/>
        <p:txBody>
          <a:bodyPr/>
          <a:lstStyle/>
          <a:p>
            <a:fld id="{45CA964B-B8B5-4404-ADB9-CBB2121E234F}" type="slidenum">
              <a:rPr lang="en-US" smtClean="0"/>
              <a:t>58</a:t>
            </a:fld>
            <a:endParaRPr lang="en-US"/>
          </a:p>
        </p:txBody>
      </p:sp>
    </p:spTree>
    <p:extLst>
      <p:ext uri="{BB962C8B-B14F-4D97-AF65-F5344CB8AC3E}">
        <p14:creationId xmlns:p14="http://schemas.microsoft.com/office/powerpoint/2010/main" val="15759920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770A921-7805-47AD-853C-EBC1C3FC8E3E}"/>
              </a:ext>
            </a:extLst>
          </p:cNvPr>
          <p:cNvSpPr>
            <a:spLocks noGrp="1"/>
          </p:cNvSpPr>
          <p:nvPr>
            <p:ph idx="1"/>
          </p:nvPr>
        </p:nvSpPr>
        <p:spPr/>
        <p:txBody>
          <a:bodyPr>
            <a:normAutofit/>
          </a:bodyPr>
          <a:lstStyle/>
          <a:p>
            <a:r>
              <a:rPr lang="nn-NO"/>
              <a:t>Ví dụ:</a:t>
            </a:r>
          </a:p>
          <a:p>
            <a:pPr lvl="4"/>
            <a:r>
              <a:rPr lang="nn-NO"/>
              <a:t>double d = 2.5;</a:t>
            </a:r>
          </a:p>
          <a:p>
            <a:pPr lvl="4"/>
            <a:r>
              <a:rPr lang="nn-NO"/>
              <a:t>int i = 2;	</a:t>
            </a:r>
          </a:p>
          <a:p>
            <a:pPr lvl="4"/>
            <a:r>
              <a:rPr lang="nn-NO"/>
              <a:t>double d2 = d/i;	//d2 == 1.25</a:t>
            </a:r>
          </a:p>
          <a:p>
            <a:pPr lvl="4"/>
            <a:r>
              <a:rPr lang="nn-NO"/>
              <a:t>int i2 = d/i;	//i2 == 1</a:t>
            </a:r>
          </a:p>
          <a:p>
            <a:pPr lvl="4"/>
            <a:r>
              <a:rPr lang="nn-NO"/>
              <a:t>d2 = d/i;	//d2 == 1.25</a:t>
            </a:r>
          </a:p>
          <a:p>
            <a:pPr lvl="4"/>
            <a:r>
              <a:rPr lang="nn-NO"/>
              <a:t>i2 = d/i;	//i2 == 1</a:t>
            </a:r>
          </a:p>
          <a:p>
            <a:r>
              <a:rPr lang="en-US"/>
              <a:t> Ví dụ chuyển độ Celcius sang độ Fahrenheit: kết quả là số nguyên.</a:t>
            </a:r>
          </a:p>
          <a:p>
            <a:pPr lvl="4"/>
            <a:r>
              <a:rPr lang="en-US"/>
              <a:t>double doC; </a:t>
            </a:r>
          </a:p>
          <a:p>
            <a:pPr lvl="4"/>
            <a:r>
              <a:rPr lang="en-US"/>
              <a:t>cin &gt;&gt; doC; </a:t>
            </a:r>
          </a:p>
          <a:p>
            <a:pPr lvl="4" defTabSz="923925">
              <a:tabLst>
                <a:tab pos="5486400" algn="l"/>
              </a:tabLst>
            </a:pPr>
            <a:r>
              <a:rPr lang="en-US"/>
              <a:t>double doF = 9/5 * doC + 32; 	// 9/5==1, </a:t>
            </a:r>
            <a:br>
              <a:rPr lang="en-US"/>
            </a:br>
            <a:r>
              <a:rPr lang="en-US"/>
              <a:t> 	// khong phai 1.5</a:t>
            </a:r>
          </a:p>
          <a:p>
            <a:pPr lvl="3"/>
            <a:r>
              <a:rPr lang="en-US"/>
              <a:t>Giải pháp: chuyển 9 hoặc 5 hoặc cả hai sang double:</a:t>
            </a:r>
          </a:p>
          <a:p>
            <a:pPr lvl="4"/>
            <a:r>
              <a:rPr lang="en-US"/>
              <a:t>double doC; </a:t>
            </a:r>
          </a:p>
          <a:p>
            <a:pPr lvl="4"/>
            <a:r>
              <a:rPr lang="en-US"/>
              <a:t>cin &gt;&gt; doC;</a:t>
            </a:r>
          </a:p>
          <a:p>
            <a:pPr lvl="4"/>
            <a:r>
              <a:rPr lang="en-US"/>
              <a:t>double doF = 9.0/5 * doC + 32;</a:t>
            </a:r>
          </a:p>
        </p:txBody>
      </p:sp>
      <p:sp>
        <p:nvSpPr>
          <p:cNvPr id="4" name="Footer Placeholder 3">
            <a:extLst>
              <a:ext uri="{FF2B5EF4-FFF2-40B4-BE49-F238E27FC236}">
                <a16:creationId xmlns:a16="http://schemas.microsoft.com/office/drawing/2014/main" id="{11019605-FE4A-4EF5-8AF5-C59CDC361E1F}"/>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07BC33F5-8664-4714-8D59-CA5290E35D41}"/>
              </a:ext>
            </a:extLst>
          </p:cNvPr>
          <p:cNvSpPr>
            <a:spLocks noGrp="1"/>
          </p:cNvSpPr>
          <p:nvPr>
            <p:ph type="sldNum" sz="quarter" idx="12"/>
          </p:nvPr>
        </p:nvSpPr>
        <p:spPr/>
        <p:txBody>
          <a:bodyPr/>
          <a:lstStyle/>
          <a:p>
            <a:fld id="{45CA964B-B8B5-4404-ADB9-CBB2121E234F}" type="slidenum">
              <a:rPr lang="en-US" smtClean="0"/>
              <a:t>59</a:t>
            </a:fld>
            <a:endParaRPr lang="en-US"/>
          </a:p>
        </p:txBody>
      </p:sp>
    </p:spTree>
    <p:extLst>
      <p:ext uri="{BB962C8B-B14F-4D97-AF65-F5344CB8AC3E}">
        <p14:creationId xmlns:p14="http://schemas.microsoft.com/office/powerpoint/2010/main" val="6411177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61BD27-BE39-4917-A3EB-8DF2E0096EAD}"/>
              </a:ext>
            </a:extLst>
          </p:cNvPr>
          <p:cNvSpPr>
            <a:spLocks noGrp="1"/>
          </p:cNvSpPr>
          <p:nvPr>
            <p:ph type="title"/>
          </p:nvPr>
        </p:nvSpPr>
        <p:spPr/>
        <p:txBody>
          <a:bodyPr/>
          <a:lstStyle/>
          <a:p>
            <a:r>
              <a:rPr lang="en-US"/>
              <a:t>Ví dụ 6.2</a:t>
            </a:r>
          </a:p>
        </p:txBody>
      </p:sp>
      <p:sp>
        <p:nvSpPr>
          <p:cNvPr id="3" name="Footer Placeholder 2">
            <a:extLst>
              <a:ext uri="{FF2B5EF4-FFF2-40B4-BE49-F238E27FC236}">
                <a16:creationId xmlns:a16="http://schemas.microsoft.com/office/drawing/2014/main" id="{482E4337-5CC1-4216-A3DB-E1CCCC444BDB}"/>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3EA58577-8CF8-4C6F-B41A-3C9C4BBA3F84}"/>
              </a:ext>
            </a:extLst>
          </p:cNvPr>
          <p:cNvSpPr>
            <a:spLocks noGrp="1"/>
          </p:cNvSpPr>
          <p:nvPr>
            <p:ph type="sldNum" sz="quarter" idx="12"/>
          </p:nvPr>
        </p:nvSpPr>
        <p:spPr/>
        <p:txBody>
          <a:bodyPr/>
          <a:lstStyle/>
          <a:p>
            <a:fld id="{45CA964B-B8B5-4404-ADB9-CBB2121E234F}" type="slidenum">
              <a:rPr lang="en-US" smtClean="0"/>
              <a:t>60</a:t>
            </a:fld>
            <a:endParaRPr lang="en-US"/>
          </a:p>
        </p:txBody>
      </p:sp>
      <p:sp>
        <p:nvSpPr>
          <p:cNvPr id="8" name="Text Placeholder 7">
            <a:extLst>
              <a:ext uri="{FF2B5EF4-FFF2-40B4-BE49-F238E27FC236}">
                <a16:creationId xmlns:a16="http://schemas.microsoft.com/office/drawing/2014/main" id="{2F3505D8-CB30-4A67-BF8E-BC4B686FAE79}"/>
              </a:ext>
            </a:extLst>
          </p:cNvPr>
          <p:cNvSpPr>
            <a:spLocks noGrp="1"/>
          </p:cNvSpPr>
          <p:nvPr>
            <p:ph type="body" sz="quarter" idx="13"/>
          </p:nvPr>
        </p:nvSpPr>
        <p:spPr/>
        <p:txBody>
          <a:bodyPr>
            <a:noAutofit/>
          </a:bodyPr>
          <a:lstStyle/>
          <a:p>
            <a:r>
              <a:rPr lang="en-US">
                <a:solidFill>
                  <a:srgbClr val="008000"/>
                </a:solidFill>
              </a:rPr>
              <a:t>//Chuong trinh vi du chuyen doi kieu khong tuong minh</a:t>
            </a:r>
            <a:endParaRPr lang="en-US">
              <a:solidFill>
                <a:srgbClr val="000000"/>
              </a:solidFill>
            </a:endParaRPr>
          </a:p>
          <a:p>
            <a:r>
              <a:rPr lang="en-US">
                <a:solidFill>
                  <a:srgbClr val="808080"/>
                </a:solidFill>
              </a:rPr>
              <a:t>#include</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namespace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fr-FR">
                <a:solidFill>
                  <a:srgbClr val="000000"/>
                </a:solidFill>
              </a:rPr>
              <a:t>    cout </a:t>
            </a:r>
            <a:r>
              <a:rPr lang="fr-FR">
                <a:solidFill>
                  <a:srgbClr val="008080"/>
                </a:solidFill>
              </a:rPr>
              <a:t>&lt;&lt;</a:t>
            </a:r>
            <a:r>
              <a:rPr lang="fr-FR">
                <a:solidFill>
                  <a:srgbClr val="000000"/>
                </a:solidFill>
              </a:rPr>
              <a:t> </a:t>
            </a:r>
            <a:r>
              <a:rPr lang="fr-FR">
                <a:solidFill>
                  <a:srgbClr val="A31515"/>
                </a:solidFill>
              </a:rPr>
              <a:t>"3 / 2 + 5.5 = "</a:t>
            </a:r>
            <a:r>
              <a:rPr lang="fr-FR">
                <a:solidFill>
                  <a:srgbClr val="000000"/>
                </a:solidFill>
              </a:rPr>
              <a:t> </a:t>
            </a:r>
            <a:r>
              <a:rPr lang="fr-FR">
                <a:solidFill>
                  <a:srgbClr val="008080"/>
                </a:solidFill>
              </a:rPr>
              <a:t>&lt;&lt;</a:t>
            </a:r>
            <a:r>
              <a:rPr lang="fr-FR">
                <a:solidFill>
                  <a:srgbClr val="000000"/>
                </a:solidFill>
              </a:rPr>
              <a:t> 3 / 2 + 5.5 </a:t>
            </a:r>
            <a:r>
              <a:rPr lang="fr-FR">
                <a:solidFill>
                  <a:srgbClr val="008080"/>
                </a:solidFill>
              </a:rPr>
              <a:t>&lt;&lt;</a:t>
            </a:r>
            <a:r>
              <a:rPr lang="fr-FR">
                <a:solidFill>
                  <a:srgbClr val="000000"/>
                </a:solidFill>
              </a:rPr>
              <a:t> endl;</a:t>
            </a:r>
          </a:p>
          <a:p>
            <a:r>
              <a:rPr lang="fr-FR">
                <a:solidFill>
                  <a:srgbClr val="000000"/>
                </a:solidFill>
              </a:rPr>
              <a:t>    cout </a:t>
            </a:r>
            <a:r>
              <a:rPr lang="fr-FR">
                <a:solidFill>
                  <a:srgbClr val="008080"/>
                </a:solidFill>
              </a:rPr>
              <a:t>&lt;&lt;</a:t>
            </a:r>
            <a:r>
              <a:rPr lang="fr-FR">
                <a:solidFill>
                  <a:srgbClr val="000000"/>
                </a:solidFill>
              </a:rPr>
              <a:t> </a:t>
            </a:r>
            <a:r>
              <a:rPr lang="fr-FR">
                <a:solidFill>
                  <a:srgbClr val="A31515"/>
                </a:solidFill>
              </a:rPr>
              <a:t>"15.6 / 2 + 5 = "</a:t>
            </a:r>
            <a:r>
              <a:rPr lang="fr-FR">
                <a:solidFill>
                  <a:srgbClr val="000000"/>
                </a:solidFill>
              </a:rPr>
              <a:t> </a:t>
            </a:r>
            <a:r>
              <a:rPr lang="fr-FR">
                <a:solidFill>
                  <a:srgbClr val="008080"/>
                </a:solidFill>
              </a:rPr>
              <a:t>&lt;&lt;</a:t>
            </a:r>
            <a:r>
              <a:rPr lang="fr-FR">
                <a:solidFill>
                  <a:srgbClr val="000000"/>
                </a:solidFill>
              </a:rPr>
              <a:t> 15.6 / 2 + 5 </a:t>
            </a:r>
            <a:r>
              <a:rPr lang="fr-FR">
                <a:solidFill>
                  <a:srgbClr val="008080"/>
                </a:solidFill>
              </a:rPr>
              <a:t>&lt;&lt;</a:t>
            </a:r>
            <a:r>
              <a:rPr lang="fr-FR">
                <a:solidFill>
                  <a:srgbClr val="000000"/>
                </a:solidFill>
              </a:rPr>
              <a:t> endl;</a:t>
            </a:r>
          </a:p>
          <a:p>
            <a:r>
              <a:rPr lang="fr-FR">
                <a:solidFill>
                  <a:srgbClr val="000000"/>
                </a:solidFill>
              </a:rPr>
              <a:t>    cout </a:t>
            </a:r>
            <a:r>
              <a:rPr lang="fr-FR">
                <a:solidFill>
                  <a:srgbClr val="008080"/>
                </a:solidFill>
              </a:rPr>
              <a:t>&lt;&lt;</a:t>
            </a:r>
            <a:r>
              <a:rPr lang="fr-FR">
                <a:solidFill>
                  <a:srgbClr val="000000"/>
                </a:solidFill>
              </a:rPr>
              <a:t> </a:t>
            </a:r>
            <a:r>
              <a:rPr lang="fr-FR">
                <a:solidFill>
                  <a:srgbClr val="A31515"/>
                </a:solidFill>
              </a:rPr>
              <a:t>"4 + 5 / 2.0 = "</a:t>
            </a:r>
            <a:r>
              <a:rPr lang="fr-FR">
                <a:solidFill>
                  <a:srgbClr val="000000"/>
                </a:solidFill>
              </a:rPr>
              <a:t> </a:t>
            </a:r>
            <a:r>
              <a:rPr lang="fr-FR">
                <a:solidFill>
                  <a:srgbClr val="008080"/>
                </a:solidFill>
              </a:rPr>
              <a:t>&lt;&lt;</a:t>
            </a:r>
            <a:r>
              <a:rPr lang="fr-FR">
                <a:solidFill>
                  <a:srgbClr val="000000"/>
                </a:solidFill>
              </a:rPr>
              <a:t> 4 + 5 / 2.0 </a:t>
            </a:r>
            <a:r>
              <a:rPr lang="fr-FR">
                <a:solidFill>
                  <a:srgbClr val="008080"/>
                </a:solidFill>
              </a:rPr>
              <a:t>&lt;&lt;</a:t>
            </a:r>
            <a:r>
              <a:rPr lang="fr-FR">
                <a:solidFill>
                  <a:srgbClr val="000000"/>
                </a:solidFill>
              </a:rPr>
              <a:t> endl;</a:t>
            </a:r>
          </a:p>
          <a:p>
            <a:r>
              <a:rPr lang="fr-FR">
                <a:solidFill>
                  <a:srgbClr val="000000"/>
                </a:solidFill>
              </a:rPr>
              <a:t>    cout </a:t>
            </a:r>
            <a:r>
              <a:rPr lang="fr-FR">
                <a:solidFill>
                  <a:srgbClr val="008080"/>
                </a:solidFill>
              </a:rPr>
              <a:t>&lt;&lt;</a:t>
            </a:r>
            <a:r>
              <a:rPr lang="fr-FR">
                <a:solidFill>
                  <a:srgbClr val="000000"/>
                </a:solidFill>
              </a:rPr>
              <a:t> </a:t>
            </a:r>
            <a:r>
              <a:rPr lang="fr-FR">
                <a:solidFill>
                  <a:srgbClr val="A31515"/>
                </a:solidFill>
              </a:rPr>
              <a:t>"4 * 3 + 7 / 5 - 25.5 = "</a:t>
            </a:r>
            <a:endParaRPr lang="fr-FR">
              <a:solidFill>
                <a:srgbClr val="000000"/>
              </a:solidFill>
            </a:endParaRPr>
          </a:p>
          <a:p>
            <a:r>
              <a:rPr lang="de-DE">
                <a:solidFill>
                  <a:srgbClr val="000000"/>
                </a:solidFill>
              </a:rPr>
              <a:t>        </a:t>
            </a:r>
            <a:r>
              <a:rPr lang="de-DE">
                <a:solidFill>
                  <a:srgbClr val="008080"/>
                </a:solidFill>
              </a:rPr>
              <a:t>&lt;&lt;</a:t>
            </a:r>
            <a:r>
              <a:rPr lang="de-DE">
                <a:solidFill>
                  <a:srgbClr val="000000"/>
                </a:solidFill>
              </a:rPr>
              <a:t> 4 * 3 + 7 / 5 - 25.5 </a:t>
            </a:r>
            <a:r>
              <a:rPr lang="de-DE">
                <a:solidFill>
                  <a:srgbClr val="008080"/>
                </a:solidFill>
              </a:rPr>
              <a:t>&lt;&lt;</a:t>
            </a:r>
            <a:r>
              <a:rPr lang="de-DE">
                <a:solidFill>
                  <a:srgbClr val="000000"/>
                </a:solidFill>
              </a:rPr>
              <a:t> endl;</a:t>
            </a: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Tree>
    <p:extLst>
      <p:ext uri="{BB962C8B-B14F-4D97-AF65-F5344CB8AC3E}">
        <p14:creationId xmlns:p14="http://schemas.microsoft.com/office/powerpoint/2010/main" val="818620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Chuyển đổi kiểu</a:t>
            </a:r>
            <a:endParaRPr lang="en-US"/>
          </a:p>
        </p:txBody>
      </p:sp>
      <p:sp>
        <p:nvSpPr>
          <p:cNvPr id="3" name="Footer Placeholder 2"/>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p:cNvSpPr>
            <a:spLocks noGrp="1"/>
          </p:cNvSpPr>
          <p:nvPr>
            <p:ph type="sldNum" sz="quarter" idx="12"/>
          </p:nvPr>
        </p:nvSpPr>
        <p:spPr/>
        <p:txBody>
          <a:bodyPr/>
          <a:lstStyle/>
          <a:p>
            <a:fld id="{45CA964B-B8B5-4404-ADB9-CBB2121E234F}" type="slidenum">
              <a:rPr lang="en-US" smtClean="0"/>
              <a:t>61</a:t>
            </a:fld>
            <a:endParaRPr lang="en-US"/>
          </a:p>
        </p:txBody>
      </p:sp>
      <p:sp>
        <p:nvSpPr>
          <p:cNvPr id="7" name="Rectangle 3"/>
          <p:cNvSpPr txBox="1">
            <a:spLocks noChangeArrowheads="1"/>
          </p:cNvSpPr>
          <p:nvPr/>
        </p:nvSpPr>
        <p:spPr>
          <a:xfrm>
            <a:off x="457200" y="1447800"/>
            <a:ext cx="8229600" cy="4525963"/>
          </a:xfrm>
          <a:prstGeom prst="rect">
            <a:avLst/>
          </a:prstGeom>
        </p:spPr>
        <p:txBody>
          <a:bodyPr/>
          <a:lstStyle>
            <a:lvl1pPr marL="287338" indent="-177800" algn="l" defTabSz="914400" rtl="0" eaLnBrk="1" latinLnBrk="0" hangingPunct="1">
              <a:lnSpc>
                <a:spcPct val="90000"/>
              </a:lnSpc>
              <a:spcBef>
                <a:spcPts val="600"/>
              </a:spcBef>
              <a:spcAft>
                <a:spcPts val="0"/>
              </a:spcAft>
              <a:buClr>
                <a:schemeClr val="accent2">
                  <a:lumMod val="75000"/>
                </a:schemeClr>
              </a:buClr>
              <a:buSzPct val="100000"/>
              <a:buFont typeface="Arial" panose="020B0604020202020204" pitchFamily="34" charset="0"/>
              <a:buChar char="•"/>
              <a:defRPr sz="2600" kern="1200">
                <a:solidFill>
                  <a:schemeClr val="tx1">
                    <a:lumMod val="95000"/>
                    <a:lumOff val="5000"/>
                  </a:schemeClr>
                </a:solidFill>
                <a:latin typeface="+mn-lt"/>
                <a:ea typeface="+mn-ea"/>
                <a:cs typeface="+mn-cs"/>
              </a:defRPr>
            </a:lvl1pPr>
            <a:lvl2pPr marL="519113" indent="-182563" algn="l" defTabSz="914400" rtl="0" eaLnBrk="1" latinLnBrk="0" hangingPunct="1">
              <a:lnSpc>
                <a:spcPct val="90000"/>
              </a:lnSpc>
              <a:spcBef>
                <a:spcPts val="200"/>
              </a:spcBef>
              <a:spcAft>
                <a:spcPts val="400"/>
              </a:spcAft>
              <a:buClr>
                <a:schemeClr val="accent1">
                  <a:lumMod val="75000"/>
                </a:schemeClr>
              </a:buClr>
              <a:buSzPct val="70000"/>
              <a:buFont typeface="Wingdings" panose="05000000000000000000" pitchFamily="2" charset="2"/>
              <a:buChar char="§"/>
              <a:defRPr sz="2400" kern="1200">
                <a:solidFill>
                  <a:schemeClr val="tx1">
                    <a:lumMod val="95000"/>
                    <a:lumOff val="5000"/>
                  </a:schemeClr>
                </a:solidFill>
                <a:latin typeface="+mn-lt"/>
                <a:ea typeface="+mn-ea"/>
                <a:cs typeface="+mn-cs"/>
              </a:defRPr>
            </a:lvl2pPr>
            <a:lvl3pPr marL="736600" indent="-182563"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95000"/>
                    <a:lumOff val="5000"/>
                  </a:schemeClr>
                </a:solidFill>
                <a:latin typeface="+mn-lt"/>
                <a:ea typeface="+mn-ea"/>
                <a:cs typeface="+mn-cs"/>
              </a:defRPr>
            </a:lvl3pPr>
            <a:lvl4pPr marL="341313" indent="0" algn="l"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95000"/>
                    <a:lumOff val="5000"/>
                  </a:schemeClr>
                </a:solidFill>
                <a:latin typeface="+mn-lt"/>
                <a:ea typeface="+mn-ea"/>
                <a:cs typeface="+mn-cs"/>
              </a:defRPr>
            </a:lvl4pPr>
            <a:lvl5pPr marL="341313" indent="0" algn="l" defTabSz="914400" rtl="0" eaLnBrk="1" latinLnBrk="0" hangingPunct="1">
              <a:lnSpc>
                <a:spcPct val="90000"/>
              </a:lnSpc>
              <a:spcBef>
                <a:spcPts val="0"/>
              </a:spcBef>
              <a:spcAft>
                <a:spcPts val="0"/>
              </a:spcAft>
              <a:buClr>
                <a:schemeClr val="accent1"/>
              </a:buClr>
              <a:buFont typeface="Calibri" pitchFamily="34" charset="0"/>
              <a:buNone/>
              <a:defRPr sz="2400" kern="1200">
                <a:solidFill>
                  <a:schemeClr val="tx1">
                    <a:lumMod val="95000"/>
                    <a:lumOff val="5000"/>
                  </a:schemeClr>
                </a:solidFill>
                <a:latin typeface="Consolas" panose="020B0609020204030204" pitchFamily="49"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Tx/>
              <a:buNone/>
            </a:pPr>
            <a:r>
              <a:rPr lang="en-US" b="1">
                <a:solidFill>
                  <a:srgbClr val="FF0000"/>
                </a:solidFill>
                <a:latin typeface="Courier New" pitchFamily="49" charset="0"/>
                <a:cs typeface="Courier New" pitchFamily="49" charset="0"/>
              </a:rPr>
              <a:t>char ch; int i; float f; double d;</a:t>
            </a:r>
          </a:p>
          <a:p>
            <a:pPr lvl="1">
              <a:buFontTx/>
              <a:buNone/>
            </a:pPr>
            <a:r>
              <a:rPr lang="en-US" b="1">
                <a:solidFill>
                  <a:srgbClr val="FF0000"/>
                </a:solidFill>
                <a:latin typeface="Courier New" pitchFamily="49" charset="0"/>
                <a:cs typeface="Courier New" pitchFamily="49" charset="0"/>
              </a:rPr>
              <a:t>result = (ch/i) + (f*d) – (f+i)</a:t>
            </a:r>
          </a:p>
        </p:txBody>
      </p:sp>
      <p:grpSp>
        <p:nvGrpSpPr>
          <p:cNvPr id="8" name="Group 27"/>
          <p:cNvGrpSpPr>
            <a:grpSpLocks/>
          </p:cNvGrpSpPr>
          <p:nvPr/>
        </p:nvGrpSpPr>
        <p:grpSpPr bwMode="auto">
          <a:xfrm>
            <a:off x="2362200" y="2310288"/>
            <a:ext cx="5516880" cy="3570288"/>
            <a:chOff x="1440" y="1296"/>
            <a:chExt cx="2289" cy="2249"/>
          </a:xfrm>
        </p:grpSpPr>
        <p:sp>
          <p:nvSpPr>
            <p:cNvPr id="9" name="Text Box 4"/>
            <p:cNvSpPr txBox="1">
              <a:spLocks noChangeArrowheads="1"/>
            </p:cNvSpPr>
            <p:nvPr/>
          </p:nvSpPr>
          <p:spPr bwMode="auto">
            <a:xfrm>
              <a:off x="1440" y="1632"/>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int</a:t>
              </a:r>
            </a:p>
          </p:txBody>
        </p:sp>
        <p:sp>
          <p:nvSpPr>
            <p:cNvPr id="10" name="Line 5"/>
            <p:cNvSpPr>
              <a:spLocks noChangeShapeType="1"/>
            </p:cNvSpPr>
            <p:nvPr/>
          </p:nvSpPr>
          <p:spPr bwMode="auto">
            <a:xfrm flipV="1">
              <a:off x="1584" y="1296"/>
              <a:ext cx="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
            <p:cNvSpPr>
              <a:spLocks noChangeShapeType="1"/>
            </p:cNvSpPr>
            <p:nvPr/>
          </p:nvSpPr>
          <p:spPr bwMode="auto">
            <a:xfrm flipV="1">
              <a:off x="1824" y="1296"/>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7"/>
            <p:cNvSpPr>
              <a:spLocks noChangeShapeType="1"/>
            </p:cNvSpPr>
            <p:nvPr/>
          </p:nvSpPr>
          <p:spPr bwMode="auto">
            <a:xfrm>
              <a:off x="1584" y="182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Text Box 8"/>
            <p:cNvSpPr txBox="1">
              <a:spLocks noChangeArrowheads="1"/>
            </p:cNvSpPr>
            <p:nvPr/>
          </p:nvSpPr>
          <p:spPr bwMode="auto">
            <a:xfrm>
              <a:off x="1584" y="1968"/>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int</a:t>
              </a:r>
            </a:p>
          </p:txBody>
        </p:sp>
        <p:sp>
          <p:nvSpPr>
            <p:cNvPr id="14" name="Text Box 9"/>
            <p:cNvSpPr txBox="1">
              <a:spLocks noChangeArrowheads="1"/>
            </p:cNvSpPr>
            <p:nvPr/>
          </p:nvSpPr>
          <p:spPr bwMode="auto">
            <a:xfrm>
              <a:off x="2112" y="1632"/>
              <a:ext cx="76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double</a:t>
              </a:r>
            </a:p>
          </p:txBody>
        </p:sp>
        <p:sp>
          <p:nvSpPr>
            <p:cNvPr id="15" name="Line 10"/>
            <p:cNvSpPr>
              <a:spLocks noChangeShapeType="1"/>
            </p:cNvSpPr>
            <p:nvPr/>
          </p:nvSpPr>
          <p:spPr bwMode="auto">
            <a:xfrm flipV="1">
              <a:off x="2304" y="1296"/>
              <a:ext cx="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Text Box 11"/>
            <p:cNvSpPr txBox="1">
              <a:spLocks noChangeArrowheads="1"/>
            </p:cNvSpPr>
            <p:nvPr/>
          </p:nvSpPr>
          <p:spPr bwMode="auto">
            <a:xfrm>
              <a:off x="2976" y="1632"/>
              <a:ext cx="5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float</a:t>
              </a:r>
            </a:p>
          </p:txBody>
        </p:sp>
        <p:sp>
          <p:nvSpPr>
            <p:cNvPr id="17" name="Line 12"/>
            <p:cNvSpPr>
              <a:spLocks noChangeShapeType="1"/>
            </p:cNvSpPr>
            <p:nvPr/>
          </p:nvSpPr>
          <p:spPr bwMode="auto">
            <a:xfrm flipV="1">
              <a:off x="3168" y="1296"/>
              <a:ext cx="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Text Box 13"/>
            <p:cNvSpPr txBox="1">
              <a:spLocks noChangeArrowheads="1"/>
            </p:cNvSpPr>
            <p:nvPr/>
          </p:nvSpPr>
          <p:spPr bwMode="auto">
            <a:xfrm>
              <a:off x="1440" y="2352"/>
              <a:ext cx="84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double</a:t>
              </a:r>
            </a:p>
          </p:txBody>
        </p:sp>
        <p:sp>
          <p:nvSpPr>
            <p:cNvPr id="19" name="Text Box 14"/>
            <p:cNvSpPr txBox="1">
              <a:spLocks noChangeArrowheads="1"/>
            </p:cNvSpPr>
            <p:nvPr/>
          </p:nvSpPr>
          <p:spPr bwMode="auto">
            <a:xfrm>
              <a:off x="2928" y="2352"/>
              <a:ext cx="8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double</a:t>
              </a:r>
            </a:p>
          </p:txBody>
        </p:sp>
        <p:sp>
          <p:nvSpPr>
            <p:cNvPr id="20" name="Line 16"/>
            <p:cNvSpPr>
              <a:spLocks noChangeShapeType="1"/>
            </p:cNvSpPr>
            <p:nvPr/>
          </p:nvSpPr>
          <p:spPr bwMode="auto">
            <a:xfrm>
              <a:off x="1728" y="216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7"/>
            <p:cNvSpPr>
              <a:spLocks noChangeShapeType="1"/>
            </p:cNvSpPr>
            <p:nvPr/>
          </p:nvSpPr>
          <p:spPr bwMode="auto">
            <a:xfrm>
              <a:off x="2304" y="1872"/>
              <a:ext cx="0" cy="8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8"/>
            <p:cNvSpPr>
              <a:spLocks noChangeShapeType="1"/>
            </p:cNvSpPr>
            <p:nvPr/>
          </p:nvSpPr>
          <p:spPr bwMode="auto">
            <a:xfrm>
              <a:off x="3168" y="1872"/>
              <a:ext cx="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19"/>
            <p:cNvSpPr>
              <a:spLocks noChangeShapeType="1"/>
            </p:cNvSpPr>
            <p:nvPr/>
          </p:nvSpPr>
          <p:spPr bwMode="auto">
            <a:xfrm>
              <a:off x="1728" y="259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0"/>
            <p:cNvSpPr>
              <a:spLocks noChangeShapeType="1"/>
            </p:cNvSpPr>
            <p:nvPr/>
          </p:nvSpPr>
          <p:spPr bwMode="auto">
            <a:xfrm>
              <a:off x="1728" y="273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Text Box 21"/>
            <p:cNvSpPr txBox="1">
              <a:spLocks noChangeArrowheads="1"/>
            </p:cNvSpPr>
            <p:nvPr/>
          </p:nvSpPr>
          <p:spPr bwMode="auto">
            <a:xfrm>
              <a:off x="2304" y="3312"/>
              <a:ext cx="76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double</a:t>
              </a:r>
            </a:p>
          </p:txBody>
        </p:sp>
        <p:sp>
          <p:nvSpPr>
            <p:cNvPr id="26" name="Line 22"/>
            <p:cNvSpPr>
              <a:spLocks noChangeShapeType="1"/>
            </p:cNvSpPr>
            <p:nvPr/>
          </p:nvSpPr>
          <p:spPr bwMode="auto">
            <a:xfrm>
              <a:off x="1968" y="273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3"/>
            <p:cNvSpPr>
              <a:spLocks noChangeShapeType="1"/>
            </p:cNvSpPr>
            <p:nvPr/>
          </p:nvSpPr>
          <p:spPr bwMode="auto">
            <a:xfrm>
              <a:off x="3168" y="2640"/>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4"/>
            <p:cNvSpPr>
              <a:spLocks noChangeShapeType="1"/>
            </p:cNvSpPr>
            <p:nvPr/>
          </p:nvSpPr>
          <p:spPr bwMode="auto">
            <a:xfrm>
              <a:off x="1968" y="2976"/>
              <a:ext cx="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5"/>
            <p:cNvSpPr>
              <a:spLocks noChangeShapeType="1"/>
            </p:cNvSpPr>
            <p:nvPr/>
          </p:nvSpPr>
          <p:spPr bwMode="auto">
            <a:xfrm>
              <a:off x="2544" y="297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26"/>
            <p:cNvSpPr>
              <a:spLocks noChangeShapeType="1"/>
            </p:cNvSpPr>
            <p:nvPr/>
          </p:nvSpPr>
          <p:spPr bwMode="auto">
            <a:xfrm>
              <a:off x="1584" y="196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42073391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19EF08-B0FD-41DA-B9F4-61FE70FDFA54}"/>
              </a:ext>
            </a:extLst>
          </p:cNvPr>
          <p:cNvSpPr>
            <a:spLocks noGrp="1"/>
          </p:cNvSpPr>
          <p:nvPr>
            <p:ph type="title"/>
          </p:nvPr>
        </p:nvSpPr>
        <p:spPr/>
        <p:txBody>
          <a:bodyPr/>
          <a:lstStyle/>
          <a:p>
            <a:r>
              <a:rPr lang="vi-VN"/>
              <a:t>Chuyển đổi kiểu tường minh</a:t>
            </a:r>
            <a:endParaRPr lang="en-US"/>
          </a:p>
        </p:txBody>
      </p:sp>
      <p:sp>
        <p:nvSpPr>
          <p:cNvPr id="7" name="Content Placeholder 6">
            <a:extLst>
              <a:ext uri="{FF2B5EF4-FFF2-40B4-BE49-F238E27FC236}">
                <a16:creationId xmlns:a16="http://schemas.microsoft.com/office/drawing/2014/main" id="{9AD89D97-418A-4D34-B952-AA4016384AB8}"/>
              </a:ext>
            </a:extLst>
          </p:cNvPr>
          <p:cNvSpPr>
            <a:spLocks noGrp="1"/>
          </p:cNvSpPr>
          <p:nvPr>
            <p:ph idx="1"/>
          </p:nvPr>
        </p:nvSpPr>
        <p:spPr/>
        <p:txBody>
          <a:bodyPr/>
          <a:lstStyle/>
          <a:p>
            <a:pPr lvl="4">
              <a:spcBef>
                <a:spcPts val="1200"/>
              </a:spcBef>
              <a:spcAft>
                <a:spcPts val="1200"/>
              </a:spcAft>
            </a:pPr>
            <a:r>
              <a:rPr lang="en-US"/>
              <a:t>static_cast&lt;type&gt;(expression)</a:t>
            </a:r>
          </a:p>
          <a:p>
            <a:pPr lvl="1"/>
            <a:r>
              <a:rPr lang="en-US"/>
              <a:t>expression: biểu thức </a:t>
            </a:r>
          </a:p>
          <a:p>
            <a:pPr lvl="1"/>
            <a:r>
              <a:rPr lang="en-US"/>
              <a:t>type: kiểu dữ liệu </a:t>
            </a:r>
          </a:p>
          <a:p>
            <a:r>
              <a:rPr lang="en-US"/>
              <a:t>Ví dụ:</a:t>
            </a:r>
          </a:p>
          <a:p>
            <a:pPr lvl="4">
              <a:tabLst>
                <a:tab pos="4630738" algn="l"/>
              </a:tabLst>
            </a:pPr>
            <a:r>
              <a:rPr lang="en-US"/>
              <a:t>static_cast&lt;int&gt;(7.9) 	7 </a:t>
            </a:r>
          </a:p>
          <a:p>
            <a:pPr lvl="4">
              <a:tabLst>
                <a:tab pos="4630738" algn="l"/>
              </a:tabLst>
            </a:pPr>
            <a:endParaRPr lang="en-US"/>
          </a:p>
          <a:p>
            <a:pPr lvl="4">
              <a:tabLst>
                <a:tab pos="4630738" algn="l"/>
              </a:tabLst>
            </a:pPr>
            <a:r>
              <a:rPr lang="en-US"/>
              <a:t>static_cast&lt;double&gt;(25) 	25.0</a:t>
            </a:r>
          </a:p>
          <a:p>
            <a:pPr lvl="4">
              <a:tabLst>
                <a:tab pos="4630738" algn="l"/>
              </a:tabLst>
            </a:pPr>
            <a:endParaRPr lang="en-US"/>
          </a:p>
          <a:p>
            <a:pPr lvl="4">
              <a:tabLst>
                <a:tab pos="4630738" algn="l"/>
              </a:tabLst>
            </a:pPr>
            <a:r>
              <a:rPr lang="en-US"/>
              <a:t>static_cast&lt;double&gt;(5+3) 	=static_cast&lt;double&gt;(8)	=8.0</a:t>
            </a:r>
          </a:p>
          <a:p>
            <a:pPr lvl="4">
              <a:tabLst>
                <a:tab pos="4630738" algn="l"/>
              </a:tabLst>
            </a:pPr>
            <a:r>
              <a:rPr lang="en-US"/>
              <a:t>static_cast&lt;double&gt;(15)/2	=15.0/2 = 15.0/2.0 </a:t>
            </a:r>
          </a:p>
          <a:p>
            <a:pPr lvl="4">
              <a:tabLst>
                <a:tab pos="4630738" algn="l"/>
              </a:tabLst>
            </a:pPr>
            <a:r>
              <a:rPr lang="en-US"/>
              <a:t>	= 7.5</a:t>
            </a:r>
          </a:p>
          <a:p>
            <a:pPr lvl="4">
              <a:tabLst>
                <a:tab pos="4630738" algn="l"/>
              </a:tabLst>
            </a:pPr>
            <a:r>
              <a:rPr lang="en-US"/>
              <a:t>static_cast&lt;double&gt;(15/2)	=static_cast&lt;double&gt;(7)</a:t>
            </a:r>
          </a:p>
          <a:p>
            <a:pPr lvl="4">
              <a:tabLst>
                <a:tab pos="4630738" algn="l"/>
              </a:tabLst>
            </a:pPr>
            <a:r>
              <a:rPr lang="en-US"/>
              <a:t>	=7</a:t>
            </a:r>
          </a:p>
          <a:p>
            <a:endParaRPr lang="en-US"/>
          </a:p>
        </p:txBody>
      </p:sp>
      <p:sp>
        <p:nvSpPr>
          <p:cNvPr id="3" name="Footer Placeholder 2">
            <a:extLst>
              <a:ext uri="{FF2B5EF4-FFF2-40B4-BE49-F238E27FC236}">
                <a16:creationId xmlns:a16="http://schemas.microsoft.com/office/drawing/2014/main" id="{C9541B83-6D21-4565-BB33-2A3B41B05BF7}"/>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EB03A895-6352-4149-838C-40155441CF15}"/>
              </a:ext>
            </a:extLst>
          </p:cNvPr>
          <p:cNvSpPr>
            <a:spLocks noGrp="1"/>
          </p:cNvSpPr>
          <p:nvPr>
            <p:ph type="sldNum" sz="quarter" idx="12"/>
          </p:nvPr>
        </p:nvSpPr>
        <p:spPr/>
        <p:txBody>
          <a:bodyPr/>
          <a:lstStyle/>
          <a:p>
            <a:fld id="{45CA964B-B8B5-4404-ADB9-CBB2121E234F}" type="slidenum">
              <a:rPr lang="en-US" smtClean="0"/>
              <a:t>62</a:t>
            </a:fld>
            <a:endParaRPr lang="en-US"/>
          </a:p>
        </p:txBody>
      </p:sp>
      <p:sp>
        <p:nvSpPr>
          <p:cNvPr id="8" name="Rectangle 7">
            <a:extLst>
              <a:ext uri="{FF2B5EF4-FFF2-40B4-BE49-F238E27FC236}">
                <a16:creationId xmlns:a16="http://schemas.microsoft.com/office/drawing/2014/main" id="{23CB1D48-46AD-4B03-B8E5-8CEA007E4163}"/>
              </a:ext>
            </a:extLst>
          </p:cNvPr>
          <p:cNvSpPr/>
          <p:nvPr/>
        </p:nvSpPr>
        <p:spPr>
          <a:xfrm>
            <a:off x="560438" y="1083406"/>
            <a:ext cx="5132440" cy="457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4192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D09BEBA-550F-41DD-934F-90EE2A03EAEC}"/>
              </a:ext>
            </a:extLst>
          </p:cNvPr>
          <p:cNvSpPr>
            <a:spLocks noGrp="1"/>
          </p:cNvSpPr>
          <p:nvPr>
            <p:ph type="title"/>
          </p:nvPr>
        </p:nvSpPr>
        <p:spPr/>
        <p:txBody>
          <a:bodyPr/>
          <a:lstStyle/>
          <a:p>
            <a:r>
              <a:rPr lang="en-US"/>
              <a:t>Biểu thức luận lý</a:t>
            </a:r>
          </a:p>
        </p:txBody>
      </p:sp>
      <p:sp>
        <p:nvSpPr>
          <p:cNvPr id="7" name="Content Placeholder 6">
            <a:extLst>
              <a:ext uri="{FF2B5EF4-FFF2-40B4-BE49-F238E27FC236}">
                <a16:creationId xmlns:a16="http://schemas.microsoft.com/office/drawing/2014/main" id="{E1C54C0D-244E-4640-B059-4D3B4E8CF202}"/>
              </a:ext>
            </a:extLst>
          </p:cNvPr>
          <p:cNvSpPr>
            <a:spLocks noGrp="1"/>
          </p:cNvSpPr>
          <p:nvPr>
            <p:ph idx="1"/>
          </p:nvPr>
        </p:nvSpPr>
        <p:spPr/>
        <p:txBody>
          <a:bodyPr/>
          <a:lstStyle/>
          <a:p>
            <a:r>
              <a:rPr lang="vi-VN"/>
              <a:t>Biểu thức luận lý có giá trị là true hoặc false, được tạo bởi toán tử luận lý và toán tử quan hệ.</a:t>
            </a:r>
          </a:p>
          <a:p>
            <a:pPr lvl="1">
              <a:tabLst>
                <a:tab pos="2860675" algn="l"/>
              </a:tabLst>
            </a:pPr>
            <a:r>
              <a:rPr lang="vi-VN"/>
              <a:t>Toán tử luận lý:	</a:t>
            </a:r>
            <a:r>
              <a:rPr lang="vi-VN">
                <a:latin typeface="Consolas" panose="020B0609020204030204" pitchFamily="49" charset="0"/>
              </a:rPr>
              <a:t>!</a:t>
            </a:r>
            <a:r>
              <a:rPr lang="en-US">
                <a:latin typeface="Consolas" panose="020B0609020204030204" pitchFamily="49" charset="0"/>
              </a:rPr>
              <a:t> </a:t>
            </a:r>
            <a:r>
              <a:rPr lang="vi-VN">
                <a:latin typeface="Consolas" panose="020B0609020204030204" pitchFamily="49" charset="0"/>
              </a:rPr>
              <a:t>&amp;&amp;</a:t>
            </a:r>
            <a:r>
              <a:rPr lang="en-US">
                <a:latin typeface="Consolas" panose="020B0609020204030204" pitchFamily="49" charset="0"/>
              </a:rPr>
              <a:t> </a:t>
            </a:r>
            <a:r>
              <a:rPr lang="vi-VN">
                <a:latin typeface="Consolas" panose="020B0609020204030204" pitchFamily="49" charset="0"/>
              </a:rPr>
              <a:t>||</a:t>
            </a:r>
          </a:p>
          <a:p>
            <a:pPr lvl="1">
              <a:tabLst>
                <a:tab pos="2860675" algn="l"/>
              </a:tabLst>
            </a:pPr>
            <a:r>
              <a:rPr lang="vi-VN"/>
              <a:t>Toán tử quan hệ:	</a:t>
            </a:r>
            <a:r>
              <a:rPr lang="vi-VN">
                <a:latin typeface="Consolas" panose="020B0609020204030204" pitchFamily="49" charset="0"/>
              </a:rPr>
              <a:t>&lt; &gt; &lt;=</a:t>
            </a:r>
            <a:r>
              <a:rPr lang="en-US">
                <a:latin typeface="Consolas" panose="020B0609020204030204" pitchFamily="49" charset="0"/>
              </a:rPr>
              <a:t> </a:t>
            </a:r>
            <a:r>
              <a:rPr lang="vi-VN">
                <a:latin typeface="Consolas" panose="020B0609020204030204" pitchFamily="49" charset="0"/>
              </a:rPr>
              <a:t>&gt;= == !=</a:t>
            </a:r>
          </a:p>
          <a:p>
            <a:pPr lvl="1">
              <a:tabLst>
                <a:tab pos="2860675" algn="l"/>
              </a:tabLst>
            </a:pPr>
            <a:r>
              <a:rPr lang="vi-VN"/>
              <a:t>Thứ tự ưu tiên: </a:t>
            </a:r>
            <a:r>
              <a:rPr lang="en-US"/>
              <a:t>	</a:t>
            </a:r>
            <a:r>
              <a:rPr lang="vi-VN">
                <a:latin typeface="Consolas" panose="020B0609020204030204" pitchFamily="49" charset="0"/>
              </a:rPr>
              <a:t>!</a:t>
            </a:r>
            <a:br>
              <a:rPr lang="en-US">
                <a:latin typeface="Consolas" panose="020B0609020204030204" pitchFamily="49" charset="0"/>
              </a:rPr>
            </a:br>
            <a:r>
              <a:rPr lang="en-US">
                <a:latin typeface="Consolas" panose="020B0609020204030204" pitchFamily="49" charset="0"/>
              </a:rPr>
              <a:t>	</a:t>
            </a:r>
            <a:r>
              <a:rPr lang="vi-VN">
                <a:latin typeface="Consolas" panose="020B0609020204030204" pitchFamily="49" charset="0"/>
              </a:rPr>
              <a:t>&lt; &lt;= &gt;= &gt;</a:t>
            </a:r>
            <a:br>
              <a:rPr lang="en-US">
                <a:latin typeface="Consolas" panose="020B0609020204030204" pitchFamily="49" charset="0"/>
              </a:rPr>
            </a:br>
            <a:r>
              <a:rPr lang="en-US">
                <a:latin typeface="Consolas" panose="020B0609020204030204" pitchFamily="49" charset="0"/>
              </a:rPr>
              <a:t>	</a:t>
            </a:r>
            <a:r>
              <a:rPr lang="vi-VN">
                <a:latin typeface="Consolas" panose="020B0609020204030204" pitchFamily="49" charset="0"/>
              </a:rPr>
              <a:t>== !=</a:t>
            </a:r>
            <a:br>
              <a:rPr lang="en-US">
                <a:latin typeface="Consolas" panose="020B0609020204030204" pitchFamily="49" charset="0"/>
              </a:rPr>
            </a:br>
            <a:r>
              <a:rPr lang="en-US">
                <a:latin typeface="Consolas" panose="020B0609020204030204" pitchFamily="49" charset="0"/>
              </a:rPr>
              <a:t>	</a:t>
            </a:r>
            <a:r>
              <a:rPr lang="vi-VN">
                <a:latin typeface="Consolas" panose="020B0609020204030204" pitchFamily="49" charset="0"/>
              </a:rPr>
              <a:t>&amp;&amp;</a:t>
            </a:r>
            <a:br>
              <a:rPr lang="en-US">
                <a:latin typeface="Consolas" panose="020B0609020204030204" pitchFamily="49" charset="0"/>
              </a:rPr>
            </a:br>
            <a:r>
              <a:rPr lang="en-US">
                <a:latin typeface="Consolas" panose="020B0609020204030204" pitchFamily="49" charset="0"/>
              </a:rPr>
              <a:t>	</a:t>
            </a:r>
            <a:r>
              <a:rPr lang="vi-VN">
                <a:latin typeface="Consolas" panose="020B0609020204030204" pitchFamily="49" charset="0"/>
              </a:rPr>
              <a:t>||</a:t>
            </a:r>
            <a:endParaRPr lang="en-US">
              <a:latin typeface="Consolas" panose="020B0609020204030204" pitchFamily="49" charset="0"/>
            </a:endParaRPr>
          </a:p>
          <a:p>
            <a:r>
              <a:rPr lang="vi-VN"/>
              <a:t>Biểu thức luận lý được sử dụng trong các câu lệnh rẻ nhánh </a:t>
            </a:r>
            <a:r>
              <a:rPr lang="vi-VN">
                <a:latin typeface="Consolas" panose="020B0609020204030204" pitchFamily="49" charset="0"/>
              </a:rPr>
              <a:t>if</a:t>
            </a:r>
            <a:r>
              <a:rPr lang="vi-VN"/>
              <a:t>, </a:t>
            </a:r>
            <a:r>
              <a:rPr lang="vi-VN">
                <a:latin typeface="Consolas" panose="020B0609020204030204" pitchFamily="49" charset="0"/>
              </a:rPr>
              <a:t>if...else</a:t>
            </a:r>
            <a:r>
              <a:rPr lang="vi-VN"/>
              <a:t> và câu lệnh lặp </a:t>
            </a:r>
            <a:r>
              <a:rPr lang="vi-VN">
                <a:latin typeface="Consolas" panose="020B0609020204030204" pitchFamily="49" charset="0"/>
              </a:rPr>
              <a:t>for</a:t>
            </a:r>
            <a:r>
              <a:rPr lang="vi-VN"/>
              <a:t>, </a:t>
            </a:r>
            <a:r>
              <a:rPr lang="vi-VN">
                <a:latin typeface="Consolas" panose="020B0609020204030204" pitchFamily="49" charset="0"/>
              </a:rPr>
              <a:t>while</a:t>
            </a:r>
            <a:r>
              <a:rPr lang="vi-VN"/>
              <a:t>, </a:t>
            </a:r>
            <a:r>
              <a:rPr lang="vi-VN">
                <a:latin typeface="Consolas" panose="020B0609020204030204" pitchFamily="49" charset="0"/>
              </a:rPr>
              <a:t>do...while</a:t>
            </a:r>
            <a:endParaRPr lang="en-US">
              <a:latin typeface="Consolas" panose="020B0609020204030204" pitchFamily="49" charset="0"/>
            </a:endParaRPr>
          </a:p>
        </p:txBody>
      </p:sp>
      <p:sp>
        <p:nvSpPr>
          <p:cNvPr id="4" name="Footer Placeholder 3">
            <a:extLst>
              <a:ext uri="{FF2B5EF4-FFF2-40B4-BE49-F238E27FC236}">
                <a16:creationId xmlns:a16="http://schemas.microsoft.com/office/drawing/2014/main" id="{ECFDDD69-A750-4C7A-97AD-5933A8FC7055}"/>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9169B774-8600-42AD-936D-32753DAB3D27}"/>
              </a:ext>
            </a:extLst>
          </p:cNvPr>
          <p:cNvSpPr>
            <a:spLocks noGrp="1"/>
          </p:cNvSpPr>
          <p:nvPr>
            <p:ph type="sldNum" sz="quarter" idx="12"/>
          </p:nvPr>
        </p:nvSpPr>
        <p:spPr/>
        <p:txBody>
          <a:bodyPr/>
          <a:lstStyle/>
          <a:p>
            <a:fld id="{45CA964B-B8B5-4404-ADB9-CBB2121E234F}" type="slidenum">
              <a:rPr lang="en-US" smtClean="0"/>
              <a:t>63</a:t>
            </a:fld>
            <a:endParaRPr lang="en-US"/>
          </a:p>
        </p:txBody>
      </p:sp>
    </p:spTree>
    <p:extLst>
      <p:ext uri="{BB962C8B-B14F-4D97-AF65-F5344CB8AC3E}">
        <p14:creationId xmlns:p14="http://schemas.microsoft.com/office/powerpoint/2010/main" val="37561667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1E2A1-ABDF-4B62-A5E9-C3C6EF59441C}"/>
              </a:ext>
            </a:extLst>
          </p:cNvPr>
          <p:cNvSpPr>
            <a:spLocks noGrp="1"/>
          </p:cNvSpPr>
          <p:nvPr>
            <p:ph type="title"/>
          </p:nvPr>
        </p:nvSpPr>
        <p:spPr/>
        <p:txBody>
          <a:bodyPr/>
          <a:lstStyle/>
          <a:p>
            <a:r>
              <a:rPr lang="en-US"/>
              <a:t>Toán tử quan hệ</a:t>
            </a:r>
          </a:p>
        </p:txBody>
      </p:sp>
      <p:sp>
        <p:nvSpPr>
          <p:cNvPr id="3" name="Content Placeholder 2">
            <a:extLst>
              <a:ext uri="{FF2B5EF4-FFF2-40B4-BE49-F238E27FC236}">
                <a16:creationId xmlns:a16="http://schemas.microsoft.com/office/drawing/2014/main" id="{C12A1094-92C4-4DB6-AEDB-98FFD04D79EC}"/>
              </a:ext>
            </a:extLst>
          </p:cNvPr>
          <p:cNvSpPr>
            <a:spLocks noGrp="1"/>
          </p:cNvSpPr>
          <p:nvPr>
            <p:ph idx="1"/>
          </p:nvPr>
        </p:nvSpPr>
        <p:spPr/>
        <p:txBody>
          <a:bodyPr>
            <a:normAutofit/>
          </a:bodyPr>
          <a:lstStyle/>
          <a:p>
            <a:r>
              <a:rPr lang="vi-VN"/>
              <a:t>Toán tử quan hệ dùng để so sánh các giá trị trong chương trình, cho kết kết quả là true hoặc false.</a:t>
            </a:r>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endParaRPr lang="en-US"/>
          </a:p>
          <a:p>
            <a:pPr lvl="1"/>
            <a:endParaRPr lang="en-US"/>
          </a:p>
          <a:p>
            <a:r>
              <a:rPr lang="en-US"/>
              <a:t>Các giá trị so sánh phải có cùng kiểu dữ liệu.</a:t>
            </a:r>
          </a:p>
          <a:p>
            <a:pPr lvl="1"/>
            <a:r>
              <a:rPr lang="en-US"/>
              <a:t>8 &lt; '5': không thể so sánh.</a:t>
            </a:r>
          </a:p>
        </p:txBody>
      </p:sp>
      <p:sp>
        <p:nvSpPr>
          <p:cNvPr id="4" name="Footer Placeholder 3">
            <a:extLst>
              <a:ext uri="{FF2B5EF4-FFF2-40B4-BE49-F238E27FC236}">
                <a16:creationId xmlns:a16="http://schemas.microsoft.com/office/drawing/2014/main" id="{CE3AA44E-71EB-419F-A11A-D82D196A2F7B}"/>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57964F4F-9A6F-4397-A3ED-F6BCE8439F58}"/>
              </a:ext>
            </a:extLst>
          </p:cNvPr>
          <p:cNvSpPr>
            <a:spLocks noGrp="1"/>
          </p:cNvSpPr>
          <p:nvPr>
            <p:ph type="sldNum" sz="quarter" idx="12"/>
          </p:nvPr>
        </p:nvSpPr>
        <p:spPr/>
        <p:txBody>
          <a:bodyPr/>
          <a:lstStyle/>
          <a:p>
            <a:fld id="{45CA964B-B8B5-4404-ADB9-CBB2121E234F}" type="slidenum">
              <a:rPr lang="en-US" smtClean="0"/>
              <a:t>64</a:t>
            </a:fld>
            <a:endParaRPr lang="en-US"/>
          </a:p>
        </p:txBody>
      </p:sp>
      <p:graphicFrame>
        <p:nvGraphicFramePr>
          <p:cNvPr id="6" name="Table 5">
            <a:extLst>
              <a:ext uri="{FF2B5EF4-FFF2-40B4-BE49-F238E27FC236}">
                <a16:creationId xmlns:a16="http://schemas.microsoft.com/office/drawing/2014/main" id="{34C4DE9C-07C5-4D6F-8D1A-CC4891FEFA17}"/>
              </a:ext>
            </a:extLst>
          </p:cNvPr>
          <p:cNvGraphicFramePr>
            <a:graphicFrameLocks noGrp="1"/>
          </p:cNvGraphicFramePr>
          <p:nvPr>
            <p:extLst>
              <p:ext uri="{D42A27DB-BD31-4B8C-83A1-F6EECF244321}">
                <p14:modId xmlns:p14="http://schemas.microsoft.com/office/powerpoint/2010/main" val="2277821715"/>
              </p:ext>
            </p:extLst>
          </p:nvPr>
        </p:nvGraphicFramePr>
        <p:xfrm>
          <a:off x="583370" y="1986173"/>
          <a:ext cx="8029688" cy="3352740"/>
        </p:xfrm>
        <a:graphic>
          <a:graphicData uri="http://schemas.openxmlformats.org/drawingml/2006/table">
            <a:tbl>
              <a:tblPr firstRow="1">
                <a:tableStyleId>{2D5ABB26-0587-4C30-8999-92F81FD0307C}</a:tableStyleId>
              </a:tblPr>
              <a:tblGrid>
                <a:gridCol w="2720592">
                  <a:extLst>
                    <a:ext uri="{9D8B030D-6E8A-4147-A177-3AD203B41FA5}">
                      <a16:colId xmlns:a16="http://schemas.microsoft.com/office/drawing/2014/main" val="3350474384"/>
                    </a:ext>
                  </a:extLst>
                </a:gridCol>
                <a:gridCol w="1524682">
                  <a:extLst>
                    <a:ext uri="{9D8B030D-6E8A-4147-A177-3AD203B41FA5}">
                      <a16:colId xmlns:a16="http://schemas.microsoft.com/office/drawing/2014/main" val="4098950185"/>
                    </a:ext>
                  </a:extLst>
                </a:gridCol>
                <a:gridCol w="3784414">
                  <a:extLst>
                    <a:ext uri="{9D8B030D-6E8A-4147-A177-3AD203B41FA5}">
                      <a16:colId xmlns:a16="http://schemas.microsoft.com/office/drawing/2014/main" val="735639984"/>
                    </a:ext>
                  </a:extLst>
                </a:gridCol>
              </a:tblGrid>
              <a:tr h="434376">
                <a:tc>
                  <a:txBody>
                    <a:bodyPr/>
                    <a:lstStyle/>
                    <a:p>
                      <a:pPr marL="44450" marR="0">
                        <a:lnSpc>
                          <a:spcPct val="90000"/>
                        </a:lnSpc>
                        <a:spcBef>
                          <a:spcPts val="0"/>
                        </a:spcBef>
                        <a:spcAft>
                          <a:spcPts val="0"/>
                        </a:spcAft>
                      </a:pPr>
                      <a:r>
                        <a:rPr lang="en-US" sz="2400">
                          <a:effectLst/>
                        </a:rPr>
                        <a:t>Toán tử quan hệ</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90000"/>
                        </a:lnSpc>
                        <a:spcBef>
                          <a:spcPts val="0"/>
                        </a:spcBef>
                        <a:spcAft>
                          <a:spcPts val="0"/>
                        </a:spcAft>
                      </a:pPr>
                      <a:r>
                        <a:rPr lang="en-US" sz="2400">
                          <a:effectLst/>
                        </a:rPr>
                        <a:t>Ví dụ</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90000"/>
                        </a:lnSpc>
                        <a:spcBef>
                          <a:spcPts val="0"/>
                        </a:spcBef>
                        <a:spcAft>
                          <a:spcPts val="0"/>
                        </a:spcAft>
                      </a:pPr>
                      <a:r>
                        <a:rPr lang="en-US" sz="2400">
                          <a:effectLst/>
                        </a:rPr>
                        <a:t>Ý nghĩa</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8548073"/>
                  </a:ext>
                </a:extLst>
              </a:tr>
              <a:tr h="486394">
                <a:tc>
                  <a:txBody>
                    <a:bodyPr/>
                    <a:lstStyle/>
                    <a:p>
                      <a:pPr marL="44450" marR="0">
                        <a:lnSpc>
                          <a:spcPct val="90000"/>
                        </a:lnSpc>
                        <a:spcBef>
                          <a:spcPts val="0"/>
                        </a:spcBef>
                        <a:spcAft>
                          <a:spcPts val="0"/>
                        </a:spcAft>
                      </a:pPr>
                      <a:r>
                        <a:rPr lang="en-US" sz="2400">
                          <a:effectLst/>
                        </a:rPr>
                        <a:t>&gt;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nSpc>
                          <a:spcPct val="90000"/>
                        </a:lnSpc>
                        <a:spcBef>
                          <a:spcPts val="0"/>
                        </a:spcBef>
                        <a:spcAft>
                          <a:spcPts val="0"/>
                        </a:spcAft>
                      </a:pPr>
                      <a:r>
                        <a:rPr lang="en-US" sz="2400">
                          <a:effectLst/>
                        </a:rPr>
                        <a:t>x &gt;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T w="12700" cap="flat" cmpd="sng" algn="ctr">
                      <a:solidFill>
                        <a:schemeClr val="tx1"/>
                      </a:solidFill>
                      <a:prstDash val="solid"/>
                      <a:round/>
                      <a:headEnd type="none" w="med" len="med"/>
                      <a:tailEnd type="none" w="med" len="med"/>
                    </a:lnT>
                  </a:tcPr>
                </a:tc>
                <a:tc>
                  <a:txBody>
                    <a:bodyPr/>
                    <a:lstStyle/>
                    <a:p>
                      <a:pPr marL="0" marR="0">
                        <a:lnSpc>
                          <a:spcPct val="90000"/>
                        </a:lnSpc>
                        <a:spcBef>
                          <a:spcPts val="0"/>
                        </a:spcBef>
                        <a:spcAft>
                          <a:spcPts val="0"/>
                        </a:spcAft>
                      </a:pPr>
                      <a:r>
                        <a:rPr lang="en-US" sz="2400">
                          <a:effectLst/>
                        </a:rPr>
                        <a:t>x lớn hơn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58304758"/>
                  </a:ext>
                </a:extLst>
              </a:tr>
              <a:tr h="486394">
                <a:tc>
                  <a:txBody>
                    <a:bodyPr/>
                    <a:lstStyle/>
                    <a:p>
                      <a:pPr marL="44450" marR="0">
                        <a:lnSpc>
                          <a:spcPct val="90000"/>
                        </a:lnSpc>
                        <a:spcBef>
                          <a:spcPts val="0"/>
                        </a:spcBef>
                        <a:spcAft>
                          <a:spcPts val="0"/>
                        </a:spcAft>
                      </a:pPr>
                      <a:r>
                        <a:rPr lang="en-US" sz="2400">
                          <a:effectLst/>
                        </a:rPr>
                        <a:t>&lt;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tcPr>
                </a:tc>
                <a:tc>
                  <a:txBody>
                    <a:bodyPr/>
                    <a:lstStyle/>
                    <a:p>
                      <a:pPr marL="0" marR="0">
                        <a:lnSpc>
                          <a:spcPct val="90000"/>
                        </a:lnSpc>
                        <a:spcBef>
                          <a:spcPts val="0"/>
                        </a:spcBef>
                        <a:spcAft>
                          <a:spcPts val="0"/>
                        </a:spcAft>
                      </a:pPr>
                      <a:r>
                        <a:rPr lang="en-US" sz="2400">
                          <a:effectLst/>
                        </a:rPr>
                        <a:t>x &lt;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tc>
                <a:tc>
                  <a:txBody>
                    <a:bodyPr/>
                    <a:lstStyle/>
                    <a:p>
                      <a:pPr marL="0" marR="0">
                        <a:lnSpc>
                          <a:spcPct val="90000"/>
                        </a:lnSpc>
                        <a:spcBef>
                          <a:spcPts val="0"/>
                        </a:spcBef>
                        <a:spcAft>
                          <a:spcPts val="0"/>
                        </a:spcAft>
                      </a:pPr>
                      <a:r>
                        <a:rPr lang="en-US" sz="2400">
                          <a:effectLst/>
                        </a:rPr>
                        <a:t>x nhỏ hơn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57233729"/>
                  </a:ext>
                </a:extLst>
              </a:tr>
              <a:tr h="486394">
                <a:tc>
                  <a:txBody>
                    <a:bodyPr/>
                    <a:lstStyle/>
                    <a:p>
                      <a:pPr marL="44450" marR="0">
                        <a:lnSpc>
                          <a:spcPct val="90000"/>
                        </a:lnSpc>
                        <a:spcBef>
                          <a:spcPts val="0"/>
                        </a:spcBef>
                        <a:spcAft>
                          <a:spcPts val="0"/>
                        </a:spcAft>
                      </a:pPr>
                      <a:r>
                        <a:rPr lang="en-US" sz="2400">
                          <a:effectLst/>
                        </a:rPr>
                        <a:t>&gt;=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tcPr>
                </a:tc>
                <a:tc>
                  <a:txBody>
                    <a:bodyPr/>
                    <a:lstStyle/>
                    <a:p>
                      <a:pPr marL="0" marR="0">
                        <a:lnSpc>
                          <a:spcPct val="90000"/>
                        </a:lnSpc>
                        <a:spcBef>
                          <a:spcPts val="0"/>
                        </a:spcBef>
                        <a:spcAft>
                          <a:spcPts val="0"/>
                        </a:spcAft>
                      </a:pPr>
                      <a:r>
                        <a:rPr lang="en-US" sz="2400">
                          <a:effectLst/>
                        </a:rPr>
                        <a:t>x &gt;=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tc>
                <a:tc>
                  <a:txBody>
                    <a:bodyPr/>
                    <a:lstStyle/>
                    <a:p>
                      <a:pPr marL="0" marR="0">
                        <a:lnSpc>
                          <a:spcPct val="90000"/>
                        </a:lnSpc>
                        <a:spcBef>
                          <a:spcPts val="0"/>
                        </a:spcBef>
                        <a:spcAft>
                          <a:spcPts val="0"/>
                        </a:spcAft>
                      </a:pPr>
                      <a:r>
                        <a:rPr lang="en-US" sz="2400">
                          <a:effectLst/>
                        </a:rPr>
                        <a:t>x lớn hơn hoặc bằng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02838079"/>
                  </a:ext>
                </a:extLst>
              </a:tr>
              <a:tr h="486394">
                <a:tc>
                  <a:txBody>
                    <a:bodyPr/>
                    <a:lstStyle/>
                    <a:p>
                      <a:pPr marL="44450" marR="0">
                        <a:lnSpc>
                          <a:spcPct val="90000"/>
                        </a:lnSpc>
                        <a:spcBef>
                          <a:spcPts val="0"/>
                        </a:spcBef>
                        <a:spcAft>
                          <a:spcPts val="0"/>
                        </a:spcAft>
                      </a:pPr>
                      <a:r>
                        <a:rPr lang="en-US" sz="2400">
                          <a:effectLst/>
                        </a:rPr>
                        <a:t>&lt;=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tcPr>
                </a:tc>
                <a:tc>
                  <a:txBody>
                    <a:bodyPr/>
                    <a:lstStyle/>
                    <a:p>
                      <a:pPr marL="0" marR="0">
                        <a:lnSpc>
                          <a:spcPct val="90000"/>
                        </a:lnSpc>
                        <a:spcBef>
                          <a:spcPts val="0"/>
                        </a:spcBef>
                        <a:spcAft>
                          <a:spcPts val="0"/>
                        </a:spcAft>
                      </a:pPr>
                      <a:r>
                        <a:rPr lang="en-US" sz="2400">
                          <a:effectLst/>
                        </a:rPr>
                        <a:t>x &lt;=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tc>
                <a:tc>
                  <a:txBody>
                    <a:bodyPr/>
                    <a:lstStyle/>
                    <a:p>
                      <a:pPr marL="0" marR="0">
                        <a:lnSpc>
                          <a:spcPct val="90000"/>
                        </a:lnSpc>
                        <a:spcBef>
                          <a:spcPts val="0"/>
                        </a:spcBef>
                        <a:spcAft>
                          <a:spcPts val="0"/>
                        </a:spcAft>
                      </a:pPr>
                      <a:r>
                        <a:rPr lang="en-US" sz="2400">
                          <a:effectLst/>
                        </a:rPr>
                        <a:t>x nhỏ hơn hoặc bằng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06560440"/>
                  </a:ext>
                </a:extLst>
              </a:tr>
              <a:tr h="486394">
                <a:tc>
                  <a:txBody>
                    <a:bodyPr/>
                    <a:lstStyle/>
                    <a:p>
                      <a:pPr marL="44450" marR="0">
                        <a:lnSpc>
                          <a:spcPct val="90000"/>
                        </a:lnSpc>
                        <a:spcBef>
                          <a:spcPts val="0"/>
                        </a:spcBef>
                        <a:spcAft>
                          <a:spcPts val="0"/>
                        </a:spcAft>
                      </a:pPr>
                      <a:r>
                        <a:rPr lang="en-US" sz="2400">
                          <a:effectLst/>
                        </a:rPr>
                        <a: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tcPr>
                </a:tc>
                <a:tc>
                  <a:txBody>
                    <a:bodyPr/>
                    <a:lstStyle/>
                    <a:p>
                      <a:pPr marL="0" marR="0">
                        <a:lnSpc>
                          <a:spcPct val="90000"/>
                        </a:lnSpc>
                        <a:spcBef>
                          <a:spcPts val="0"/>
                        </a:spcBef>
                        <a:spcAft>
                          <a:spcPts val="0"/>
                        </a:spcAft>
                      </a:pPr>
                      <a:r>
                        <a:rPr lang="en-US" sz="2400">
                          <a:effectLst/>
                        </a:rPr>
                        <a:t>x ==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tc>
                <a:tc>
                  <a:txBody>
                    <a:bodyPr/>
                    <a:lstStyle/>
                    <a:p>
                      <a:pPr marL="0" marR="0">
                        <a:lnSpc>
                          <a:spcPct val="90000"/>
                        </a:lnSpc>
                        <a:spcBef>
                          <a:spcPts val="0"/>
                        </a:spcBef>
                        <a:spcAft>
                          <a:spcPts val="0"/>
                        </a:spcAft>
                      </a:pPr>
                      <a:r>
                        <a:rPr lang="en-US" sz="2400">
                          <a:effectLst/>
                        </a:rPr>
                        <a:t>x bằng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68861775"/>
                  </a:ext>
                </a:extLst>
              </a:tr>
              <a:tr h="486394">
                <a:tc>
                  <a:txBody>
                    <a:bodyPr/>
                    <a:lstStyle/>
                    <a:p>
                      <a:pPr marL="44450" marR="0">
                        <a:lnSpc>
                          <a:spcPct val="90000"/>
                        </a:lnSpc>
                        <a:spcBef>
                          <a:spcPts val="0"/>
                        </a:spcBef>
                        <a:spcAft>
                          <a:spcPts val="0"/>
                        </a:spcAft>
                      </a:pPr>
                      <a:r>
                        <a:rPr lang="en-US" sz="2400">
                          <a:effectLst/>
                        </a:rPr>
                        <a: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nSpc>
                          <a:spcPct val="90000"/>
                        </a:lnSpc>
                        <a:spcBef>
                          <a:spcPts val="0"/>
                        </a:spcBef>
                        <a:spcAft>
                          <a:spcPts val="0"/>
                        </a:spcAft>
                      </a:pPr>
                      <a:r>
                        <a:rPr lang="en-US" sz="2400">
                          <a:effectLst/>
                        </a:rPr>
                        <a:t>x !=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B w="12700" cap="flat" cmpd="sng" algn="ctr">
                      <a:solidFill>
                        <a:schemeClr val="tx1"/>
                      </a:solidFill>
                      <a:prstDash val="solid"/>
                      <a:round/>
                      <a:headEnd type="none" w="med" len="med"/>
                      <a:tailEnd type="none" w="med" len="med"/>
                    </a:lnB>
                  </a:tcPr>
                </a:tc>
                <a:tc>
                  <a:txBody>
                    <a:bodyPr/>
                    <a:lstStyle/>
                    <a:p>
                      <a:pPr marL="0" marR="0">
                        <a:lnSpc>
                          <a:spcPct val="90000"/>
                        </a:lnSpc>
                        <a:spcBef>
                          <a:spcPts val="0"/>
                        </a:spcBef>
                        <a:spcAft>
                          <a:spcPts val="0"/>
                        </a:spcAft>
                      </a:pPr>
                      <a:r>
                        <a:rPr lang="en-US" sz="2400">
                          <a:effectLst/>
                        </a:rPr>
                        <a:t>x khác y</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2922734"/>
                  </a:ext>
                </a:extLst>
              </a:tr>
            </a:tbl>
          </a:graphicData>
        </a:graphic>
      </p:graphicFrame>
    </p:spTree>
    <p:extLst>
      <p:ext uri="{BB962C8B-B14F-4D97-AF65-F5344CB8AC3E}">
        <p14:creationId xmlns:p14="http://schemas.microsoft.com/office/powerpoint/2010/main" val="5961763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7E15DBF-D38A-4A9A-8CE4-9B624F610AD1}"/>
              </a:ext>
            </a:extLst>
          </p:cNvPr>
          <p:cNvSpPr>
            <a:spLocks noGrp="1"/>
          </p:cNvSpPr>
          <p:nvPr>
            <p:ph idx="1"/>
          </p:nvPr>
        </p:nvSpPr>
        <p:spPr/>
        <p:txBody>
          <a:bodyPr/>
          <a:lstStyle/>
          <a:p>
            <a:pPr>
              <a:lnSpc>
                <a:spcPct val="100000"/>
              </a:lnSpc>
            </a:pPr>
            <a:r>
              <a:rPr lang="en-US"/>
              <a:t>So sánh ký tự: dựa vào mã ASCII.</a:t>
            </a:r>
          </a:p>
          <a:p>
            <a:pPr lvl="4">
              <a:lnSpc>
                <a:spcPct val="100000"/>
              </a:lnSpc>
              <a:tabLst>
                <a:tab pos="3436938" algn="l"/>
              </a:tabLst>
            </a:pPr>
            <a:r>
              <a:rPr lang="en-US"/>
              <a:t>' ' &lt; 'a'	true</a:t>
            </a:r>
          </a:p>
          <a:p>
            <a:pPr lvl="4">
              <a:lnSpc>
                <a:spcPct val="100000"/>
              </a:lnSpc>
              <a:tabLst>
                <a:tab pos="3436938" algn="l"/>
              </a:tabLst>
            </a:pPr>
            <a:r>
              <a:rPr lang="en-US"/>
              <a:t>'R' &gt; 'T'	false</a:t>
            </a:r>
          </a:p>
          <a:p>
            <a:pPr lvl="4">
              <a:lnSpc>
                <a:spcPct val="100000"/>
              </a:lnSpc>
              <a:tabLst>
                <a:tab pos="3436938" algn="l"/>
              </a:tabLst>
            </a:pPr>
            <a:r>
              <a:rPr lang="en-US"/>
              <a:t>'+' &lt; '*'	false </a:t>
            </a:r>
          </a:p>
          <a:p>
            <a:pPr lvl="4">
              <a:lnSpc>
                <a:spcPct val="100000"/>
              </a:lnSpc>
              <a:tabLst>
                <a:tab pos="3436938" algn="l"/>
              </a:tabLst>
            </a:pPr>
            <a:r>
              <a:rPr lang="en-US"/>
              <a:t>'A' &lt;= 'a'	true</a:t>
            </a:r>
          </a:p>
          <a:p>
            <a:pPr lvl="4">
              <a:lnSpc>
                <a:spcPct val="100000"/>
              </a:lnSpc>
              <a:tabLst>
                <a:tab pos="3436938" algn="l"/>
              </a:tabLst>
            </a:pPr>
            <a:endParaRPr lang="en-US"/>
          </a:p>
          <a:p>
            <a:pPr>
              <a:lnSpc>
                <a:spcPct val="100000"/>
              </a:lnSpc>
            </a:pPr>
            <a:r>
              <a:rPr lang="en-US"/>
              <a:t>So sánh chuỗi: theo thứ tự từ điển. </a:t>
            </a:r>
          </a:p>
          <a:p>
            <a:pPr lvl="4">
              <a:lnSpc>
                <a:spcPct val="100000"/>
              </a:lnSpc>
            </a:pPr>
            <a:r>
              <a:rPr lang="en-US"/>
              <a:t>string s1 = "Hello"; </a:t>
            </a:r>
          </a:p>
          <a:p>
            <a:pPr lvl="4">
              <a:lnSpc>
                <a:spcPct val="100000"/>
              </a:lnSpc>
            </a:pPr>
            <a:r>
              <a:rPr lang="en-US"/>
              <a:t>string s2 = "Hi"; </a:t>
            </a:r>
          </a:p>
          <a:p>
            <a:pPr lvl="4">
              <a:lnSpc>
                <a:spcPct val="100000"/>
              </a:lnSpc>
            </a:pPr>
            <a:r>
              <a:rPr lang="en-US"/>
              <a:t>string s3 = "Air"; </a:t>
            </a:r>
          </a:p>
          <a:p>
            <a:pPr lvl="4">
              <a:lnSpc>
                <a:spcPct val="100000"/>
              </a:lnSpc>
            </a:pPr>
            <a:r>
              <a:rPr lang="en-US"/>
              <a:t>string s4 = "Bill";</a:t>
            </a:r>
          </a:p>
          <a:p>
            <a:pPr lvl="4">
              <a:lnSpc>
                <a:spcPct val="100000"/>
              </a:lnSpc>
              <a:tabLst>
                <a:tab pos="3436938" algn="l"/>
              </a:tabLst>
            </a:pPr>
            <a:r>
              <a:rPr lang="en-US"/>
              <a:t>s1 &lt; s2	true </a:t>
            </a:r>
          </a:p>
          <a:p>
            <a:pPr lvl="4">
              <a:lnSpc>
                <a:spcPct val="100000"/>
              </a:lnSpc>
              <a:tabLst>
                <a:tab pos="3436938" algn="l"/>
              </a:tabLst>
            </a:pPr>
            <a:r>
              <a:rPr lang="en-US"/>
              <a:t>s3 &lt; "An"	true </a:t>
            </a:r>
          </a:p>
          <a:p>
            <a:pPr lvl="4">
              <a:lnSpc>
                <a:spcPct val="100000"/>
              </a:lnSpc>
              <a:tabLst>
                <a:tab pos="3436938" algn="l"/>
              </a:tabLst>
            </a:pPr>
            <a:r>
              <a:rPr lang="en-US"/>
              <a:t>s1 == "hello"	false</a:t>
            </a:r>
          </a:p>
          <a:p>
            <a:pPr lvl="4">
              <a:lnSpc>
                <a:spcPct val="100000"/>
              </a:lnSpc>
              <a:tabLst>
                <a:tab pos="3436938" algn="l"/>
              </a:tabLst>
            </a:pPr>
            <a:r>
              <a:rPr lang="en-US"/>
              <a:t>s3 &lt;= s4	true</a:t>
            </a:r>
          </a:p>
          <a:p>
            <a:pPr>
              <a:lnSpc>
                <a:spcPct val="100000"/>
              </a:lnSpc>
            </a:pPr>
            <a:endParaRPr lang="en-US"/>
          </a:p>
        </p:txBody>
      </p:sp>
      <p:sp>
        <p:nvSpPr>
          <p:cNvPr id="4" name="Footer Placeholder 3">
            <a:extLst>
              <a:ext uri="{FF2B5EF4-FFF2-40B4-BE49-F238E27FC236}">
                <a16:creationId xmlns:a16="http://schemas.microsoft.com/office/drawing/2014/main" id="{722E8B9E-8386-4FE6-8AA9-89770054F831}"/>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F78A15B4-7CD4-4D95-A786-5DB6BF760A29}"/>
              </a:ext>
            </a:extLst>
          </p:cNvPr>
          <p:cNvSpPr>
            <a:spLocks noGrp="1"/>
          </p:cNvSpPr>
          <p:nvPr>
            <p:ph type="sldNum" sz="quarter" idx="12"/>
          </p:nvPr>
        </p:nvSpPr>
        <p:spPr/>
        <p:txBody>
          <a:bodyPr/>
          <a:lstStyle/>
          <a:p>
            <a:fld id="{45CA964B-B8B5-4404-ADB9-CBB2121E234F}" type="slidenum">
              <a:rPr lang="en-US" smtClean="0"/>
              <a:t>65</a:t>
            </a:fld>
            <a:endParaRPr lang="en-US"/>
          </a:p>
        </p:txBody>
      </p:sp>
    </p:spTree>
    <p:extLst>
      <p:ext uri="{BB962C8B-B14F-4D97-AF65-F5344CB8AC3E}">
        <p14:creationId xmlns:p14="http://schemas.microsoft.com/office/powerpoint/2010/main" val="3837070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3CD99-0800-4F77-A3A5-955884ADA864}"/>
              </a:ext>
            </a:extLst>
          </p:cNvPr>
          <p:cNvSpPr>
            <a:spLocks noGrp="1"/>
          </p:cNvSpPr>
          <p:nvPr>
            <p:ph type="title"/>
          </p:nvPr>
        </p:nvSpPr>
        <p:spPr/>
        <p:txBody>
          <a:bodyPr/>
          <a:lstStyle/>
          <a:p>
            <a:r>
              <a:rPr lang="en-US"/>
              <a:t>Toán tử luận lý</a:t>
            </a:r>
          </a:p>
        </p:txBody>
      </p:sp>
      <p:sp>
        <p:nvSpPr>
          <p:cNvPr id="3" name="Content Placeholder 2">
            <a:extLst>
              <a:ext uri="{FF2B5EF4-FFF2-40B4-BE49-F238E27FC236}">
                <a16:creationId xmlns:a16="http://schemas.microsoft.com/office/drawing/2014/main" id="{77FA3F49-2ADB-4826-A728-DF840E987423}"/>
              </a:ext>
            </a:extLst>
          </p:cNvPr>
          <p:cNvSpPr>
            <a:spLocks noGrp="1"/>
          </p:cNvSpPr>
          <p:nvPr>
            <p:ph idx="1"/>
          </p:nvPr>
        </p:nvSpPr>
        <p:spPr/>
        <p:txBody>
          <a:bodyPr/>
          <a:lstStyle/>
          <a:p>
            <a:r>
              <a:rPr lang="en-US"/>
              <a:t>Toán tử luận lý dùng để kết hợp các biểu thức luận lý.</a:t>
            </a:r>
          </a:p>
          <a:p>
            <a:endParaRPr lang="en-US"/>
          </a:p>
          <a:p>
            <a:endParaRPr lang="en-US"/>
          </a:p>
          <a:p>
            <a:endParaRPr lang="en-US"/>
          </a:p>
          <a:p>
            <a:endParaRPr lang="en-US"/>
          </a:p>
          <a:p>
            <a:endParaRPr lang="en-US"/>
          </a:p>
          <a:p>
            <a:r>
              <a:rPr lang="en-US"/>
              <a:t>Ví dụ:</a:t>
            </a:r>
          </a:p>
          <a:p>
            <a:pPr lvl="4"/>
            <a:r>
              <a:rPr lang="en-US"/>
              <a:t>(gioitinh == NU) &amp;&amp; (tuoi &gt;= 60)</a:t>
            </a:r>
          </a:p>
          <a:p>
            <a:pPr lvl="4"/>
            <a:r>
              <a:rPr lang="en-US"/>
              <a:t>(diemGK &gt;= 9 ) || (diemCK &gt;= 9)</a:t>
            </a:r>
          </a:p>
          <a:p>
            <a:pPr lvl="4"/>
            <a:r>
              <a:rPr lang="en-US"/>
              <a:t>!(xeploai == ’D’)</a:t>
            </a:r>
          </a:p>
          <a:p>
            <a:endParaRPr lang="en-US"/>
          </a:p>
        </p:txBody>
      </p:sp>
      <p:sp>
        <p:nvSpPr>
          <p:cNvPr id="4" name="Footer Placeholder 3">
            <a:extLst>
              <a:ext uri="{FF2B5EF4-FFF2-40B4-BE49-F238E27FC236}">
                <a16:creationId xmlns:a16="http://schemas.microsoft.com/office/drawing/2014/main" id="{7A7387CE-77C2-42A5-A1EF-239C4FF03640}"/>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1FDC9E96-FB6C-47C1-88CE-6D4C7C0D8C93}"/>
              </a:ext>
            </a:extLst>
          </p:cNvPr>
          <p:cNvSpPr>
            <a:spLocks noGrp="1"/>
          </p:cNvSpPr>
          <p:nvPr>
            <p:ph type="sldNum" sz="quarter" idx="12"/>
          </p:nvPr>
        </p:nvSpPr>
        <p:spPr/>
        <p:txBody>
          <a:bodyPr/>
          <a:lstStyle/>
          <a:p>
            <a:fld id="{45CA964B-B8B5-4404-ADB9-CBB2121E234F}" type="slidenum">
              <a:rPr lang="en-US" smtClean="0"/>
              <a:t>66</a:t>
            </a:fld>
            <a:endParaRPr lang="en-US"/>
          </a:p>
        </p:txBody>
      </p:sp>
      <p:graphicFrame>
        <p:nvGraphicFramePr>
          <p:cNvPr id="6" name="Table 5">
            <a:extLst>
              <a:ext uri="{FF2B5EF4-FFF2-40B4-BE49-F238E27FC236}">
                <a16:creationId xmlns:a16="http://schemas.microsoft.com/office/drawing/2014/main" id="{2DBCF5F3-2B2F-4C63-92E3-E5FAA790F75C}"/>
              </a:ext>
            </a:extLst>
          </p:cNvPr>
          <p:cNvGraphicFramePr>
            <a:graphicFrameLocks noGrp="1"/>
          </p:cNvGraphicFramePr>
          <p:nvPr>
            <p:extLst>
              <p:ext uri="{D42A27DB-BD31-4B8C-83A1-F6EECF244321}">
                <p14:modId xmlns:p14="http://schemas.microsoft.com/office/powerpoint/2010/main" val="3794261281"/>
              </p:ext>
            </p:extLst>
          </p:nvPr>
        </p:nvGraphicFramePr>
        <p:xfrm>
          <a:off x="842757" y="1771148"/>
          <a:ext cx="4186444" cy="1591484"/>
        </p:xfrm>
        <a:graphic>
          <a:graphicData uri="http://schemas.openxmlformats.org/drawingml/2006/table">
            <a:tbl>
              <a:tblPr firstRow="1">
                <a:tableStyleId>{2D5ABB26-0587-4C30-8999-92F81FD0307C}</a:tableStyleId>
              </a:tblPr>
              <a:tblGrid>
                <a:gridCol w="2505127">
                  <a:extLst>
                    <a:ext uri="{9D8B030D-6E8A-4147-A177-3AD203B41FA5}">
                      <a16:colId xmlns:a16="http://schemas.microsoft.com/office/drawing/2014/main" val="2162234103"/>
                    </a:ext>
                  </a:extLst>
                </a:gridCol>
                <a:gridCol w="1681317">
                  <a:extLst>
                    <a:ext uri="{9D8B030D-6E8A-4147-A177-3AD203B41FA5}">
                      <a16:colId xmlns:a16="http://schemas.microsoft.com/office/drawing/2014/main" val="2331817949"/>
                    </a:ext>
                  </a:extLst>
                </a:gridCol>
              </a:tblGrid>
              <a:tr h="397871">
                <a:tc>
                  <a:txBody>
                    <a:bodyPr/>
                    <a:lstStyle/>
                    <a:p>
                      <a:pPr marL="44450" marR="0">
                        <a:lnSpc>
                          <a:spcPct val="107000"/>
                        </a:lnSpc>
                        <a:spcBef>
                          <a:spcPts val="0"/>
                        </a:spcBef>
                        <a:spcAft>
                          <a:spcPts val="0"/>
                        </a:spcAft>
                      </a:pPr>
                      <a:r>
                        <a:rPr lang="en-US" sz="2400">
                          <a:effectLst/>
                        </a:rPr>
                        <a:t>Toán tử</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Mô tả</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511287"/>
                  </a:ext>
                </a:extLst>
              </a:tr>
              <a:tr h="397871">
                <a:tc>
                  <a:txBody>
                    <a:bodyPr/>
                    <a:lstStyle/>
                    <a:p>
                      <a:pPr marL="44450" marR="0">
                        <a:lnSpc>
                          <a:spcPct val="107000"/>
                        </a:lnSpc>
                        <a:spcBef>
                          <a:spcPts val="0"/>
                        </a:spcBef>
                        <a:spcAft>
                          <a:spcPts val="0"/>
                        </a:spcAft>
                      </a:pPr>
                      <a:r>
                        <a:rPr lang="en-US" sz="2400">
                          <a:effectLst/>
                        </a:rPr>
                        <a: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2400">
                          <a:effectLst/>
                        </a:rPr>
                        <a:t>not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75253918"/>
                  </a:ext>
                </a:extLst>
              </a:tr>
              <a:tr h="397871">
                <a:tc>
                  <a:txBody>
                    <a:bodyPr/>
                    <a:lstStyle/>
                    <a:p>
                      <a:pPr marL="44450" marR="0">
                        <a:lnSpc>
                          <a:spcPct val="107000"/>
                        </a:lnSpc>
                        <a:spcBef>
                          <a:spcPts val="0"/>
                        </a:spcBef>
                        <a:spcAft>
                          <a:spcPts val="0"/>
                        </a:spcAft>
                      </a:pPr>
                      <a:r>
                        <a:rPr lang="en-US" sz="2400">
                          <a:effectLst/>
                        </a:rPr>
                        <a:t>&amp;&amp;</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tcPr>
                </a:tc>
                <a:tc>
                  <a:txBody>
                    <a:bodyPr/>
                    <a:lstStyle/>
                    <a:p>
                      <a:pPr marL="0" marR="0">
                        <a:lnSpc>
                          <a:spcPct val="107000"/>
                        </a:lnSpc>
                        <a:spcBef>
                          <a:spcPts val="0"/>
                        </a:spcBef>
                        <a:spcAft>
                          <a:spcPts val="0"/>
                        </a:spcAft>
                      </a:pPr>
                      <a:r>
                        <a:rPr lang="en-US" sz="2400">
                          <a:effectLst/>
                        </a:rPr>
                        <a:t>and</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70936058"/>
                  </a:ext>
                </a:extLst>
              </a:tr>
              <a:tr h="397871">
                <a:tc>
                  <a:txBody>
                    <a:bodyPr/>
                    <a:lstStyle/>
                    <a:p>
                      <a:pPr marL="44450" marR="0">
                        <a:lnSpc>
                          <a:spcPct val="107000"/>
                        </a:lnSpc>
                        <a:spcBef>
                          <a:spcPts val="0"/>
                        </a:spcBef>
                        <a:spcAft>
                          <a:spcPts val="0"/>
                        </a:spcAft>
                      </a:pPr>
                      <a:r>
                        <a:rPr lang="en-US" sz="2400">
                          <a:effectLst/>
                        </a:rPr>
                        <a:t>||</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rPr>
                        <a:t>or</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278144"/>
                  </a:ext>
                </a:extLst>
              </a:tr>
            </a:tbl>
          </a:graphicData>
        </a:graphic>
      </p:graphicFrame>
    </p:spTree>
    <p:extLst>
      <p:ext uri="{BB962C8B-B14F-4D97-AF65-F5344CB8AC3E}">
        <p14:creationId xmlns:p14="http://schemas.microsoft.com/office/powerpoint/2010/main" val="11305109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62B1F52-52C7-476F-BE9B-C996EE752BB4}"/>
              </a:ext>
            </a:extLst>
          </p:cNvPr>
          <p:cNvSpPr>
            <a:spLocks noGrp="1"/>
          </p:cNvSpPr>
          <p:nvPr>
            <p:ph idx="1"/>
          </p:nvPr>
        </p:nvSpPr>
        <p:spPr>
          <a:xfrm>
            <a:off x="251704" y="286604"/>
            <a:ext cx="8503920" cy="6202998"/>
          </a:xfrm>
        </p:spPr>
        <p:txBody>
          <a:bodyPr>
            <a:normAutofit/>
          </a:bodyPr>
          <a:lstStyle/>
          <a:p>
            <a:r>
              <a:rPr lang="en-US" sz="2400"/>
              <a:t>Bảng chân trị</a:t>
            </a:r>
          </a:p>
        </p:txBody>
      </p:sp>
      <p:sp>
        <p:nvSpPr>
          <p:cNvPr id="4" name="Footer Placeholder 3">
            <a:extLst>
              <a:ext uri="{FF2B5EF4-FFF2-40B4-BE49-F238E27FC236}">
                <a16:creationId xmlns:a16="http://schemas.microsoft.com/office/drawing/2014/main" id="{4138945D-C3AA-4D16-BCC8-55BABFD1DC66}"/>
              </a:ext>
            </a:extLst>
          </p:cNvPr>
          <p:cNvSpPr>
            <a:spLocks noGrp="1"/>
          </p:cNvSpPr>
          <p:nvPr>
            <p:ph type="ftr" sz="quarter" idx="11"/>
          </p:nvPr>
        </p:nvSpPr>
        <p:spPr/>
        <p:txBody>
          <a:bodyPr/>
          <a:lstStyle/>
          <a:p>
            <a:r>
              <a:rPr lang="vi-VN"/>
              <a:t>Cơ sở lập trình - Biến &amp; Kiểu dữ liệu</a:t>
            </a:r>
            <a:endParaRPr lang="en-US"/>
          </a:p>
        </p:txBody>
      </p:sp>
      <p:sp>
        <p:nvSpPr>
          <p:cNvPr id="5" name="Slide Number Placeholder 4">
            <a:extLst>
              <a:ext uri="{FF2B5EF4-FFF2-40B4-BE49-F238E27FC236}">
                <a16:creationId xmlns:a16="http://schemas.microsoft.com/office/drawing/2014/main" id="{C084C6D4-58B8-407E-8A16-50830546334F}"/>
              </a:ext>
            </a:extLst>
          </p:cNvPr>
          <p:cNvSpPr>
            <a:spLocks noGrp="1"/>
          </p:cNvSpPr>
          <p:nvPr>
            <p:ph type="sldNum" sz="quarter" idx="12"/>
          </p:nvPr>
        </p:nvSpPr>
        <p:spPr/>
        <p:txBody>
          <a:bodyPr/>
          <a:lstStyle/>
          <a:p>
            <a:fld id="{45CA964B-B8B5-4404-ADB9-CBB2121E234F}" type="slidenum">
              <a:rPr lang="en-US" smtClean="0"/>
              <a:t>67</a:t>
            </a:fld>
            <a:endParaRPr lang="en-US"/>
          </a:p>
        </p:txBody>
      </p:sp>
      <p:graphicFrame>
        <p:nvGraphicFramePr>
          <p:cNvPr id="8" name="Table 7">
            <a:extLst>
              <a:ext uri="{FF2B5EF4-FFF2-40B4-BE49-F238E27FC236}">
                <a16:creationId xmlns:a16="http://schemas.microsoft.com/office/drawing/2014/main" id="{DA300C1A-EA06-4516-A9EF-F7EAD57B4493}"/>
              </a:ext>
            </a:extLst>
          </p:cNvPr>
          <p:cNvGraphicFramePr>
            <a:graphicFrameLocks noGrp="1"/>
          </p:cNvGraphicFramePr>
          <p:nvPr>
            <p:extLst>
              <p:ext uri="{D42A27DB-BD31-4B8C-83A1-F6EECF244321}">
                <p14:modId xmlns:p14="http://schemas.microsoft.com/office/powerpoint/2010/main" val="2607298700"/>
              </p:ext>
            </p:extLst>
          </p:nvPr>
        </p:nvGraphicFramePr>
        <p:xfrm>
          <a:off x="463838" y="3156108"/>
          <a:ext cx="4993067" cy="2044700"/>
        </p:xfrm>
        <a:graphic>
          <a:graphicData uri="http://schemas.openxmlformats.org/drawingml/2006/table">
            <a:tbl>
              <a:tblPr firstRow="1">
                <a:tableStyleId>{5940675A-B579-460E-94D1-54222C63F5DA}</a:tableStyleId>
              </a:tblPr>
              <a:tblGrid>
                <a:gridCol w="1527194">
                  <a:extLst>
                    <a:ext uri="{9D8B030D-6E8A-4147-A177-3AD203B41FA5}">
                      <a16:colId xmlns:a16="http://schemas.microsoft.com/office/drawing/2014/main" val="1009331676"/>
                    </a:ext>
                  </a:extLst>
                </a:gridCol>
                <a:gridCol w="1519083">
                  <a:extLst>
                    <a:ext uri="{9D8B030D-6E8A-4147-A177-3AD203B41FA5}">
                      <a16:colId xmlns:a16="http://schemas.microsoft.com/office/drawing/2014/main" val="2160824677"/>
                    </a:ext>
                  </a:extLst>
                </a:gridCol>
                <a:gridCol w="1946790">
                  <a:extLst>
                    <a:ext uri="{9D8B030D-6E8A-4147-A177-3AD203B41FA5}">
                      <a16:colId xmlns:a16="http://schemas.microsoft.com/office/drawing/2014/main" val="223978918"/>
                    </a:ext>
                  </a:extLst>
                </a:gridCol>
              </a:tblGrid>
              <a:tr h="187325">
                <a:tc>
                  <a:txBody>
                    <a:bodyPr/>
                    <a:lstStyle/>
                    <a:p>
                      <a:pPr marL="0" marR="0" algn="ctr">
                        <a:lnSpc>
                          <a:spcPct val="107000"/>
                        </a:lnSpc>
                        <a:spcBef>
                          <a:spcPts val="0"/>
                        </a:spcBef>
                        <a:spcAft>
                          <a:spcPts val="0"/>
                        </a:spcAft>
                        <a:tabLst>
                          <a:tab pos="718185" algn="ctr"/>
                        </a:tabLst>
                      </a:pPr>
                      <a:r>
                        <a:rPr lang="en-US" sz="2500">
                          <a:effectLst/>
                        </a:rPr>
                        <a:t>exp1</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pPr>
                      <a:r>
                        <a:rPr lang="en-US" sz="2500">
                          <a:effectLst/>
                        </a:rPr>
                        <a:t>exp2</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500">
                          <a:effectLst/>
                        </a:rPr>
                        <a:t>exp1 || exp2</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4650809"/>
                  </a:ext>
                </a:extLst>
              </a:tr>
              <a:tr h="177165">
                <a:tc>
                  <a:txBody>
                    <a:bodyPr/>
                    <a:lstStyle/>
                    <a:p>
                      <a:pPr marL="44450" marR="0" algn="ctr">
                        <a:lnSpc>
                          <a:spcPct val="107000"/>
                        </a:lnSpc>
                        <a:spcBef>
                          <a:spcPts val="0"/>
                        </a:spcBef>
                        <a:spcAft>
                          <a:spcPts val="0"/>
                        </a:spcAft>
                      </a:pPr>
                      <a:r>
                        <a:rPr lang="en-US" sz="2500">
                          <a:effectLst/>
                        </a:rPr>
                        <a:t>false</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44450" marR="0" algn="ctr">
                        <a:lnSpc>
                          <a:spcPct val="107000"/>
                        </a:lnSpc>
                        <a:spcBef>
                          <a:spcPts val="0"/>
                        </a:spcBef>
                        <a:spcAft>
                          <a:spcPts val="0"/>
                        </a:spcAft>
                      </a:pPr>
                      <a:r>
                        <a:rPr lang="en-US" sz="2500">
                          <a:effectLst/>
                        </a:rPr>
                        <a:t>false</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indent="0" algn="ctr">
                        <a:lnSpc>
                          <a:spcPct val="107000"/>
                        </a:lnSpc>
                        <a:spcBef>
                          <a:spcPts val="0"/>
                        </a:spcBef>
                        <a:spcAft>
                          <a:spcPts val="0"/>
                        </a:spcAft>
                      </a:pPr>
                      <a:r>
                        <a:rPr lang="en-US" sz="2500">
                          <a:effectLst/>
                        </a:rPr>
                        <a:t>false</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46095476"/>
                  </a:ext>
                </a:extLst>
              </a:tr>
              <a:tr h="182245">
                <a:tc>
                  <a:txBody>
                    <a:bodyPr/>
                    <a:lstStyle/>
                    <a:p>
                      <a:pPr marL="0" marR="0" algn="ctr">
                        <a:lnSpc>
                          <a:spcPct val="107000"/>
                        </a:lnSpc>
                        <a:spcBef>
                          <a:spcPts val="0"/>
                        </a:spcBef>
                        <a:spcAft>
                          <a:spcPts val="0"/>
                        </a:spcAft>
                        <a:tabLst>
                          <a:tab pos="718185" algn="ctr"/>
                        </a:tabLst>
                      </a:pPr>
                      <a:r>
                        <a:rPr lang="en-US" sz="2500">
                          <a:effectLst/>
                        </a:rPr>
                        <a:t>false</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tab pos="718185" algn="ctr"/>
                        </a:tabLst>
                      </a:pPr>
                      <a:r>
                        <a:rPr lang="en-US" sz="2500">
                          <a:effectLst/>
                        </a:rPr>
                        <a:t>true</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5080" algn="ctr">
                        <a:lnSpc>
                          <a:spcPct val="107000"/>
                        </a:lnSpc>
                        <a:spcBef>
                          <a:spcPts val="0"/>
                        </a:spcBef>
                        <a:spcAft>
                          <a:spcPts val="0"/>
                        </a:spcAft>
                      </a:pPr>
                      <a:r>
                        <a:rPr lang="en-US" sz="2500">
                          <a:effectLst/>
                        </a:rPr>
                        <a:t>true</a:t>
                      </a:r>
                      <a:endPar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56556974"/>
                  </a:ext>
                </a:extLst>
              </a:tr>
              <a:tr h="182245">
                <a:tc>
                  <a:txBody>
                    <a:bodyPr/>
                    <a:lstStyle/>
                    <a:p>
                      <a:pPr marL="0" marR="0" algn="ctr">
                        <a:lnSpc>
                          <a:spcPct val="107000"/>
                        </a:lnSpc>
                        <a:spcBef>
                          <a:spcPts val="0"/>
                        </a:spcBef>
                        <a:spcAft>
                          <a:spcPts val="0"/>
                        </a:spcAft>
                        <a:tabLst>
                          <a:tab pos="718185" algn="ctr"/>
                        </a:tabLst>
                      </a:pPr>
                      <a:r>
                        <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true</a:t>
                      </a:r>
                    </a:p>
                  </a:txBody>
                  <a:tcPr marL="0" marR="73025" marT="127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tab pos="718185" algn="ctr"/>
                        </a:tabLst>
                      </a:pPr>
                      <a:r>
                        <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false</a:t>
                      </a:r>
                    </a:p>
                  </a:txBody>
                  <a:tcPr marL="0" marR="73025" marT="127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5080" algn="ctr">
                        <a:lnSpc>
                          <a:spcPct val="107000"/>
                        </a:lnSpc>
                        <a:spcBef>
                          <a:spcPts val="0"/>
                        </a:spcBef>
                        <a:spcAft>
                          <a:spcPts val="0"/>
                        </a:spcAft>
                      </a:pPr>
                      <a:r>
                        <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true</a:t>
                      </a:r>
                    </a:p>
                  </a:txBody>
                  <a:tcPr marL="0" marR="73025" marT="127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59002380"/>
                  </a:ext>
                </a:extLst>
              </a:tr>
              <a:tr h="182245">
                <a:tc>
                  <a:txBody>
                    <a:bodyPr/>
                    <a:lstStyle/>
                    <a:p>
                      <a:pPr marL="0" marR="0" algn="ctr">
                        <a:lnSpc>
                          <a:spcPct val="107000"/>
                        </a:lnSpc>
                        <a:spcBef>
                          <a:spcPts val="0"/>
                        </a:spcBef>
                        <a:spcAft>
                          <a:spcPts val="0"/>
                        </a:spcAft>
                        <a:tabLst>
                          <a:tab pos="718185" algn="ctr"/>
                        </a:tabLst>
                      </a:pPr>
                      <a:r>
                        <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true</a:t>
                      </a:r>
                    </a:p>
                  </a:txBody>
                  <a:tcPr marL="0" marR="73025" marT="127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tab pos="718185" algn="ctr"/>
                        </a:tabLst>
                      </a:pPr>
                      <a:r>
                        <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true</a:t>
                      </a:r>
                    </a:p>
                  </a:txBody>
                  <a:tcPr marL="0" marR="73025" marT="127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5080" algn="ctr">
                        <a:lnSpc>
                          <a:spcPct val="107000"/>
                        </a:lnSpc>
                        <a:spcBef>
                          <a:spcPts val="0"/>
                        </a:spcBef>
                        <a:spcAft>
                          <a:spcPts val="0"/>
                        </a:spcAft>
                      </a:pPr>
                      <a:r>
                        <a:rPr lang="en-US" sz="25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true</a:t>
                      </a:r>
                    </a:p>
                  </a:txBody>
                  <a:tcPr marL="0" marR="73025" marT="127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8093127"/>
                  </a:ext>
                </a:extLst>
              </a:tr>
            </a:tbl>
          </a:graphicData>
        </a:graphic>
      </p:graphicFrame>
      <p:graphicFrame>
        <p:nvGraphicFramePr>
          <p:cNvPr id="9" name="Table 8">
            <a:extLst>
              <a:ext uri="{FF2B5EF4-FFF2-40B4-BE49-F238E27FC236}">
                <a16:creationId xmlns:a16="http://schemas.microsoft.com/office/drawing/2014/main" id="{9B00A992-C7D1-42BC-8598-1D85BFCDDE92}"/>
              </a:ext>
            </a:extLst>
          </p:cNvPr>
          <p:cNvGraphicFramePr>
            <a:graphicFrameLocks noGrp="1"/>
          </p:cNvGraphicFramePr>
          <p:nvPr>
            <p:extLst>
              <p:ext uri="{D42A27DB-BD31-4B8C-83A1-F6EECF244321}">
                <p14:modId xmlns:p14="http://schemas.microsoft.com/office/powerpoint/2010/main" val="438517323"/>
              </p:ext>
            </p:extLst>
          </p:nvPr>
        </p:nvGraphicFramePr>
        <p:xfrm>
          <a:off x="5817624" y="996411"/>
          <a:ext cx="2577280" cy="1177863"/>
        </p:xfrm>
        <a:graphic>
          <a:graphicData uri="http://schemas.openxmlformats.org/drawingml/2006/table">
            <a:tbl>
              <a:tblPr firstRow="1">
                <a:tableStyleId>{5940675A-B579-460E-94D1-54222C63F5DA}</a:tableStyleId>
              </a:tblPr>
              <a:tblGrid>
                <a:gridCol w="1327969">
                  <a:extLst>
                    <a:ext uri="{9D8B030D-6E8A-4147-A177-3AD203B41FA5}">
                      <a16:colId xmlns:a16="http://schemas.microsoft.com/office/drawing/2014/main" val="731970031"/>
                    </a:ext>
                  </a:extLst>
                </a:gridCol>
                <a:gridCol w="1249311">
                  <a:extLst>
                    <a:ext uri="{9D8B030D-6E8A-4147-A177-3AD203B41FA5}">
                      <a16:colId xmlns:a16="http://schemas.microsoft.com/office/drawing/2014/main" val="3201740495"/>
                    </a:ext>
                  </a:extLst>
                </a:gridCol>
              </a:tblGrid>
              <a:tr h="365953">
                <a:tc>
                  <a:txBody>
                    <a:bodyPr/>
                    <a:lstStyle/>
                    <a:p>
                      <a:pPr marL="111125" marR="0" algn="ctr">
                        <a:lnSpc>
                          <a:spcPct val="107000"/>
                        </a:lnSpc>
                        <a:spcBef>
                          <a:spcPts val="0"/>
                        </a:spcBef>
                        <a:spcAft>
                          <a:spcPts val="0"/>
                        </a:spcAft>
                      </a:pPr>
                      <a:r>
                        <a:rPr lang="en-US" sz="2400">
                          <a:effectLst/>
                        </a:rPr>
                        <a:t>exp</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3020" marR="0" algn="ctr">
                        <a:lnSpc>
                          <a:spcPct val="107000"/>
                        </a:lnSpc>
                        <a:spcBef>
                          <a:spcPts val="0"/>
                        </a:spcBef>
                        <a:spcAft>
                          <a:spcPts val="0"/>
                        </a:spcAft>
                      </a:pPr>
                      <a:r>
                        <a:rPr lang="en-US" sz="2400">
                          <a:effectLst/>
                        </a:rPr>
                        <a:t>!exp</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441371"/>
                  </a:ext>
                </a:extLst>
              </a:tr>
              <a:tr h="365953">
                <a:tc>
                  <a:txBody>
                    <a:bodyPr/>
                    <a:lstStyle/>
                    <a:p>
                      <a:pPr marL="44450" marR="0" algn="ctr">
                        <a:lnSpc>
                          <a:spcPct val="107000"/>
                        </a:lnSpc>
                        <a:spcBef>
                          <a:spcPts val="0"/>
                        </a:spcBef>
                        <a:spcAft>
                          <a:spcPts val="0"/>
                        </a:spcAf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33020" marR="0" algn="ctr">
                        <a:lnSpc>
                          <a:spcPct val="107000"/>
                        </a:lnSpc>
                        <a:spcBef>
                          <a:spcPts val="0"/>
                        </a:spcBef>
                        <a:spcAft>
                          <a:spcPts val="0"/>
                        </a:spcAft>
                      </a:pPr>
                      <a:r>
                        <a:rPr lang="en-US" sz="2400">
                          <a:effectLst/>
                        </a:rPr>
                        <a:t>true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3391517"/>
                  </a:ext>
                </a:extLst>
              </a:tr>
              <a:tr h="365953">
                <a:tc>
                  <a:txBody>
                    <a:bodyPr/>
                    <a:lstStyle/>
                    <a:p>
                      <a:pPr marL="78105" marR="0" algn="ctr">
                        <a:lnSpc>
                          <a:spcPct val="107000"/>
                        </a:lnSpc>
                        <a:spcBef>
                          <a:spcPts val="0"/>
                        </a:spcBef>
                        <a:spcAft>
                          <a:spcPts val="0"/>
                        </a:spcAft>
                      </a:pPr>
                      <a:r>
                        <a:rPr lang="en-US" sz="2400">
                          <a:effectLst/>
                        </a:rPr>
                        <a:t>true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3896387"/>
                  </a:ext>
                </a:extLst>
              </a:tr>
            </a:tbl>
          </a:graphicData>
        </a:graphic>
      </p:graphicFrame>
      <p:graphicFrame>
        <p:nvGraphicFramePr>
          <p:cNvPr id="10" name="Table 9">
            <a:extLst>
              <a:ext uri="{FF2B5EF4-FFF2-40B4-BE49-F238E27FC236}">
                <a16:creationId xmlns:a16="http://schemas.microsoft.com/office/drawing/2014/main" id="{2215950D-6002-426A-9681-A903444B6251}"/>
              </a:ext>
            </a:extLst>
          </p:cNvPr>
          <p:cNvGraphicFramePr>
            <a:graphicFrameLocks noGrp="1"/>
          </p:cNvGraphicFramePr>
          <p:nvPr>
            <p:extLst>
              <p:ext uri="{D42A27DB-BD31-4B8C-83A1-F6EECF244321}">
                <p14:modId xmlns:p14="http://schemas.microsoft.com/office/powerpoint/2010/main" val="3755882804"/>
              </p:ext>
            </p:extLst>
          </p:nvPr>
        </p:nvGraphicFramePr>
        <p:xfrm>
          <a:off x="463837" y="996411"/>
          <a:ext cx="4993067" cy="1963105"/>
        </p:xfrm>
        <a:graphic>
          <a:graphicData uri="http://schemas.openxmlformats.org/drawingml/2006/table">
            <a:tbl>
              <a:tblPr firstRow="1">
                <a:tableStyleId>{5940675A-B579-460E-94D1-54222C63F5DA}</a:tableStyleId>
              </a:tblPr>
              <a:tblGrid>
                <a:gridCol w="1541943">
                  <a:extLst>
                    <a:ext uri="{9D8B030D-6E8A-4147-A177-3AD203B41FA5}">
                      <a16:colId xmlns:a16="http://schemas.microsoft.com/office/drawing/2014/main" val="1520380781"/>
                    </a:ext>
                  </a:extLst>
                </a:gridCol>
                <a:gridCol w="1519084">
                  <a:extLst>
                    <a:ext uri="{9D8B030D-6E8A-4147-A177-3AD203B41FA5}">
                      <a16:colId xmlns:a16="http://schemas.microsoft.com/office/drawing/2014/main" val="3955009905"/>
                    </a:ext>
                  </a:extLst>
                </a:gridCol>
                <a:gridCol w="1932040">
                  <a:extLst>
                    <a:ext uri="{9D8B030D-6E8A-4147-A177-3AD203B41FA5}">
                      <a16:colId xmlns:a16="http://schemas.microsoft.com/office/drawing/2014/main" val="2779150611"/>
                    </a:ext>
                  </a:extLst>
                </a:gridCol>
              </a:tblGrid>
              <a:tr h="187325">
                <a:tc>
                  <a:txBody>
                    <a:bodyPr/>
                    <a:lstStyle/>
                    <a:p>
                      <a:pPr marL="0" marR="0" algn="ctr">
                        <a:lnSpc>
                          <a:spcPct val="107000"/>
                        </a:lnSpc>
                        <a:spcBef>
                          <a:spcPts val="0"/>
                        </a:spcBef>
                        <a:spcAft>
                          <a:spcPts val="0"/>
                        </a:spcAft>
                        <a:tabLst>
                          <a:tab pos="718185" algn="ctr"/>
                        </a:tabLst>
                      </a:pPr>
                      <a:r>
                        <a:rPr lang="en-US" sz="2400">
                          <a:effectLst/>
                        </a:rPr>
                        <a:t>exp1</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tab pos="718185" algn="ctr"/>
                        </a:tabLst>
                      </a:pPr>
                      <a:r>
                        <a:rPr lang="en-US" sz="2400">
                          <a:effectLst/>
                        </a:rPr>
                        <a:t>exp2</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400">
                          <a:effectLst/>
                        </a:rPr>
                        <a:t>exp1 &amp;&amp; exp2</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9637603"/>
                  </a:ext>
                </a:extLst>
              </a:tr>
              <a:tr h="177165">
                <a:tc>
                  <a:txBody>
                    <a:bodyPr/>
                    <a:lstStyle/>
                    <a:p>
                      <a:pPr marL="44450" marR="0" algn="ctr">
                        <a:lnSpc>
                          <a:spcPct val="107000"/>
                        </a:lnSpc>
                        <a:spcBef>
                          <a:spcPts val="0"/>
                        </a:spcBef>
                        <a:spcAft>
                          <a:spcPts val="0"/>
                        </a:spcAf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44450" marR="0" algn="ctr">
                        <a:lnSpc>
                          <a:spcPct val="107000"/>
                        </a:lnSpc>
                        <a:spcBef>
                          <a:spcPts val="0"/>
                        </a:spcBef>
                        <a:spcAft>
                          <a:spcPts val="0"/>
                        </a:spcAf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a:lnSpc>
                          <a:spcPct val="107000"/>
                        </a:lnSpc>
                        <a:spcBef>
                          <a:spcPts val="0"/>
                        </a:spcBef>
                        <a:spcAft>
                          <a:spcPts val="0"/>
                        </a:spcAf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3912346"/>
                  </a:ext>
                </a:extLst>
              </a:tr>
              <a:tr h="182245">
                <a:tc>
                  <a:txBody>
                    <a:bodyPr/>
                    <a:lstStyle/>
                    <a:p>
                      <a:pPr marL="0" marR="0" algn="ctr">
                        <a:lnSpc>
                          <a:spcPct val="107000"/>
                        </a:lnSpc>
                        <a:spcBef>
                          <a:spcPts val="0"/>
                        </a:spcBef>
                        <a:spcAft>
                          <a:spcPts val="0"/>
                        </a:spcAft>
                        <a:tabLst>
                          <a:tab pos="718185" algn="ctr"/>
                        </a:tabLst>
                      </a:pPr>
                      <a:r>
                        <a:rPr lang="en-US" sz="2400">
                          <a:effectLst/>
                        </a:rPr>
                        <a:t>false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tab pos="718185" algn="ctr"/>
                        </a:tabLst>
                      </a:pPr>
                      <a:r>
                        <a:rPr lang="en-US" sz="2400">
                          <a:effectLst/>
                        </a:rPr>
                        <a:t>true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a:lnSpc>
                          <a:spcPct val="107000"/>
                        </a:lnSpc>
                        <a:spcBef>
                          <a:spcPts val="0"/>
                        </a:spcBef>
                        <a:spcAft>
                          <a:spcPts val="0"/>
                        </a:spcAf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5686227"/>
                  </a:ext>
                </a:extLst>
              </a:tr>
              <a:tr h="182245">
                <a:tc>
                  <a:txBody>
                    <a:bodyPr/>
                    <a:lstStyle/>
                    <a:p>
                      <a:pPr marL="0" marR="0" algn="ctr">
                        <a:lnSpc>
                          <a:spcPct val="107000"/>
                        </a:lnSpc>
                        <a:spcBef>
                          <a:spcPts val="0"/>
                        </a:spcBef>
                        <a:spcAft>
                          <a:spcPts val="0"/>
                        </a:spcAft>
                        <a:tabLst>
                          <a:tab pos="986155" algn="r"/>
                        </a:tabLst>
                      </a:pPr>
                      <a:r>
                        <a:rPr lang="en-US" sz="2400">
                          <a:effectLst/>
                        </a:rPr>
                        <a:t>true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tab pos="986155" algn="r"/>
                        </a:tabLs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a:lnSpc>
                          <a:spcPct val="107000"/>
                        </a:lnSpc>
                        <a:spcBef>
                          <a:spcPts val="0"/>
                        </a:spcBef>
                        <a:spcAft>
                          <a:spcPts val="0"/>
                        </a:spcAft>
                      </a:pPr>
                      <a:r>
                        <a:rPr lang="en-US" sz="2400">
                          <a:effectLst/>
                        </a:rPr>
                        <a:t>false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4752169"/>
                  </a:ext>
                </a:extLst>
              </a:tr>
              <a:tr h="192405">
                <a:tc>
                  <a:txBody>
                    <a:bodyPr/>
                    <a:lstStyle/>
                    <a:p>
                      <a:pPr marL="0" marR="0" algn="ctr">
                        <a:lnSpc>
                          <a:spcPct val="107000"/>
                        </a:lnSpc>
                        <a:spcBef>
                          <a:spcPts val="0"/>
                        </a:spcBef>
                        <a:spcAft>
                          <a:spcPts val="0"/>
                        </a:spcAft>
                        <a:tabLst>
                          <a:tab pos="718185" algn="ctr"/>
                        </a:tabLst>
                      </a:pPr>
                      <a:r>
                        <a:rPr lang="en-US" sz="2400">
                          <a:effectLst/>
                        </a:rPr>
                        <a:t>true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tabLst>
                          <a:tab pos="718185" algn="ctr"/>
                        </a:tabLst>
                      </a:pPr>
                      <a:r>
                        <a:rPr lang="en-US" sz="2400">
                          <a:effectLst/>
                        </a:rPr>
                        <a:t>true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5080" algn="ctr">
                        <a:lnSpc>
                          <a:spcPct val="107000"/>
                        </a:lnSpc>
                        <a:spcBef>
                          <a:spcPts val="0"/>
                        </a:spcBef>
                        <a:spcAft>
                          <a:spcPts val="0"/>
                        </a:spcAft>
                      </a:pPr>
                      <a:r>
                        <a:rPr lang="en-US" sz="2400">
                          <a:effectLst/>
                        </a:rPr>
                        <a:t>true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1270" marB="0">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71470"/>
                  </a:ext>
                </a:extLst>
              </a:tr>
            </a:tbl>
          </a:graphicData>
        </a:graphic>
      </p:graphicFrame>
    </p:spTree>
    <p:extLst>
      <p:ext uri="{BB962C8B-B14F-4D97-AF65-F5344CB8AC3E}">
        <p14:creationId xmlns:p14="http://schemas.microsoft.com/office/powerpoint/2010/main" val="917875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C6773-1274-4CFB-966E-199660A5A250}"/>
              </a:ext>
            </a:extLst>
          </p:cNvPr>
          <p:cNvSpPr>
            <a:spLocks noGrp="1"/>
          </p:cNvSpPr>
          <p:nvPr>
            <p:ph idx="1"/>
          </p:nvPr>
        </p:nvSpPr>
        <p:spPr/>
        <p:txBody>
          <a:bodyPr/>
          <a:lstStyle/>
          <a:p>
            <a:r>
              <a:rPr lang="en-US"/>
              <a:t>Ví dụ:</a:t>
            </a:r>
          </a:p>
          <a:p>
            <a:pPr lvl="4">
              <a:tabLst>
                <a:tab pos="6180138" algn="l"/>
              </a:tabLst>
            </a:pPr>
            <a:r>
              <a:rPr lang="en-US"/>
              <a:t>bool found = true; </a:t>
            </a:r>
          </a:p>
          <a:p>
            <a:pPr lvl="4">
              <a:tabLst>
                <a:tab pos="6180138" algn="l"/>
              </a:tabLst>
            </a:pPr>
            <a:r>
              <a:rPr lang="en-US"/>
              <a:t>int age = 20; </a:t>
            </a:r>
          </a:p>
          <a:p>
            <a:pPr lvl="4">
              <a:tabLst>
                <a:tab pos="6180138" algn="l"/>
              </a:tabLst>
            </a:pPr>
            <a:r>
              <a:rPr lang="en-US"/>
              <a:t>double hours = 45.30; </a:t>
            </a:r>
          </a:p>
          <a:p>
            <a:pPr lvl="4">
              <a:tabLst>
                <a:tab pos="6180138" algn="l"/>
              </a:tabLst>
            </a:pPr>
            <a:r>
              <a:rPr lang="en-US"/>
              <a:t>double overTime = 15.0; </a:t>
            </a:r>
          </a:p>
          <a:p>
            <a:pPr lvl="4">
              <a:tabLst>
                <a:tab pos="6180138" algn="l"/>
              </a:tabLst>
            </a:pPr>
            <a:r>
              <a:rPr lang="en-US"/>
              <a:t>int count = 20; </a:t>
            </a:r>
          </a:p>
          <a:p>
            <a:pPr lvl="4">
              <a:tabLst>
                <a:tab pos="6180138" algn="l"/>
              </a:tabLst>
            </a:pPr>
            <a:r>
              <a:rPr lang="en-US"/>
              <a:t>char c = 'B';</a:t>
            </a:r>
          </a:p>
          <a:p>
            <a:pPr lvl="4">
              <a:tabLst>
                <a:tab pos="6180138" algn="l"/>
              </a:tabLst>
            </a:pPr>
            <a:endParaRPr lang="en-US"/>
          </a:p>
          <a:p>
            <a:pPr lvl="4">
              <a:tabLst>
                <a:tab pos="6180138" algn="l"/>
              </a:tabLst>
            </a:pPr>
            <a:r>
              <a:rPr lang="en-US"/>
              <a:t>!found	false</a:t>
            </a:r>
          </a:p>
          <a:p>
            <a:pPr lvl="4">
              <a:tabLst>
                <a:tab pos="6180138" algn="l"/>
              </a:tabLst>
            </a:pPr>
            <a:r>
              <a:rPr lang="en-US"/>
              <a:t>hours &gt; 40.00	true </a:t>
            </a:r>
          </a:p>
          <a:p>
            <a:pPr lvl="4">
              <a:tabLst>
                <a:tab pos="6180138" algn="l"/>
              </a:tabLst>
            </a:pPr>
            <a:r>
              <a:rPr lang="en-US"/>
              <a:t>age == 20	true </a:t>
            </a:r>
          </a:p>
          <a:p>
            <a:pPr lvl="4">
              <a:tabLst>
                <a:tab pos="6180138" algn="l"/>
              </a:tabLst>
            </a:pPr>
            <a:r>
              <a:rPr lang="en-US"/>
              <a:t>!found &amp;&amp; (age &gt;= 18)	false</a:t>
            </a:r>
          </a:p>
          <a:p>
            <a:pPr lvl="4">
              <a:tabLst>
                <a:tab pos="6180138" algn="l"/>
              </a:tabLst>
            </a:pPr>
            <a:r>
              <a:rPr lang="en-US"/>
              <a:t>hours + overTime &lt;= 75	true</a:t>
            </a:r>
          </a:p>
          <a:p>
            <a:pPr lvl="4">
              <a:tabLst>
                <a:tab pos="6180138" algn="l"/>
              </a:tabLst>
            </a:pPr>
            <a:r>
              <a:rPr lang="en-US"/>
              <a:t>(count &gt;= 0) &amp;&amp; (count &lt;= 100)	true</a:t>
            </a:r>
          </a:p>
          <a:p>
            <a:pPr lvl="4">
              <a:tabLst>
                <a:tab pos="6180138" algn="l"/>
              </a:tabLst>
            </a:pPr>
            <a:r>
              <a:rPr lang="en-US"/>
              <a:t>('A' &lt;= c) &amp;&amp; (c &lt;= 'Z')	true</a:t>
            </a:r>
          </a:p>
          <a:p>
            <a:endParaRPr lang="en-US"/>
          </a:p>
        </p:txBody>
      </p:sp>
      <p:sp>
        <p:nvSpPr>
          <p:cNvPr id="3" name="Footer Placeholder 2">
            <a:extLst>
              <a:ext uri="{FF2B5EF4-FFF2-40B4-BE49-F238E27FC236}">
                <a16:creationId xmlns:a16="http://schemas.microsoft.com/office/drawing/2014/main" id="{24498E34-215F-4872-94A6-88DFC4D464C8}"/>
              </a:ext>
            </a:extLst>
          </p:cNvPr>
          <p:cNvSpPr>
            <a:spLocks noGrp="1"/>
          </p:cNvSpPr>
          <p:nvPr>
            <p:ph type="ftr" sz="quarter" idx="11"/>
          </p:nvPr>
        </p:nvSpPr>
        <p:spPr/>
        <p:txBody>
          <a:bodyPr/>
          <a:lstStyle/>
          <a:p>
            <a:r>
              <a:rPr lang="vi-VN"/>
              <a:t>Cơ sở lập trình - Biến &amp; Kiểu dữ liệu</a:t>
            </a:r>
            <a:endParaRPr lang="en-US"/>
          </a:p>
        </p:txBody>
      </p:sp>
      <p:sp>
        <p:nvSpPr>
          <p:cNvPr id="4" name="Slide Number Placeholder 3">
            <a:extLst>
              <a:ext uri="{FF2B5EF4-FFF2-40B4-BE49-F238E27FC236}">
                <a16:creationId xmlns:a16="http://schemas.microsoft.com/office/drawing/2014/main" id="{CD3C1847-8E31-4421-B742-A4DA53C60D3E}"/>
              </a:ext>
            </a:extLst>
          </p:cNvPr>
          <p:cNvSpPr>
            <a:spLocks noGrp="1"/>
          </p:cNvSpPr>
          <p:nvPr>
            <p:ph type="sldNum" sz="quarter" idx="12"/>
          </p:nvPr>
        </p:nvSpPr>
        <p:spPr/>
        <p:txBody>
          <a:bodyPr/>
          <a:lstStyle/>
          <a:p>
            <a:fld id="{45CA964B-B8B5-4404-ADB9-CBB2121E234F}" type="slidenum">
              <a:rPr lang="en-US" smtClean="0"/>
              <a:t>68</a:t>
            </a:fld>
            <a:endParaRPr lang="en-US"/>
          </a:p>
        </p:txBody>
      </p:sp>
    </p:spTree>
    <p:extLst>
      <p:ext uri="{BB962C8B-B14F-4D97-AF65-F5344CB8AC3E}">
        <p14:creationId xmlns:p14="http://schemas.microsoft.com/office/powerpoint/2010/main" val="12605917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2819400"/>
            <a:ext cx="8229600" cy="1524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indent="0" algn="ctr">
              <a:buNone/>
            </a:pPr>
            <a:r>
              <a:rPr lang="en-US" sz="88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Q &amp; A</a:t>
            </a:r>
          </a:p>
        </p:txBody>
      </p:sp>
      <p:sp>
        <p:nvSpPr>
          <p:cNvPr id="5" name="Slide Number Placeholder 4"/>
          <p:cNvSpPr>
            <a:spLocks noGrp="1"/>
          </p:cNvSpPr>
          <p:nvPr>
            <p:ph type="sldNum" sz="quarter" idx="12"/>
          </p:nvPr>
        </p:nvSpPr>
        <p:spPr/>
        <p:txBody>
          <a:bodyPr/>
          <a:lstStyle/>
          <a:p>
            <a:fld id="{B76E646B-21D3-475D-A455-026BE1E73BFE}" type="slidenum">
              <a:rPr lang="en-US" smtClean="0"/>
              <a:t>69</a:t>
            </a:fld>
            <a:endParaRPr lang="en-US"/>
          </a:p>
        </p:txBody>
      </p:sp>
      <p:sp>
        <p:nvSpPr>
          <p:cNvPr id="2" name="Footer Placeholder 1"/>
          <p:cNvSpPr>
            <a:spLocks noGrp="1"/>
          </p:cNvSpPr>
          <p:nvPr>
            <p:ph type="ftr" sz="quarter" idx="11"/>
          </p:nvPr>
        </p:nvSpPr>
        <p:spPr/>
        <p:txBody>
          <a:bodyPr/>
          <a:lstStyle/>
          <a:p>
            <a:r>
              <a:rPr lang="vi-VN"/>
              <a:t>Cơ sở lập trình - ĐH Mở TpHCM</a:t>
            </a:r>
            <a:endParaRPr lang="en-US"/>
          </a:p>
        </p:txBody>
      </p:sp>
    </p:spTree>
    <p:extLst>
      <p:ext uri="{BB962C8B-B14F-4D97-AF65-F5344CB8AC3E}">
        <p14:creationId xmlns:p14="http://schemas.microsoft.com/office/powerpoint/2010/main" val="155179726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CSLT">
      <a:majorFont>
        <a:latin typeface="Calibri"/>
        <a:ea typeface=""/>
        <a:cs typeface=""/>
      </a:majorFont>
      <a:minorFont>
        <a:latin typeface="Calibr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SLT" id="{5E117238-D6E6-41AA-9378-CE37029609A8}" vid="{AC21F805-3A4D-4EE7-A737-CAAEE6F0E7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CSLT</Template>
  <TotalTime>859</TotalTime>
  <Words>6438</Words>
  <Application>Microsoft Macintosh PowerPoint</Application>
  <PresentationFormat>On-screen Show (4:3)</PresentationFormat>
  <Paragraphs>1214</Paragraphs>
  <Slides>69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Calibri</vt:lpstr>
      <vt:lpstr>Cambria Math</vt:lpstr>
      <vt:lpstr>Consolas</vt:lpstr>
      <vt:lpstr>Courier New</vt:lpstr>
      <vt:lpstr>Symbol</vt:lpstr>
      <vt:lpstr>Wingdings</vt:lpstr>
      <vt:lpstr>Retrospect</vt:lpstr>
      <vt:lpstr>Biến &amp; Kiểu dữ liệu</vt:lpstr>
      <vt:lpstr>Mục tiêu</vt:lpstr>
      <vt:lpstr>Nội dung</vt:lpstr>
      <vt:lpstr>Từ khóa (keyword)</vt:lpstr>
      <vt:lpstr>Tên (name)</vt:lpstr>
      <vt:lpstr>PowerPoint Presentation</vt:lpstr>
      <vt:lpstr>Lưu ý khi đặt tên</vt:lpstr>
      <vt:lpstr>Quy ước đặt tên</vt:lpstr>
      <vt:lpstr>Bài tập</vt:lpstr>
      <vt:lpstr>Nội dung</vt:lpstr>
      <vt:lpstr>Kiểu dữ liệu</vt:lpstr>
      <vt:lpstr>Kiểu dữ liệu trong C++</vt:lpstr>
      <vt:lpstr>PowerPoint Presentation</vt:lpstr>
      <vt:lpstr>Kiểu dữ liệu cơ bản</vt:lpstr>
      <vt:lpstr>PowerPoint Presentation</vt:lpstr>
      <vt:lpstr>Kiểu string</vt:lpstr>
      <vt:lpstr>Một số toán tử tương ứng với kiểu dữ liệu</vt:lpstr>
      <vt:lpstr>PowerPoint Presentation</vt:lpstr>
      <vt:lpstr>Nội dung</vt:lpstr>
      <vt:lpstr>Biến</vt:lpstr>
      <vt:lpstr>PowerPoint Presentation</vt:lpstr>
      <vt:lpstr>PowerPoint Presentation</vt:lpstr>
      <vt:lpstr>Ví dụ</vt:lpstr>
      <vt:lpstr>Một số lỗi thường gặp</vt:lpstr>
      <vt:lpstr>Hằng</vt:lpstr>
      <vt:lpstr>Bài tập</vt:lpstr>
      <vt:lpstr>Nội dung</vt:lpstr>
      <vt:lpstr>Nhập dữ liệu</vt:lpstr>
      <vt:lpstr>Câu lệnh nhập dữ liệu</vt:lpstr>
      <vt:lpstr>Ví dụ 4.1.1</vt:lpstr>
      <vt:lpstr>PowerPoint Presentation</vt:lpstr>
      <vt:lpstr>Ví dụ 4.1.2</vt:lpstr>
      <vt:lpstr>PowerPoint Presentation</vt:lpstr>
      <vt:lpstr>Ví dụ 4.1.3</vt:lpstr>
      <vt:lpstr>PowerPoint Presentation</vt:lpstr>
      <vt:lpstr>Ví dụ 4.1.4</vt:lpstr>
      <vt:lpstr>PowerPoint Presentation</vt:lpstr>
      <vt:lpstr>Bài tập</vt:lpstr>
      <vt:lpstr>Nhập dữ liệu kiểu string</vt:lpstr>
      <vt:lpstr>Câu lệnh gán</vt:lpstr>
      <vt:lpstr>PowerPoint Presentation</vt:lpstr>
      <vt:lpstr>PowerPoint Presentation</vt:lpstr>
      <vt:lpstr>Toán tử gán phức hợp</vt:lpstr>
      <vt:lpstr>Nội dung</vt:lpstr>
      <vt:lpstr>Câu lệnh xuất</vt:lpstr>
      <vt:lpstr>Định dạng xuất</vt:lpstr>
      <vt:lpstr>Nội dung</vt:lpstr>
      <vt:lpstr>Biểu thức</vt:lpstr>
      <vt:lpstr>Độ ưu tiên của toán tử</vt:lpstr>
      <vt:lpstr>Lưu ý khi viết biểu thức</vt:lpstr>
      <vt:lpstr>Biểu thức số học</vt:lpstr>
      <vt:lpstr>PowerPoint Presentation</vt:lpstr>
      <vt:lpstr>PowerPoint Presentation</vt:lpstr>
      <vt:lpstr>Lưu ý</vt:lpstr>
      <vt:lpstr>Một số hàm toán học</vt:lpstr>
      <vt:lpstr>Toán tử tăng và giảm</vt:lpstr>
      <vt:lpstr>Ví dụ 6.1</vt:lpstr>
      <vt:lpstr>Chuyển đổi kiểu</vt:lpstr>
      <vt:lpstr>PowerPoint Presentation</vt:lpstr>
      <vt:lpstr>Ví dụ 6.2</vt:lpstr>
      <vt:lpstr>Chuyển đổi kiểu</vt:lpstr>
      <vt:lpstr>Chuyển đổi kiểu tường minh</vt:lpstr>
      <vt:lpstr>Biểu thức luận lý</vt:lpstr>
      <vt:lpstr>Toán tử quan hệ</vt:lpstr>
      <vt:lpstr>PowerPoint Presentation</vt:lpstr>
      <vt:lpstr>Toán tử luận lý</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Biến &amp; Kiểu dữ liệu</dc:title>
  <dc:creator>CNTT_OU</dc:creator>
  <cp:lastModifiedBy>tuyetvth1508@outlook.com</cp:lastModifiedBy>
  <cp:revision>96</cp:revision>
  <dcterms:created xsi:type="dcterms:W3CDTF">2018-09-06T04:41:53Z</dcterms:created>
  <dcterms:modified xsi:type="dcterms:W3CDTF">2021-09-19T07:00:47Z</dcterms:modified>
</cp:coreProperties>
</file>