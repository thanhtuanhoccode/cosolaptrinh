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96"/>
  </p:notesMasterIdLst>
  <p:sldIdLst>
    <p:sldId id="256" r:id="rId2"/>
    <p:sldId id="493" r:id="rId3"/>
    <p:sldId id="346" r:id="rId4"/>
    <p:sldId id="494" r:id="rId5"/>
    <p:sldId id="312" r:id="rId6"/>
    <p:sldId id="319" r:id="rId7"/>
    <p:sldId id="347" r:id="rId8"/>
    <p:sldId id="348" r:id="rId9"/>
    <p:sldId id="320" r:id="rId10"/>
    <p:sldId id="341" r:id="rId11"/>
    <p:sldId id="343" r:id="rId12"/>
    <p:sldId id="350" r:id="rId13"/>
    <p:sldId id="351" r:id="rId14"/>
    <p:sldId id="352" r:id="rId15"/>
    <p:sldId id="353" r:id="rId16"/>
    <p:sldId id="354" r:id="rId17"/>
    <p:sldId id="426" r:id="rId18"/>
    <p:sldId id="428" r:id="rId19"/>
    <p:sldId id="429" r:id="rId20"/>
    <p:sldId id="430" r:id="rId21"/>
    <p:sldId id="432" r:id="rId22"/>
    <p:sldId id="433" r:id="rId23"/>
    <p:sldId id="434" r:id="rId24"/>
    <p:sldId id="435" r:id="rId25"/>
    <p:sldId id="344" r:id="rId26"/>
    <p:sldId id="436" r:id="rId27"/>
    <p:sldId id="437" r:id="rId28"/>
    <p:sldId id="438" r:id="rId29"/>
    <p:sldId id="439" r:id="rId30"/>
    <p:sldId id="440" r:id="rId31"/>
    <p:sldId id="441" r:id="rId32"/>
    <p:sldId id="442" r:id="rId33"/>
    <p:sldId id="495" r:id="rId34"/>
    <p:sldId id="345" r:id="rId35"/>
    <p:sldId id="443" r:id="rId36"/>
    <p:sldId id="444" r:id="rId37"/>
    <p:sldId id="445" r:id="rId38"/>
    <p:sldId id="446" r:id="rId39"/>
    <p:sldId id="363" r:id="rId40"/>
    <p:sldId id="447" r:id="rId41"/>
    <p:sldId id="321" r:id="rId42"/>
    <p:sldId id="337" r:id="rId43"/>
    <p:sldId id="448" r:id="rId44"/>
    <p:sldId id="338" r:id="rId45"/>
    <p:sldId id="449" r:id="rId46"/>
    <p:sldId id="376" r:id="rId47"/>
    <p:sldId id="339" r:id="rId48"/>
    <p:sldId id="452" r:id="rId49"/>
    <p:sldId id="450" r:id="rId50"/>
    <p:sldId id="315" r:id="rId51"/>
    <p:sldId id="322" r:id="rId52"/>
    <p:sldId id="378" r:id="rId53"/>
    <p:sldId id="324" r:id="rId54"/>
    <p:sldId id="453" r:id="rId55"/>
    <p:sldId id="454" r:id="rId56"/>
    <p:sldId id="456" r:id="rId57"/>
    <p:sldId id="457" r:id="rId58"/>
    <p:sldId id="458" r:id="rId59"/>
    <p:sldId id="460" r:id="rId60"/>
    <p:sldId id="461" r:id="rId61"/>
    <p:sldId id="462" r:id="rId62"/>
    <p:sldId id="379" r:id="rId63"/>
    <p:sldId id="463" r:id="rId64"/>
    <p:sldId id="464" r:id="rId65"/>
    <p:sldId id="381" r:id="rId66"/>
    <p:sldId id="466" r:id="rId67"/>
    <p:sldId id="467" r:id="rId68"/>
    <p:sldId id="496" r:id="rId69"/>
    <p:sldId id="392" r:id="rId70"/>
    <p:sldId id="468" r:id="rId71"/>
    <p:sldId id="469" r:id="rId72"/>
    <p:sldId id="471" r:id="rId73"/>
    <p:sldId id="498" r:id="rId74"/>
    <p:sldId id="499" r:id="rId75"/>
    <p:sldId id="472" r:id="rId76"/>
    <p:sldId id="414" r:id="rId77"/>
    <p:sldId id="417" r:id="rId78"/>
    <p:sldId id="486" r:id="rId79"/>
    <p:sldId id="487" r:id="rId80"/>
    <p:sldId id="492" r:id="rId81"/>
    <p:sldId id="484" r:id="rId82"/>
    <p:sldId id="473" r:id="rId83"/>
    <p:sldId id="497" r:id="rId84"/>
    <p:sldId id="489" r:id="rId85"/>
    <p:sldId id="490" r:id="rId86"/>
    <p:sldId id="479" r:id="rId87"/>
    <p:sldId id="491" r:id="rId88"/>
    <p:sldId id="485" r:id="rId89"/>
    <p:sldId id="331" r:id="rId90"/>
    <p:sldId id="422" r:id="rId91"/>
    <p:sldId id="424" r:id="rId92"/>
    <p:sldId id="332" r:id="rId93"/>
    <p:sldId id="335" r:id="rId94"/>
    <p:sldId id="285" r:id="rId9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14" autoAdjust="0"/>
    <p:restoredTop sz="94628"/>
  </p:normalViewPr>
  <p:slideViewPr>
    <p:cSldViewPr>
      <p:cViewPr varScale="1">
        <p:scale>
          <a:sx n="115" d="100"/>
          <a:sy n="115" d="100"/>
        </p:scale>
        <p:origin x="75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50C10-98D0-4211-B29A-C22CE70D1F50}" type="datetimeFigureOut">
              <a:rPr lang="en-US" smtClean="0"/>
              <a:t>9/19/21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5D555-5CDC-4FCC-91D5-FAC9575A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1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AE672-BAB4-45C1-8484-073A95FC0907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A5591-6836-4B30-9C32-2830EE47BD88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89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2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and Content Contin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8E4E56-495E-4C57-A868-CA39B7D62027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B4D49-B232-4DBE-B274-2FD859375DB6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DA330C-AF70-41F6-98B3-C954C9248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130" y="339213"/>
            <a:ext cx="8686800" cy="61280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 marL="339725" indent="0">
              <a:defRPr/>
            </a:lvl4pPr>
            <a:lvl5pPr marL="339725" marR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50000"/>
              <a:buFont typeface="Courier New" panose="02070309020205020404" pitchFamily="49" charset="0"/>
              <a:buNone/>
              <a:tabLst/>
              <a:defRPr/>
            </a:lvl5pPr>
            <a:lvl6pPr marL="7047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83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354013">
              <a:buFont typeface="+mj-lt"/>
              <a:buAutoNum type="arabicPeriod"/>
              <a:defRPr/>
            </a:lvl1pPr>
            <a:lvl2pPr marL="682625" indent="-182563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9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E83F0D-D4CB-442C-8E99-49ACD7B7C7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1097280"/>
            <a:ext cx="8503920" cy="53949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536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de Contin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D49FA1-CEA8-40A6-AC1C-457224027556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A0163-616C-4ECA-B06C-DB88D64CFCAB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5645F34-6E0F-4748-9093-E1F6BBF3FA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341194"/>
            <a:ext cx="8503920" cy="61510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924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F6DF65-3E76-4AEB-9DAF-98EAC99554E2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0575F-4C62-4C92-8BDC-F5B9E97A3D4D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9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040" y="1097280"/>
            <a:ext cx="4160520" cy="539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097280"/>
            <a:ext cx="4160520" cy="539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0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9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D49FA1-CEA8-40A6-AC1C-457224027556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A0163-616C-4ECA-B06C-DB88D64CFCAB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3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98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47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48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6DE08D-D735-4990-80B8-5CBF011DC467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AE3D1-A298-4B99-8DD0-636DD70C3D4C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4642"/>
            <a:ext cx="8503920" cy="53949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547" y="6525388"/>
            <a:ext cx="6095139" cy="313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525388"/>
            <a:ext cx="1418405" cy="313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11480" y="1028159"/>
            <a:ext cx="83210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16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 spc="-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87338" indent="-177800" algn="l" defTabSz="914400" rtl="0" eaLnBrk="1" latinLnBrk="0" hangingPunct="1">
        <a:lnSpc>
          <a:spcPct val="90000"/>
        </a:lnSpc>
        <a:spcBef>
          <a:spcPts val="600"/>
        </a:spcBef>
        <a:spcAft>
          <a:spcPts val="0"/>
        </a:spcAft>
        <a:buClr>
          <a:schemeClr val="accent2">
            <a:lumMod val="75000"/>
          </a:schemeClr>
        </a:buClr>
        <a:buSzPct val="100000"/>
        <a:buFont typeface="Arial" panose="020B0604020202020204" pitchFamily="34" charset="0"/>
        <a:buChar char="•"/>
        <a:defRPr sz="2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519113" indent="-1825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§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736600" indent="-1825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341313" indent="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None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341313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accent1"/>
        </a:buClr>
        <a:buFont typeface="Calibri" pitchFamily="34" charset="0"/>
        <a:buNone/>
        <a:defRPr sz="2400" kern="1200">
          <a:solidFill>
            <a:schemeClr val="tx1">
              <a:lumMod val="95000"/>
              <a:lumOff val="5000"/>
            </a:schemeClr>
          </a:solidFill>
          <a:latin typeface="Consolas" panose="020B0609020204030204" pitchFamily="49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/>
              <a:t>Câu lệnh điều khiển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090652"/>
            <a:ext cx="6858000" cy="533400"/>
          </a:xfrm>
        </p:spPr>
        <p:txBody>
          <a:bodyPr>
            <a:noAutofit/>
          </a:bodyPr>
          <a:lstStyle/>
          <a:p>
            <a:pPr algn="r">
              <a:spcBef>
                <a:spcPts val="200"/>
              </a:spcBef>
            </a:pPr>
            <a:r>
              <a:rPr lang="en-US" sz="1800" b="1" i="1"/>
              <a:t>KHOA CÔNG NGHỆ THÔNG TIN</a:t>
            </a:r>
          </a:p>
          <a:p>
            <a:pPr algn="r">
              <a:spcBef>
                <a:spcPts val="200"/>
              </a:spcBef>
            </a:pPr>
            <a:r>
              <a:rPr lang="en-US" sz="1800" b="1" i="1"/>
              <a:t>ĐẠI HỌC MỞ TPHCM</a:t>
            </a:r>
          </a:p>
        </p:txBody>
      </p:sp>
    </p:spTree>
    <p:extLst>
      <p:ext uri="{BB962C8B-B14F-4D97-AF65-F5344CB8AC3E}">
        <p14:creationId xmlns:p14="http://schemas.microsoft.com/office/powerpoint/2010/main" val="184999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Biết cách sử dụng kết quả của biểu thức luận lý lựa chọn chuỗi câu lệnh được thực hiện.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Biết cách sử dụng lệnh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if-else</a:t>
            </a:r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 hoặc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switch</a:t>
            </a:r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 để giải quyết trường hợp có nhiều lựa chọn.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Biết cách sử dụng câu lệnh lặp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while</a:t>
            </a:r>
            <a:r>
              <a:rPr lang="en-US">
                <a:latin typeface="Courier New" pitchFamily="49" charset="0"/>
                <a:ea typeface="Tahoma" pitchFamily="34" charset="0"/>
                <a:cs typeface="Courier New" pitchFamily="49" charset="0"/>
              </a:rPr>
              <a:t>,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do-while</a:t>
            </a:r>
            <a:r>
              <a:rPr lang="en-US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hoặc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for</a:t>
            </a:r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 để thực hiện lặp lại các câu lệnh trong chương trình.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Biết cách sử dụng các câu lệnh lặp lồng vào nhau.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Biết cách sử dụng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break</a:t>
            </a:r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 và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continue</a:t>
            </a:r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 trong các câu lệnh lặp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Có khả năng phân tích vấn đề, sử dụng các câu lệnh thích hợp để viết một chương trình hoàn chỉnh.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0242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bước giải quyết vấn đề lập trình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solidFill>
                  <a:srgbClr val="002060"/>
                </a:solidFill>
              </a:rPr>
              <a:t>Phân tích (analysis):</a:t>
            </a:r>
            <a:r>
              <a:rPr lang="en-US"/>
              <a:t> </a:t>
            </a:r>
          </a:p>
          <a:p>
            <a:pPr algn="ctr">
              <a:lnSpc>
                <a:spcPct val="150000"/>
              </a:lnSpc>
              <a:buNone/>
            </a:pPr>
            <a:r>
              <a:rPr lang="en-US"/>
              <a:t>Xác định vấn đề. Mô tả các yêu cầu.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>
                <a:solidFill>
                  <a:srgbClr val="002060"/>
                </a:solidFill>
              </a:rPr>
              <a:t>Thiết kế (design):</a:t>
            </a:r>
            <a:r>
              <a:rPr lang="en-US"/>
              <a:t> </a:t>
            </a:r>
          </a:p>
          <a:p>
            <a:pPr algn="ctr">
              <a:lnSpc>
                <a:spcPct val="150000"/>
              </a:lnSpc>
              <a:buNone/>
            </a:pPr>
            <a:r>
              <a:rPr lang="en-US"/>
              <a:t>Mô tả thuật giải giải quyết vấn đề.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b="1" i="1">
                <a:solidFill>
                  <a:srgbClr val="002060"/>
                </a:solidFill>
              </a:rPr>
              <a:t>Lập trình (programming):</a:t>
            </a:r>
            <a:r>
              <a:rPr lang="en-US" b="1" i="1"/>
              <a:t> </a:t>
            </a:r>
          </a:p>
          <a:p>
            <a:pPr algn="ctr">
              <a:lnSpc>
                <a:spcPct val="150000"/>
              </a:lnSpc>
              <a:buNone/>
            </a:pPr>
            <a:r>
              <a:rPr lang="en-US"/>
              <a:t>Mô tả giải pháp bằng mã lệnh (chương trình).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>
                <a:solidFill>
                  <a:srgbClr val="002060"/>
                </a:solidFill>
              </a:rPr>
              <a:t>Bộ thử nghiệm (testing).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3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điều khiển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/>
              <a:t>Khái niệm câu lệnh</a:t>
            </a:r>
          </a:p>
          <a:p>
            <a:pPr>
              <a:spcBef>
                <a:spcPts val="0"/>
              </a:spcBef>
            </a:pPr>
            <a:r>
              <a:rPr lang="en-US"/>
              <a:t>Câu lệnh điều khiển rẽ nhánh</a:t>
            </a:r>
          </a:p>
          <a:p>
            <a:pPr>
              <a:spcBef>
                <a:spcPts val="0"/>
              </a:spcBef>
            </a:pPr>
            <a:r>
              <a:rPr lang="en-US"/>
              <a:t>Câu lệnh điều khiển lựa chọn</a:t>
            </a:r>
          </a:p>
          <a:p>
            <a:pPr>
              <a:spcBef>
                <a:spcPts val="0"/>
              </a:spcBef>
            </a:pPr>
            <a:r>
              <a:rPr lang="en-US"/>
              <a:t>Câu lệnh lặp</a:t>
            </a:r>
          </a:p>
          <a:p>
            <a:pPr>
              <a:spcBef>
                <a:spcPts val="0"/>
              </a:spcBef>
            </a:pPr>
            <a:r>
              <a:rPr lang="en-US"/>
              <a:t>Lệnh break, contiue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8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Khái niệm câu lệnh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/>
              <a:t>Khái niệm</a:t>
            </a:r>
          </a:p>
          <a:p>
            <a:pPr>
              <a:spcBef>
                <a:spcPts val="0"/>
              </a:spcBef>
            </a:pPr>
            <a:r>
              <a:rPr lang="en-GB"/>
              <a:t>Khối lệnh</a:t>
            </a:r>
          </a:p>
          <a:p>
            <a:pPr>
              <a:spcBef>
                <a:spcPts val="0"/>
              </a:spcBef>
            </a:pPr>
            <a:r>
              <a:rPr lang="en-GB"/>
              <a:t>Phân loại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0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>
            <a:noAutofit/>
          </a:bodyPr>
          <a:lstStyle/>
          <a:p>
            <a:r>
              <a:rPr lang="en-US"/>
              <a:t>Khái niệm câu lệnh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/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(statement)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khai</a:t>
            </a:r>
            <a:r>
              <a:rPr lang="en-US" sz="2600" dirty="0"/>
              <a:t> </a:t>
            </a:r>
            <a:r>
              <a:rPr lang="en-US" sz="2600" dirty="0" err="1"/>
              <a:t>báo</a:t>
            </a:r>
            <a:r>
              <a:rPr lang="en-US" sz="2600" dirty="0"/>
              <a:t> </a:t>
            </a:r>
            <a:r>
              <a:rPr lang="en-US" sz="2600" dirty="0" err="1"/>
              <a:t>hoặc</a:t>
            </a:r>
            <a:r>
              <a:rPr lang="en-US" sz="2600" dirty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biểu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thúc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</a:t>
            </a:r>
            <a:r>
              <a:rPr lang="en-US" sz="2600" dirty="0" err="1"/>
              <a:t>dấu</a:t>
            </a:r>
            <a:r>
              <a:rPr lang="en-US" sz="2600" dirty="0"/>
              <a:t> </a:t>
            </a:r>
            <a:r>
              <a:rPr lang="en-US" sz="2600" dirty="0" err="1"/>
              <a:t>chấm</a:t>
            </a:r>
            <a:r>
              <a:rPr lang="en-US" sz="2600" dirty="0"/>
              <a:t> </a:t>
            </a:r>
            <a:r>
              <a:rPr lang="en-US" sz="2600" dirty="0" err="1"/>
              <a:t>phẩy</a:t>
            </a:r>
            <a:r>
              <a:rPr lang="en-US" sz="2600" dirty="0"/>
              <a:t> </a:t>
            </a:r>
            <a:r>
              <a:rPr lang="en-US" sz="2600" b="1" dirty="0"/>
              <a:t>;</a:t>
            </a:r>
            <a:r>
              <a:rPr lang="en-US" sz="2600" dirty="0"/>
              <a:t> </a:t>
            </a:r>
            <a:r>
              <a:rPr lang="en-US" sz="2600" dirty="0" err="1"/>
              <a:t>hoặc</a:t>
            </a:r>
            <a:r>
              <a:rPr lang="en-US" sz="2600" dirty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khối</a:t>
            </a:r>
            <a:r>
              <a:rPr lang="en-US" sz="2600" dirty="0"/>
              <a:t> </a:t>
            </a: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dirty="0" err="1"/>
              <a:t>đặt</a:t>
            </a:r>
            <a:r>
              <a:rPr lang="en-US" sz="2600" dirty="0"/>
              <a:t> </a:t>
            </a:r>
            <a:r>
              <a:rPr lang="en-US" sz="2600" dirty="0" err="1"/>
              <a:t>giữa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dấu</a:t>
            </a:r>
            <a:r>
              <a:rPr lang="en-US" sz="2600" dirty="0"/>
              <a:t> </a:t>
            </a:r>
            <a:r>
              <a:rPr lang="en-US" sz="2600" b="1" dirty="0"/>
              <a:t>{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b="1" dirty="0"/>
              <a:t>}</a:t>
            </a:r>
            <a:r>
              <a:rPr lang="en-US" sz="2600" dirty="0"/>
              <a:t> </a:t>
            </a:r>
            <a:r>
              <a:rPr lang="en-US" sz="2600" dirty="0" err="1"/>
              <a:t>hoặc</a:t>
            </a:r>
            <a:r>
              <a:rPr lang="en-US" sz="2600" dirty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"</a:t>
            </a:r>
            <a:r>
              <a:rPr lang="en-US" sz="2600" dirty="0" err="1"/>
              <a:t>câu</a:t>
            </a:r>
            <a:r>
              <a:rPr lang="en-US" sz="2600" dirty="0"/>
              <a:t> </a:t>
            </a: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dirty="0" err="1"/>
              <a:t>điều</a:t>
            </a:r>
            <a:r>
              <a:rPr lang="en-US" sz="2600" dirty="0"/>
              <a:t> </a:t>
            </a:r>
            <a:r>
              <a:rPr lang="en-US" sz="2600" dirty="0" err="1"/>
              <a:t>khiển</a:t>
            </a:r>
            <a:r>
              <a:rPr lang="en-US" sz="2600" dirty="0"/>
              <a:t>".</a:t>
            </a:r>
          </a:p>
          <a:p>
            <a:pPr>
              <a:spcBef>
                <a:spcPts val="0"/>
              </a:spcBef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int a;</a:t>
            </a: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a = 5;</a:t>
            </a: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if (a == b)</a:t>
            </a: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&lt;&lt; “Hai so bang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nhau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&lt;&lt; “Hai so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bang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nhau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…</a:t>
            </a:r>
            <a:endParaRPr lang="en-US" sz="2600" dirty="0"/>
          </a:p>
          <a:p>
            <a:pPr marL="274320" lvl="2" indent="-27432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2600" dirty="0" err="1"/>
              <a:t>Câu</a:t>
            </a:r>
            <a:r>
              <a:rPr lang="en-US" sz="2600" dirty="0"/>
              <a:t> </a:t>
            </a: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dirty="0" err="1"/>
              <a:t>rỗng</a:t>
            </a:r>
            <a:r>
              <a:rPr lang="en-US" sz="2600" dirty="0"/>
              <a:t> (empty statement): </a:t>
            </a:r>
            <a:r>
              <a:rPr lang="en-US" sz="2600" dirty="0" err="1"/>
              <a:t>chỉ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dấu</a:t>
            </a:r>
            <a:r>
              <a:rPr lang="en-US" sz="2600" dirty="0"/>
              <a:t> </a:t>
            </a:r>
            <a:r>
              <a:rPr lang="en-US" sz="2600" dirty="0" err="1"/>
              <a:t>chấm</a:t>
            </a:r>
            <a:r>
              <a:rPr lang="en-US" sz="2600" dirty="0"/>
              <a:t> </a:t>
            </a:r>
            <a:r>
              <a:rPr lang="en-US" sz="2600" dirty="0" err="1"/>
              <a:t>phẩy</a:t>
            </a:r>
            <a:r>
              <a:rPr lang="en-US" sz="2600" dirty="0"/>
              <a:t> </a:t>
            </a:r>
            <a:r>
              <a:rPr lang="en-US" sz="2600" b="1" dirty="0"/>
              <a:t>;</a:t>
            </a:r>
            <a:endParaRPr lang="en-US" sz="2600" b="1" dirty="0">
              <a:latin typeface="Courier New" pitchFamily="49" charset="0"/>
              <a:cs typeface="Courier New" pitchFamily="49" charset="0"/>
            </a:endParaRPr>
          </a:p>
          <a:p>
            <a:pPr marL="548640" lvl="2" indent="0"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5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>
            <a:noAutofit/>
          </a:bodyPr>
          <a:lstStyle/>
          <a:p>
            <a:r>
              <a:rPr lang="en-US"/>
              <a:t>Khối lệnh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(block):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ngoặc</a:t>
            </a:r>
            <a:r>
              <a:rPr lang="en-US" dirty="0"/>
              <a:t> </a:t>
            </a:r>
            <a:r>
              <a:rPr lang="en-US" b="1" dirty="0"/>
              <a:t>{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}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latin typeface="Courier New" pitchFamily="49" charset="0"/>
              <a:cs typeface="Courier New" pitchFamily="49" charset="0"/>
            </a:endParaRP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247458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Câu_lệnh_1;</a:t>
            </a:r>
          </a:p>
          <a:p>
            <a:pPr marL="1247458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Câu_lệnh_2;</a:t>
            </a:r>
          </a:p>
          <a:p>
            <a:pPr marL="1247458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marL="1247458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Câu_lệnh_n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2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497" y="5501640"/>
            <a:ext cx="2027903" cy="44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1. Lệnh tuần tự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</a:t>
            </a:fld>
            <a:endParaRPr lang="en-US"/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2848897" y="5515896"/>
            <a:ext cx="2256503" cy="44196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/>
              <a:buNone/>
            </a:pPr>
            <a:r>
              <a:rPr lang="en-US" sz="2000"/>
              <a:t>2. Lệnh rẽ nhánh</a:t>
            </a:r>
          </a:p>
        </p:txBody>
      </p:sp>
      <p:sp>
        <p:nvSpPr>
          <p:cNvPr id="14" name="Content Placeholder 5"/>
          <p:cNvSpPr txBox="1">
            <a:spLocks/>
          </p:cNvSpPr>
          <p:nvPr/>
        </p:nvSpPr>
        <p:spPr>
          <a:xfrm>
            <a:off x="6526346" y="5501146"/>
            <a:ext cx="2027903" cy="4419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/>
              <a:buNone/>
            </a:pPr>
            <a:r>
              <a:rPr lang="en-US" sz="2000"/>
              <a:t>3. Lệnh lặp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33400" y="228600"/>
            <a:ext cx="8229600" cy="8382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solidFill>
                  <a:schemeClr val="tx1"/>
                </a:solidFill>
                <a:latin typeface="+mj-lt"/>
              </a:rPr>
              <a:t>Phân loại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43" y="1828800"/>
            <a:ext cx="1219200" cy="3037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00"/>
            <a:ext cx="3602291" cy="2520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090" y="2286000"/>
            <a:ext cx="3331910" cy="2538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3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điều khiển rẽ nhánh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/>
              <a:t>Cú pháp</a:t>
            </a:r>
          </a:p>
          <a:p>
            <a:pPr>
              <a:spcBef>
                <a:spcPts val="0"/>
              </a:spcBef>
            </a:pPr>
            <a:r>
              <a:rPr lang="en-GB"/>
              <a:t>Ví dụ</a:t>
            </a:r>
          </a:p>
          <a:p>
            <a:pPr>
              <a:spcBef>
                <a:spcPts val="0"/>
              </a:spcBef>
            </a:pPr>
            <a:r>
              <a:rPr lang="en-GB"/>
              <a:t>Một số lỗi thường gặp</a:t>
            </a:r>
          </a:p>
          <a:p>
            <a:pPr>
              <a:spcBef>
                <a:spcPts val="0"/>
              </a:spcBef>
            </a:pPr>
            <a:r>
              <a:rPr lang="en-GB"/>
              <a:t>Cú pháp đa chiều</a:t>
            </a:r>
          </a:p>
          <a:p>
            <a:pPr>
              <a:spcBef>
                <a:spcPts val="0"/>
              </a:spcBef>
            </a:pPr>
            <a:r>
              <a:rPr lang="en-GB"/>
              <a:t>Lưu ý</a:t>
            </a:r>
          </a:p>
          <a:p>
            <a:pPr>
              <a:spcBef>
                <a:spcPts val="0"/>
              </a:spcBef>
            </a:pPr>
            <a:r>
              <a:rPr lang="en-GB"/>
              <a:t>Toán tử điều kiện</a:t>
            </a:r>
          </a:p>
          <a:p>
            <a:pPr marL="0" indent="0">
              <a:spcBef>
                <a:spcPts val="0"/>
              </a:spcBef>
              <a:buNone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8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7914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/>
              <a:t>Cú pháp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10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835742" y="1676400"/>
            <a:ext cx="3736258" cy="1752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if (condition)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statement_1;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[else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statement_2;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]</a:t>
            </a:r>
            <a:endParaRPr lang="en-GB" sz="2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4742" y="3692016"/>
            <a:ext cx="8384458" cy="263258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0"/>
              </a:spcBef>
            </a:pPr>
            <a:r>
              <a:rPr lang="en-GB" sz="2600" dirty="0" err="1">
                <a:latin typeface="+mj-lt"/>
              </a:rPr>
              <a:t>Trong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đó</a:t>
            </a:r>
            <a:r>
              <a:rPr lang="en-GB" sz="2600" dirty="0">
                <a:latin typeface="+mj-lt"/>
              </a:rPr>
              <a:t>: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</a:rPr>
              <a:t>condition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điều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):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một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luận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trả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về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đúng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(true)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hoặc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sai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(false).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</a:rPr>
              <a:t>statement_1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statement_2 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câu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1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câu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2)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: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thể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rỗng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đơn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hoặc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khối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dirty="0" err="1">
                <a:solidFill>
                  <a:schemeClr val="tx1"/>
                </a:solidFill>
                <a:latin typeface="+mj-lt"/>
              </a:rPr>
              <a:t>Dấu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[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]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cho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biết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nội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dung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bên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trong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thể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khuyết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11" name="Title 7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latin typeface="+mj-lt"/>
              </a:rPr>
              <a:t>if-else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972" y="1251600"/>
            <a:ext cx="3816522" cy="271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11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1066800"/>
            <a:ext cx="8229600" cy="2163096"/>
          </a:xfrm>
          <a:prstGeom prst="rect">
            <a:avLst/>
          </a:prstGeom>
          <a:noFill/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 dirty="0" err="1">
                <a:latin typeface="+mj-lt"/>
              </a:rPr>
              <a:t>Ví</a:t>
            </a:r>
            <a:r>
              <a:rPr lang="en-GB" sz="2600" b="1" dirty="0">
                <a:latin typeface="+mj-lt"/>
              </a:rPr>
              <a:t> </a:t>
            </a:r>
            <a:r>
              <a:rPr lang="en-GB" sz="2600" b="1" dirty="0" err="1">
                <a:latin typeface="+mj-lt"/>
              </a:rPr>
              <a:t>dụ</a:t>
            </a:r>
            <a:r>
              <a:rPr lang="en-GB" sz="2600" b="1" dirty="0">
                <a:latin typeface="+mj-lt"/>
              </a:rPr>
              <a:t> 1: 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dirty="0" err="1">
                <a:latin typeface="+mj-lt"/>
              </a:rPr>
              <a:t>Viết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chương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trình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nhận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vào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điểm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trung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bình</a:t>
            </a:r>
            <a:r>
              <a:rPr lang="en-GB" sz="2600" dirty="0">
                <a:latin typeface="+mj-lt"/>
              </a:rPr>
              <a:t> 1 </a:t>
            </a:r>
            <a:r>
              <a:rPr lang="en-GB" sz="2600" dirty="0" err="1">
                <a:latin typeface="+mj-lt"/>
              </a:rPr>
              <a:t>môn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học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của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một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sinh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viên</a:t>
            </a:r>
            <a:r>
              <a:rPr lang="en-GB" sz="2600" dirty="0">
                <a:latin typeface="+mj-lt"/>
              </a:rPr>
              <a:t>. </a:t>
            </a:r>
            <a:r>
              <a:rPr lang="en-GB" sz="2600" dirty="0" err="1">
                <a:latin typeface="+mj-lt"/>
              </a:rPr>
              <a:t>Xuất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ra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màn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hình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thông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báo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cho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biết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sinh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viên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này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đậu</a:t>
            </a:r>
            <a:r>
              <a:rPr lang="en-GB" sz="2600" dirty="0">
                <a:latin typeface="+mj-lt"/>
              </a:rPr>
              <a:t> hay </a:t>
            </a:r>
            <a:r>
              <a:rPr lang="en-GB" sz="2600" dirty="0" err="1">
                <a:latin typeface="+mj-lt"/>
              </a:rPr>
              <a:t>rớt</a:t>
            </a:r>
            <a:r>
              <a:rPr lang="en-GB" sz="2600" dirty="0">
                <a:latin typeface="+mj-lt"/>
              </a:rPr>
              <a:t>? </a:t>
            </a:r>
            <a:r>
              <a:rPr lang="en-GB" sz="2600" dirty="0" err="1">
                <a:latin typeface="+mj-lt"/>
              </a:rPr>
              <a:t>Biết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rằng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nếu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điểm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trung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bình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từ</a:t>
            </a:r>
            <a:r>
              <a:rPr lang="en-GB" sz="2600" dirty="0">
                <a:latin typeface="+mj-lt"/>
              </a:rPr>
              <a:t> 5 </a:t>
            </a:r>
            <a:r>
              <a:rPr lang="en-GB" sz="2600" dirty="0" err="1">
                <a:latin typeface="+mj-lt"/>
              </a:rPr>
              <a:t>trở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lên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là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đậu</a:t>
            </a:r>
            <a:r>
              <a:rPr lang="en-GB" sz="2600" dirty="0">
                <a:latin typeface="+mj-lt"/>
              </a:rPr>
              <a:t>, </a:t>
            </a:r>
            <a:r>
              <a:rPr lang="en-GB" sz="2600" dirty="0" err="1">
                <a:latin typeface="+mj-lt"/>
              </a:rPr>
              <a:t>ngược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lại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là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rớt</a:t>
            </a:r>
            <a:r>
              <a:rPr lang="en-GB" sz="2600" dirty="0">
                <a:latin typeface="+mj-lt"/>
              </a:rPr>
              <a:t>. 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endParaRPr lang="en-GB" sz="2600" dirty="0">
              <a:latin typeface="+mj-lt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 dirty="0" err="1">
                <a:latin typeface="+mj-lt"/>
              </a:rPr>
              <a:t>Phân</a:t>
            </a:r>
            <a:r>
              <a:rPr lang="en-GB" sz="2600" b="1" dirty="0">
                <a:latin typeface="+mj-lt"/>
              </a:rPr>
              <a:t> </a:t>
            </a:r>
            <a:r>
              <a:rPr lang="en-GB" sz="2600" b="1" dirty="0" err="1">
                <a:latin typeface="+mj-lt"/>
              </a:rPr>
              <a:t>tích</a:t>
            </a:r>
            <a:r>
              <a:rPr lang="en-GB" sz="2600" b="1" dirty="0">
                <a:latin typeface="+mj-lt"/>
              </a:rPr>
              <a:t> (</a:t>
            </a:r>
            <a:r>
              <a:rPr lang="en-US" sz="2600" b="1" dirty="0">
                <a:latin typeface="+mj-lt"/>
              </a:rPr>
              <a:t>analysis):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+mj-lt"/>
              </a:rPr>
              <a:t>Input: </a:t>
            </a:r>
            <a:r>
              <a:rPr lang="en-US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diem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sz="2600" dirty="0" err="1">
                <a:solidFill>
                  <a:schemeClr val="tx1"/>
                </a:solidFill>
                <a:latin typeface="+mj-lt"/>
              </a:rPr>
              <a:t>điểm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j-lt"/>
              </a:rPr>
              <a:t>trung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j-lt"/>
              </a:rPr>
              <a:t>bình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+mj-lt"/>
              </a:rPr>
              <a:t>Output: </a:t>
            </a:r>
            <a:r>
              <a:rPr lang="en-US" sz="2600" dirty="0" err="1">
                <a:solidFill>
                  <a:schemeClr val="tx1"/>
                </a:solidFill>
                <a:latin typeface="+mj-lt"/>
              </a:rPr>
              <a:t>xuất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j-lt"/>
              </a:rPr>
              <a:t>thông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j-lt"/>
              </a:rPr>
              <a:t>báo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+mj-lt"/>
                <a:cs typeface="Courier New" pitchFamily="49" charset="0"/>
              </a:rPr>
              <a:t>Dau</a:t>
            </a:r>
            <a:r>
              <a:rPr lang="en-US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chemeClr val="tx1"/>
                </a:solidFill>
                <a:latin typeface="+mj-lt"/>
              </a:rPr>
              <a:t>/ </a:t>
            </a:r>
            <a:r>
              <a:rPr lang="en-US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Rot</a:t>
            </a:r>
            <a:endParaRPr lang="en-GB" sz="2600" b="1" dirty="0">
              <a:solidFill>
                <a:schemeClr val="tx1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Title 7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latin typeface="+mj-lt"/>
              </a:rPr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378852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12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0" y="1066800"/>
            <a:ext cx="4404610" cy="4724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838" indent="-273050">
              <a:lnSpc>
                <a:spcPct val="90000"/>
              </a:lnSpc>
              <a:spcBef>
                <a:spcPts val="0"/>
              </a:spcBef>
            </a:pPr>
            <a:r>
              <a:rPr lang="en-GB" sz="2600" b="1" dirty="0" err="1">
                <a:latin typeface="+mj-lt"/>
              </a:rPr>
              <a:t>Ví</a:t>
            </a:r>
            <a:r>
              <a:rPr lang="en-GB" sz="2600" b="1" dirty="0">
                <a:latin typeface="+mj-lt"/>
              </a:rPr>
              <a:t> </a:t>
            </a:r>
            <a:r>
              <a:rPr lang="en-GB" sz="2600" b="1" dirty="0" err="1">
                <a:latin typeface="+mj-lt"/>
              </a:rPr>
              <a:t>dụ</a:t>
            </a:r>
            <a:r>
              <a:rPr lang="en-GB" sz="2600" b="1" dirty="0">
                <a:latin typeface="+mj-lt"/>
              </a:rPr>
              <a:t> 1: 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endParaRPr lang="en-GB" sz="2600" dirty="0">
              <a:latin typeface="+mj-lt"/>
            </a:endParaRPr>
          </a:p>
          <a:p>
            <a:pPr marL="736600" indent="-27305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 dirty="0" err="1">
                <a:latin typeface="+mj-lt"/>
              </a:rPr>
              <a:t>Thiết</a:t>
            </a:r>
            <a:r>
              <a:rPr lang="en-GB" sz="2600" b="1" dirty="0">
                <a:latin typeface="+mj-lt"/>
              </a:rPr>
              <a:t> </a:t>
            </a:r>
            <a:r>
              <a:rPr lang="en-GB" sz="2600" b="1" dirty="0" err="1">
                <a:latin typeface="+mj-lt"/>
              </a:rPr>
              <a:t>kế</a:t>
            </a:r>
            <a:r>
              <a:rPr lang="en-GB" sz="2600" b="1" dirty="0">
                <a:latin typeface="+mj-lt"/>
              </a:rPr>
              <a:t> (</a:t>
            </a:r>
            <a:r>
              <a:rPr lang="en-US" sz="2600" b="1" dirty="0">
                <a:latin typeface="+mj-lt"/>
              </a:rPr>
              <a:t>design)</a:t>
            </a:r>
          </a:p>
          <a:p>
            <a:pPr marL="736600" indent="-273050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 dirty="0" err="1">
                <a:latin typeface="+mj-lt"/>
              </a:rPr>
              <a:t>Nhập</a:t>
            </a:r>
            <a:r>
              <a:rPr lang="en-US" sz="2600" dirty="0">
                <a:latin typeface="+mj-lt"/>
              </a:rPr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diem</a:t>
            </a:r>
          </a:p>
          <a:p>
            <a:pPr marL="736600" indent="-273050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 dirty="0" err="1">
                <a:latin typeface="+mj-lt"/>
              </a:rPr>
              <a:t>Nếu</a:t>
            </a:r>
            <a:r>
              <a:rPr lang="en-US" sz="2600" dirty="0">
                <a:latin typeface="+mj-lt"/>
              </a:rPr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diem &gt;= 5 </a:t>
            </a:r>
            <a:r>
              <a:rPr lang="en-US" sz="2600" dirty="0" err="1">
                <a:latin typeface="+mj-lt"/>
              </a:rPr>
              <a:t>đúng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thì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xuất</a:t>
            </a:r>
            <a:r>
              <a:rPr lang="en-US" sz="2600" dirty="0">
                <a:latin typeface="+mj-lt"/>
              </a:rPr>
              <a:t>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Dau</a:t>
            </a:r>
            <a:endParaRPr lang="en-US" sz="2600" b="1" dirty="0">
              <a:latin typeface="Courier New" pitchFamily="49" charset="0"/>
              <a:cs typeface="Courier New" pitchFamily="49" charset="0"/>
            </a:endParaRPr>
          </a:p>
          <a:p>
            <a:pPr marL="736600" indent="-273050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 dirty="0" err="1">
                <a:latin typeface="+mj-lt"/>
              </a:rPr>
              <a:t>Ngược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lại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thì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xuất</a:t>
            </a:r>
            <a:r>
              <a:rPr lang="en-US" sz="2600" dirty="0">
                <a:latin typeface="+mj-lt"/>
              </a:rPr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Rot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610" y="1219200"/>
            <a:ext cx="4501551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7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latin typeface="+mj-lt"/>
              </a:rPr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179088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13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0" y="1066800"/>
            <a:ext cx="4800600" cy="1538748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838" indent="-273050">
              <a:lnSpc>
                <a:spcPct val="11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1: </a:t>
            </a:r>
          </a:p>
          <a:p>
            <a:pPr marL="50958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Thiết kế (</a:t>
            </a:r>
            <a:r>
              <a:rPr lang="en-US" sz="2600" b="1">
                <a:latin typeface="+mj-lt"/>
              </a:rPr>
              <a:t>design)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3505200" y="1524000"/>
            <a:ext cx="5633885" cy="419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 err="1">
                <a:latin typeface="+mj-lt"/>
              </a:rPr>
              <a:t>Lập</a:t>
            </a:r>
            <a:r>
              <a:rPr lang="en-US" sz="2600" b="1" dirty="0">
                <a:latin typeface="+mj-lt"/>
              </a:rPr>
              <a:t> </a:t>
            </a:r>
            <a:r>
              <a:rPr lang="en-US" sz="2600" b="1" dirty="0" err="1">
                <a:latin typeface="+mj-lt"/>
              </a:rPr>
              <a:t>trình</a:t>
            </a:r>
            <a:r>
              <a:rPr lang="en-US" sz="2600" b="1" dirty="0">
                <a:latin typeface="+mj-lt"/>
              </a:rPr>
              <a:t> (programming)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double diem;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diem: ";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&gt;&gt; diem;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(diem &gt;= 5)</a:t>
            </a:r>
          </a:p>
          <a:p>
            <a:pPr marL="13795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6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6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Dau</a:t>
            </a:r>
            <a:r>
              <a:rPr lang="en-US" sz="26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\n";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13795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6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&lt;&lt; "Rot\n";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return 0;</a:t>
            </a:r>
            <a:endParaRPr lang="en-US" sz="26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9" y="2580564"/>
            <a:ext cx="3528769" cy="301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latin typeface="+mj-lt"/>
              </a:rPr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161453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92481"/>
              </p:ext>
            </p:extLst>
          </p:nvPr>
        </p:nvGraphicFramePr>
        <p:xfrm>
          <a:off x="304800" y="3276600"/>
          <a:ext cx="2964427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diem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="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="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quả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7.2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Dau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Dau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4.9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Rot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tent Placeholder 5"/>
          <p:cNvSpPr txBox="1">
            <a:spLocks/>
          </p:cNvSpPr>
          <p:nvPr/>
        </p:nvSpPr>
        <p:spPr>
          <a:xfrm>
            <a:off x="0" y="1066800"/>
            <a:ext cx="4800600" cy="1538748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838" indent="-273050">
              <a:lnSpc>
                <a:spcPct val="11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1: </a:t>
            </a:r>
          </a:p>
          <a:p>
            <a:pPr marL="50958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Kiểm thử (testing)</a:t>
            </a:r>
            <a:endParaRPr lang="en-US" sz="2600" b="1">
              <a:latin typeface="+mj-lt"/>
            </a:endParaRPr>
          </a:p>
        </p:txBody>
      </p:sp>
      <p:sp>
        <p:nvSpPr>
          <p:cNvPr id="13" name="Content Placeholder 5"/>
          <p:cNvSpPr txBox="1">
            <a:spLocks/>
          </p:cNvSpPr>
          <p:nvPr/>
        </p:nvSpPr>
        <p:spPr>
          <a:xfrm>
            <a:off x="3541426" y="1524000"/>
            <a:ext cx="5633885" cy="419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+mj-lt"/>
              </a:rPr>
              <a:t>Lập trình (programming)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double diem;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cout &lt;&lt; "Nhap diem: ";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cin &gt;&gt; diem;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(diem &gt;= 5)</a:t>
            </a:r>
          </a:p>
          <a:p>
            <a:pPr marL="13795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 &lt;&lt; "Dau\n";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13795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 &lt;&lt; "Rot\n";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Courier New" pitchFamily="49" charset="0"/>
                <a:cs typeface="Courier New" pitchFamily="49" charset="0"/>
              </a:rPr>
              <a:t>return 0;</a:t>
            </a:r>
            <a:endParaRPr lang="en-US" sz="26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762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latin typeface="+mj-lt"/>
              </a:rPr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3256096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15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1066800"/>
            <a:ext cx="84582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2: 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>
                <a:latin typeface="+mj-lt"/>
              </a:rPr>
              <a:t>Viết chương trình tìm số lớn nhất của 2 số nguyên a và b.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22787" y="2708788"/>
            <a:ext cx="8458200" cy="2163096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Phân tích (</a:t>
            </a:r>
            <a:r>
              <a:rPr lang="en-US" sz="2600" b="1">
                <a:latin typeface="+mj-lt"/>
              </a:rPr>
              <a:t>analysis):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Input: 2 số nguyên a và b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Output: xuất thông báo max (số lớn nhất của a và b)</a:t>
            </a:r>
            <a:endParaRPr lang="en-GB" sz="2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3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16</a:t>
            </a:fld>
            <a:endParaRPr lang="en-US"/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457200" y="1066800"/>
            <a:ext cx="84582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600" b="1">
                <a:latin typeface="+mj-lt"/>
              </a:rPr>
              <a:t>Ví dụ 2: </a:t>
            </a:r>
          </a:p>
        </p:txBody>
      </p:sp>
      <p:sp>
        <p:nvSpPr>
          <p:cNvPr id="13" name="Content Placeholder 5"/>
          <p:cNvSpPr txBox="1">
            <a:spLocks/>
          </p:cNvSpPr>
          <p:nvPr/>
        </p:nvSpPr>
        <p:spPr>
          <a:xfrm>
            <a:off x="422787" y="2286000"/>
            <a:ext cx="5059452" cy="258588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Thiết kế (</a:t>
            </a:r>
            <a:r>
              <a:rPr lang="en-US" sz="2600" b="1">
                <a:latin typeface="+mj-lt"/>
              </a:rPr>
              <a:t>design)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latin typeface="+mj-lt"/>
              </a:rPr>
              <a:t>Nhập 2 số nguyên a, b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latin typeface="+mj-lt"/>
              </a:rPr>
              <a:t>Nếu </a:t>
            </a:r>
            <a:r>
              <a:rPr lang="en-US" sz="2600" b="1">
                <a:latin typeface="Courier New" pitchFamily="49" charset="0"/>
                <a:cs typeface="Courier New" pitchFamily="49" charset="0"/>
              </a:rPr>
              <a:t>a &gt;= b </a:t>
            </a:r>
            <a:r>
              <a:rPr lang="en-US" sz="2600">
                <a:latin typeface="+mj-lt"/>
              </a:rPr>
              <a:t>đúng thì </a:t>
            </a:r>
            <a:r>
              <a:rPr lang="en-US" sz="2600" b="1">
                <a:latin typeface="Courier New" pitchFamily="49" charset="0"/>
                <a:cs typeface="Courier New" pitchFamily="49" charset="0"/>
              </a:rPr>
              <a:t>max = a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latin typeface="+mj-lt"/>
              </a:rPr>
              <a:t>Ngược lại thì </a:t>
            </a:r>
            <a:r>
              <a:rPr lang="en-US" sz="2600" b="1">
                <a:latin typeface="Courier New" pitchFamily="49" charset="0"/>
                <a:cs typeface="Courier New" pitchFamily="49" charset="0"/>
              </a:rPr>
              <a:t>max = b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GB" sz="2600">
                <a:solidFill>
                  <a:schemeClr val="tx1"/>
                </a:solidFill>
                <a:latin typeface="+mj-lt"/>
              </a:rPr>
              <a:t>Xuất max</a:t>
            </a:r>
            <a:endParaRPr lang="en-US" sz="26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333" y="1676398"/>
            <a:ext cx="3418171" cy="432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4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17</a:t>
            </a:fld>
            <a:endParaRPr lang="en-US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3505198" y="1371600"/>
            <a:ext cx="5633885" cy="419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+mj-lt"/>
              </a:rPr>
              <a:t>Lập trình (programming)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 a, b, max;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“Nhap so thu nhat: ";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a;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000" b="1">
                <a:latin typeface="Courier New" pitchFamily="49" charset="0"/>
                <a:cs typeface="Courier New" pitchFamily="49" charset="0"/>
              </a:rPr>
              <a:t>cout &lt;&lt;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“Nhap so thu hai: “;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b;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(a &gt;= b)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max = a;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max = b;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“So lon nhat la: “ &lt;&lt; max &lt;&lt; endl;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000" b="1">
                <a:latin typeface="Courier New" pitchFamily="49" charset="0"/>
                <a:cs typeface="Courier New" pitchFamily="49" charset="0"/>
              </a:rPr>
              <a:t>return 0;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57200" y="1066800"/>
            <a:ext cx="30480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2: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Thiết kế (</a:t>
            </a:r>
            <a:r>
              <a:rPr lang="en-US" sz="2600" b="1">
                <a:latin typeface="+mj-lt"/>
              </a:rPr>
              <a:t>design)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 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66" y="2286000"/>
            <a:ext cx="3161934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3146369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18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57200" y="1066800"/>
            <a:ext cx="30480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2: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+mj-lt"/>
              </a:rPr>
              <a:t>Kiểm thử (testing)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21615"/>
              </p:ext>
            </p:extLst>
          </p:nvPr>
        </p:nvGraphicFramePr>
        <p:xfrm>
          <a:off x="76199" y="2971800"/>
          <a:ext cx="3429001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1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a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b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quả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So lon nhat</a:t>
                      </a:r>
                      <a:r>
                        <a:rPr lang="en-US" sz="26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la 5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So lon nhat</a:t>
                      </a:r>
                      <a:r>
                        <a:rPr lang="en-US" sz="26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la 5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So lon nhat</a:t>
                      </a:r>
                      <a:r>
                        <a:rPr lang="en-US" sz="26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la 9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3505198" y="1371600"/>
            <a:ext cx="5633885" cy="419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+mj-lt"/>
              </a:rPr>
              <a:t>Lập trình (programming)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#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 a, b, max;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“Nhap so thu nhat: ";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a;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000" b="1">
                <a:latin typeface="Courier New" pitchFamily="49" charset="0"/>
                <a:cs typeface="Courier New" pitchFamily="49" charset="0"/>
              </a:rPr>
              <a:t>cout &lt;&lt;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“Nhap so thu hai: “;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b;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(a &gt;= b)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max = a;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max = b;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“So lon nhat la: “ &lt;&lt; max &lt;&lt; endl;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000" b="1">
                <a:latin typeface="Courier New" pitchFamily="49" charset="0"/>
                <a:cs typeface="Courier New" pitchFamily="49" charset="0"/>
              </a:rPr>
              <a:t>return 0;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1414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19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1066800"/>
            <a:ext cx="84582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3: 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>
                <a:latin typeface="+mj-lt"/>
              </a:rPr>
              <a:t>Viết chương trình tìm giá trị tuyệt đối của một số nguyên n.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22787" y="2708788"/>
            <a:ext cx="8458200" cy="2163096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Phân tích (</a:t>
            </a:r>
            <a:r>
              <a:rPr lang="en-US" sz="2600" b="1">
                <a:latin typeface="+mj-lt"/>
              </a:rPr>
              <a:t>analysis):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Input: số nguyên n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Output: kết quả trị tuyết đối của n</a:t>
            </a:r>
            <a:endParaRPr lang="en-GB" sz="2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20</a:t>
            </a:fld>
            <a:endParaRPr lang="en-US"/>
          </a:p>
        </p:txBody>
      </p:sp>
      <p:sp>
        <p:nvSpPr>
          <p:cNvPr id="13" name="Content Placeholder 5"/>
          <p:cNvSpPr txBox="1">
            <a:spLocks/>
          </p:cNvSpPr>
          <p:nvPr/>
        </p:nvSpPr>
        <p:spPr>
          <a:xfrm>
            <a:off x="228600" y="1828800"/>
            <a:ext cx="4648200" cy="258588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Thiết kế (</a:t>
            </a:r>
            <a:r>
              <a:rPr lang="en-US" sz="2600" b="1">
                <a:latin typeface="+mj-lt"/>
              </a:rPr>
              <a:t>design)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latin typeface="+mj-lt"/>
              </a:rPr>
              <a:t>Nhập số nguyên n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Nếu n &gt;= 0 thì triTuyetDoi = n;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latin typeface="+mj-lt"/>
              </a:rPr>
              <a:t>Ngược lại thì triTuyetDoi = -n;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Xuất triTuyetDoi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457200" y="1066800"/>
            <a:ext cx="84582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600" b="1">
                <a:latin typeface="+mj-lt"/>
              </a:rPr>
              <a:t>Ví dụ 3 – cách 1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458" y="1447801"/>
            <a:ext cx="399174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7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21</a:t>
            </a:fld>
            <a:endParaRPr lang="en-US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3505200" y="1371600"/>
            <a:ext cx="5633885" cy="419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+mj-lt"/>
              </a:rPr>
              <a:t>Lập trình (programming)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int  n, triTuyetDoi;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cout &lt;&lt; “Nhap so nguyen: ";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cin &gt;&gt; 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(n &gt;= 0)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triTuyetDoi = 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triTuyetDoi = -n;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cout &lt;&lt; “Ket qua tri tuyet doi cua “ &lt;&lt; n &lt;&lt; “la: “ &lt;&lt; triTuyetDoi &lt;&lt; endl;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200" b="1">
                <a:latin typeface="Courier New" pitchFamily="49" charset="0"/>
                <a:cs typeface="Courier New" pitchFamily="49" charset="0"/>
              </a:rPr>
              <a:t>return 0;</a:t>
            </a: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57200" y="1066800"/>
            <a:ext cx="30480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3 – cách 1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Thiết kế (</a:t>
            </a:r>
            <a:r>
              <a:rPr lang="en-US" sz="2600" b="1">
                <a:latin typeface="+mj-lt"/>
              </a:rPr>
              <a:t>design)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89" y="2315496"/>
            <a:ext cx="3466969" cy="3573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2296070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22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57200" y="1037304"/>
            <a:ext cx="30480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3 – cách 1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+mj-lt"/>
              </a:rPr>
              <a:t>Kiểm thử (testing)</a:t>
            </a:r>
            <a:endParaRPr lang="en-GB" sz="2600" b="1">
              <a:latin typeface="+mj-lt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156934"/>
              </p:ext>
            </p:extLst>
          </p:nvPr>
        </p:nvGraphicFramePr>
        <p:xfrm>
          <a:off x="304800" y="3276600"/>
          <a:ext cx="2964427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|n|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0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-4</a:t>
                      </a:r>
                      <a:endParaRPr lang="en-US" sz="2600" b="0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3505200" y="1371600"/>
            <a:ext cx="5633885" cy="419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>
                <a:latin typeface="+mj-lt"/>
              </a:rPr>
              <a:t>Lập trình (programming)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int  n, triTuyetDoi;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cout &lt;&lt; “Nhap so nguyen: ";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cin &gt;&gt; 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(n &gt;= 0)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triTuyetDoi = 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triTuyetDoi = -n;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cout &lt;&lt; “Ket qua tri tuyet doi cua “ &lt;&lt; n &lt;&lt; “la: “ &lt;&lt; triTuyetDoi &lt;&lt; endl;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200" b="1">
                <a:latin typeface="Courier New" pitchFamily="49" charset="0"/>
                <a:cs typeface="Courier New" pitchFamily="49" charset="0"/>
              </a:rPr>
              <a:t>return 0;</a:t>
            </a: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3179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23</a:t>
            </a:fld>
            <a:endParaRPr lang="en-US"/>
          </a:p>
        </p:txBody>
      </p:sp>
      <p:sp>
        <p:nvSpPr>
          <p:cNvPr id="13" name="Content Placeholder 5"/>
          <p:cNvSpPr txBox="1">
            <a:spLocks/>
          </p:cNvSpPr>
          <p:nvPr/>
        </p:nvSpPr>
        <p:spPr>
          <a:xfrm>
            <a:off x="422787" y="2286000"/>
            <a:ext cx="4530213" cy="258588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Thiết kế (</a:t>
            </a:r>
            <a:r>
              <a:rPr lang="en-US" sz="2600" b="1">
                <a:latin typeface="+mj-lt"/>
              </a:rPr>
              <a:t>design)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latin typeface="+mj-lt"/>
              </a:rPr>
              <a:t>Nhập số nguyên n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latin typeface="+mj-lt"/>
              </a:rPr>
              <a:t>Gán triTuyetDoi = n;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Nếu n &lt; 0 thì triTuyetDoi = -n;</a:t>
            </a:r>
            <a:endParaRPr lang="en-US" sz="2600">
              <a:latin typeface="+mj-lt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  <a:latin typeface="+mj-lt"/>
              </a:rPr>
              <a:t>Xuất triTuyetDoi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457200" y="1066800"/>
            <a:ext cx="84582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600" b="1">
                <a:latin typeface="+mj-lt"/>
              </a:rPr>
              <a:t>Ví dụ 3 – cách 2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764" y="1215493"/>
            <a:ext cx="3434309" cy="504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351884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24</a:t>
            </a:fld>
            <a:endParaRPr lang="en-US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3538846" y="1491005"/>
            <a:ext cx="5633885" cy="419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 err="1">
                <a:latin typeface="+mj-lt"/>
              </a:rPr>
              <a:t>Lập</a:t>
            </a:r>
            <a:r>
              <a:rPr lang="en-US" sz="2600" b="1" dirty="0">
                <a:latin typeface="+mj-lt"/>
              </a:rPr>
              <a:t> </a:t>
            </a:r>
            <a:r>
              <a:rPr lang="en-US" sz="2600" b="1" dirty="0" err="1">
                <a:latin typeface="+mj-lt"/>
              </a:rPr>
              <a:t>trình</a:t>
            </a:r>
            <a:r>
              <a:rPr lang="en-US" sz="2600" b="1" dirty="0">
                <a:latin typeface="+mj-lt"/>
              </a:rPr>
              <a:t> (programming)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 n,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triTuyetDoi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“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: ";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triTuyetDoi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= 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(n &lt; 0)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triTuyetDoi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= -n;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“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Ket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qua tri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tuyet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doi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cua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“ &lt;&lt; n &lt;&lt; “la: “ &lt;&lt;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triTuyetDoi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50958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200" b="1" dirty="0">
                <a:latin typeface="Courier New" pitchFamily="49" charset="0"/>
                <a:cs typeface="Courier New" pitchFamily="49" charset="0"/>
              </a:rPr>
              <a:t>return 0;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57200" y="1066800"/>
            <a:ext cx="30480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3 – cách 2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Thiết kế (</a:t>
            </a:r>
            <a:r>
              <a:rPr lang="en-US" sz="2600" b="1">
                <a:latin typeface="+mj-lt"/>
              </a:rPr>
              <a:t>design)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latin typeface="+mj-lt"/>
              </a:rPr>
              <a:t>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22" y="2117875"/>
            <a:ext cx="2396747" cy="352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826055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Một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lỗi</a:t>
            </a:r>
            <a:r>
              <a:rPr lang="en-GB" b="1" dirty="0"/>
              <a:t> </a:t>
            </a:r>
            <a:r>
              <a:rPr lang="en-GB" b="1" dirty="0" err="1"/>
              <a:t>thường</a:t>
            </a:r>
            <a:r>
              <a:rPr lang="en-GB" b="1" dirty="0"/>
              <a:t> </a:t>
            </a:r>
            <a:r>
              <a:rPr lang="en-GB" b="1" dirty="0" err="1"/>
              <a:t>gặp</a:t>
            </a:r>
            <a:r>
              <a:rPr lang="en-GB" b="1" dirty="0"/>
              <a:t>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Trong</a:t>
            </a:r>
            <a:r>
              <a:rPr lang="en-GB" sz="2600" dirty="0"/>
              <a:t> </a:t>
            </a:r>
            <a:r>
              <a:rPr lang="en-GB" sz="2600" dirty="0" err="1"/>
              <a:t>biểu</a:t>
            </a:r>
            <a:r>
              <a:rPr lang="en-GB" sz="2600" dirty="0"/>
              <a:t> </a:t>
            </a:r>
            <a:r>
              <a:rPr lang="en-GB" sz="2600" dirty="0" err="1"/>
              <a:t>thức</a:t>
            </a:r>
            <a:r>
              <a:rPr lang="en-GB" sz="2600" dirty="0"/>
              <a:t> </a:t>
            </a:r>
            <a:r>
              <a:rPr lang="en-GB" sz="2600" dirty="0" err="1"/>
              <a:t>luận</a:t>
            </a:r>
            <a:r>
              <a:rPr lang="en-GB" sz="2600" dirty="0"/>
              <a:t> </a:t>
            </a:r>
            <a:r>
              <a:rPr lang="en-GB" sz="2600" dirty="0" err="1"/>
              <a:t>lý</a:t>
            </a:r>
            <a:r>
              <a:rPr lang="en-GB" sz="2600" dirty="0"/>
              <a:t> </a:t>
            </a:r>
            <a:r>
              <a:rPr lang="en-GB" sz="2600" dirty="0" err="1"/>
              <a:t>thường</a:t>
            </a:r>
            <a:r>
              <a:rPr lang="en-GB" sz="2600" dirty="0"/>
              <a:t> </a:t>
            </a:r>
            <a:r>
              <a:rPr lang="en-GB" sz="2600" dirty="0" err="1"/>
              <a:t>nhầm</a:t>
            </a:r>
            <a:r>
              <a:rPr lang="en-GB" sz="2600" dirty="0"/>
              <a:t> </a:t>
            </a:r>
            <a:r>
              <a:rPr lang="en-GB" sz="2600" dirty="0" err="1"/>
              <a:t>lẫn</a:t>
            </a:r>
            <a:r>
              <a:rPr lang="en-GB" sz="2600" dirty="0"/>
              <a:t> </a:t>
            </a:r>
            <a:r>
              <a:rPr lang="en-GB" sz="2600" dirty="0" err="1"/>
              <a:t>phép</a:t>
            </a:r>
            <a:r>
              <a:rPr lang="en-GB" sz="2600" dirty="0"/>
              <a:t> so </a:t>
            </a:r>
            <a:r>
              <a:rPr lang="en-GB" sz="2600" dirty="0" err="1"/>
              <a:t>sánh</a:t>
            </a:r>
            <a:r>
              <a:rPr lang="en-GB" sz="2600" dirty="0"/>
              <a:t> (</a:t>
            </a:r>
            <a:r>
              <a:rPr lang="en-GB" sz="2600" dirty="0" err="1"/>
              <a:t>dấu</a:t>
            </a:r>
            <a:r>
              <a:rPr lang="en-GB" sz="2600" dirty="0"/>
              <a:t> </a:t>
            </a:r>
            <a:r>
              <a:rPr lang="en-GB" sz="2600" b="1" dirty="0"/>
              <a:t>==</a:t>
            </a:r>
            <a:r>
              <a:rPr lang="en-GB" sz="2600" dirty="0"/>
              <a:t>) </a:t>
            </a:r>
            <a:r>
              <a:rPr lang="en-GB" sz="2600" dirty="0" err="1"/>
              <a:t>với</a:t>
            </a:r>
            <a:r>
              <a:rPr lang="en-GB" sz="2600" dirty="0"/>
              <a:t> </a:t>
            </a:r>
            <a:r>
              <a:rPr lang="en-GB" sz="2600" dirty="0" err="1"/>
              <a:t>phép</a:t>
            </a:r>
            <a:r>
              <a:rPr lang="en-GB" sz="2600" dirty="0"/>
              <a:t> </a:t>
            </a:r>
            <a:r>
              <a:rPr lang="en-GB" sz="2600" dirty="0" err="1"/>
              <a:t>gán</a:t>
            </a:r>
            <a:r>
              <a:rPr lang="en-GB" sz="2600" dirty="0"/>
              <a:t> ( </a:t>
            </a:r>
            <a:r>
              <a:rPr lang="en-GB" sz="2600" dirty="0" err="1"/>
              <a:t>dấu</a:t>
            </a:r>
            <a:r>
              <a:rPr lang="en-GB" sz="2600" dirty="0"/>
              <a:t> </a:t>
            </a:r>
            <a:r>
              <a:rPr lang="en-GB" sz="2600" b="1" dirty="0"/>
              <a:t>= </a:t>
            </a:r>
            <a:r>
              <a:rPr lang="en-GB" sz="2600" dirty="0"/>
              <a:t>)</a:t>
            </a:r>
          </a:p>
          <a:p>
            <a:pPr marL="33655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/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 err="1"/>
              <a:t>Ví</a:t>
            </a:r>
            <a:r>
              <a:rPr lang="en-GB" sz="2600" dirty="0"/>
              <a:t> </a:t>
            </a:r>
            <a:r>
              <a:rPr lang="en-GB" sz="2600" dirty="0" err="1"/>
              <a:t>dụ</a:t>
            </a:r>
            <a:r>
              <a:rPr lang="en-GB" sz="2600" dirty="0"/>
              <a:t>: 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if (x = y) </a:t>
            </a:r>
          </a:p>
          <a:p>
            <a:pPr marL="85883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&lt;&lt; “x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y bang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nhau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” &lt;&lt;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482725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 dirty="0">
              <a:latin typeface="Courier New" pitchFamily="49" charset="0"/>
              <a:cs typeface="Courier New" pitchFamily="49" charset="0"/>
            </a:endParaRPr>
          </a:p>
          <a:p>
            <a:pPr marL="284163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//Khi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biên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dịch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không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báo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lỗi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(error) hay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cảnh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báo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(warning),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luôn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luôn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mặc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định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giá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trị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của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biểu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thức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luận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lý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là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đúng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(true)</a:t>
            </a:r>
          </a:p>
          <a:p>
            <a:pPr marL="509588" lvl="1" indent="0" defTabSz="1489075">
              <a:lnSpc>
                <a:spcPct val="150000"/>
              </a:lnSpc>
              <a:buNone/>
            </a:pPr>
            <a:endParaRPr lang="en-GB" sz="2000" dirty="0"/>
          </a:p>
          <a:p>
            <a:pPr lvl="1">
              <a:lnSpc>
                <a:spcPct val="150000"/>
              </a:lnSpc>
            </a:pPr>
            <a:endParaRPr lang="en-GB" sz="2000" dirty="0"/>
          </a:p>
          <a:p>
            <a:pPr lvl="1">
              <a:lnSpc>
                <a:spcPct val="150000"/>
              </a:lnSpc>
            </a:pPr>
            <a:endParaRPr lang="en-GB" sz="2000" dirty="0"/>
          </a:p>
          <a:p>
            <a:pPr lvl="1">
              <a:lnSpc>
                <a:spcPct val="150000"/>
              </a:lnSpc>
            </a:pPr>
            <a:endParaRPr lang="en-GB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385579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10600" cy="5410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Một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lỗi</a:t>
            </a:r>
            <a:r>
              <a:rPr lang="en-GB" b="1" dirty="0"/>
              <a:t> </a:t>
            </a:r>
            <a:r>
              <a:rPr lang="en-GB" b="1" dirty="0" err="1"/>
              <a:t>thường</a:t>
            </a:r>
            <a:r>
              <a:rPr lang="en-GB" b="1" dirty="0"/>
              <a:t> </a:t>
            </a:r>
            <a:r>
              <a:rPr lang="en-GB" b="1" dirty="0" err="1"/>
              <a:t>gặp</a:t>
            </a:r>
            <a:r>
              <a:rPr lang="en-GB" b="1" dirty="0"/>
              <a:t>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Gõ</a:t>
            </a:r>
            <a:r>
              <a:rPr lang="en-GB" sz="2600" dirty="0"/>
              <a:t> </a:t>
            </a:r>
            <a:r>
              <a:rPr lang="en-GB" sz="2600" dirty="0" err="1"/>
              <a:t>dấu</a:t>
            </a:r>
            <a:r>
              <a:rPr lang="en-GB" sz="2600" dirty="0"/>
              <a:t> </a:t>
            </a:r>
            <a:r>
              <a:rPr lang="en-GB" sz="2600" b="1" dirty="0"/>
              <a:t>;</a:t>
            </a:r>
            <a:r>
              <a:rPr lang="en-GB" sz="2600" dirty="0"/>
              <a:t> </a:t>
            </a:r>
            <a:r>
              <a:rPr lang="en-GB" sz="2600" dirty="0" err="1"/>
              <a:t>ngay</a:t>
            </a:r>
            <a:r>
              <a:rPr lang="en-GB" sz="2600" dirty="0"/>
              <a:t> </a:t>
            </a:r>
            <a:r>
              <a:rPr lang="en-GB" sz="2600" dirty="0" err="1"/>
              <a:t>sau</a:t>
            </a:r>
            <a:r>
              <a:rPr lang="en-GB" sz="2600" dirty="0"/>
              <a:t> </a:t>
            </a:r>
            <a:r>
              <a:rPr lang="en-GB" sz="2600" dirty="0" err="1"/>
              <a:t>biểu</a:t>
            </a:r>
            <a:r>
              <a:rPr lang="en-GB" sz="2600" dirty="0"/>
              <a:t> </a:t>
            </a:r>
            <a:r>
              <a:rPr lang="en-GB" sz="2600" dirty="0" err="1"/>
              <a:t>thức</a:t>
            </a:r>
            <a:r>
              <a:rPr lang="en-GB" sz="2600" dirty="0"/>
              <a:t> </a:t>
            </a:r>
            <a:r>
              <a:rPr lang="en-GB" sz="2600" dirty="0" err="1"/>
              <a:t>luận</a:t>
            </a:r>
            <a:r>
              <a:rPr lang="en-GB" sz="2600" dirty="0"/>
              <a:t> </a:t>
            </a:r>
            <a:r>
              <a:rPr lang="en-GB" sz="2600" dirty="0" err="1"/>
              <a:t>lý</a:t>
            </a:r>
            <a:r>
              <a:rPr lang="en-GB" sz="2600" dirty="0"/>
              <a:t> </a:t>
            </a:r>
            <a:r>
              <a:rPr lang="en-GB" sz="2600" dirty="0" err="1"/>
              <a:t>vì</a:t>
            </a:r>
            <a:r>
              <a:rPr lang="en-GB" sz="2600" dirty="0"/>
              <a:t> </a:t>
            </a:r>
            <a:r>
              <a:rPr lang="en-GB" sz="2600" dirty="0" err="1"/>
              <a:t>như</a:t>
            </a:r>
            <a:r>
              <a:rPr lang="en-GB" sz="2600" dirty="0"/>
              <a:t> </a:t>
            </a:r>
            <a:r>
              <a:rPr lang="en-GB" sz="2600" dirty="0" err="1"/>
              <a:t>vậy</a:t>
            </a:r>
            <a:r>
              <a:rPr lang="en-GB" sz="2600" dirty="0"/>
              <a:t> </a:t>
            </a:r>
            <a:r>
              <a:rPr lang="en-GB" sz="2600" dirty="0" err="1"/>
              <a:t>lệnh</a:t>
            </a:r>
            <a:r>
              <a:rPr lang="en-GB" sz="2600" dirty="0"/>
              <a:t> </a:t>
            </a:r>
            <a:r>
              <a:rPr lang="en-GB" sz="2600" dirty="0" err="1"/>
              <a:t>ngay</a:t>
            </a:r>
            <a:r>
              <a:rPr lang="en-GB" sz="2600" dirty="0"/>
              <a:t> </a:t>
            </a:r>
            <a:r>
              <a:rPr lang="en-GB" sz="2600" dirty="0" err="1"/>
              <a:t>sau</a:t>
            </a:r>
            <a:r>
              <a:rPr lang="en-GB" sz="2600" dirty="0"/>
              <a:t> </a:t>
            </a:r>
            <a:r>
              <a:rPr lang="en-GB" sz="2600" dirty="0" err="1"/>
              <a:t>đó</a:t>
            </a:r>
            <a:r>
              <a:rPr lang="en-GB" sz="2600" dirty="0"/>
              <a:t> </a:t>
            </a:r>
            <a:r>
              <a:rPr lang="en-GB" sz="2600" dirty="0" err="1"/>
              <a:t>sẽ</a:t>
            </a:r>
            <a:r>
              <a:rPr lang="en-GB" sz="2600" dirty="0"/>
              <a:t> </a:t>
            </a:r>
            <a:r>
              <a:rPr lang="en-GB" sz="2600" dirty="0" err="1"/>
              <a:t>luôn</a:t>
            </a:r>
            <a:r>
              <a:rPr lang="en-GB" sz="2600" dirty="0"/>
              <a:t> </a:t>
            </a:r>
            <a:r>
              <a:rPr lang="en-GB" sz="2600" dirty="0" err="1"/>
              <a:t>thực</a:t>
            </a:r>
            <a:r>
              <a:rPr lang="en-GB" sz="2600" dirty="0"/>
              <a:t> </a:t>
            </a:r>
            <a:r>
              <a:rPr lang="en-GB" sz="2600" dirty="0" err="1"/>
              <a:t>hiện</a:t>
            </a:r>
            <a:r>
              <a:rPr lang="en-GB" sz="2600" dirty="0"/>
              <a:t> </a:t>
            </a:r>
            <a:r>
              <a:rPr lang="en-GB" sz="2600" dirty="0" err="1"/>
              <a:t>dù</a:t>
            </a:r>
            <a:r>
              <a:rPr lang="en-GB" sz="2600" dirty="0"/>
              <a:t> </a:t>
            </a:r>
            <a:r>
              <a:rPr lang="en-GB" sz="2600" dirty="0" err="1"/>
              <a:t>biểu</a:t>
            </a:r>
            <a:r>
              <a:rPr lang="en-GB" sz="2600" dirty="0"/>
              <a:t> </a:t>
            </a:r>
            <a:r>
              <a:rPr lang="en-GB" sz="2600" dirty="0" err="1"/>
              <a:t>thức</a:t>
            </a:r>
            <a:r>
              <a:rPr lang="en-GB" sz="2600" dirty="0"/>
              <a:t> </a:t>
            </a:r>
            <a:r>
              <a:rPr lang="en-GB" sz="2600" dirty="0" err="1"/>
              <a:t>luận</a:t>
            </a:r>
            <a:r>
              <a:rPr lang="en-GB" sz="2600" dirty="0"/>
              <a:t> </a:t>
            </a:r>
            <a:r>
              <a:rPr lang="en-GB" sz="2600" dirty="0" err="1"/>
              <a:t>lý</a:t>
            </a:r>
            <a:r>
              <a:rPr lang="en-GB" sz="2600" dirty="0"/>
              <a:t> </a:t>
            </a:r>
            <a:r>
              <a:rPr lang="en-GB" sz="2600" dirty="0" err="1"/>
              <a:t>có</a:t>
            </a:r>
            <a:r>
              <a:rPr lang="en-GB" sz="2600" dirty="0"/>
              <a:t> </a:t>
            </a:r>
            <a:r>
              <a:rPr lang="en-GB" sz="2600" dirty="0" err="1"/>
              <a:t>giá</a:t>
            </a:r>
            <a:r>
              <a:rPr lang="en-GB" sz="2600" dirty="0"/>
              <a:t> </a:t>
            </a:r>
            <a:r>
              <a:rPr lang="en-GB" sz="2600" dirty="0" err="1"/>
              <a:t>trị</a:t>
            </a:r>
            <a:r>
              <a:rPr lang="en-GB" sz="2600" dirty="0"/>
              <a:t> </a:t>
            </a:r>
            <a:r>
              <a:rPr lang="en-GB" sz="2600" dirty="0" err="1"/>
              <a:t>là</a:t>
            </a:r>
            <a:r>
              <a:rPr lang="en-GB" sz="2600" dirty="0"/>
              <a:t> </a:t>
            </a:r>
            <a:r>
              <a:rPr lang="en-GB" sz="2600" dirty="0" err="1"/>
              <a:t>sai</a:t>
            </a:r>
            <a:r>
              <a:rPr lang="en-GB" sz="2600" dirty="0"/>
              <a:t> (false).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 err="1"/>
              <a:t>Ví</a:t>
            </a:r>
            <a:r>
              <a:rPr lang="en-GB" sz="2600" dirty="0"/>
              <a:t> </a:t>
            </a:r>
            <a:r>
              <a:rPr lang="en-GB" sz="2600" dirty="0" err="1"/>
              <a:t>dụ</a:t>
            </a:r>
            <a:r>
              <a:rPr lang="en-GB" sz="2600" dirty="0"/>
              <a:t>: </a:t>
            </a:r>
          </a:p>
          <a:p>
            <a:pPr marL="9779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if (x == y) ; </a:t>
            </a:r>
          </a:p>
          <a:p>
            <a:pPr marL="1482725" lvl="1" indent="0" defTabSz="1489075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&lt;&lt; “x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y bang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nhau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” &lt;&lt;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84163" lvl="1" indent="0" defTabSz="1489075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>
              <a:solidFill>
                <a:schemeClr val="tx2">
                  <a:lumMod val="75000"/>
                </a:schemeClr>
              </a:solidFill>
            </a:endParaRPr>
          </a:p>
          <a:p>
            <a:pPr marL="284163" lvl="1" indent="0" defTabSz="1489075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//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Màn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hình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khi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biên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dịch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hiển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thị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lỗi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cảnh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báo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en-GB" sz="26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284163" lvl="1" indent="0" defTabSz="1489075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warning C4390: ';' : empty controlled statement found; is this the intent?</a:t>
            </a:r>
          </a:p>
          <a:p>
            <a:pPr marL="284163" lvl="1" indent="0" algn="just" defTabSz="1489075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>
              <a:solidFill>
                <a:schemeClr val="tx2">
                  <a:lumMod val="75000"/>
                </a:schemeClr>
              </a:solidFill>
            </a:endParaRPr>
          </a:p>
          <a:p>
            <a:pPr marL="284163" lvl="1" indent="0" algn="just" defTabSz="1489075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//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Giả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sử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x = 3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và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y = 4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thì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câu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x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và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y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bằng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nhau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vẫn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được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xuất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ra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màn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hình</a:t>
            </a:r>
            <a:endParaRPr lang="en-GB" sz="2600" dirty="0">
              <a:solidFill>
                <a:schemeClr val="tx2">
                  <a:lumMod val="75000"/>
                </a:schemeClr>
              </a:solidFill>
            </a:endParaRPr>
          </a:p>
          <a:p>
            <a:pPr marL="509588" lvl="1" indent="0" defTabSz="1489075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116772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1884" cy="5410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Một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lỗi</a:t>
            </a:r>
            <a:r>
              <a:rPr lang="en-GB" b="1" dirty="0"/>
              <a:t> </a:t>
            </a:r>
            <a:r>
              <a:rPr lang="en-GB" b="1" dirty="0" err="1"/>
              <a:t>thường</a:t>
            </a:r>
            <a:r>
              <a:rPr lang="en-GB" b="1" dirty="0"/>
              <a:t> </a:t>
            </a:r>
            <a:r>
              <a:rPr lang="en-GB" b="1" dirty="0" err="1"/>
              <a:t>gặp</a:t>
            </a:r>
            <a:r>
              <a:rPr lang="en-GB" b="1" dirty="0"/>
              <a:t>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Gõ</a:t>
            </a:r>
            <a:r>
              <a:rPr lang="en-GB" sz="2600" dirty="0"/>
              <a:t> </a:t>
            </a:r>
            <a:r>
              <a:rPr lang="en-GB" sz="2600" dirty="0" err="1"/>
              <a:t>biểu</a:t>
            </a:r>
            <a:r>
              <a:rPr lang="en-GB" sz="2600" dirty="0"/>
              <a:t> </a:t>
            </a:r>
            <a:r>
              <a:rPr lang="en-GB" sz="2600" dirty="0" err="1"/>
              <a:t>thức</a:t>
            </a:r>
            <a:r>
              <a:rPr lang="en-GB" sz="2600" dirty="0"/>
              <a:t> </a:t>
            </a:r>
            <a:r>
              <a:rPr lang="en-GB" sz="2600" dirty="0" err="1"/>
              <a:t>luận</a:t>
            </a:r>
            <a:r>
              <a:rPr lang="en-GB" sz="2600" dirty="0"/>
              <a:t> </a:t>
            </a:r>
            <a:r>
              <a:rPr lang="en-GB" sz="2600" dirty="0" err="1"/>
              <a:t>lý</a:t>
            </a:r>
            <a:r>
              <a:rPr lang="en-GB" sz="2600" dirty="0"/>
              <a:t> </a:t>
            </a:r>
            <a:r>
              <a:rPr lang="en-GB" sz="2600" dirty="0" err="1"/>
              <a:t>sau</a:t>
            </a:r>
            <a:r>
              <a:rPr lang="en-GB" sz="2600" dirty="0"/>
              <a:t> </a:t>
            </a:r>
            <a:r>
              <a:rPr lang="en-GB" sz="2600" dirty="0" err="1"/>
              <a:t>mệnh</a:t>
            </a:r>
            <a:r>
              <a:rPr lang="en-GB" sz="2600" dirty="0"/>
              <a:t> </a:t>
            </a:r>
            <a:r>
              <a:rPr lang="en-GB" sz="2600" dirty="0" err="1"/>
              <a:t>đề</a:t>
            </a:r>
            <a:r>
              <a:rPr lang="en-GB" sz="2600" dirty="0"/>
              <a:t> else.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 err="1"/>
              <a:t>Ví</a:t>
            </a:r>
            <a:r>
              <a:rPr lang="en-GB" sz="2600" dirty="0"/>
              <a:t> </a:t>
            </a:r>
            <a:r>
              <a:rPr lang="en-GB" sz="2600" dirty="0" err="1"/>
              <a:t>dụ</a:t>
            </a:r>
            <a:r>
              <a:rPr lang="en-GB" sz="2600" dirty="0"/>
              <a:t>: </a:t>
            </a:r>
          </a:p>
          <a:p>
            <a:pPr marL="46831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if (x == y) </a:t>
            </a:r>
          </a:p>
          <a:p>
            <a:pPr marL="912813" lvl="1" indent="0" defTabSz="1484313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&lt;&lt; “x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y bang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nhau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” &lt;&lt;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38138" lvl="1" indent="0" defTabSz="973138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else </a:t>
            </a:r>
            <a:r>
              <a:rPr lang="en-GB" b="1" strike="sngStrike" dirty="0">
                <a:latin typeface="Courier New" pitchFamily="49" charset="0"/>
                <a:cs typeface="Courier New" pitchFamily="49" charset="0"/>
              </a:rPr>
              <a:t>(x != y) </a:t>
            </a:r>
          </a:p>
          <a:p>
            <a:pPr marL="912813" lvl="1" indent="0" defTabSz="973138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&lt;&lt; “x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va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y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khong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bang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nhau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” &lt;&lt;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  <a:endParaRPr lang="en-GB" dirty="0"/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/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//Khi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biên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dịch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màn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hình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thông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báo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lỗi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cú</a:t>
            </a:r>
            <a:r>
              <a:rPr lang="en-GB" sz="2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600" dirty="0" err="1">
                <a:solidFill>
                  <a:schemeClr val="tx2">
                    <a:lumMod val="75000"/>
                  </a:schemeClr>
                </a:solidFill>
              </a:rPr>
              <a:t>pháp</a:t>
            </a:r>
            <a:endParaRPr lang="en-GB" sz="2600" dirty="0">
              <a:solidFill>
                <a:schemeClr val="tx2">
                  <a:lumMod val="75000"/>
                </a:schemeClr>
              </a:solidFill>
            </a:endParaRPr>
          </a:p>
          <a:p>
            <a:pPr marL="509588" lvl="1" indent="0" defTabSz="1489075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r>
              <a:rPr lang="en-US"/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203440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Cú pháp if-else lồng nhau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63880" y="1097280"/>
            <a:ext cx="4160520" cy="53949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Cú</a:t>
            </a:r>
            <a:r>
              <a:rPr lang="en-GB" b="1" dirty="0"/>
              <a:t> </a:t>
            </a:r>
            <a:r>
              <a:rPr lang="en-GB" b="1" dirty="0" err="1"/>
              <a:t>pháp</a:t>
            </a:r>
            <a:r>
              <a:rPr lang="en-GB" b="1" dirty="0"/>
              <a:t> 1:</a:t>
            </a: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marL="0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if (condition)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statement;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if (condition)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statement;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1430338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statement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489075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marL="1489075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1946275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statement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58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Cú pháp if-else đa chiều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29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1066800"/>
            <a:ext cx="84582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 dirty="0" err="1">
                <a:latin typeface="+mj-lt"/>
              </a:rPr>
              <a:t>Ví</a:t>
            </a:r>
            <a:r>
              <a:rPr lang="en-GB" sz="2600" b="1" dirty="0">
                <a:latin typeface="+mj-lt"/>
              </a:rPr>
              <a:t> </a:t>
            </a:r>
            <a:r>
              <a:rPr lang="en-GB" sz="2600" b="1" dirty="0" err="1">
                <a:latin typeface="+mj-lt"/>
              </a:rPr>
              <a:t>dụ</a:t>
            </a:r>
            <a:r>
              <a:rPr lang="en-GB" sz="2600" b="1" dirty="0">
                <a:latin typeface="+mj-lt"/>
              </a:rPr>
              <a:t> 4: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dirty="0" err="1">
                <a:latin typeface="+mj-lt"/>
              </a:rPr>
              <a:t>Viết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chương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trình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nhận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vào</a:t>
            </a:r>
            <a:r>
              <a:rPr lang="en-GB" sz="2600" dirty="0">
                <a:latin typeface="+mj-lt"/>
              </a:rPr>
              <a:t> 2 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nguyên</a:t>
            </a:r>
            <a:r>
              <a:rPr lang="en-GB" sz="2600" dirty="0">
                <a:latin typeface="+mj-lt"/>
              </a:rPr>
              <a:t>. </a:t>
            </a:r>
            <a:r>
              <a:rPr lang="en-GB" sz="2600" dirty="0" err="1">
                <a:latin typeface="+mj-lt"/>
              </a:rPr>
              <a:t>Xuất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ra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màn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hình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kết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quả</a:t>
            </a:r>
            <a:r>
              <a:rPr lang="en-GB" sz="2600" dirty="0">
                <a:latin typeface="+mj-lt"/>
              </a:rPr>
              <a:t> so </a:t>
            </a:r>
            <a:r>
              <a:rPr lang="en-GB" sz="2600" dirty="0" err="1">
                <a:latin typeface="+mj-lt"/>
              </a:rPr>
              <a:t>sánh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giữa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hai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(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thứ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nhất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lớn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hơn</a:t>
            </a:r>
            <a:r>
              <a:rPr lang="en-GB" sz="2600" dirty="0">
                <a:latin typeface="+mj-lt"/>
              </a:rPr>
              <a:t>, </a:t>
            </a:r>
            <a:r>
              <a:rPr lang="en-GB" sz="2600" dirty="0" err="1">
                <a:latin typeface="+mj-lt"/>
              </a:rPr>
              <a:t>nhỏ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hơn</a:t>
            </a:r>
            <a:r>
              <a:rPr lang="en-GB" sz="2600" dirty="0">
                <a:latin typeface="+mj-lt"/>
              </a:rPr>
              <a:t> hay </a:t>
            </a:r>
            <a:r>
              <a:rPr lang="en-GB" sz="2600" dirty="0" err="1">
                <a:latin typeface="+mj-lt"/>
              </a:rPr>
              <a:t>hai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bằng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nhau</a:t>
            </a:r>
            <a:r>
              <a:rPr lang="en-GB" sz="2600" dirty="0">
                <a:latin typeface="+mj-lt"/>
              </a:rPr>
              <a:t>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967427"/>
              </p:ext>
            </p:extLst>
          </p:nvPr>
        </p:nvGraphicFramePr>
        <p:xfrm>
          <a:off x="609601" y="2590800"/>
          <a:ext cx="7772400" cy="382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1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37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3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 số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nguyên a, b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90000"/>
                        </a:lnSpc>
                        <a:buFontTx/>
                        <a:buChar char="-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 a, b</a:t>
                      </a:r>
                    </a:p>
                    <a:p>
                      <a:pPr marL="285750" indent="-285750" algn="just">
                        <a:lnSpc>
                          <a:spcPct val="90000"/>
                        </a:lnSpc>
                        <a:buFontTx/>
                        <a:buChar char="-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 a &gt; b đúng thì xuất “</a:t>
                      </a:r>
                      <a:r>
                        <a:rPr lang="en-US" sz="26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so thu nhat lon hon so thu hai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”</a:t>
                      </a:r>
                    </a:p>
                    <a:p>
                      <a:pPr marL="285750" indent="-285750" algn="just">
                        <a:lnSpc>
                          <a:spcPct val="90000"/>
                        </a:lnSpc>
                        <a:buFontTx/>
                        <a:buChar char="-"/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Ngược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lại </a:t>
                      </a:r>
                      <a:r>
                        <a:rPr lang="en-US" sz="2600" i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(ngầm hiểu a &gt; b là sai) 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thì so sánh nếu a &lt; b đúng thì xuất “</a:t>
                      </a:r>
                      <a:r>
                        <a:rPr lang="en-US" sz="26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so thu nhat nho hon so thu hai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”</a:t>
                      </a:r>
                    </a:p>
                    <a:p>
                      <a:pPr marL="285750" indent="-285750" algn="just">
                        <a:lnSpc>
                          <a:spcPct val="90000"/>
                        </a:lnSpc>
                        <a:buFontTx/>
                        <a:buChar char="-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Ngược lại </a:t>
                      </a:r>
                      <a:r>
                        <a:rPr lang="en-US" sz="2600" i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(ngầm hiểu a &gt; b sai và a &lt; b cũng sai) 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thì xuất “</a:t>
                      </a:r>
                      <a:r>
                        <a:rPr lang="en-US" sz="26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hai so bang nhau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”</a:t>
                      </a:r>
                      <a:endParaRPr lang="en-US" sz="260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quả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so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sánh</a:t>
                      </a:r>
                      <a:endParaRPr lang="en-US" sz="2600" dirty="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2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Cú pháp if-else lồng nhau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30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1066800"/>
            <a:ext cx="8458200" cy="12486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600" b="1">
                <a:latin typeface="+mj-lt"/>
              </a:rPr>
              <a:t>Ví dụ 4: </a:t>
            </a:r>
          </a:p>
          <a:p>
            <a:pPr marL="0" indent="0">
              <a:lnSpc>
                <a:spcPct val="130000"/>
              </a:lnSpc>
              <a:buNone/>
            </a:pPr>
            <a:endParaRPr lang="en-GB" sz="2600">
              <a:latin typeface="+mj-lt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8362950" cy="4514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88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Cú pháp if-else lồng nhau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31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1066800"/>
            <a:ext cx="8458200" cy="49062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 dirty="0" err="1">
                <a:latin typeface="+mj-lt"/>
              </a:rPr>
              <a:t>Ví</a:t>
            </a:r>
            <a:r>
              <a:rPr lang="en-GB" sz="2600" b="1" dirty="0">
                <a:latin typeface="+mj-lt"/>
              </a:rPr>
              <a:t> </a:t>
            </a:r>
            <a:r>
              <a:rPr lang="en-GB" sz="2600" b="1" dirty="0" err="1">
                <a:latin typeface="+mj-lt"/>
              </a:rPr>
              <a:t>dụ</a:t>
            </a:r>
            <a:r>
              <a:rPr lang="en-GB" sz="2600" b="1" dirty="0">
                <a:latin typeface="+mj-lt"/>
              </a:rPr>
              <a:t> 4: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int a, b;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: "; 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&gt;&gt; a;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hai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: "; 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&gt;&gt; b;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(a &gt; b)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&lt;&lt; "So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nhat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lon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hon so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hai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\n";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(a &lt; b)</a:t>
            </a:r>
          </a:p>
          <a:p>
            <a:pPr marL="13795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&lt;&lt; "So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nhat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nho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hon so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hai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\n";</a:t>
            </a:r>
          </a:p>
          <a:p>
            <a:pPr marL="9144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13795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&lt;&lt; "Hai so bang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nhau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\n";</a:t>
            </a:r>
          </a:p>
          <a:p>
            <a:pPr marL="465138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36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Cú pháp if-else lồng nhau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32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57200" y="1066800"/>
            <a:ext cx="8458200" cy="4906296"/>
          </a:xfrm>
          <a:prstGeom prst="rect">
            <a:avLst/>
          </a:prstGeom>
          <a:noFill/>
          <a:ln>
            <a:noFill/>
          </a:ln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4: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084814"/>
              </p:ext>
            </p:extLst>
          </p:nvPr>
        </p:nvGraphicFramePr>
        <p:xfrm>
          <a:off x="1219200" y="2057400"/>
          <a:ext cx="66294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a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b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="1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="1" baseline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quả</a:t>
                      </a:r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xuất ra màn hình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Courier New" pitchFamily="49" charset="0"/>
                        </a:rPr>
                        <a:t>5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Courier New" pitchFamily="49" charset="0"/>
                        </a:rPr>
                        <a:t>2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rgbClr val="FF0000"/>
                          </a:solidFill>
                          <a:latin typeface="+mj-lt"/>
                          <a:cs typeface="Courier New" pitchFamily="49" charset="0"/>
                        </a:rPr>
                        <a:t>So thu nhat lon hon so thu hai</a:t>
                      </a:r>
                      <a:endParaRPr lang="en-US" sz="2600" b="0" dirty="0">
                        <a:solidFill>
                          <a:srgbClr val="FF0000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Courier New" pitchFamily="49" charset="0"/>
                        </a:rPr>
                        <a:t>3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Courier New" pitchFamily="49" charset="0"/>
                        </a:rPr>
                        <a:t>4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rgbClr val="FF0000"/>
                          </a:solidFill>
                          <a:latin typeface="+mj-lt"/>
                          <a:cs typeface="Courier New" pitchFamily="49" charset="0"/>
                        </a:rPr>
                        <a:t>So thu nhat nho hon so thu hai</a:t>
                      </a:r>
                      <a:endParaRPr lang="en-US" sz="2600" b="0" dirty="0">
                        <a:solidFill>
                          <a:srgbClr val="FF0000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Courier New" pitchFamily="49" charset="0"/>
                        </a:rPr>
                        <a:t>6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Courier New" pitchFamily="49" charset="0"/>
                        </a:rPr>
                        <a:t>6</a:t>
                      </a:r>
                      <a:endParaRPr lang="en-US" sz="2600" b="1" dirty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>
                          <a:solidFill>
                            <a:srgbClr val="FF0000"/>
                          </a:solidFill>
                          <a:latin typeface="+mj-lt"/>
                          <a:cs typeface="Courier New" pitchFamily="49" charset="0"/>
                        </a:rPr>
                        <a:t>Hai so bang nhau</a:t>
                      </a:r>
                      <a:endParaRPr lang="en-US" sz="2600" b="0" dirty="0">
                        <a:solidFill>
                          <a:srgbClr val="FF0000"/>
                        </a:solidFill>
                        <a:latin typeface="+mj-lt"/>
                        <a:ea typeface="Tahoma" pitchFamily="34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69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/>
              <a:t>Cú pháp if-else lồng nhau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9600" y="1097280"/>
            <a:ext cx="4160520" cy="53949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Cú</a:t>
            </a:r>
            <a:r>
              <a:rPr lang="en-GB" b="1" dirty="0"/>
              <a:t> </a:t>
            </a:r>
            <a:r>
              <a:rPr lang="en-GB" b="1" dirty="0" err="1"/>
              <a:t>pháp</a:t>
            </a:r>
            <a:r>
              <a:rPr lang="en-GB" b="1" dirty="0"/>
              <a:t> 2:</a:t>
            </a:r>
          </a:p>
          <a:p>
            <a:pPr>
              <a:spcBef>
                <a:spcPts val="0"/>
              </a:spcBef>
            </a:pP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if (condition)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statement;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else if (condition)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statement;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else if (condition)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statement;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statement;</a:t>
            </a:r>
          </a:p>
          <a:p>
            <a:pPr marL="914400" indent="0">
              <a:spcBef>
                <a:spcPts val="0"/>
              </a:spcBef>
              <a:buNone/>
            </a:pPr>
            <a:endParaRPr lang="en-GB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00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Câu lệnh rẽ nhánh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296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Lưu</a:t>
            </a:r>
            <a:r>
              <a:rPr lang="en-GB" b="1" dirty="0"/>
              <a:t> </a:t>
            </a:r>
            <a:r>
              <a:rPr lang="en-GB" b="1" dirty="0" err="1"/>
              <a:t>ý</a:t>
            </a:r>
            <a:r>
              <a:rPr lang="en-GB" b="1" dirty="0"/>
              <a:t>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>
                <a:solidFill>
                  <a:schemeClr val="tx1"/>
                </a:solidFill>
              </a:rPr>
              <a:t>Lệnh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điều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khiển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rẽ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nhánh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có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thể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dùng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để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kiểm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tra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dữ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liệu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nhập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vào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có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hợp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lệ</a:t>
            </a:r>
            <a:r>
              <a:rPr lang="en-GB" sz="2600" dirty="0">
                <a:solidFill>
                  <a:schemeClr val="tx1"/>
                </a:solidFill>
              </a:rPr>
              <a:t> hay </a:t>
            </a:r>
            <a:r>
              <a:rPr lang="en-GB" sz="2600" dirty="0" err="1">
                <a:solidFill>
                  <a:schemeClr val="tx1"/>
                </a:solidFill>
              </a:rPr>
              <a:t>không</a:t>
            </a:r>
            <a:r>
              <a:rPr lang="en-GB" sz="2600" dirty="0">
                <a:solidFill>
                  <a:schemeClr val="tx1"/>
                </a:solidFill>
              </a:rPr>
              <a:t>.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34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762000" y="2438400"/>
            <a:ext cx="7929716" cy="3505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double diem;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"Nhap diem: ";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diem;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000" b="1">
                <a:latin typeface="Courier New" pitchFamily="49" charset="0"/>
                <a:cs typeface="Courier New" pitchFamily="49" charset="0"/>
              </a:rPr>
              <a:t>if (</a:t>
            </a:r>
            <a:r>
              <a:rPr lang="de-DE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diem &gt;= 0 &amp;&amp; diem &lt;= 10</a:t>
            </a:r>
            <a:r>
              <a:rPr lang="de-DE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7467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+mj-lt"/>
              </a:rPr>
              <a:t>//diem hop le</a:t>
            </a:r>
          </a:p>
          <a:p>
            <a:pPr marL="57467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+mj-lt"/>
              </a:rPr>
              <a:t>//thuc hien cac viec tinh toan khi diem hop le va xuat ket qua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63341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NL" sz="2000" b="1">
                <a:latin typeface="Courier New" pitchFamily="49" charset="0"/>
                <a:cs typeface="Courier New" pitchFamily="49" charset="0"/>
              </a:rPr>
              <a:t>cout &lt;&lt; "Nhap diem khong hop le!";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5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Câu lệnh rẽ nhánh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296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Lưu</a:t>
            </a:r>
            <a:r>
              <a:rPr lang="en-GB" b="1" dirty="0"/>
              <a:t> </a:t>
            </a:r>
            <a:r>
              <a:rPr lang="en-GB" b="1" dirty="0" err="1"/>
              <a:t>ý</a:t>
            </a:r>
            <a:r>
              <a:rPr lang="en-GB" b="1" dirty="0"/>
              <a:t>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Nếu</a:t>
            </a:r>
            <a:r>
              <a:rPr lang="en-GB" sz="2600" dirty="0"/>
              <a:t> </a:t>
            </a:r>
            <a:r>
              <a:rPr lang="en-GB" sz="2600" dirty="0" err="1"/>
              <a:t>cùng</a:t>
            </a:r>
            <a:r>
              <a:rPr lang="en-GB" sz="2600" dirty="0"/>
              <a:t> 1 </a:t>
            </a:r>
            <a:r>
              <a:rPr lang="en-GB" sz="2600" dirty="0" err="1"/>
              <a:t>yêu</a:t>
            </a:r>
            <a:r>
              <a:rPr lang="en-GB" sz="2600" dirty="0"/>
              <a:t> </a:t>
            </a:r>
            <a:r>
              <a:rPr lang="en-GB" sz="2600" dirty="0" err="1"/>
              <a:t>cầu</a:t>
            </a:r>
            <a:r>
              <a:rPr lang="en-GB" sz="2600" dirty="0"/>
              <a:t> </a:t>
            </a:r>
            <a:r>
              <a:rPr lang="en-GB" sz="2600" dirty="0" err="1"/>
              <a:t>tính</a:t>
            </a:r>
            <a:r>
              <a:rPr lang="en-GB" sz="2600" dirty="0"/>
              <a:t> </a:t>
            </a:r>
            <a:r>
              <a:rPr lang="en-GB" sz="2600" dirty="0" err="1"/>
              <a:t>toán</a:t>
            </a:r>
            <a:r>
              <a:rPr lang="en-GB" sz="2600" dirty="0"/>
              <a:t>, </a:t>
            </a:r>
            <a:r>
              <a:rPr lang="en-GB" sz="2600" dirty="0" err="1"/>
              <a:t>lệnh</a:t>
            </a:r>
            <a:r>
              <a:rPr lang="en-GB" sz="2600" dirty="0"/>
              <a:t> if-else </a:t>
            </a:r>
            <a:r>
              <a:rPr lang="en-GB" sz="2600" dirty="0" err="1"/>
              <a:t>sẽ</a:t>
            </a:r>
            <a:r>
              <a:rPr lang="en-GB" sz="2600" dirty="0"/>
              <a:t> </a:t>
            </a:r>
            <a:r>
              <a:rPr lang="en-GB" sz="2600" dirty="0" err="1"/>
              <a:t>giải</a:t>
            </a:r>
            <a:r>
              <a:rPr lang="en-GB" sz="2600" dirty="0"/>
              <a:t> </a:t>
            </a:r>
            <a:r>
              <a:rPr lang="en-GB" sz="2600" dirty="0" err="1"/>
              <a:t>quyết</a:t>
            </a:r>
            <a:r>
              <a:rPr lang="en-GB" sz="2600" dirty="0"/>
              <a:t> </a:t>
            </a:r>
            <a:r>
              <a:rPr lang="en-GB" sz="2600" dirty="0" err="1"/>
              <a:t>nhanh</a:t>
            </a:r>
            <a:r>
              <a:rPr lang="en-GB" sz="2600" dirty="0"/>
              <a:t> </a:t>
            </a:r>
            <a:r>
              <a:rPr lang="en-GB" sz="2600" dirty="0" err="1"/>
              <a:t>hơn</a:t>
            </a:r>
            <a:r>
              <a:rPr lang="en-GB" sz="2600" dirty="0"/>
              <a:t> </a:t>
            </a:r>
            <a:r>
              <a:rPr lang="en-GB" sz="2600" dirty="0" err="1"/>
              <a:t>liên</a:t>
            </a:r>
            <a:r>
              <a:rPr lang="en-GB" sz="2600" dirty="0"/>
              <a:t> </a:t>
            </a:r>
            <a:r>
              <a:rPr lang="en-GB" sz="2600" dirty="0" err="1"/>
              <a:t>tục</a:t>
            </a:r>
            <a:r>
              <a:rPr lang="en-GB" sz="2600" dirty="0"/>
              <a:t> </a:t>
            </a:r>
            <a:r>
              <a:rPr lang="en-GB" sz="2600" dirty="0" err="1"/>
              <a:t>nhiều</a:t>
            </a:r>
            <a:r>
              <a:rPr lang="en-GB" sz="2600" dirty="0"/>
              <a:t> </a:t>
            </a:r>
            <a:r>
              <a:rPr lang="en-GB" sz="2600" dirty="0" err="1"/>
              <a:t>lệnh</a:t>
            </a:r>
            <a:r>
              <a:rPr lang="en-GB" sz="2600" dirty="0"/>
              <a:t> if </a:t>
            </a:r>
            <a:r>
              <a:rPr lang="en-GB" sz="2600" dirty="0" err="1"/>
              <a:t>khuyết</a:t>
            </a:r>
            <a:r>
              <a:rPr lang="en-GB" sz="2600" dirty="0"/>
              <a:t> else.</a:t>
            </a:r>
            <a:endParaRPr lang="en-GB" sz="2600" dirty="0">
              <a:solidFill>
                <a:schemeClr val="accent1">
                  <a:lumMod val="50000"/>
                </a:schemeClr>
              </a:solidFill>
            </a:endParaRP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683456" y="2278504"/>
            <a:ext cx="5641143" cy="14552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38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(a % 2 == 0)</a:t>
            </a:r>
          </a:p>
          <a:p>
            <a:pPr marL="4079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“a la so chan\n”;</a:t>
            </a:r>
          </a:p>
          <a:p>
            <a:pPr marL="1238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4079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“a la so le\n”;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728" y="3733799"/>
            <a:ext cx="5055670" cy="2514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3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Câu lệnh rẽ nhánh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296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Lưu</a:t>
            </a:r>
            <a:r>
              <a:rPr lang="en-GB" b="1" dirty="0"/>
              <a:t> </a:t>
            </a:r>
            <a:r>
              <a:rPr lang="en-GB" b="1" dirty="0" err="1"/>
              <a:t>ý</a:t>
            </a:r>
            <a:r>
              <a:rPr lang="en-GB" b="1" dirty="0"/>
              <a:t>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Nếu</a:t>
            </a:r>
            <a:r>
              <a:rPr lang="en-GB" sz="2600" dirty="0"/>
              <a:t> </a:t>
            </a:r>
            <a:r>
              <a:rPr lang="en-GB" sz="2600" dirty="0" err="1"/>
              <a:t>cùng</a:t>
            </a:r>
            <a:r>
              <a:rPr lang="en-GB" sz="2600" dirty="0"/>
              <a:t> 1 </a:t>
            </a:r>
            <a:r>
              <a:rPr lang="en-GB" sz="2600" dirty="0" err="1"/>
              <a:t>yêu</a:t>
            </a:r>
            <a:r>
              <a:rPr lang="en-GB" sz="2600" dirty="0"/>
              <a:t> </a:t>
            </a:r>
            <a:r>
              <a:rPr lang="en-GB" sz="2600" dirty="0" err="1"/>
              <a:t>cầu</a:t>
            </a:r>
            <a:r>
              <a:rPr lang="en-GB" sz="2600" dirty="0"/>
              <a:t> </a:t>
            </a:r>
            <a:r>
              <a:rPr lang="en-GB" sz="2600" dirty="0" err="1"/>
              <a:t>tính</a:t>
            </a:r>
            <a:r>
              <a:rPr lang="en-GB" sz="2600" dirty="0"/>
              <a:t> </a:t>
            </a:r>
            <a:r>
              <a:rPr lang="en-GB" sz="2600" dirty="0" err="1"/>
              <a:t>toán</a:t>
            </a:r>
            <a:r>
              <a:rPr lang="en-GB" sz="2600" dirty="0"/>
              <a:t>, </a:t>
            </a:r>
            <a:r>
              <a:rPr lang="en-GB" sz="2600" dirty="0" err="1"/>
              <a:t>lệnh</a:t>
            </a:r>
            <a:r>
              <a:rPr lang="en-GB" sz="2600" dirty="0"/>
              <a:t> if-else </a:t>
            </a:r>
            <a:r>
              <a:rPr lang="en-GB" sz="2600" dirty="0" err="1"/>
              <a:t>sẽ</a:t>
            </a:r>
            <a:r>
              <a:rPr lang="en-GB" sz="2600" dirty="0"/>
              <a:t> </a:t>
            </a:r>
            <a:r>
              <a:rPr lang="en-GB" sz="2600" dirty="0" err="1"/>
              <a:t>giải</a:t>
            </a:r>
            <a:r>
              <a:rPr lang="en-GB" sz="2600" dirty="0"/>
              <a:t> </a:t>
            </a:r>
            <a:r>
              <a:rPr lang="en-GB" sz="2600" dirty="0" err="1"/>
              <a:t>quyết</a:t>
            </a:r>
            <a:r>
              <a:rPr lang="en-GB" sz="2600" dirty="0"/>
              <a:t> </a:t>
            </a:r>
            <a:r>
              <a:rPr lang="en-GB" sz="2600" dirty="0" err="1"/>
              <a:t>nhanh</a:t>
            </a:r>
            <a:r>
              <a:rPr lang="en-GB" sz="2600" dirty="0"/>
              <a:t> </a:t>
            </a:r>
            <a:r>
              <a:rPr lang="en-GB" sz="2600" dirty="0" err="1"/>
              <a:t>hơn</a:t>
            </a:r>
            <a:r>
              <a:rPr lang="en-GB" sz="2600" dirty="0"/>
              <a:t> </a:t>
            </a:r>
            <a:r>
              <a:rPr lang="en-GB" sz="2600" dirty="0" err="1"/>
              <a:t>liên</a:t>
            </a:r>
            <a:r>
              <a:rPr lang="en-GB" sz="2600" dirty="0"/>
              <a:t> </a:t>
            </a:r>
            <a:r>
              <a:rPr lang="en-GB" sz="2600" dirty="0" err="1"/>
              <a:t>tục</a:t>
            </a:r>
            <a:r>
              <a:rPr lang="en-GB" sz="2600" dirty="0"/>
              <a:t> </a:t>
            </a:r>
            <a:r>
              <a:rPr lang="en-GB" sz="2600" dirty="0" err="1"/>
              <a:t>nhiều</a:t>
            </a:r>
            <a:r>
              <a:rPr lang="en-GB" sz="2600" dirty="0"/>
              <a:t> </a:t>
            </a:r>
            <a:r>
              <a:rPr lang="en-GB" sz="2600" dirty="0" err="1"/>
              <a:t>lệnh</a:t>
            </a:r>
            <a:r>
              <a:rPr lang="en-GB" sz="2600" dirty="0"/>
              <a:t> if </a:t>
            </a:r>
            <a:r>
              <a:rPr lang="en-GB" sz="2600" dirty="0" err="1"/>
              <a:t>khuyết</a:t>
            </a:r>
            <a:r>
              <a:rPr lang="en-GB" sz="2600" dirty="0"/>
              <a:t> else.</a:t>
            </a:r>
            <a:endParaRPr lang="en-GB" sz="2600" dirty="0">
              <a:solidFill>
                <a:schemeClr val="accent1">
                  <a:lumMod val="50000"/>
                </a:schemeClr>
              </a:solidFill>
            </a:endParaRP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36</a:t>
            </a:fld>
            <a:endParaRPr lang="en-US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0" y="2286000"/>
            <a:ext cx="5715000" cy="1752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38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(a % 2 == 0)</a:t>
            </a:r>
          </a:p>
          <a:p>
            <a:pPr marL="5683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“a la so chan\n”;</a:t>
            </a:r>
          </a:p>
          <a:p>
            <a:pPr marL="1238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(a % 2 != 0)</a:t>
            </a:r>
          </a:p>
          <a:p>
            <a:pPr marL="5683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“a la so le\n”;;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344711"/>
            <a:ext cx="3395414" cy="3672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3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Câu lệnh rẽ nhánh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23929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GB" b="1" dirty="0" err="1"/>
              <a:t>Lưu</a:t>
            </a:r>
            <a:r>
              <a:rPr lang="en-GB" b="1" dirty="0"/>
              <a:t> </a:t>
            </a:r>
            <a:r>
              <a:rPr lang="en-GB" b="1" dirty="0" err="1"/>
              <a:t>ý</a:t>
            </a:r>
            <a:r>
              <a:rPr lang="en-GB" b="1" dirty="0"/>
              <a:t>:</a:t>
            </a:r>
          </a:p>
          <a:p>
            <a:pPr marL="617220" lvl="2" indent="-34290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GB" sz="2600" dirty="0"/>
              <a:t>Khi </a:t>
            </a:r>
            <a:r>
              <a:rPr lang="en-GB" sz="2600" dirty="0" err="1"/>
              <a:t>sử</a:t>
            </a:r>
            <a:r>
              <a:rPr lang="en-GB" sz="2600" dirty="0"/>
              <a:t> </a:t>
            </a:r>
            <a:r>
              <a:rPr lang="en-GB" sz="2600" dirty="0" err="1"/>
              <a:t>dụng</a:t>
            </a:r>
            <a:r>
              <a:rPr lang="en-GB" sz="2600" dirty="0"/>
              <a:t> </a:t>
            </a:r>
            <a:r>
              <a:rPr lang="en-GB" sz="2600" dirty="0" err="1"/>
              <a:t>if..else</a:t>
            </a:r>
            <a:r>
              <a:rPr lang="en-GB" sz="2600" dirty="0"/>
              <a:t> </a:t>
            </a:r>
            <a:r>
              <a:rPr lang="en-GB" sz="2600" dirty="0" err="1"/>
              <a:t>lồng</a:t>
            </a:r>
            <a:r>
              <a:rPr lang="en-GB" sz="2600" dirty="0"/>
              <a:t> </a:t>
            </a:r>
            <a:r>
              <a:rPr lang="en-GB" sz="2600" dirty="0" err="1"/>
              <a:t>nhau</a:t>
            </a:r>
            <a:r>
              <a:rPr lang="en-GB" sz="2600" dirty="0"/>
              <a:t>, </a:t>
            </a:r>
            <a:r>
              <a:rPr lang="en-GB" sz="2600" dirty="0" err="1"/>
              <a:t>nếu</a:t>
            </a:r>
            <a:r>
              <a:rPr lang="en-GB" sz="2600" dirty="0"/>
              <a:t> </a:t>
            </a:r>
            <a:r>
              <a:rPr lang="en-GB" sz="2600" dirty="0" err="1"/>
              <a:t>không</a:t>
            </a:r>
            <a:r>
              <a:rPr lang="en-GB" sz="2600" dirty="0"/>
              <a:t> </a:t>
            </a:r>
            <a:r>
              <a:rPr lang="en-GB" sz="2600" dirty="0" err="1"/>
              <a:t>có</a:t>
            </a:r>
            <a:r>
              <a:rPr lang="en-GB" sz="2600" dirty="0"/>
              <a:t> </a:t>
            </a:r>
            <a:r>
              <a:rPr lang="en-GB" sz="2600" dirty="0" err="1"/>
              <a:t>khối</a:t>
            </a:r>
            <a:r>
              <a:rPr lang="en-GB" sz="2600" dirty="0"/>
              <a:t> </a:t>
            </a:r>
            <a:r>
              <a:rPr lang="en-GB" sz="2600" dirty="0" err="1"/>
              <a:t>lệnh</a:t>
            </a:r>
            <a:r>
              <a:rPr lang="en-GB" sz="2600" dirty="0"/>
              <a:t> </a:t>
            </a:r>
            <a:r>
              <a:rPr lang="en-GB" sz="2600" dirty="0" err="1"/>
              <a:t>ngăn</a:t>
            </a:r>
            <a:r>
              <a:rPr lang="en-GB" sz="2600" dirty="0"/>
              <a:t> </a:t>
            </a:r>
            <a:r>
              <a:rPr lang="en-GB" sz="2600" dirty="0" err="1"/>
              <a:t>cách</a:t>
            </a:r>
            <a:r>
              <a:rPr lang="en-GB" sz="2600" dirty="0"/>
              <a:t> </a:t>
            </a:r>
            <a:r>
              <a:rPr lang="en-GB" sz="2600" dirty="0" err="1"/>
              <a:t>bởi</a:t>
            </a:r>
            <a:r>
              <a:rPr lang="en-GB" sz="2600" dirty="0"/>
              <a:t> </a:t>
            </a:r>
            <a:r>
              <a:rPr lang="en-GB" sz="2600" dirty="0" err="1"/>
              <a:t>cặp</a:t>
            </a:r>
            <a:r>
              <a:rPr lang="en-GB" sz="2600" dirty="0"/>
              <a:t> </a:t>
            </a:r>
            <a:r>
              <a:rPr lang="en-GB" sz="2600" dirty="0" err="1"/>
              <a:t>dấu</a:t>
            </a:r>
            <a:r>
              <a:rPr lang="en-GB" sz="2600" dirty="0"/>
              <a:t> </a:t>
            </a:r>
            <a:r>
              <a:rPr lang="en-GB" sz="2600" b="1" dirty="0"/>
              <a:t>{</a:t>
            </a:r>
            <a:r>
              <a:rPr lang="en-GB" sz="2600" dirty="0"/>
              <a:t> </a:t>
            </a:r>
            <a:r>
              <a:rPr lang="en-GB" sz="2600" dirty="0" err="1"/>
              <a:t>và</a:t>
            </a:r>
            <a:r>
              <a:rPr lang="en-GB" sz="2600" dirty="0"/>
              <a:t> </a:t>
            </a:r>
            <a:r>
              <a:rPr lang="en-GB" sz="2600" b="1" dirty="0"/>
              <a:t>}</a:t>
            </a:r>
            <a:r>
              <a:rPr lang="en-GB" sz="2600" dirty="0"/>
              <a:t> </a:t>
            </a:r>
            <a:r>
              <a:rPr lang="en-GB" sz="2600" dirty="0" err="1"/>
              <a:t>thì</a:t>
            </a:r>
            <a:r>
              <a:rPr lang="en-GB" sz="2600" dirty="0"/>
              <a:t> </a:t>
            </a:r>
            <a:r>
              <a:rPr lang="en-GB" sz="2600" dirty="0" err="1"/>
              <a:t>trình</a:t>
            </a:r>
            <a:r>
              <a:rPr lang="en-GB" sz="2600" dirty="0"/>
              <a:t> </a:t>
            </a:r>
            <a:r>
              <a:rPr lang="en-GB" sz="2600" dirty="0" err="1"/>
              <a:t>biên</a:t>
            </a:r>
            <a:r>
              <a:rPr lang="en-GB" sz="2600" dirty="0"/>
              <a:t> </a:t>
            </a:r>
            <a:r>
              <a:rPr lang="en-GB" sz="2600" dirty="0" err="1"/>
              <a:t>dịch</a:t>
            </a:r>
            <a:r>
              <a:rPr lang="en-GB" sz="2600" dirty="0"/>
              <a:t> </a:t>
            </a:r>
            <a:r>
              <a:rPr lang="en-GB" sz="2600" dirty="0" err="1"/>
              <a:t>luôn</a:t>
            </a:r>
            <a:r>
              <a:rPr lang="en-GB" sz="2600" dirty="0"/>
              <a:t> </a:t>
            </a:r>
            <a:r>
              <a:rPr lang="en-GB" sz="2600" dirty="0" err="1"/>
              <a:t>hiểu</a:t>
            </a:r>
            <a:r>
              <a:rPr lang="en-GB" sz="2600" b="1" dirty="0"/>
              <a:t> else </a:t>
            </a:r>
            <a:r>
              <a:rPr lang="en-GB" sz="2600" dirty="0" err="1"/>
              <a:t>sẽ</a:t>
            </a:r>
            <a:r>
              <a:rPr lang="en-GB" sz="2600" dirty="0"/>
              <a:t> </a:t>
            </a:r>
            <a:r>
              <a:rPr lang="en-GB" sz="2600" dirty="0" err="1"/>
              <a:t>là</a:t>
            </a:r>
            <a:r>
              <a:rPr lang="en-GB" sz="2600" dirty="0"/>
              <a:t> </a:t>
            </a:r>
            <a:r>
              <a:rPr lang="en-GB" sz="2600" dirty="0" err="1"/>
              <a:t>trường</a:t>
            </a:r>
            <a:r>
              <a:rPr lang="en-GB" sz="2600" dirty="0"/>
              <a:t> </a:t>
            </a:r>
            <a:r>
              <a:rPr lang="en-GB" sz="2600" dirty="0" err="1"/>
              <a:t>hợp</a:t>
            </a:r>
            <a:r>
              <a:rPr lang="en-GB" sz="2600" dirty="0"/>
              <a:t> </a:t>
            </a:r>
            <a:r>
              <a:rPr lang="en-GB" sz="2600" dirty="0" err="1"/>
              <a:t>ngược</a:t>
            </a:r>
            <a:r>
              <a:rPr lang="en-GB" sz="2600" dirty="0"/>
              <a:t> </a:t>
            </a:r>
            <a:r>
              <a:rPr lang="en-GB" sz="2600" dirty="0" err="1"/>
              <a:t>lại</a:t>
            </a:r>
            <a:r>
              <a:rPr lang="en-GB" sz="2600" dirty="0"/>
              <a:t> </a:t>
            </a:r>
            <a:r>
              <a:rPr lang="en-GB" sz="2600" dirty="0" err="1"/>
              <a:t>của</a:t>
            </a:r>
            <a:r>
              <a:rPr lang="en-GB" sz="2600" dirty="0"/>
              <a:t> </a:t>
            </a:r>
            <a:r>
              <a:rPr lang="en-GB" sz="2600" b="1" dirty="0"/>
              <a:t>if </a:t>
            </a:r>
            <a:r>
              <a:rPr lang="en-GB" sz="2600" b="1" dirty="0" err="1"/>
              <a:t>gần</a:t>
            </a:r>
            <a:r>
              <a:rPr lang="en-GB" sz="2600" b="1" dirty="0"/>
              <a:t> </a:t>
            </a:r>
            <a:r>
              <a:rPr lang="en-GB" sz="2600" b="1" dirty="0" err="1"/>
              <a:t>nhất</a:t>
            </a:r>
            <a:r>
              <a:rPr lang="en-GB" sz="2600" dirty="0"/>
              <a:t>.</a:t>
            </a:r>
            <a:endParaRPr lang="en-GB" sz="2600" b="1" dirty="0"/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2600" dirty="0">
              <a:solidFill>
                <a:schemeClr val="tx1"/>
              </a:solidFill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endParaRPr lang="en-GB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37</a:t>
            </a:fld>
            <a:endParaRPr lang="en-US"/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533400" y="2667000"/>
            <a:ext cx="8382000" cy="182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38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(x == 2)</a:t>
            </a:r>
          </a:p>
          <a:p>
            <a:pPr marL="5222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(y == 4)</a:t>
            </a:r>
          </a:p>
          <a:p>
            <a:pPr marL="920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“x bang 2 va y bang 4” &lt;&lt; endl;</a:t>
            </a:r>
          </a:p>
          <a:p>
            <a:pPr marL="5222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20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“x khac 2” &lt;&lt; endl;</a:t>
            </a:r>
          </a:p>
          <a:p>
            <a:pPr marL="635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GB" sz="26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63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>
                <a:solidFill>
                  <a:schemeClr val="tx2">
                    <a:lumMod val="75000"/>
                  </a:schemeClr>
                </a:solidFill>
                <a:latin typeface="+mj-lt"/>
              </a:rPr>
              <a:t>//Nếu nhập x = 2, y = 5 thì sẽ xuất câu x khac 2</a:t>
            </a:r>
          </a:p>
          <a:p>
            <a:pPr marL="63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>
                <a:solidFill>
                  <a:schemeClr val="tx2">
                    <a:lumMod val="75000"/>
                  </a:schemeClr>
                </a:solidFill>
                <a:latin typeface="+mj-lt"/>
              </a:rPr>
              <a:t>//Nếu nhập x = 3, y = 4 thì không xuất gì cả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4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Câu lệnh rẽ nhánh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23929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GB" b="1"/>
              <a:t>Lưu ý:</a:t>
            </a:r>
          </a:p>
          <a:p>
            <a:pPr marL="617220" lvl="2" indent="-34290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GB" sz="2600"/>
              <a:t>Khi sử dụng if..else lồng nhau, nếu không có khối lệnh ngăn cách bởi cặp dấu </a:t>
            </a:r>
            <a:r>
              <a:rPr lang="en-GB" sz="2600" b="1"/>
              <a:t>{</a:t>
            </a:r>
            <a:r>
              <a:rPr lang="en-GB" sz="2600"/>
              <a:t> và </a:t>
            </a:r>
            <a:r>
              <a:rPr lang="en-GB" sz="2600" b="1"/>
              <a:t>}</a:t>
            </a:r>
            <a:r>
              <a:rPr lang="en-GB" sz="2600"/>
              <a:t> thì trình biên dịch luôn hiểu</a:t>
            </a:r>
            <a:r>
              <a:rPr lang="en-GB" sz="2600" b="1"/>
              <a:t> else </a:t>
            </a:r>
            <a:r>
              <a:rPr lang="en-GB" sz="2600"/>
              <a:t>sẽ là trường hợp ngược lại của </a:t>
            </a:r>
            <a:r>
              <a:rPr lang="en-GB" sz="2600" b="1"/>
              <a:t>if gần nhất</a:t>
            </a:r>
            <a:r>
              <a:rPr lang="en-GB" sz="2600"/>
              <a:t>.</a:t>
            </a:r>
            <a:endParaRPr lang="en-GB" sz="2600" b="1"/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2600">
              <a:solidFill>
                <a:schemeClr val="tx1"/>
              </a:solidFill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endParaRPr lang="en-GB" sz="26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38</a:t>
            </a:fld>
            <a:endParaRPr lang="en-US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533400" y="2514600"/>
            <a:ext cx="8305800" cy="2362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38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(x == 2)</a:t>
            </a:r>
          </a:p>
          <a:p>
            <a:pPr marL="1238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222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(y == 4)</a:t>
            </a:r>
          </a:p>
          <a:p>
            <a:pPr marL="9207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“x bang 2 va y bang 4” &lt;&lt; endl;</a:t>
            </a:r>
          </a:p>
          <a:p>
            <a:pPr marL="18256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182563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5810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“x khac 2” &lt;&lt; endl;</a:t>
            </a:r>
          </a:p>
          <a:p>
            <a:pPr marL="63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>
                <a:solidFill>
                  <a:schemeClr val="tx2">
                    <a:lumMod val="75000"/>
                  </a:schemeClr>
                </a:solidFill>
                <a:latin typeface="+mj-lt"/>
              </a:rPr>
              <a:t>//Nếu nhập x = 2, y = 5 thì sẽ không xuất gì cả</a:t>
            </a:r>
          </a:p>
          <a:p>
            <a:pPr marL="635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>
                <a:solidFill>
                  <a:schemeClr val="tx2">
                    <a:lumMod val="75000"/>
                  </a:schemeClr>
                </a:solidFill>
                <a:latin typeface="+mj-lt"/>
              </a:rPr>
              <a:t>//Nếu nhập x = 3, y = 4 thì xuất x khac 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3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Toán tử điều kiện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1884" cy="170589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/>
              <a:t>Toán tử điều kiện: mang ý nghĩa tương đương với if-else.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2600" b="1"/>
              <a:t>Cú pháp:</a:t>
            </a:r>
          </a:p>
          <a:p>
            <a:pPr marL="0" indent="0">
              <a:spcBef>
                <a:spcPts val="0"/>
              </a:spcBef>
              <a:buNone/>
            </a:pPr>
            <a:endParaRPr lang="en-GB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39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469490" y="1981200"/>
            <a:ext cx="844591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condition ? expression_1 :  expression_2;</a:t>
            </a:r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469490" y="2895600"/>
            <a:ext cx="8445910" cy="3124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dirty="0" err="1">
                <a:latin typeface="+mj-lt"/>
              </a:rPr>
              <a:t>Trong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đó</a:t>
            </a:r>
            <a:r>
              <a:rPr lang="en-GB" sz="2600" dirty="0">
                <a:latin typeface="+mj-lt"/>
              </a:rPr>
              <a:t>: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</a:rPr>
              <a:t>condition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điều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một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luận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(true/false)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GB" sz="2600" dirty="0" err="1">
                <a:solidFill>
                  <a:schemeClr val="tx1"/>
                </a:solidFill>
                <a:latin typeface="+mj-lt"/>
              </a:rPr>
              <a:t>Nếu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condition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true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thì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sẽ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thực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hiện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tính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toán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trả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về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kết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quả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expression_1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1).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GB" sz="2600" dirty="0" err="1">
                <a:solidFill>
                  <a:schemeClr val="tx1"/>
                </a:solidFill>
                <a:latin typeface="+mj-lt"/>
              </a:rPr>
              <a:t>Nếu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condition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false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thì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sẽ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thực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hiện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tính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toán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trả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về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kết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quả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</a:rPr>
              <a:t>expression_2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2).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0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Toán tử điều kiện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1884" cy="51516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: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tìm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lớn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2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a </a:t>
            </a:r>
            <a:r>
              <a:rPr lang="en-GB" dirty="0" err="1"/>
              <a:t>và</a:t>
            </a:r>
            <a:r>
              <a:rPr lang="en-GB" dirty="0"/>
              <a:t> b.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int a,  b;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int max;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nhat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 ";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&gt;&gt; a;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hai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 ";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&gt;&gt; b;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pt-BR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= a &gt;= </a:t>
            </a:r>
            <a:r>
              <a:rPr lang="pt-BR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? a : </a:t>
            </a:r>
            <a:r>
              <a:rPr lang="pt-BR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fr-FR" b="1" dirty="0">
                <a:latin typeface="Courier New" pitchFamily="49" charset="0"/>
                <a:cs typeface="Courier New" pitchFamily="49" charset="0"/>
              </a:rPr>
              <a:t>cout &lt;&lt; "So </a:t>
            </a:r>
            <a:r>
              <a:rPr lang="fr-FR" b="1" dirty="0" err="1">
                <a:latin typeface="Courier New" pitchFamily="49" charset="0"/>
                <a:cs typeface="Courier New" pitchFamily="49" charset="0"/>
              </a:rPr>
              <a:t>lon</a:t>
            </a:r>
            <a:r>
              <a:rPr lang="fr-F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b="1" dirty="0" err="1">
                <a:latin typeface="Courier New" pitchFamily="49" charset="0"/>
                <a:cs typeface="Courier New" pitchFamily="49" charset="0"/>
              </a:rPr>
              <a:t>nhat</a:t>
            </a:r>
            <a:r>
              <a:rPr lang="fr-FR" b="1" dirty="0">
                <a:latin typeface="Courier New" pitchFamily="49" charset="0"/>
                <a:cs typeface="Courier New" pitchFamily="49" charset="0"/>
              </a:rPr>
              <a:t> la: " &lt;&lt; max &lt;&lt; </a:t>
            </a:r>
            <a:r>
              <a:rPr lang="fr-FR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fr-FR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//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Nếu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nhập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a = 3,  b = 5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thì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kết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quả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max là 5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//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Nếu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nhập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a = 7, b = 2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thì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kết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2">
                    <a:lumMod val="75000"/>
                  </a:schemeClr>
                </a:solidFill>
              </a:rPr>
              <a:t>quả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max là 7</a:t>
            </a: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marL="0" indent="0">
              <a:spcBef>
                <a:spcPts val="0"/>
              </a:spcBef>
              <a:buNone/>
            </a:pP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8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lệnh lựa chọn switch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/>
              <a:t>Cú pháp</a:t>
            </a:r>
          </a:p>
          <a:p>
            <a:pPr>
              <a:spcBef>
                <a:spcPts val="0"/>
              </a:spcBef>
            </a:pPr>
            <a:r>
              <a:rPr lang="en-GB"/>
              <a:t>Ví dụ</a:t>
            </a:r>
          </a:p>
          <a:p>
            <a:pPr>
              <a:spcBef>
                <a:spcPts val="0"/>
              </a:spcBef>
            </a:pPr>
            <a:r>
              <a:rPr lang="en-GB"/>
              <a:t>Một số lưu ý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02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4643284" cy="4648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Cú</a:t>
            </a:r>
            <a:r>
              <a:rPr lang="en-GB" b="1" dirty="0"/>
              <a:t> </a:t>
            </a:r>
            <a:r>
              <a:rPr lang="en-GB" b="1" dirty="0" err="1"/>
              <a:t>pháp</a:t>
            </a:r>
            <a:endParaRPr lang="en-GB" b="1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expression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kiểu</a:t>
            </a:r>
            <a:r>
              <a:rPr lang="en-US" sz="2600" dirty="0"/>
              <a:t>: </a:t>
            </a:r>
            <a:r>
              <a:rPr lang="en-US" sz="2600" dirty="0">
                <a:solidFill>
                  <a:srgbClr val="FF0000"/>
                </a:solidFill>
              </a:rPr>
              <a:t>bool, char</a:t>
            </a:r>
            <a:r>
              <a:rPr lang="en-US" sz="2600" dirty="0"/>
              <a:t> </a:t>
            </a:r>
            <a:r>
              <a:rPr lang="en-US" sz="2600" dirty="0" err="1"/>
              <a:t>hoặc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FF0000"/>
                </a:solidFill>
              </a:rPr>
              <a:t>int</a:t>
            </a:r>
            <a:r>
              <a:rPr lang="en-US" sz="2600" dirty="0"/>
              <a:t>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600" dirty="0" err="1"/>
              <a:t>Mỗi</a:t>
            </a:r>
            <a:r>
              <a:rPr lang="en-US" sz="2600" dirty="0"/>
              <a:t> </a:t>
            </a:r>
            <a:r>
              <a:rPr lang="en-US" sz="2600" dirty="0" err="1"/>
              <a:t>nhãn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(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600" dirty="0"/>
              <a:t>).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hằng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cùng</a:t>
            </a:r>
            <a:r>
              <a:rPr lang="en-US" sz="2600" dirty="0"/>
              <a:t> </a:t>
            </a:r>
            <a:r>
              <a:rPr lang="en-US" sz="2600" dirty="0" err="1"/>
              <a:t>kiểu</a:t>
            </a:r>
            <a:r>
              <a:rPr lang="en-US" sz="2600" dirty="0"/>
              <a:t> </a:t>
            </a:r>
            <a:r>
              <a:rPr lang="en-US" sz="2600" dirty="0" err="1"/>
              <a:t>dữ</a:t>
            </a:r>
            <a:r>
              <a:rPr lang="en-US" sz="2600" dirty="0"/>
              <a:t> </a:t>
            </a:r>
            <a:r>
              <a:rPr lang="en-US" sz="2600" dirty="0" err="1"/>
              <a:t>liệu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expression</a:t>
            </a:r>
            <a:r>
              <a:rPr lang="en-US" sz="2600" dirty="0"/>
              <a:t>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600" dirty="0" err="1"/>
              <a:t>Câu</a:t>
            </a:r>
            <a:r>
              <a:rPr lang="en-US" sz="2600" dirty="0"/>
              <a:t> </a:t>
            </a: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600" dirty="0"/>
              <a:t> </a:t>
            </a:r>
            <a:r>
              <a:rPr lang="en-US" sz="2600" dirty="0" err="1"/>
              <a:t>dùng</a:t>
            </a:r>
            <a:r>
              <a:rPr lang="en-US" sz="2600" dirty="0"/>
              <a:t> </a:t>
            </a:r>
            <a:r>
              <a:rPr lang="en-US" sz="2600" dirty="0" err="1"/>
              <a:t>thoát</a:t>
            </a:r>
            <a:r>
              <a:rPr lang="en-US" sz="2600" dirty="0"/>
              <a:t> </a:t>
            </a:r>
            <a:r>
              <a:rPr lang="en-US" sz="2600" dirty="0" err="1"/>
              <a:t>cấu</a:t>
            </a:r>
            <a:r>
              <a:rPr lang="en-US" sz="2600" dirty="0"/>
              <a:t> </a:t>
            </a:r>
            <a:r>
              <a:rPr lang="en-US" sz="2600" dirty="0" err="1"/>
              <a:t>trúc</a:t>
            </a:r>
            <a:r>
              <a:rPr lang="en-US" sz="2600" dirty="0"/>
              <a:t> switch.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600" dirty="0" err="1"/>
              <a:t>Nhãn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default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khuyết</a:t>
            </a:r>
            <a:r>
              <a:rPr lang="en-US" sz="26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42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5252884" y="1160208"/>
            <a:ext cx="3891116" cy="518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616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switch(expression) </a:t>
            </a:r>
          </a:p>
          <a:p>
            <a:pPr marL="356616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796925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case value_1: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  statements;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 marL="796925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case value_2: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 statements;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  ...</a:t>
            </a:r>
          </a:p>
          <a:p>
            <a:pPr marL="796925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value_n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  statements;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 marL="630238" lvl="2" indent="3175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[default:</a:t>
            </a:r>
          </a:p>
          <a:p>
            <a:pPr marL="1198563" lvl="2" indent="3175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statements;]</a:t>
            </a:r>
          </a:p>
          <a:p>
            <a:pPr marL="356616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1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43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37" y="1371461"/>
            <a:ext cx="4394363" cy="48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5252884" y="1160208"/>
            <a:ext cx="3891116" cy="518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616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switch(expression) </a:t>
            </a:r>
          </a:p>
          <a:p>
            <a:pPr marL="356616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796925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case value_1: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  statements;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 marL="796925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case value_2: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 statements;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  ...</a:t>
            </a:r>
          </a:p>
          <a:p>
            <a:pPr marL="796925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case value_n: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  statements;</a:t>
            </a:r>
          </a:p>
          <a:p>
            <a:pPr marL="603504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	  break;</a:t>
            </a:r>
          </a:p>
          <a:p>
            <a:pPr marL="630238" lvl="2" indent="3175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[default:</a:t>
            </a:r>
          </a:p>
          <a:p>
            <a:pPr marL="1198563" lvl="2" indent="3175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latin typeface="Courier New" pitchFamily="49" charset="0"/>
                <a:cs typeface="Courier New" pitchFamily="49" charset="0"/>
              </a:rPr>
              <a:t>statements;]</a:t>
            </a:r>
          </a:p>
          <a:p>
            <a:pPr marL="356616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30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7526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: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nhận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0 </a:t>
            </a:r>
            <a:r>
              <a:rPr lang="en-GB" dirty="0" err="1"/>
              <a:t>đến</a:t>
            </a:r>
            <a:r>
              <a:rPr lang="en-GB" dirty="0"/>
              <a:t> 9. </a:t>
            </a:r>
            <a:r>
              <a:rPr lang="en-GB" dirty="0" err="1"/>
              <a:t>Xuất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màn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đọc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đó</a:t>
            </a:r>
            <a:r>
              <a:rPr lang="en-GB" dirty="0"/>
              <a:t> </a:t>
            </a:r>
            <a:r>
              <a:rPr lang="en-GB" dirty="0" err="1"/>
              <a:t>dưới</a:t>
            </a:r>
            <a:r>
              <a:rPr lang="en-GB" dirty="0"/>
              <a:t> </a:t>
            </a:r>
            <a:r>
              <a:rPr lang="en-GB" dirty="0" err="1"/>
              <a:t>dạng</a:t>
            </a:r>
            <a:r>
              <a:rPr lang="en-GB" dirty="0"/>
              <a:t> </a:t>
            </a:r>
            <a:r>
              <a:rPr lang="en-GB" dirty="0" err="1"/>
              <a:t>chữ</a:t>
            </a:r>
            <a:r>
              <a:rPr lang="en-GB" dirty="0"/>
              <a:t>, </a:t>
            </a:r>
            <a:r>
              <a:rPr lang="en-GB" dirty="0" err="1"/>
              <a:t>nếu</a:t>
            </a:r>
            <a:r>
              <a:rPr lang="en-GB" dirty="0"/>
              <a:t> </a:t>
            </a:r>
            <a:r>
              <a:rPr lang="en-GB" dirty="0" err="1"/>
              <a:t>ngoài</a:t>
            </a:r>
            <a:r>
              <a:rPr lang="en-GB" dirty="0"/>
              <a:t> </a:t>
            </a:r>
            <a:r>
              <a:rPr lang="en-GB" dirty="0" err="1"/>
              <a:t>phạm</a:t>
            </a:r>
            <a:r>
              <a:rPr lang="en-GB" dirty="0"/>
              <a:t> vi </a:t>
            </a:r>
            <a:r>
              <a:rPr lang="en-GB" dirty="0" err="1"/>
              <a:t>từ</a:t>
            </a:r>
            <a:r>
              <a:rPr lang="en-GB" dirty="0"/>
              <a:t> 0 </a:t>
            </a:r>
            <a:r>
              <a:rPr lang="en-GB" dirty="0" err="1"/>
              <a:t>đến</a:t>
            </a:r>
            <a:r>
              <a:rPr lang="en-GB" dirty="0"/>
              <a:t> 9 </a:t>
            </a:r>
            <a:r>
              <a:rPr lang="en-GB" dirty="0" err="1"/>
              <a:t>thì</a:t>
            </a:r>
            <a:r>
              <a:rPr lang="en-GB" dirty="0"/>
              <a:t> </a:t>
            </a:r>
            <a:r>
              <a:rPr lang="en-GB" dirty="0" err="1"/>
              <a:t>xuất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</a:t>
            </a:r>
            <a:r>
              <a:rPr lang="en-GB" dirty="0" err="1"/>
              <a:t>báo</a:t>
            </a:r>
            <a:r>
              <a:rPr lang="en-GB" dirty="0"/>
              <a:t> </a:t>
            </a:r>
            <a:r>
              <a:rPr lang="en-GB" dirty="0" err="1"/>
              <a:t>ngoài</a:t>
            </a:r>
            <a:r>
              <a:rPr lang="en-GB" dirty="0"/>
              <a:t> </a:t>
            </a:r>
            <a:r>
              <a:rPr lang="en-GB" dirty="0" err="1"/>
              <a:t>khả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</a:t>
            </a:r>
            <a:r>
              <a:rPr lang="en-GB" dirty="0" err="1"/>
              <a:t>đọc</a:t>
            </a:r>
            <a:r>
              <a:rPr lang="en-GB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954903"/>
              </p:ext>
            </p:extLst>
          </p:nvPr>
        </p:nvGraphicFramePr>
        <p:xfrm>
          <a:off x="152400" y="2590800"/>
          <a:ext cx="8762999" cy="3727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241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55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 nguyên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từ 0 đến 9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80000"/>
                        </a:lnSpc>
                        <a:buFontTx/>
                        <a:buChar char="-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nguyên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</a:t>
                      </a:r>
                    </a:p>
                    <a:p>
                      <a:pPr marL="285750" indent="-285750" algn="just">
                        <a:lnSpc>
                          <a:spcPct val="80000"/>
                        </a:lnSpc>
                        <a:buFontTx/>
                        <a:buChar char="-"/>
                      </a:pPr>
                      <a:r>
                        <a:rPr lang="en-US" sz="260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</a:t>
                      </a:r>
                      <a:r>
                        <a:rPr lang="en-US" sz="260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 == 0 </a:t>
                      </a:r>
                      <a:r>
                        <a:rPr lang="en-US" sz="260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đúng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thì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“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Khong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”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và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thúc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.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sai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thì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đi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tiếp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.</a:t>
                      </a:r>
                    </a:p>
                    <a:p>
                      <a:pPr marL="285750" indent="-285750" algn="just">
                        <a:lnSpc>
                          <a:spcPct val="80000"/>
                        </a:lnSpc>
                        <a:buFontTx/>
                        <a:buChar char="-"/>
                      </a:pPr>
                      <a:r>
                        <a:rPr lang="en-US" sz="260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</a:t>
                      </a:r>
                      <a:r>
                        <a:rPr lang="en-US" sz="260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 == 1 </a:t>
                      </a:r>
                      <a:r>
                        <a:rPr lang="en-US" sz="260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đúng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thì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“Mot”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và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thúc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.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sai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đi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tiếp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.</a:t>
                      </a:r>
                    </a:p>
                    <a:p>
                      <a:pPr marL="285750" indent="-285750" algn="just">
                        <a:lnSpc>
                          <a:spcPct val="80000"/>
                        </a:lnSpc>
                        <a:buFontTx/>
                        <a:buChar char="-"/>
                      </a:pP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…</a:t>
                      </a:r>
                    </a:p>
                    <a:p>
                      <a:pPr marL="285750" indent="-285750" algn="just">
                        <a:lnSpc>
                          <a:spcPct val="80000"/>
                        </a:lnSpc>
                        <a:buFontTx/>
                        <a:buChar char="-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 == 9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đúng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thì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“Chin”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và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thúc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.  </a:t>
                      </a:r>
                    </a:p>
                    <a:p>
                      <a:pPr marL="285750" indent="-285750" algn="just">
                        <a:lnSpc>
                          <a:spcPct val="80000"/>
                        </a:lnSpc>
                        <a:buFontTx/>
                        <a:buChar char="-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 == 9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sai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thì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“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Ngoai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kha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nang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doc”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và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thúc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60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quả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đọc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chữ</a:t>
                      </a:r>
                      <a:endParaRPr lang="en-US" sz="2600" dirty="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7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7526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45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276444"/>
            <a:ext cx="4491038" cy="4971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26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3505200" cy="17526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/>
              <a:t>Ví dụ: </a:t>
            </a:r>
          </a:p>
          <a:p>
            <a:pPr>
              <a:lnSpc>
                <a:spcPct val="150000"/>
              </a:lnSpc>
            </a:pPr>
            <a:endParaRPr lang="en-GB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46</a:t>
            </a:fld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65139" y="1752600"/>
            <a:ext cx="4125861" cy="4267200"/>
          </a:xfrm>
          <a:prstGeom prst="rect">
            <a:avLst/>
          </a:prstGeom>
          <a:noFill/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int so;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1 so </a:t>
            </a: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tu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0 den 9: "; 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&gt;&gt; so;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4191000" y="1143000"/>
            <a:ext cx="4948084" cy="5181600"/>
          </a:xfrm>
          <a:prstGeom prst="rect">
            <a:avLst/>
          </a:prstGeom>
          <a:noFill/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switch(so)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case 0: </a:t>
            </a:r>
          </a:p>
          <a:p>
            <a:pPr marL="92075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\n"; </a:t>
            </a:r>
          </a:p>
          <a:p>
            <a:pPr marL="92075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case 1: </a:t>
            </a:r>
          </a:p>
          <a:p>
            <a:pPr marL="914400" indent="-7938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&lt;&lt; "Mot\n"; </a:t>
            </a:r>
          </a:p>
          <a:p>
            <a:pPr marL="914400" indent="-7938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case 2: </a:t>
            </a:r>
          </a:p>
          <a:p>
            <a:pPr marL="92075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&lt;&lt; "Hai\n"; </a:t>
            </a:r>
          </a:p>
          <a:p>
            <a:pPr marL="92075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case 9: </a:t>
            </a:r>
          </a:p>
          <a:p>
            <a:pPr marL="914400" indent="-7938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&lt;&lt; "Chin\n"; </a:t>
            </a:r>
          </a:p>
          <a:p>
            <a:pPr marL="914400" indent="-7938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default: </a:t>
            </a:r>
          </a:p>
          <a:p>
            <a:pPr marL="860425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Ngoai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kha </a:t>
            </a:r>
            <a:r>
              <a:rPr lang="en-US" sz="1900" b="1" dirty="0" err="1">
                <a:latin typeface="Courier New" pitchFamily="49" charset="0"/>
                <a:cs typeface="Courier New" pitchFamily="49" charset="0"/>
              </a:rPr>
              <a:t>nang</a:t>
            </a:r>
            <a:r>
              <a:rPr lang="en-US" sz="1900" b="1" dirty="0">
                <a:latin typeface="Courier New" pitchFamily="49" charset="0"/>
                <a:cs typeface="Courier New" pitchFamily="49" charset="0"/>
              </a:rPr>
              <a:t> doc\n";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9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191000" y="1140540"/>
            <a:ext cx="0" cy="5181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9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82040"/>
            <a:ext cx="8229600" cy="4861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Một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lưu</a:t>
            </a:r>
            <a:r>
              <a:rPr lang="en-GB" b="1" dirty="0"/>
              <a:t> </a:t>
            </a:r>
            <a:r>
              <a:rPr lang="en-GB" b="1" dirty="0" err="1"/>
              <a:t>ý</a:t>
            </a:r>
            <a:endParaRPr lang="en-GB" b="1" dirty="0"/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làm</a:t>
            </a:r>
            <a:r>
              <a:rPr lang="en-US" sz="2600" dirty="0"/>
              <a:t> </a:t>
            </a:r>
            <a:r>
              <a:rPr lang="en-US" sz="2600" dirty="0" err="1"/>
              <a:t>việc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kiểu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string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trùng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(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600" dirty="0"/>
              <a:t>).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sz="2600" dirty="0"/>
              <a:t>; </a:t>
            </a:r>
            <a:r>
              <a:rPr lang="en-US" sz="2600" dirty="0" err="1"/>
              <a:t>đặt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dirty="0" err="1"/>
              <a:t>mỗi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thúc</a:t>
            </a:r>
            <a:r>
              <a:rPr lang="en-US" sz="2600" dirty="0"/>
              <a:t> </a:t>
            </a:r>
            <a:r>
              <a:rPr lang="en-US" sz="2600" dirty="0" err="1"/>
              <a:t>đoạn</a:t>
            </a:r>
            <a:r>
              <a:rPr lang="en-US" sz="2600" dirty="0"/>
              <a:t> </a:t>
            </a: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2600" dirty="0"/>
              <a:t> </a:t>
            </a:r>
            <a:r>
              <a:rPr lang="en-US" sz="2600" dirty="0" err="1"/>
              <a:t>đó</a:t>
            </a:r>
            <a:r>
              <a:rPr lang="en-US" sz="2600" dirty="0"/>
              <a:t> </a:t>
            </a:r>
            <a:r>
              <a:rPr lang="en-US" sz="2600" dirty="0" err="1"/>
              <a:t>mà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thực</a:t>
            </a:r>
            <a:r>
              <a:rPr lang="en-US" sz="2600" dirty="0"/>
              <a:t> </a:t>
            </a:r>
            <a:r>
              <a:rPr lang="en-US" sz="2600" dirty="0" err="1"/>
              <a:t>hiện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còn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r>
              <a:rPr lang="en-US" sz="26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627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/>
              <a:t>Một số lưu ý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b="1"/>
              <a:t>Ví dụ: 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switch(so)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case 0: </a:t>
            </a:r>
          </a:p>
          <a:p>
            <a:pPr marL="92075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cout &lt;&lt; "Khong"; </a:t>
            </a:r>
          </a:p>
          <a:p>
            <a:pPr marL="92075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case 1: </a:t>
            </a:r>
          </a:p>
          <a:p>
            <a:pPr marL="914400" indent="-7938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cout &lt;&lt; "Mot"; </a:t>
            </a:r>
          </a:p>
          <a:p>
            <a:pPr marL="914400" indent="-7938">
              <a:spcBef>
                <a:spcPts val="0"/>
              </a:spcBef>
              <a:buNone/>
            </a:pPr>
            <a:r>
              <a:rPr lang="en-US" sz="1800" b="1" strike="sngStrike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case 2: </a:t>
            </a:r>
          </a:p>
          <a:p>
            <a:pPr marL="92075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cout &lt;&lt; "Hai"; </a:t>
            </a:r>
          </a:p>
          <a:p>
            <a:pPr marL="92075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case 9: </a:t>
            </a:r>
          </a:p>
          <a:p>
            <a:pPr marL="914400" indent="-7938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cout &lt;&lt; "Chin"; </a:t>
            </a:r>
          </a:p>
          <a:p>
            <a:pPr marL="914400" indent="-7938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default: </a:t>
            </a:r>
          </a:p>
          <a:p>
            <a:pPr marL="860425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cout &lt;&lt; "Ngoai kha nang doc";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800" b="1">
                <a:solidFill>
                  <a:schemeClr val="tx2">
                    <a:lumMod val="75000"/>
                  </a:schemeClr>
                </a:solidFill>
              </a:rPr>
              <a:t>//nếu so là 1 thì xuất MotHai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132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Một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lưu</a:t>
            </a:r>
            <a:r>
              <a:rPr lang="en-GB" b="1" dirty="0"/>
              <a:t> </a:t>
            </a:r>
            <a:r>
              <a:rPr lang="en-GB" b="1" dirty="0" err="1"/>
              <a:t>ý</a:t>
            </a:r>
            <a:endParaRPr lang="en-GB" b="1" dirty="0"/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tận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</a:t>
            </a:r>
            <a:r>
              <a:rPr lang="en-US" sz="2600" dirty="0" err="1"/>
              <a:t>việc</a:t>
            </a:r>
            <a:r>
              <a:rPr lang="en-US" sz="2600" dirty="0"/>
              <a:t> </a:t>
            </a:r>
            <a:r>
              <a:rPr lang="en-US" sz="2600" dirty="0" err="1"/>
              <a:t>bỏ</a:t>
            </a:r>
            <a:r>
              <a:rPr lang="en-US" sz="2600" dirty="0"/>
              <a:t> qua </a:t>
            </a: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break;</a:t>
            </a:r>
            <a:r>
              <a:rPr lang="en-US" sz="2600" dirty="0"/>
              <a:t> </a:t>
            </a:r>
            <a:r>
              <a:rPr lang="en-US" sz="2600" dirty="0" err="1"/>
              <a:t>ở</a:t>
            </a:r>
            <a:r>
              <a:rPr lang="en-US" sz="2600" dirty="0"/>
              <a:t> </a:t>
            </a:r>
            <a:r>
              <a:rPr lang="en-US" sz="2600" dirty="0" err="1"/>
              <a:t>cuối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tiếp</a:t>
            </a:r>
            <a:r>
              <a:rPr lang="en-US" sz="2600" dirty="0"/>
              <a:t> </a:t>
            </a:r>
            <a:r>
              <a:rPr lang="en-US" sz="2600" dirty="0" err="1"/>
              <a:t>tục</a:t>
            </a:r>
            <a:r>
              <a:rPr lang="en-US" sz="2600" dirty="0"/>
              <a:t> </a:t>
            </a:r>
            <a:r>
              <a:rPr lang="en-US" sz="2600" dirty="0" err="1"/>
              <a:t>thực</a:t>
            </a:r>
            <a:r>
              <a:rPr lang="en-US" sz="2600" dirty="0"/>
              <a:t> </a:t>
            </a:r>
            <a:r>
              <a:rPr lang="en-US" sz="2600" dirty="0" err="1"/>
              <a:t>hiện</a:t>
            </a:r>
            <a:r>
              <a:rPr lang="en-US" sz="2600" dirty="0"/>
              <a:t> </a:t>
            </a:r>
            <a:r>
              <a:rPr lang="en-US" sz="2600" dirty="0" err="1"/>
              <a:t>lệnh</a:t>
            </a:r>
            <a:r>
              <a:rPr lang="en-US" sz="2600" dirty="0"/>
              <a:t> </a:t>
            </a:r>
            <a:r>
              <a:rPr lang="en-US" sz="2600" dirty="0" err="1"/>
              <a:t>ở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kế</a:t>
            </a:r>
            <a:r>
              <a:rPr lang="en-US" sz="2600" dirty="0"/>
              <a:t> </a:t>
            </a:r>
            <a:r>
              <a:rPr lang="en-US" sz="2600" dirty="0" err="1"/>
              <a:t>tiếp</a:t>
            </a:r>
            <a:r>
              <a:rPr lang="en-US" sz="2600" dirty="0"/>
              <a:t>.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char kt;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ky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tu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 “; 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&gt;&gt; kt;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switch (kt)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case ‘a’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case ‘o’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case ‘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case ‘u’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case ‘e’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</a:t>
            </a:r>
          </a:p>
          <a:p>
            <a:pPr marL="1306513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&lt;&lt; “la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ky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tu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am\n”; </a:t>
            </a:r>
          </a:p>
          <a:p>
            <a:pPr marL="1306513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 marL="90805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default:</a:t>
            </a:r>
          </a:p>
          <a:p>
            <a:pPr marL="1306513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&lt;&lt; “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la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ky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tu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am\n”;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4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trúc lặp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/>
              <a:t>Lệnh while</a:t>
            </a:r>
          </a:p>
          <a:p>
            <a:pPr>
              <a:spcBef>
                <a:spcPts val="0"/>
              </a:spcBef>
            </a:pPr>
            <a:r>
              <a:rPr lang="en-GB"/>
              <a:t>Lệnh do-while</a:t>
            </a:r>
          </a:p>
          <a:p>
            <a:pPr>
              <a:spcBef>
                <a:spcPts val="0"/>
              </a:spcBef>
            </a:pPr>
            <a:r>
              <a:rPr lang="en-US"/>
              <a:t>Lưu ý khối lệnh trong while và do-while</a:t>
            </a:r>
            <a:endParaRPr lang="en-GB"/>
          </a:p>
          <a:p>
            <a:pPr>
              <a:spcBef>
                <a:spcPts val="0"/>
              </a:spcBef>
            </a:pPr>
            <a:r>
              <a:rPr lang="en-GB"/>
              <a:t>Lệnh for</a:t>
            </a:r>
          </a:p>
          <a:p>
            <a:pPr>
              <a:spcBef>
                <a:spcPts val="0"/>
              </a:spcBef>
            </a:pPr>
            <a:r>
              <a:rPr lang="en-GB"/>
              <a:t>Một số lưu ý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46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1652" y="1066800"/>
            <a:ext cx="8229600" cy="609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/>
              <a:t>Cú pháp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51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609599" y="1752600"/>
            <a:ext cx="4114801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616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while (condition)</a:t>
            </a:r>
          </a:p>
          <a:p>
            <a:pPr marL="915988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statement;</a:t>
            </a: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415413" y="3505200"/>
            <a:ext cx="8195187" cy="2362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0"/>
              </a:spcBef>
            </a:pPr>
            <a:r>
              <a:rPr lang="en-GB" sz="2600" dirty="0" err="1">
                <a:latin typeface="+mj-lt"/>
              </a:rPr>
              <a:t>Trong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đó</a:t>
            </a:r>
            <a:r>
              <a:rPr lang="en-GB" sz="2600" dirty="0">
                <a:latin typeface="+mj-lt"/>
              </a:rPr>
              <a:t>: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condition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điều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):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luận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true/false.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statement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câu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):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thể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rỗng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đơn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hay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khối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490662"/>
            <a:ext cx="4076700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80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89220"/>
            <a:ext cx="8382000" cy="44958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GB" dirty="0"/>
              <a:t> (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r>
              <a:rPr lang="en-GB" dirty="0"/>
              <a:t>)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GB" dirty="0"/>
              <a:t> </a:t>
            </a:r>
            <a:r>
              <a:rPr lang="en-GB" dirty="0" err="1"/>
              <a:t>gọi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(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loop condition</a:t>
            </a:r>
            <a:r>
              <a:rPr lang="en-GB" dirty="0"/>
              <a:t>).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>
                <a:solidFill>
                  <a:schemeClr val="tx1"/>
                </a:solidFill>
              </a:rPr>
              <a:t>Nếu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điều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kiện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lặp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là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thì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sẽ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thực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hiện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hết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các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lệnh</a:t>
            </a:r>
            <a:r>
              <a:rPr lang="en-GB" sz="2600" dirty="0">
                <a:solidFill>
                  <a:schemeClr val="tx1"/>
                </a:solidFill>
              </a:rPr>
              <a:t> (</a:t>
            </a:r>
            <a:r>
              <a:rPr lang="en-GB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statement</a:t>
            </a:r>
            <a:r>
              <a:rPr lang="en-GB" sz="2600" dirty="0">
                <a:solidFill>
                  <a:schemeClr val="tx1"/>
                </a:solidFill>
              </a:rPr>
              <a:t>).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>
                <a:solidFill>
                  <a:schemeClr val="tx1"/>
                </a:solidFill>
              </a:rPr>
              <a:t>Nếu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điều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kiện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lặp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là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thì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sẽ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ngưng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và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kết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thúc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lệnh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lặp</a:t>
            </a:r>
            <a:r>
              <a:rPr lang="en-GB" sz="2600" dirty="0">
                <a:solidFill>
                  <a:schemeClr val="tx1"/>
                </a:solidFill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kiện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tất</a:t>
            </a:r>
            <a:r>
              <a:rPr lang="en-GB" dirty="0"/>
              <a:t> </a:t>
            </a:r>
            <a:r>
              <a:rPr lang="en-GB" dirty="0" err="1"/>
              <a:t>cả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câu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 </a:t>
            </a:r>
            <a:r>
              <a:rPr lang="en-GB" dirty="0" err="1"/>
              <a:t>cách</a:t>
            </a:r>
            <a:r>
              <a:rPr lang="en-GB" dirty="0"/>
              <a:t>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Dùng</a:t>
            </a:r>
            <a:r>
              <a:rPr lang="en-GB" sz="2600" dirty="0"/>
              <a:t> </a:t>
            </a:r>
            <a:r>
              <a:rPr lang="en-GB" sz="2600" dirty="0" err="1"/>
              <a:t>biến</a:t>
            </a:r>
            <a:r>
              <a:rPr lang="en-GB" sz="2600" dirty="0"/>
              <a:t> </a:t>
            </a:r>
            <a:r>
              <a:rPr lang="en-GB" sz="2600" dirty="0" err="1"/>
              <a:t>đếm</a:t>
            </a:r>
            <a:r>
              <a:rPr lang="en-GB" sz="2600" dirty="0"/>
              <a:t> (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sz="2600" dirty="0"/>
              <a:t>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Dùng</a:t>
            </a:r>
            <a:r>
              <a:rPr lang="en-GB" sz="2600" dirty="0"/>
              <a:t> </a:t>
            </a:r>
            <a:r>
              <a:rPr lang="en-GB" sz="2600" dirty="0" err="1"/>
              <a:t>giá</a:t>
            </a:r>
            <a:r>
              <a:rPr lang="en-GB" sz="2600" dirty="0"/>
              <a:t> </a:t>
            </a:r>
            <a:r>
              <a:rPr lang="en-GB" sz="2600" dirty="0" err="1"/>
              <a:t>trị</a:t>
            </a:r>
            <a:r>
              <a:rPr lang="en-GB" sz="2600" dirty="0"/>
              <a:t> </a:t>
            </a:r>
            <a:r>
              <a:rPr lang="en-GB" sz="2600" dirty="0" err="1"/>
              <a:t>cầm</a:t>
            </a:r>
            <a:r>
              <a:rPr lang="en-GB" sz="2600" dirty="0"/>
              <a:t> </a:t>
            </a:r>
            <a:r>
              <a:rPr lang="en-GB" sz="2600" dirty="0" err="1"/>
              <a:t>canh</a:t>
            </a:r>
            <a:r>
              <a:rPr lang="en-GB" sz="2600" dirty="0"/>
              <a:t> (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sz="2600" dirty="0"/>
              <a:t>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Dùng</a:t>
            </a:r>
            <a:r>
              <a:rPr lang="en-GB" sz="2600" dirty="0"/>
              <a:t> </a:t>
            </a:r>
            <a:r>
              <a:rPr lang="en-GB" sz="2600" dirty="0" err="1"/>
              <a:t>biến</a:t>
            </a:r>
            <a:r>
              <a:rPr lang="en-GB" sz="2600" dirty="0"/>
              <a:t> </a:t>
            </a:r>
            <a:r>
              <a:rPr lang="en-GB" sz="2600" dirty="0" err="1"/>
              <a:t>cờ</a:t>
            </a:r>
            <a:r>
              <a:rPr lang="en-GB" sz="2600" dirty="0"/>
              <a:t> (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flag</a:t>
            </a:r>
            <a:r>
              <a:rPr lang="en-GB" sz="2600" dirty="0"/>
              <a:t>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 dirty="0" err="1"/>
              <a:t>Kiểm</a:t>
            </a:r>
            <a:r>
              <a:rPr lang="en-GB" sz="2600" dirty="0"/>
              <a:t> </a:t>
            </a:r>
            <a:r>
              <a:rPr lang="en-GB" sz="2600" dirty="0" err="1"/>
              <a:t>tra</a:t>
            </a:r>
            <a:r>
              <a:rPr lang="en-GB" sz="2600" dirty="0"/>
              <a:t> </a:t>
            </a:r>
            <a:r>
              <a:rPr lang="en-GB" sz="2600" dirty="0" err="1"/>
              <a:t>trạng</a:t>
            </a:r>
            <a:r>
              <a:rPr lang="en-GB" sz="2600" dirty="0"/>
              <a:t> </a:t>
            </a:r>
            <a:r>
              <a:rPr lang="en-GB" sz="2600" dirty="0" err="1"/>
              <a:t>thái</a:t>
            </a:r>
            <a:r>
              <a:rPr lang="en-GB" sz="2600" dirty="0"/>
              <a:t> (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state</a:t>
            </a:r>
            <a:r>
              <a:rPr lang="en-GB" sz="2600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2954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 1 </a:t>
            </a:r>
            <a:r>
              <a:rPr lang="en-GB" b="1" dirty="0" err="1"/>
              <a:t>dùng</a:t>
            </a:r>
            <a:r>
              <a:rPr lang="en-GB" b="1" dirty="0"/>
              <a:t> </a:t>
            </a:r>
            <a:r>
              <a:rPr lang="en-GB" b="1" dirty="0" err="1"/>
              <a:t>biến</a:t>
            </a:r>
            <a:r>
              <a:rPr lang="en-GB" b="1" dirty="0"/>
              <a:t> </a:t>
            </a:r>
            <a:r>
              <a:rPr lang="en-GB" b="1" dirty="0" err="1"/>
              <a:t>đếm</a:t>
            </a:r>
            <a:r>
              <a:rPr lang="en-GB" b="1" dirty="0"/>
              <a:t> (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 dirty="0"/>
              <a:t>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dương</a:t>
            </a:r>
            <a:r>
              <a:rPr lang="en-GB" dirty="0"/>
              <a:t> n.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dirty="0" err="1"/>
              <a:t>Tính</a:t>
            </a:r>
            <a:r>
              <a:rPr lang="en-GB" dirty="0"/>
              <a:t>: S = 1 + 2 + 3 + … + 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567413"/>
              </p:ext>
            </p:extLst>
          </p:nvPr>
        </p:nvGraphicFramePr>
        <p:xfrm>
          <a:off x="152400" y="2514600"/>
          <a:ext cx="8686798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76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944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 nguyên dương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 n</a:t>
                      </a:r>
                    </a:p>
                    <a:p>
                      <a:pPr marL="34290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Khởi tạo “tổng tích lũy” tong = 0, “biến đếm” i = 1.</a:t>
                      </a:r>
                    </a:p>
                    <a:p>
                      <a:pPr marL="34290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Lặp lại 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các lệnh sau đây </a:t>
                      </a:r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 i &lt;= n </a:t>
                      </a:r>
                    </a:p>
                    <a:p>
                      <a:pPr marL="800100" lvl="1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Cộng i vào tong: tong = tong + i;</a:t>
                      </a:r>
                    </a:p>
                    <a:p>
                      <a:pPr marL="800100" lvl="1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Tăng giá trị i lên 1 đơn vị: i++;</a:t>
                      </a:r>
                    </a:p>
                    <a:p>
                      <a:pPr marL="342900" lvl="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 tong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quả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tổng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từ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1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đến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</a:t>
                      </a:r>
                      <a:endParaRPr lang="en-US" sz="2600" dirty="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3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2954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1 dùng biến đếm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54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286" y="1600200"/>
            <a:ext cx="3248514" cy="466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847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638800"/>
          </a:xfrm>
          <a:noFill/>
          <a:ln>
            <a:noFill/>
          </a:ln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700" b="1" dirty="0" err="1"/>
              <a:t>Ví</a:t>
            </a:r>
            <a:r>
              <a:rPr lang="en-GB" sz="3700" b="1" dirty="0"/>
              <a:t> </a:t>
            </a:r>
            <a:r>
              <a:rPr lang="en-GB" sz="3700" b="1" dirty="0" err="1"/>
              <a:t>dụ</a:t>
            </a:r>
            <a:r>
              <a:rPr lang="en-GB" sz="3700" b="1" dirty="0"/>
              <a:t> 1 </a:t>
            </a:r>
            <a:r>
              <a:rPr lang="en-GB" sz="3700" b="1" dirty="0" err="1"/>
              <a:t>dùng</a:t>
            </a:r>
            <a:r>
              <a:rPr lang="en-GB" sz="3700" b="1" dirty="0"/>
              <a:t> </a:t>
            </a:r>
            <a:r>
              <a:rPr lang="en-GB" sz="3700" b="1" dirty="0" err="1"/>
              <a:t>biến</a:t>
            </a:r>
            <a:r>
              <a:rPr lang="en-GB" sz="3700" b="1" dirty="0"/>
              <a:t> </a:t>
            </a:r>
            <a:r>
              <a:rPr lang="en-GB" sz="3700" b="1" dirty="0" err="1"/>
              <a:t>đếm</a:t>
            </a:r>
            <a:r>
              <a:rPr lang="en-GB" sz="3700" b="1" dirty="0"/>
              <a:t> (</a:t>
            </a:r>
            <a:r>
              <a:rPr lang="en-GB" sz="3700" b="1" dirty="0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sz="3700" b="1" dirty="0"/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int n; 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9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900" b="1" dirty="0">
                <a:latin typeface="Courier New" pitchFamily="49" charset="0"/>
                <a:cs typeface="Courier New" pitchFamily="49" charset="0"/>
              </a:rPr>
              <a:t> = 1;     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Khởi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tạo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biến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đếm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= 1 </a:t>
            </a:r>
            <a:endParaRPr lang="en-US" sz="2900" b="1" dirty="0">
              <a:latin typeface="Courier New" pitchFamily="49" charset="0"/>
              <a:cs typeface="Courier New" pitchFamily="49" charset="0"/>
            </a:endParaRP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int tong = 0;  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Khởi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tạo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biến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tong =0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9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9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9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9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9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900" b="1" dirty="0" err="1">
                <a:latin typeface="Courier New" pitchFamily="49" charset="0"/>
                <a:cs typeface="Courier New" pitchFamily="49" charset="0"/>
              </a:rPr>
              <a:t>duong</a:t>
            </a:r>
            <a:r>
              <a:rPr lang="en-US" sz="2900" b="1" dirty="0">
                <a:latin typeface="Courier New" pitchFamily="49" charset="0"/>
                <a:cs typeface="Courier New" pitchFamily="49" charset="0"/>
              </a:rPr>
              <a:t> n: "; 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9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9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9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&lt;= n</a:t>
            </a:r>
            <a:r>
              <a:rPr lang="en-US" sz="29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731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tong += </a:t>
            </a:r>
            <a:r>
              <a:rPr lang="en-US" sz="29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9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Cộng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tích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lũy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kết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quả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vào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biến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tong</a:t>
            </a:r>
            <a:endParaRPr lang="en-US" sz="29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9731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9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++; 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Tăng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lên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1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để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lặp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lại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kiểm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tra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điều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kiện</a:t>
            </a:r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3">
                    <a:lumMod val="75000"/>
                  </a:schemeClr>
                </a:solidFill>
              </a:rPr>
              <a:t>lặp</a:t>
            </a:r>
            <a:endParaRPr lang="en-US" sz="29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FR" sz="2900" b="1" dirty="0">
                <a:latin typeface="Courier New" pitchFamily="49" charset="0"/>
                <a:cs typeface="Courier New" pitchFamily="49" charset="0"/>
              </a:rPr>
              <a:t>cout &lt;&lt; "Tong tu 1 den " &lt;&lt; n &lt;&lt; " la = " &lt;&lt; </a:t>
            </a:r>
            <a:r>
              <a:rPr lang="fr-FR" sz="29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tong</a:t>
            </a:r>
            <a:r>
              <a:rPr lang="fr-FR" sz="29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fr-FR" sz="29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fr-FR" sz="29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FR" sz="290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2900" dirty="0">
              <a:solidFill>
                <a:schemeClr val="accent1">
                  <a:lumMod val="50000"/>
                </a:schemeClr>
              </a:solidFill>
            </a:endParaRPr>
          </a:p>
          <a:p>
            <a:pPr marL="515938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GB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79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12954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2 dùng biến đếm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/>
              <a:t>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/>
              <a:t>Viết chương trình nhập vào một số nguyên dương n lớn hơn 1. Tính tích các số chẵn từ 1 đến 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56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856284"/>
              </p:ext>
            </p:extLst>
          </p:nvPr>
        </p:nvGraphicFramePr>
        <p:xfrm>
          <a:off x="152400" y="2362200"/>
          <a:ext cx="868679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944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 nguyên dương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 n</a:t>
                      </a:r>
                    </a:p>
                    <a:p>
                      <a:pPr marL="342900" marR="0" indent="-34290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 n &gt; 1 đúng thì tiếp tục thực hiện các bước còn lại, sai thì xuất thông báo nhập sai và kết thúc chương trình.</a:t>
                      </a:r>
                    </a:p>
                    <a:p>
                      <a:pPr marL="342900" marR="0" indent="-34290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Khởi tạo  i = 2; tichChan = 1;</a:t>
                      </a:r>
                    </a:p>
                    <a:p>
                      <a:pPr marL="342900" indent="-34290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Lặp lại 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các lệnh sau đây </a:t>
                      </a:r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 i &lt;= n </a:t>
                      </a:r>
                    </a:p>
                    <a:p>
                      <a:pPr marL="750888" indent="-28575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Tính tichChan =  tichChan * i;</a:t>
                      </a:r>
                    </a:p>
                    <a:p>
                      <a:pPr marL="750888" indent="-28575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Tăng biến đếm i lên 2 đơn vị.</a:t>
                      </a:r>
                    </a:p>
                    <a:p>
                      <a:pPr marL="342900" lvl="0" indent="-34290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 tichChan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kết quả tích các số chẵn từ 1 đến n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8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2954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2 dùng biến đếm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57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76400"/>
            <a:ext cx="6815137" cy="456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128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6388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2 dùng biến đếm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int n, i = 2, tichChan = 1;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cout &lt;&lt; "Nhap so nguyen duong n: ";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cin &gt;&gt; n;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if (n &gt; 1)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en-US" sz="18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while (i &lt;= n)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en-US" sz="18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146175" indent="0">
              <a:spcBef>
                <a:spcPts val="0"/>
              </a:spcBef>
              <a:buNone/>
            </a:pPr>
            <a:r>
              <a:rPr lang="en-US" sz="18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tichChan *= i;</a:t>
            </a:r>
          </a:p>
          <a:p>
            <a:pPr marL="1146175" indent="0">
              <a:spcBef>
                <a:spcPts val="0"/>
              </a:spcBef>
              <a:buNone/>
            </a:pPr>
            <a:r>
              <a:rPr lang="en-US" sz="18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 = i + 2;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en-US" sz="18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fr-FR" sz="1800" b="1">
                <a:latin typeface="Courier New" pitchFamily="49" charset="0"/>
                <a:cs typeface="Courier New" pitchFamily="49" charset="0"/>
              </a:rPr>
              <a:t>cout &lt;&lt; "Tich cac so chan tu 1 den " &lt;&lt; n &lt;&lt; " la = " &lt;&lt; tichChan &lt;&lt; endl;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73138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cout &lt;&lt; "Nhap n sai\n";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58738" indent="0">
              <a:spcBef>
                <a:spcPts val="0"/>
              </a:spcBef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}</a:t>
            </a:r>
            <a:endParaRPr lang="en-GB" sz="1800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51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5240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2 dùng biến đếm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/>
              <a:t>) – cách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59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388204"/>
              </p:ext>
            </p:extLst>
          </p:nvPr>
        </p:nvGraphicFramePr>
        <p:xfrm>
          <a:off x="152400" y="1600200"/>
          <a:ext cx="8686798" cy="4157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2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8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 nguyên dương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 n</a:t>
                      </a:r>
                    </a:p>
                    <a:p>
                      <a:pPr marL="342900" marR="0" indent="-34290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 n &gt; 1 đúng thì tiếp tục thực hiện các bước còn lại, sai thì xuất thông báo nhập sai và kết thúc chương trình.</a:t>
                      </a:r>
                    </a:p>
                    <a:p>
                      <a:pPr marL="342900" marR="0" indent="-34290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Khởi tạo  i = 1; tichChan = 1;</a:t>
                      </a:r>
                    </a:p>
                    <a:p>
                      <a:pPr marL="342900" indent="-34290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Lặp lại </a:t>
                      </a: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các lệnh sau đây </a:t>
                      </a:r>
                      <a:r>
                        <a:rPr lang="en-US" sz="2600" b="1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 i &lt;= n </a:t>
                      </a:r>
                    </a:p>
                    <a:p>
                      <a:pPr marL="750888" indent="-28575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 i % 2 dư 0 đúng thì Tính tichChan =  tichChan * i;</a:t>
                      </a:r>
                    </a:p>
                    <a:p>
                      <a:pPr marL="750888" indent="-28575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Tăng biến đếm i lên 1 đơn vị.</a:t>
                      </a:r>
                    </a:p>
                    <a:p>
                      <a:pPr marL="342900" lvl="0" indent="-342900" algn="just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 tichChan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kết quả tích các số chẵn từ 1 đến n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9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2954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2 dùng biến đếm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/>
              <a:t>) – cách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60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620000" cy="4684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472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while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6388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2 dùng biến đếm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b="1"/>
              <a:t>) – cách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int n, i = 1, tichChan = 1;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cout &lt;&lt; "Nhap so nguyen duong n: ";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cin &gt;&gt; n;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if (n &gt; 1)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en-US" sz="17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while (i &lt;= n)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en-US" sz="17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146175" indent="0">
              <a:spcBef>
                <a:spcPts val="0"/>
              </a:spcBef>
              <a:buNone/>
            </a:pPr>
            <a:r>
              <a:rPr lang="en-US" sz="17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if (i%2==0)</a:t>
            </a:r>
          </a:p>
          <a:p>
            <a:pPr marL="1550988" indent="0">
              <a:spcBef>
                <a:spcPts val="0"/>
              </a:spcBef>
              <a:buNone/>
            </a:pPr>
            <a:r>
              <a:rPr lang="en-US" sz="17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tichChan *= i;</a:t>
            </a:r>
          </a:p>
          <a:p>
            <a:pPr marL="1146175" indent="0">
              <a:spcBef>
                <a:spcPts val="0"/>
              </a:spcBef>
              <a:buNone/>
            </a:pPr>
            <a:r>
              <a:rPr lang="en-US" sz="17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i++;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en-US" sz="17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798513" indent="0">
              <a:spcBef>
                <a:spcPts val="0"/>
              </a:spcBef>
              <a:buNone/>
            </a:pPr>
            <a:r>
              <a:rPr lang="fr-FR" sz="1700" b="1">
                <a:latin typeface="Courier New" pitchFamily="49" charset="0"/>
                <a:cs typeface="Courier New" pitchFamily="49" charset="0"/>
              </a:rPr>
              <a:t>cout &lt;&lt; "Tich cac so chan tu 1 den " &lt;&lt; n &lt;&lt; " la = " &lt;&lt; tichChan &lt;&lt; endl;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73138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cout &lt;&lt; "Nhap n sai\n";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58738" indent="0">
              <a:spcBef>
                <a:spcPts val="0"/>
              </a:spcBef>
              <a:buNone/>
            </a:pPr>
            <a:r>
              <a:rPr lang="en-US" sz="1700" b="1">
                <a:latin typeface="Courier New" pitchFamily="49" charset="0"/>
                <a:cs typeface="Courier New" pitchFamily="49" charset="0"/>
              </a:rPr>
              <a:t>}</a:t>
            </a:r>
            <a:endParaRPr lang="en-GB" sz="1700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426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12192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 3 </a:t>
            </a:r>
            <a:r>
              <a:rPr lang="en-GB" b="1" dirty="0" err="1"/>
              <a:t>dùng</a:t>
            </a:r>
            <a:r>
              <a:rPr lang="en-GB" b="1" dirty="0"/>
              <a:t> </a:t>
            </a:r>
            <a:r>
              <a:rPr lang="en-GB" b="1" dirty="0" err="1"/>
              <a:t>giá</a:t>
            </a:r>
            <a:r>
              <a:rPr lang="en-GB" b="1" dirty="0"/>
              <a:t> </a:t>
            </a:r>
            <a:r>
              <a:rPr lang="en-GB" b="1" dirty="0" err="1"/>
              <a:t>trị</a:t>
            </a:r>
            <a:r>
              <a:rPr lang="en-GB" b="1" dirty="0"/>
              <a:t> </a:t>
            </a:r>
            <a:r>
              <a:rPr lang="en-GB" b="1" dirty="0" err="1"/>
              <a:t>cầm</a:t>
            </a:r>
            <a:r>
              <a:rPr lang="en-GB" b="1" dirty="0"/>
              <a:t> </a:t>
            </a:r>
            <a:r>
              <a:rPr lang="en-GB" b="1" dirty="0" err="1"/>
              <a:t>canh</a:t>
            </a:r>
            <a:r>
              <a:rPr lang="en-GB" b="1" dirty="0"/>
              <a:t> (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b="1" dirty="0"/>
              <a:t>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tổng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khác</a:t>
            </a:r>
            <a:r>
              <a:rPr lang="en-GB" dirty="0"/>
              <a:t> 0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,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muốn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thúc</a:t>
            </a:r>
            <a:r>
              <a:rPr lang="en-GB" dirty="0"/>
              <a:t> </a:t>
            </a:r>
            <a:r>
              <a:rPr lang="en-GB" dirty="0" err="1"/>
              <a:t>sẽ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0.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62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559492"/>
              </p:ext>
            </p:extLst>
          </p:nvPr>
        </p:nvGraphicFramePr>
        <p:xfrm>
          <a:off x="304800" y="2514600"/>
          <a:ext cx="8382000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42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86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Các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số nguyên khác 0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Khởi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tạo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biến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tong = 0;</a:t>
                      </a:r>
                    </a:p>
                    <a:p>
                      <a:pPr marL="285750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1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nguyên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</a:t>
                      </a:r>
                    </a:p>
                    <a:p>
                      <a:pPr marL="285750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="1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Lặp</a:t>
                      </a:r>
                      <a:r>
                        <a:rPr lang="en-US" sz="2600" b="1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="1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lại</a:t>
                      </a:r>
                      <a:r>
                        <a:rPr lang="en-US" sz="2600" b="1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các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bước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sau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nếu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 != 0</a:t>
                      </a:r>
                    </a:p>
                    <a:p>
                      <a:pPr marL="909638" indent="-285750" algn="just">
                        <a:lnSpc>
                          <a:spcPct val="9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Tính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tong = tong + n;</a:t>
                      </a:r>
                    </a:p>
                    <a:p>
                      <a:pPr marL="909638" indent="-285750" algn="just">
                        <a:lnSpc>
                          <a:spcPct val="90000"/>
                        </a:lnSpc>
                        <a:buFont typeface="Wingdings" pitchFamily="2" charset="2"/>
                        <a:buChar char="ü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thêm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giá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trị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khác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cho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n</a:t>
                      </a:r>
                    </a:p>
                    <a:p>
                      <a:pPr marL="285750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 dirty="0" err="1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tong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kết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quả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tổng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các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nguyên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khác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0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vừa</a:t>
                      </a:r>
                      <a:r>
                        <a:rPr lang="en-US" sz="2600" baseline="0" dirty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2600" baseline="0" dirty="0" err="1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</a:t>
                      </a:r>
                      <a:endParaRPr lang="en-US" sz="2600" dirty="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6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12192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3 dùng giá trị cầm canh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b="1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63</a:t>
            </a:fld>
            <a:endParaRPr lang="en-US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828800"/>
            <a:ext cx="3771900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300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410200"/>
          </a:xfr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800" b="1" dirty="0" err="1"/>
              <a:t>Ví</a:t>
            </a:r>
            <a:r>
              <a:rPr lang="en-GB" sz="2800" b="1" dirty="0"/>
              <a:t> </a:t>
            </a:r>
            <a:r>
              <a:rPr lang="en-GB" sz="2800" b="1" dirty="0" err="1"/>
              <a:t>dụ</a:t>
            </a:r>
            <a:r>
              <a:rPr lang="en-GB" sz="2800" b="1" dirty="0"/>
              <a:t> 3 </a:t>
            </a:r>
            <a:r>
              <a:rPr lang="en-GB" sz="2800" b="1" dirty="0" err="1"/>
              <a:t>dùng</a:t>
            </a:r>
            <a:r>
              <a:rPr lang="en-GB" sz="2800" b="1" dirty="0"/>
              <a:t> </a:t>
            </a:r>
            <a:r>
              <a:rPr lang="en-GB" sz="2800" b="1" dirty="0" err="1"/>
              <a:t>giá</a:t>
            </a:r>
            <a:r>
              <a:rPr lang="en-GB" sz="2800" b="1" dirty="0"/>
              <a:t> </a:t>
            </a:r>
            <a:r>
              <a:rPr lang="en-GB" sz="2800" b="1" dirty="0" err="1"/>
              <a:t>trị</a:t>
            </a:r>
            <a:r>
              <a:rPr lang="en-GB" sz="2800" b="1" dirty="0"/>
              <a:t> </a:t>
            </a:r>
            <a:r>
              <a:rPr lang="en-GB" sz="2800" b="1" dirty="0" err="1"/>
              <a:t>cầm</a:t>
            </a:r>
            <a:r>
              <a:rPr lang="en-GB" sz="2800" b="1" dirty="0"/>
              <a:t> </a:t>
            </a:r>
            <a:r>
              <a:rPr lang="en-GB" sz="2800" b="1" dirty="0" err="1"/>
              <a:t>canh</a:t>
            </a:r>
            <a:r>
              <a:rPr lang="en-GB" sz="2800" b="1" dirty="0"/>
              <a:t> (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sz="2800" b="1" dirty="0"/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tong =  0;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0 de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ket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thuc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): "; 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n!=0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731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tong += n;</a:t>
            </a:r>
          </a:p>
          <a:p>
            <a:pPr marL="9731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0 de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ket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thuc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): "; </a:t>
            </a:r>
          </a:p>
          <a:p>
            <a:pPr marL="9731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"Tong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cac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vua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la: " &lt;&lt; tong &lt;&lt;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5080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GB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777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15240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4 dùng giá trị cầm canh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b="1"/>
              <a:t>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/>
              <a:t>Viết chương trình nhận vào một số nguyên dương n. Tính tổng các chữ số của số nguyên đó.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65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439557"/>
              </p:ext>
            </p:extLst>
          </p:nvPr>
        </p:nvGraphicFramePr>
        <p:xfrm>
          <a:off x="228600" y="2362200"/>
          <a:ext cx="868679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384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Số nguyên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dương n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Nhập số nguyên dương n</a:t>
                      </a:r>
                    </a:p>
                    <a:p>
                      <a:pPr marL="34290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Xét xem n &gt; 0.  Nếu đúng thì tiếp tục bước 3,  sai thì xuất nhập sai và kết thúc.</a:t>
                      </a:r>
                    </a:p>
                    <a:p>
                      <a:pPr marL="34290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Gán n cho tam; khởi tạo tong = 0;</a:t>
                      </a:r>
                    </a:p>
                    <a:p>
                      <a:pPr marL="342900" indent="-34290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Lặp lại các bước sau nếu tam &gt; 0:</a:t>
                      </a:r>
                    </a:p>
                    <a:p>
                      <a:pPr marL="1028700" lvl="1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Tính chuso = tam % 10;</a:t>
                      </a:r>
                    </a:p>
                    <a:p>
                      <a:pPr marL="1028700" lvl="1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Tính tong = tong + chuso;</a:t>
                      </a:r>
                    </a:p>
                    <a:p>
                      <a:pPr marL="1028700" lvl="1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Cập nhật tam = tam / 10;</a:t>
                      </a:r>
                    </a:p>
                    <a:p>
                      <a:pPr marL="285750" indent="-285750" algn="just">
                        <a:lnSpc>
                          <a:spcPct val="90000"/>
                        </a:lnSpc>
                        <a:buFont typeface="Arial" pitchFamily="34" charset="0"/>
                        <a:buChar char="•"/>
                      </a:pPr>
                      <a:r>
                        <a:rPr lang="en-US" sz="260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 tong.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60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Xuất</a:t>
                      </a:r>
                      <a:r>
                        <a:rPr lang="en-US" sz="2600" baseline="0"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kết quả tổng các chữ số của n</a:t>
                      </a:r>
                      <a:endParaRPr lang="en-US" sz="2600"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9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15240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4 dùng giá trị cầm canh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b="1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66</a:t>
            </a:fld>
            <a:endParaRPr lang="en-US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9" y="1526403"/>
            <a:ext cx="6291261" cy="4760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452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7912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b="1"/>
              <a:t>Ví dụ 4 dùng giá trị cầm canh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b="1"/>
              <a:t>)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6513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int n, tam, tong = 0;</a:t>
            </a:r>
          </a:p>
          <a:p>
            <a:pPr marL="46513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cout &lt;&lt; "Nhap so nguyen duong: "; </a:t>
            </a:r>
          </a:p>
          <a:p>
            <a:pPr marL="46513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cin &gt;&gt; n;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807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791200"/>
          </a:xfrm>
          <a:noFill/>
          <a:ln>
            <a:noFill/>
          </a:ln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700" b="1"/>
              <a:t>Ví dụ 4 dùng giá trị cầm canh (</a:t>
            </a:r>
            <a:r>
              <a:rPr lang="en-GB" sz="3700" b="1">
                <a:latin typeface="Courier New" pitchFamily="49" charset="0"/>
                <a:cs typeface="Courier New" pitchFamily="49" charset="0"/>
              </a:rPr>
              <a:t>sentinel value</a:t>
            </a:r>
            <a:r>
              <a:rPr lang="en-GB" sz="3700" b="1"/>
              <a:t>)</a:t>
            </a:r>
          </a:p>
          <a:p>
            <a:pPr marL="4667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if (n &gt; 0)</a:t>
            </a:r>
          </a:p>
          <a:p>
            <a:pPr marL="406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682625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tam = n;</a:t>
            </a:r>
          </a:p>
          <a:p>
            <a:pPr marL="682625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while (tam &gt; 0)</a:t>
            </a:r>
          </a:p>
          <a:p>
            <a:pPr marL="682625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03028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int chuso = tam % 10;</a:t>
            </a:r>
          </a:p>
          <a:p>
            <a:pPr marL="103028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tong += chuso;</a:t>
            </a:r>
          </a:p>
          <a:p>
            <a:pPr marL="103028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tam /= 10;</a:t>
            </a:r>
          </a:p>
          <a:p>
            <a:pPr marL="682625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682625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fr-FR" sz="2900" b="1">
                <a:latin typeface="Courier New" pitchFamily="49" charset="0"/>
                <a:cs typeface="Courier New" pitchFamily="49" charset="0"/>
              </a:rPr>
              <a:t>cout &lt;&lt; "Tong cac chu so cua " &lt;&lt; n &lt;&lt; " la " &lt;&lt; tong &lt;&lt; endl;</a:t>
            </a:r>
          </a:p>
          <a:p>
            <a:pPr marL="406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06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6826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cout &lt;&lt; "Nhap sai\n";</a:t>
            </a:r>
          </a:p>
          <a:p>
            <a:pPr marL="45878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900" b="1">
                <a:latin typeface="Courier New" pitchFamily="49" charset="0"/>
                <a:cs typeface="Courier New" pitchFamily="49" charset="0"/>
              </a:rPr>
              <a:t>}</a:t>
            </a:r>
            <a:endParaRPr lang="en-GB" sz="2900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823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32766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 5 </a:t>
            </a:r>
            <a:r>
              <a:rPr lang="en-GB" b="1" dirty="0" err="1"/>
              <a:t>dùng</a:t>
            </a:r>
            <a:r>
              <a:rPr lang="en-GB" b="1" dirty="0"/>
              <a:t> </a:t>
            </a:r>
            <a:r>
              <a:rPr lang="en-GB" b="1" dirty="0" err="1"/>
              <a:t>biến</a:t>
            </a:r>
            <a:r>
              <a:rPr lang="en-GB" b="1" dirty="0"/>
              <a:t> </a:t>
            </a:r>
            <a:r>
              <a:rPr lang="en-GB" b="1" dirty="0" err="1"/>
              <a:t>cờ</a:t>
            </a:r>
            <a:r>
              <a:rPr lang="en-GB" b="1" dirty="0"/>
              <a:t> (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flag</a:t>
            </a:r>
            <a:r>
              <a:rPr lang="en-GB" b="1" dirty="0"/>
              <a:t>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n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phải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tố</a:t>
            </a:r>
            <a:r>
              <a:rPr lang="en-GB" dirty="0"/>
              <a:t> hay </a:t>
            </a:r>
            <a:r>
              <a:rPr lang="en-GB" dirty="0" err="1"/>
              <a:t>không</a:t>
            </a:r>
            <a:r>
              <a:rPr lang="en-GB" dirty="0"/>
              <a:t>? </a:t>
            </a:r>
            <a:r>
              <a:rPr lang="en-GB" dirty="0" err="1"/>
              <a:t>Biết</a:t>
            </a:r>
            <a:r>
              <a:rPr lang="en-GB" dirty="0"/>
              <a:t> </a:t>
            </a:r>
            <a:r>
              <a:rPr lang="en-GB" dirty="0" err="1"/>
              <a:t>rằng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tố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2 </a:t>
            </a:r>
            <a:r>
              <a:rPr lang="en-GB" dirty="0" err="1"/>
              <a:t>trở</a:t>
            </a:r>
            <a:r>
              <a:rPr lang="en-GB" dirty="0"/>
              <a:t> </a:t>
            </a:r>
            <a:r>
              <a:rPr lang="en-GB" dirty="0" err="1"/>
              <a:t>lên</a:t>
            </a:r>
            <a:r>
              <a:rPr lang="en-GB" dirty="0"/>
              <a:t>, </a:t>
            </a:r>
            <a:r>
              <a:rPr lang="en-GB" dirty="0" err="1"/>
              <a:t>chỉ</a:t>
            </a:r>
            <a:r>
              <a:rPr lang="en-GB" dirty="0"/>
              <a:t> chia </a:t>
            </a:r>
            <a:r>
              <a:rPr lang="en-GB" dirty="0" err="1"/>
              <a:t>hết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1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chính</a:t>
            </a:r>
            <a:r>
              <a:rPr lang="en-GB" dirty="0"/>
              <a:t> </a:t>
            </a:r>
            <a:r>
              <a:rPr lang="en-GB" dirty="0" err="1"/>
              <a:t>nó</a:t>
            </a:r>
            <a:r>
              <a:rPr lang="en-GB" dirty="0"/>
              <a:t>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GB" dirty="0"/>
          </a:p>
          <a:p>
            <a:pPr algn="just">
              <a:spcBef>
                <a:spcPts val="0"/>
              </a:spcBef>
              <a:buFontTx/>
              <a:buChar char="-"/>
            </a:pPr>
            <a:r>
              <a:rPr lang="en-GB" b="1" dirty="0"/>
              <a:t>Input</a:t>
            </a:r>
            <a:r>
              <a:rPr lang="en-GB" dirty="0"/>
              <a:t>: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n</a:t>
            </a:r>
          </a:p>
          <a:p>
            <a:pPr algn="just">
              <a:spcBef>
                <a:spcPts val="0"/>
              </a:spcBef>
              <a:buFontTx/>
              <a:buChar char="-"/>
            </a:pPr>
            <a:r>
              <a:rPr lang="en-GB" b="1" dirty="0"/>
              <a:t>Output</a:t>
            </a:r>
            <a:r>
              <a:rPr lang="en-GB" dirty="0"/>
              <a:t>: n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tố</a:t>
            </a:r>
            <a:r>
              <a:rPr lang="en-GB" dirty="0"/>
              <a:t>/ n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tố</a:t>
            </a:r>
            <a:r>
              <a:rPr lang="en-GB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9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32766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5 dùng biến cờ (</a:t>
            </a:r>
            <a:r>
              <a:rPr lang="en-GB" b="1">
                <a:latin typeface="Courier New" pitchFamily="49" charset="0"/>
                <a:cs typeface="Courier New" pitchFamily="49" charset="0"/>
              </a:rPr>
              <a:t>flag</a:t>
            </a:r>
            <a:r>
              <a:rPr lang="en-GB" b="1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70</a:t>
            </a:fld>
            <a:endParaRPr lang="en-US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1180"/>
            <a:ext cx="7194634" cy="4955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231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 5 </a:t>
            </a:r>
            <a:r>
              <a:rPr lang="en-GB" b="1" dirty="0" err="1"/>
              <a:t>dùng</a:t>
            </a:r>
            <a:r>
              <a:rPr lang="en-GB" b="1" dirty="0"/>
              <a:t> </a:t>
            </a:r>
            <a:r>
              <a:rPr lang="en-GB" b="1" dirty="0" err="1"/>
              <a:t>biến</a:t>
            </a:r>
            <a:r>
              <a:rPr lang="en-GB" b="1" dirty="0"/>
              <a:t> </a:t>
            </a:r>
            <a:r>
              <a:rPr lang="en-GB" b="1" dirty="0" err="1"/>
              <a:t>cờ</a:t>
            </a:r>
            <a:r>
              <a:rPr lang="en-GB" b="1" dirty="0"/>
              <a:t> (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flag</a:t>
            </a:r>
            <a:r>
              <a:rPr lang="en-GB" b="1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true;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: "; 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727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 5 </a:t>
            </a:r>
            <a:r>
              <a:rPr lang="en-GB" b="1" dirty="0" err="1"/>
              <a:t>dùng</a:t>
            </a:r>
            <a:r>
              <a:rPr lang="en-GB" b="1" dirty="0"/>
              <a:t> </a:t>
            </a:r>
            <a:r>
              <a:rPr lang="en-GB" b="1" dirty="0" err="1"/>
              <a:t>biến</a:t>
            </a:r>
            <a:r>
              <a:rPr lang="en-GB" b="1" dirty="0"/>
              <a:t> </a:t>
            </a:r>
            <a:r>
              <a:rPr lang="en-GB" b="1" dirty="0" err="1"/>
              <a:t>cờ</a:t>
            </a:r>
            <a:r>
              <a:rPr lang="en-GB" b="1" dirty="0"/>
              <a:t> (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flag</a:t>
            </a:r>
            <a:r>
              <a:rPr lang="en-GB" b="1" dirty="0"/>
              <a:t>)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if ( n &gt;= 2)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73138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= 2;</a:t>
            </a:r>
          </a:p>
          <a:p>
            <a:pPr marL="973138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&lt;= sqrt (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static_cast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&lt;double&gt;(n)))</a:t>
            </a:r>
          </a:p>
          <a:p>
            <a:pPr marL="973138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377950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if ( n % 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== 0 )</a:t>
            </a:r>
          </a:p>
          <a:p>
            <a:pPr marL="1827213" indent="0">
              <a:spcBef>
                <a:spcPts val="0"/>
              </a:spcBef>
              <a:buNone/>
            </a:pP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= false;</a:t>
            </a:r>
          </a:p>
          <a:p>
            <a:pPr marL="1377950" indent="0">
              <a:spcBef>
                <a:spcPts val="0"/>
              </a:spcBef>
              <a:buNone/>
            </a:pP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marL="973138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508000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2813" indent="0">
              <a:spcBef>
                <a:spcPts val="0"/>
              </a:spcBef>
              <a:buNone/>
            </a:pP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= false;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== true)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&lt;&lt; n &lt;&lt; " la so 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to\n";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&lt;&lt; n &lt;&lt; " 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la so </a:t>
            </a:r>
            <a:r>
              <a:rPr lang="en-US" sz="205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050" b="1" dirty="0">
                <a:latin typeface="Courier New" pitchFamily="49" charset="0"/>
                <a:cs typeface="Courier New" pitchFamily="49" charset="0"/>
              </a:rPr>
              <a:t> to\n";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5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71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65C8-DB4D-3C45-B02F-91742077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9EA25-53AA-1C44-A1F4-AC23B994D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Ví dụ 5: sử dụng kiểm chứng kết quả với n = 100000?</a:t>
            </a:r>
          </a:p>
          <a:p>
            <a:r>
              <a:rPr lang="en-VN" b="1" dirty="0">
                <a:solidFill>
                  <a:srgbClr val="FF0000"/>
                </a:solidFill>
              </a:rPr>
              <a:t>Nhược điểm?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72604-FC71-AF4D-BDD5-FEF9F0CF5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9CDF-2149-E046-8861-03A045B2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225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562F-BEBE-7C41-8B86-57F4E6FB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B7A79-1C38-6942-AB32-7C6D8081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A187E-72A5-7840-BA8B-B6CE7FB9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92E821-BD79-FC49-8D2C-E78BE791803D}"/>
              </a:ext>
            </a:extLst>
          </p:cNvPr>
          <p:cNvSpPr txBox="1">
            <a:spLocks/>
          </p:cNvSpPr>
          <p:nvPr/>
        </p:nvSpPr>
        <p:spPr>
          <a:xfrm>
            <a:off x="381000" y="1074275"/>
            <a:ext cx="8503920" cy="576428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287338" indent="-177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9113" indent="-18256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6600" indent="-18256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41313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1313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VN" b="1" dirty="0">
                <a:solidFill>
                  <a:srgbClr val="FF0000"/>
                </a:solidFill>
              </a:rPr>
              <a:t>Khắc phục ví dụ 5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651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4651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= true;</a:t>
            </a:r>
          </a:p>
          <a:p>
            <a:pPr marL="4651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: "; </a:t>
            </a:r>
          </a:p>
          <a:p>
            <a:pPr marL="4651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if ( n &gt;= 2)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669925" lvl="2" indent="0">
              <a:spcBef>
                <a:spcPts val="0"/>
              </a:spcBef>
              <a:buFont typeface="Calibri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= 2;</a:t>
            </a:r>
          </a:p>
          <a:p>
            <a:pPr marL="669925" lvl="2" indent="0">
              <a:spcBef>
                <a:spcPts val="0"/>
              </a:spcBef>
              <a:buFont typeface="Calibri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&lt;= sqrt (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static_cast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&lt;double&gt;(n)) &amp;&amp; </a:t>
            </a:r>
            <a:r>
              <a:rPr lang="en-US" sz="17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== true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669925" lvl="2" indent="0">
              <a:spcBef>
                <a:spcPts val="0"/>
              </a:spcBef>
              <a:buFont typeface="Calibri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669925" lvl="2" indent="0">
              <a:spcBef>
                <a:spcPts val="0"/>
              </a:spcBef>
              <a:buFont typeface="Calibri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	if (n %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== 0)</a:t>
            </a:r>
          </a:p>
          <a:p>
            <a:pPr marL="669925" lvl="2" indent="0">
              <a:spcBef>
                <a:spcPts val="0"/>
              </a:spcBef>
              <a:buFont typeface="Calibri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= false;</a:t>
            </a:r>
          </a:p>
          <a:p>
            <a:pPr marL="669925" lvl="2" indent="0">
              <a:spcBef>
                <a:spcPts val="0"/>
              </a:spcBef>
              <a:buFont typeface="Calibri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marL="669925" lvl="2" indent="0">
              <a:spcBef>
                <a:spcPts val="0"/>
              </a:spcBef>
              <a:buFont typeface="Calibri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= false;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laNguyenTo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== true)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&lt;&lt; n &lt;&lt; " la so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to\n";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4524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7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&lt;&lt; n &lt;&lt; "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khong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la so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to\n";</a:t>
            </a:r>
          </a:p>
          <a:p>
            <a:pPr marL="109538" indent="0">
              <a:buFont typeface="Arial" panose="020B0604020202020204" pitchFamily="34" charset="0"/>
              <a:buNone/>
            </a:pPr>
            <a:r>
              <a:rPr lang="en-VN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30433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trúc lặp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/>
              <a:t>Lệnh while</a:t>
            </a:r>
          </a:p>
          <a:p>
            <a:pPr>
              <a:spcBef>
                <a:spcPts val="0"/>
              </a:spcBef>
            </a:pPr>
            <a:r>
              <a:rPr lang="en-GB" i="1"/>
              <a:t>Lệnh do-while</a:t>
            </a:r>
          </a:p>
          <a:p>
            <a:pPr>
              <a:spcBef>
                <a:spcPts val="0"/>
              </a:spcBef>
            </a:pPr>
            <a:r>
              <a:rPr lang="en-US"/>
              <a:t>Lưu ý khối lệnh trong while và do-while</a:t>
            </a:r>
            <a:endParaRPr lang="en-GB"/>
          </a:p>
          <a:p>
            <a:pPr>
              <a:spcBef>
                <a:spcPts val="0"/>
              </a:spcBef>
            </a:pPr>
            <a:r>
              <a:rPr lang="en-GB"/>
              <a:t>Lệnh for</a:t>
            </a:r>
          </a:p>
          <a:p>
            <a:pPr>
              <a:spcBef>
                <a:spcPts val="0"/>
              </a:spcBef>
            </a:pPr>
            <a:r>
              <a:rPr lang="en-GB"/>
              <a:t>Một số lưu ý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483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do-while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609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/>
              <a:t>Cú pháp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76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633334" y="1732613"/>
            <a:ext cx="4472066" cy="137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do{</a:t>
            </a:r>
          </a:p>
          <a:p>
            <a:pPr marL="9159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statement;</a:t>
            </a:r>
          </a:p>
          <a:p>
            <a:pPr marL="230188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while (condition);</a:t>
            </a:r>
          </a:p>
          <a:p>
            <a:pPr marL="915988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15413" y="3819525"/>
            <a:ext cx="8423787" cy="242887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latin typeface="+mj-lt"/>
                <a:cs typeface="Courier New" pitchFamily="49" charset="0"/>
              </a:rPr>
              <a:t>condition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điều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):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luận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>
                <a:latin typeface="+mj-lt"/>
              </a:rPr>
              <a:t>true/false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latin typeface="+mj-lt"/>
                <a:cs typeface="Courier New" pitchFamily="49" charset="0"/>
              </a:rPr>
              <a:t>statement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câu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):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thể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rỗng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đơn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hay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khối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  <a:endParaRPr lang="en-GB" sz="2600" dirty="0">
              <a:latin typeface="+mj-lt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</a:pPr>
            <a:r>
              <a:rPr lang="en-GB" sz="2600" dirty="0">
                <a:latin typeface="+mj-lt"/>
              </a:rPr>
              <a:t>do-while </a:t>
            </a:r>
            <a:r>
              <a:rPr lang="en-GB" sz="2600" dirty="0" err="1">
                <a:latin typeface="+mj-lt"/>
              </a:rPr>
              <a:t>sẽ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thực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hiện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câu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lệnh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trước</a:t>
            </a:r>
            <a:r>
              <a:rPr lang="en-GB" sz="2600" dirty="0">
                <a:latin typeface="+mj-lt"/>
              </a:rPr>
              <a:t>, </a:t>
            </a:r>
            <a:r>
              <a:rPr lang="en-GB" sz="2600" dirty="0" err="1">
                <a:latin typeface="+mj-lt"/>
              </a:rPr>
              <a:t>sau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đó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kiểm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tra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điều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kiện</a:t>
            </a:r>
            <a:r>
              <a:rPr lang="en-GB" sz="2600" dirty="0">
                <a:latin typeface="+mj-lt"/>
              </a:rPr>
              <a:t>. </a:t>
            </a:r>
            <a:r>
              <a:rPr lang="en-GB" sz="2600" dirty="0" err="1">
                <a:latin typeface="+mj-lt"/>
              </a:rPr>
              <a:t>Thực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hiện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cho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đến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khi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điều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kiện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sai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thì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dừng</a:t>
            </a:r>
            <a:r>
              <a:rPr lang="en-GB" sz="2600" dirty="0">
                <a:latin typeface="+mj-lt"/>
              </a:rPr>
              <a:t>.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247968"/>
            <a:ext cx="2971800" cy="2571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6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do-while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77</a:t>
            </a:fld>
            <a:endParaRPr lang="en-US"/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457200" y="1066800"/>
            <a:ext cx="8305800" cy="2895600"/>
          </a:xfrm>
          <a:prstGeom prst="rect">
            <a:avLst/>
          </a:prstGeom>
          <a:noFill/>
          <a:ln>
            <a:noFill/>
          </a:ln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 dirty="0" err="1">
                <a:latin typeface="+mj-lt"/>
              </a:rPr>
              <a:t>Ví</a:t>
            </a:r>
            <a:r>
              <a:rPr lang="en-GB" sz="2600" b="1" dirty="0">
                <a:latin typeface="+mj-lt"/>
              </a:rPr>
              <a:t> </a:t>
            </a:r>
            <a:r>
              <a:rPr lang="en-GB" sz="2600" b="1" dirty="0" err="1">
                <a:latin typeface="+mj-lt"/>
              </a:rPr>
              <a:t>dụ</a:t>
            </a:r>
            <a:r>
              <a:rPr lang="en-GB" sz="2600" b="1" dirty="0">
                <a:latin typeface="+mj-lt"/>
              </a:rPr>
              <a:t> 1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600" dirty="0" err="1">
                <a:latin typeface="+mj-lt"/>
              </a:rPr>
              <a:t>Viết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chương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trình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nhập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nguyên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dương</a:t>
            </a:r>
            <a:r>
              <a:rPr lang="en-GB" sz="2600" dirty="0">
                <a:latin typeface="+mj-lt"/>
              </a:rPr>
              <a:t> n. </a:t>
            </a:r>
            <a:r>
              <a:rPr lang="en-GB" sz="2600" dirty="0" err="1">
                <a:latin typeface="+mj-lt"/>
              </a:rPr>
              <a:t>Tính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tổng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các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lẻ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từ</a:t>
            </a:r>
            <a:r>
              <a:rPr lang="en-GB" sz="2600" dirty="0">
                <a:latin typeface="+mj-lt"/>
              </a:rPr>
              <a:t> 1 </a:t>
            </a:r>
            <a:r>
              <a:rPr lang="en-GB" sz="2600" dirty="0" err="1">
                <a:latin typeface="+mj-lt"/>
              </a:rPr>
              <a:t>đến</a:t>
            </a:r>
            <a:r>
              <a:rPr lang="en-GB" sz="2600" dirty="0">
                <a:latin typeface="+mj-lt"/>
              </a:rPr>
              <a:t> n.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GB" sz="2600" dirty="0">
              <a:latin typeface="+mj-lt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FontTx/>
              <a:buChar char="-"/>
            </a:pPr>
            <a:r>
              <a:rPr lang="en-GB" sz="2600" b="1" dirty="0">
                <a:latin typeface="+mj-lt"/>
              </a:rPr>
              <a:t>Input</a:t>
            </a:r>
            <a:r>
              <a:rPr lang="en-GB" sz="2600" dirty="0">
                <a:latin typeface="+mj-lt"/>
              </a:rPr>
              <a:t>: 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nguyên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dương</a:t>
            </a:r>
            <a:r>
              <a:rPr lang="en-GB" sz="2600" dirty="0">
                <a:latin typeface="+mj-lt"/>
              </a:rPr>
              <a:t> n</a:t>
            </a:r>
          </a:p>
          <a:p>
            <a:pPr>
              <a:lnSpc>
                <a:spcPct val="90000"/>
              </a:lnSpc>
              <a:spcBef>
                <a:spcPts val="0"/>
              </a:spcBef>
              <a:buFontTx/>
              <a:buChar char="-"/>
            </a:pPr>
            <a:r>
              <a:rPr lang="en-GB" sz="2600" b="1" dirty="0">
                <a:latin typeface="+mj-lt"/>
              </a:rPr>
              <a:t>Output</a:t>
            </a:r>
            <a:r>
              <a:rPr lang="en-GB" sz="2600" dirty="0">
                <a:latin typeface="+mj-lt"/>
              </a:rPr>
              <a:t>: </a:t>
            </a:r>
            <a:r>
              <a:rPr lang="en-GB" sz="2600" dirty="0" err="1">
                <a:latin typeface="+mj-lt"/>
              </a:rPr>
              <a:t>tổng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các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số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lẻ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từ</a:t>
            </a:r>
            <a:r>
              <a:rPr lang="en-GB" sz="2600" dirty="0">
                <a:latin typeface="+mj-lt"/>
              </a:rPr>
              <a:t> 1 </a:t>
            </a:r>
            <a:r>
              <a:rPr lang="en-GB" sz="2600" dirty="0" err="1">
                <a:latin typeface="+mj-lt"/>
              </a:rPr>
              <a:t>đến</a:t>
            </a:r>
            <a:r>
              <a:rPr lang="en-GB" sz="2600" dirty="0">
                <a:latin typeface="+mj-lt"/>
              </a:rPr>
              <a:t> 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643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do-while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78</a:t>
            </a:fld>
            <a:endParaRPr lang="en-US"/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457200" y="1066800"/>
            <a:ext cx="8686800" cy="2895600"/>
          </a:xfrm>
          <a:prstGeom prst="rect">
            <a:avLst/>
          </a:prstGeom>
          <a:noFill/>
          <a:ln>
            <a:noFill/>
          </a:ln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GB" sz="2600" b="1">
                <a:latin typeface="+mj-lt"/>
              </a:rPr>
              <a:t>Ví dụ 1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72980"/>
            <a:ext cx="3733800" cy="5150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783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do-while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79</a:t>
            </a:fld>
            <a:endParaRPr lang="en-US"/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457200" y="1066800"/>
            <a:ext cx="8686800" cy="5791200"/>
          </a:xfrm>
          <a:prstGeom prst="rect">
            <a:avLst/>
          </a:prstGeom>
          <a:noFill/>
          <a:ln>
            <a:noFill/>
          </a:ln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400" b="1" dirty="0" err="1">
                <a:latin typeface="+mj-lt"/>
              </a:rPr>
              <a:t>Ví</a:t>
            </a:r>
            <a:r>
              <a:rPr lang="en-GB" sz="3400" b="1" dirty="0">
                <a:latin typeface="+mj-lt"/>
              </a:rPr>
              <a:t> </a:t>
            </a:r>
            <a:r>
              <a:rPr lang="en-GB" sz="3400" b="1" dirty="0" err="1">
                <a:latin typeface="+mj-lt"/>
              </a:rPr>
              <a:t>dụ</a:t>
            </a:r>
            <a:r>
              <a:rPr lang="en-GB" sz="3400" b="1" dirty="0">
                <a:latin typeface="+mj-lt"/>
              </a:rPr>
              <a:t> 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100" b="1" dirty="0"/>
              <a:t>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1;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tongLe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duong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: ";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if ( n &gt; 0 )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do{</a:t>
            </a:r>
          </a:p>
          <a:p>
            <a:pPr marL="13716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tongLe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22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3716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2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+ 2;</a:t>
            </a:r>
          </a:p>
          <a:p>
            <a:pPr marL="914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} while ( </a:t>
            </a:r>
            <a:r>
              <a:rPr lang="en-US" sz="22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&lt;= n);</a:t>
            </a:r>
          </a:p>
          <a:p>
            <a:pPr marL="914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FR" sz="2200" b="1" dirty="0">
                <a:latin typeface="Courier New" pitchFamily="49" charset="0"/>
                <a:cs typeface="Courier New" pitchFamily="49" charset="0"/>
              </a:rPr>
              <a:t>cout &lt;&lt; "Tong </a:t>
            </a:r>
            <a:r>
              <a:rPr lang="fr-FR" sz="2200" b="1" dirty="0" err="1">
                <a:latin typeface="Courier New" pitchFamily="49" charset="0"/>
                <a:cs typeface="Courier New" pitchFamily="49" charset="0"/>
              </a:rPr>
              <a:t>cac</a:t>
            </a:r>
            <a:r>
              <a:rPr lang="fr-FR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2200" b="1" dirty="0" err="1">
                <a:latin typeface="Courier New" pitchFamily="49" charset="0"/>
                <a:cs typeface="Courier New" pitchFamily="49" charset="0"/>
              </a:rPr>
              <a:t>so</a:t>
            </a:r>
            <a:r>
              <a:rPr lang="fr-FR" sz="2200" b="1" dirty="0">
                <a:latin typeface="Courier New" pitchFamily="49" charset="0"/>
                <a:cs typeface="Courier New" pitchFamily="49" charset="0"/>
              </a:rPr>
              <a:t> le tu 1 den " &lt;&lt; n &lt;&lt; " la " &lt;&lt; </a:t>
            </a:r>
            <a:r>
              <a:rPr lang="fr-FR" sz="2200" b="1" dirty="0" err="1">
                <a:latin typeface="Courier New" pitchFamily="49" charset="0"/>
                <a:cs typeface="Courier New" pitchFamily="49" charset="0"/>
              </a:rPr>
              <a:t>tongLe</a:t>
            </a:r>
            <a:r>
              <a:rPr lang="fr-FR" sz="22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fr-FR" sz="22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fr-FR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sai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\n";</a:t>
            </a:r>
          </a:p>
          <a:p>
            <a:pPr marL="4651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GB" sz="22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GB" sz="20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239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Lưu ý khối lệnh trong while và do-while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0040" y="1066800"/>
            <a:ext cx="8503920" cy="53949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(</a:t>
            </a:r>
            <a:r>
              <a:rPr lang="en-US" b="1" dirty="0"/>
              <a:t>statements</a:t>
            </a:r>
            <a:r>
              <a:rPr lang="en-US" dirty="0"/>
              <a:t>)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b="1" dirty="0"/>
              <a:t>while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do-while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khối</a:t>
            </a:r>
            <a:r>
              <a:rPr lang="en-US" b="1" dirty="0"/>
              <a:t> </a:t>
            </a:r>
            <a:r>
              <a:rPr lang="en-US" b="1" dirty="0" err="1"/>
              <a:t>lệnh</a:t>
            </a:r>
            <a:r>
              <a:rPr lang="en-US" dirty="0"/>
              <a:t> (</a:t>
            </a:r>
            <a:r>
              <a:rPr lang="en-US" dirty="0" err="1"/>
              <a:t>từ</a:t>
            </a:r>
            <a:r>
              <a:rPr lang="en-US" dirty="0"/>
              <a:t> 2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).</a:t>
            </a:r>
          </a:p>
          <a:p>
            <a:pPr algn="just">
              <a:spcBef>
                <a:spcPts val="0"/>
              </a:spcBef>
            </a:pP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while, do-while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b="1" dirty="0" err="1"/>
              <a:t>cập</a:t>
            </a:r>
            <a:r>
              <a:rPr lang="en-US" b="1" dirty="0"/>
              <a:t> </a:t>
            </a:r>
            <a:r>
              <a:rPr lang="en-US" b="1" dirty="0" err="1"/>
              <a:t>nhật</a:t>
            </a:r>
            <a:r>
              <a:rPr lang="en-US" b="1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đếm</a:t>
            </a:r>
            <a:r>
              <a:rPr lang="en-US" dirty="0"/>
              <a:t>/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cầm</a:t>
            </a:r>
            <a:r>
              <a:rPr lang="en-US" dirty="0"/>
              <a:t> </a:t>
            </a:r>
            <a:r>
              <a:rPr lang="en-US" dirty="0" err="1"/>
              <a:t>canh</a:t>
            </a:r>
            <a:r>
              <a:rPr lang="en-US" dirty="0"/>
              <a:t>/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. </a:t>
            </a:r>
            <a:endParaRPr lang="en-GB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509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trúc lặp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328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/>
              <a:t>Lệnh while</a:t>
            </a:r>
          </a:p>
          <a:p>
            <a:pPr>
              <a:spcBef>
                <a:spcPts val="0"/>
              </a:spcBef>
            </a:pPr>
            <a:r>
              <a:rPr lang="en-GB"/>
              <a:t>Lệnh do-while</a:t>
            </a:r>
          </a:p>
          <a:p>
            <a:pPr>
              <a:spcBef>
                <a:spcPts val="0"/>
              </a:spcBef>
            </a:pPr>
            <a:r>
              <a:rPr lang="en-GB" i="1"/>
              <a:t>Lệnh for</a:t>
            </a:r>
          </a:p>
          <a:p>
            <a:pPr>
              <a:spcBef>
                <a:spcPts val="0"/>
              </a:spcBef>
            </a:pPr>
            <a:r>
              <a:rPr lang="en-GB"/>
              <a:t>Một số lưu ý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721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5413" y="1066800"/>
            <a:ext cx="8229600" cy="4328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/>
              <a:t>Cú pháp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82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634584" y="1752600"/>
            <a:ext cx="8052216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(initialization; condition; update)</a:t>
            </a:r>
          </a:p>
          <a:p>
            <a:pPr marL="915988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statement;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12915" y="3124200"/>
            <a:ext cx="8273886" cy="2743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0"/>
              </a:spcBef>
            </a:pPr>
            <a:r>
              <a:rPr lang="en-GB" sz="2600" dirty="0" err="1">
                <a:latin typeface="+mj-lt"/>
              </a:rPr>
              <a:t>Trong</a:t>
            </a:r>
            <a:r>
              <a:rPr lang="en-GB" sz="2600" dirty="0">
                <a:latin typeface="+mj-lt"/>
              </a:rPr>
              <a:t> </a:t>
            </a:r>
            <a:r>
              <a:rPr lang="en-GB" sz="2600" dirty="0" err="1">
                <a:latin typeface="+mj-lt"/>
              </a:rPr>
              <a:t>đó</a:t>
            </a:r>
            <a:r>
              <a:rPr lang="en-GB" sz="2600" dirty="0">
                <a:latin typeface="+mj-lt"/>
              </a:rPr>
              <a:t>: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 err="1">
                <a:solidFill>
                  <a:schemeClr val="tx1"/>
                </a:solidFill>
                <a:latin typeface="+mj-lt"/>
                <a:cs typeface="Courier New" pitchFamily="49" charset="0"/>
              </a:rPr>
              <a:t>initialization: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khởi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tạo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cho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biến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đếm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condition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điều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lặp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):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luận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true/false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update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biểu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thức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cập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nhật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của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biến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đếm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</a:pP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statement 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(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câu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):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thể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là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rỗng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đơn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hay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khối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Câu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lệnh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sẽ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được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thực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hiện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nếu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condition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giá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600" b="1" dirty="0">
                <a:solidFill>
                  <a:schemeClr val="tx1"/>
                </a:solidFill>
                <a:latin typeface="+mj-lt"/>
                <a:cs typeface="Courier New" pitchFamily="49" charset="0"/>
              </a:rPr>
              <a:t>true</a:t>
            </a:r>
            <a:r>
              <a:rPr lang="en-GB" sz="26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624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5413" y="1066800"/>
            <a:ext cx="8229600" cy="4328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/>
              <a:t>Cú pháp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83</a:t>
            </a:fld>
            <a:endParaRPr lang="en-US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634584" y="1752600"/>
            <a:ext cx="8052216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(initialization; condition; update)</a:t>
            </a:r>
          </a:p>
          <a:p>
            <a:pPr marL="915988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statement;</a:t>
            </a:r>
            <a:endParaRPr lang="en-US" sz="2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422" y="3124200"/>
            <a:ext cx="4093378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60084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5413" y="1066800"/>
            <a:ext cx="8229600" cy="43281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 1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dương</a:t>
            </a:r>
            <a:r>
              <a:rPr lang="en-GB" dirty="0"/>
              <a:t> n.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dirty="0" err="1"/>
              <a:t>Tính</a:t>
            </a:r>
            <a:r>
              <a:rPr lang="en-GB" dirty="0"/>
              <a:t>: S = 1 + 2 + 3 + … + n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GB" dirty="0"/>
          </a:p>
          <a:p>
            <a:pPr marL="0" indent="0" algn="just">
              <a:spcBef>
                <a:spcPts val="0"/>
              </a:spcBef>
              <a:buNone/>
            </a:pPr>
            <a:r>
              <a:rPr lang="en-GB" b="1" dirty="0"/>
              <a:t>Input: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dương</a:t>
            </a:r>
            <a:r>
              <a:rPr lang="en-GB" dirty="0"/>
              <a:t> n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 b="1" dirty="0"/>
              <a:t>Output: </a:t>
            </a:r>
            <a:r>
              <a:rPr lang="en-GB" dirty="0" err="1"/>
              <a:t>tổng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1 </a:t>
            </a:r>
            <a:r>
              <a:rPr lang="en-GB" dirty="0" err="1"/>
              <a:t>đến</a:t>
            </a:r>
            <a:r>
              <a:rPr lang="en-GB" dirty="0"/>
              <a:t> 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84</a:t>
            </a:fld>
            <a:endParaRPr lang="en-US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856978"/>
            <a:ext cx="5181600" cy="3620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195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5413" y="1066800"/>
            <a:ext cx="8229600" cy="551688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5500" b="1" dirty="0" err="1"/>
              <a:t>Ví</a:t>
            </a:r>
            <a:r>
              <a:rPr lang="en-GB" sz="5500" b="1" dirty="0"/>
              <a:t> </a:t>
            </a:r>
            <a:r>
              <a:rPr lang="en-GB" sz="5500" b="1" dirty="0" err="1"/>
              <a:t>dụ</a:t>
            </a:r>
            <a:r>
              <a:rPr lang="en-GB" sz="5500" b="1" dirty="0"/>
              <a:t> 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int tong = 0;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nguyen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duong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n: "; 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&gt;&gt; n;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if (n &gt; 0)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n-NO" sz="38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nn-NO" sz="38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nn-NO" sz="38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i = 1; i &lt;= n; i++)</a:t>
            </a:r>
          </a:p>
          <a:p>
            <a:pPr marL="13716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tong += </a:t>
            </a:r>
            <a:r>
              <a:rPr lang="en-US" sz="380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380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914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FR" sz="3800" b="1" dirty="0">
                <a:latin typeface="Courier New" pitchFamily="49" charset="0"/>
                <a:cs typeface="Courier New" pitchFamily="49" charset="0"/>
              </a:rPr>
              <a:t>cout &lt;&lt; "Tong </a:t>
            </a:r>
            <a:r>
              <a:rPr lang="fr-FR" sz="3800" b="1" dirty="0" err="1">
                <a:latin typeface="Courier New" pitchFamily="49" charset="0"/>
                <a:cs typeface="Courier New" pitchFamily="49" charset="0"/>
              </a:rPr>
              <a:t>cac</a:t>
            </a:r>
            <a:r>
              <a:rPr lang="fr-FR" sz="3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3800" b="1" dirty="0" err="1">
                <a:latin typeface="Courier New" pitchFamily="49" charset="0"/>
                <a:cs typeface="Courier New" pitchFamily="49" charset="0"/>
              </a:rPr>
              <a:t>so</a:t>
            </a:r>
            <a:r>
              <a:rPr lang="fr-FR" sz="3800" b="1" dirty="0">
                <a:latin typeface="Courier New" pitchFamily="49" charset="0"/>
                <a:cs typeface="Courier New" pitchFamily="49" charset="0"/>
              </a:rPr>
              <a:t> tu 1 den " &lt;&lt; n &lt;&lt; " la " &lt;&lt; tong &lt;&lt; </a:t>
            </a:r>
            <a:r>
              <a:rPr lang="fr-FR" sz="3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fr-FR" sz="3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n </a:t>
            </a:r>
            <a:r>
              <a:rPr lang="en-US" sz="3800" b="1" dirty="0" err="1">
                <a:latin typeface="Courier New" pitchFamily="49" charset="0"/>
                <a:cs typeface="Courier New" pitchFamily="49" charset="0"/>
              </a:rPr>
              <a:t>sai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\n";</a:t>
            </a:r>
          </a:p>
          <a:p>
            <a:pPr marL="46513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GB" sz="2000" b="1" dirty="0"/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GB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126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2438400"/>
          </a:xfr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b="1"/>
              <a:t>Ví dụ 2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/>
              <a:t>Viết chương trình tính tổng m số nguyên dương nhập vào.</a:t>
            </a:r>
          </a:p>
          <a:p>
            <a:pPr algn="just">
              <a:spcBef>
                <a:spcPts val="0"/>
              </a:spcBef>
            </a:pPr>
            <a:r>
              <a:rPr lang="en-GB" b="1"/>
              <a:t>Input</a:t>
            </a:r>
            <a:r>
              <a:rPr lang="en-GB"/>
              <a:t>: m số nguyên dương</a:t>
            </a:r>
          </a:p>
          <a:p>
            <a:pPr algn="just">
              <a:spcBef>
                <a:spcPts val="0"/>
              </a:spcBef>
            </a:pPr>
            <a:r>
              <a:rPr lang="en-GB" b="1"/>
              <a:t>Output</a:t>
            </a:r>
            <a:r>
              <a:rPr lang="en-GB"/>
              <a:t>: tổng m số nguyên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GB"/>
              <a:t>dương đã nhập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86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886" y="2133600"/>
            <a:ext cx="4827366" cy="419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793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410200"/>
          </a:xfr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b="1" dirty="0" err="1"/>
              <a:t>Ví</a:t>
            </a:r>
            <a:r>
              <a:rPr lang="en-GB" b="1" dirty="0"/>
              <a:t> </a:t>
            </a:r>
            <a:r>
              <a:rPr lang="en-GB" b="1" dirty="0" err="1"/>
              <a:t>dụ</a:t>
            </a:r>
            <a:r>
              <a:rPr lang="en-GB" b="1" dirty="0"/>
              <a:t>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int m, a;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int tong = 0;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luong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so: "; 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&gt;&gt; m;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if (m &gt; 0)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nn-NO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nn-NO" sz="165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nn-NO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i = 1; i &lt;= m; i++)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371600" indent="0">
              <a:spcBef>
                <a:spcPts val="0"/>
              </a:spcBef>
              <a:buNone/>
            </a:pPr>
            <a:r>
              <a:rPr lang="en-US" sz="165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165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so </a:t>
            </a:r>
            <a:r>
              <a:rPr lang="en-US" sz="165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thu</a:t>
            </a: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" &lt;&lt; </a:t>
            </a:r>
            <a:r>
              <a:rPr lang="en-US" sz="165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&lt;&lt; ": ";</a:t>
            </a:r>
          </a:p>
          <a:p>
            <a:pPr marL="1371600" indent="0">
              <a:spcBef>
                <a:spcPts val="0"/>
              </a:spcBef>
              <a:buNone/>
            </a:pPr>
            <a:r>
              <a:rPr lang="en-US" sz="1650" b="1" dirty="0" err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&gt;&gt; a;</a:t>
            </a:r>
          </a:p>
          <a:p>
            <a:pPr marL="1371600" indent="0">
              <a:spcBef>
                <a:spcPts val="0"/>
              </a:spcBef>
              <a:buNone/>
            </a:pP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tong += a;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1650" b="1" dirty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&lt;&lt; "Tong " &lt;&lt; m &lt;&lt; " so </a:t>
            </a: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vua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la " &lt;&lt; tong &lt;&lt; </a:t>
            </a: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50" b="1" dirty="0" err="1">
                <a:latin typeface="Courier New" pitchFamily="49" charset="0"/>
                <a:cs typeface="Courier New" pitchFamily="49" charset="0"/>
              </a:rPr>
              <a:t>sai</a:t>
            </a:r>
            <a:r>
              <a:rPr lang="en-US" sz="1650" b="1" dirty="0">
                <a:latin typeface="Courier New" pitchFamily="49" charset="0"/>
                <a:cs typeface="Courier New" pitchFamily="49" charset="0"/>
              </a:rPr>
              <a:t>\n";</a:t>
            </a:r>
          </a:p>
          <a:p>
            <a:pPr marL="465138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5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GB" sz="165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596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trúc lặp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/>
              <a:t>Lệnh while</a:t>
            </a:r>
          </a:p>
          <a:p>
            <a:pPr>
              <a:spcBef>
                <a:spcPts val="0"/>
              </a:spcBef>
            </a:pPr>
            <a:r>
              <a:rPr lang="en-GB"/>
              <a:t>Lệnh do-while</a:t>
            </a:r>
          </a:p>
          <a:p>
            <a:pPr>
              <a:spcBef>
                <a:spcPts val="0"/>
              </a:spcBef>
            </a:pPr>
            <a:r>
              <a:rPr lang="en-GB"/>
              <a:t>Lệnh for</a:t>
            </a:r>
          </a:p>
          <a:p>
            <a:pPr>
              <a:spcBef>
                <a:spcPts val="0"/>
              </a:spcBef>
            </a:pPr>
            <a:r>
              <a:rPr lang="en-GB" i="1"/>
              <a:t>Một số lưu ý</a:t>
            </a:r>
            <a:endParaRPr lang="en-US" i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721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lưu ý - cấu trúc lặp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while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do-whil</a:t>
            </a:r>
            <a:r>
              <a:rPr lang="en-GB" dirty="0"/>
              <a:t>e </a:t>
            </a:r>
            <a:r>
              <a:rPr lang="en-GB" dirty="0" err="1"/>
              <a:t>thường</a:t>
            </a:r>
            <a:r>
              <a:rPr lang="en-GB" dirty="0"/>
              <a:t> </a:t>
            </a: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biết</a:t>
            </a:r>
            <a:r>
              <a:rPr lang="en-GB" dirty="0"/>
              <a:t> </a:t>
            </a:r>
            <a:r>
              <a:rPr lang="en-GB" dirty="0" err="1"/>
              <a:t>trước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;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GB" dirty="0" err="1"/>
              <a:t>thường</a:t>
            </a:r>
            <a:r>
              <a:rPr lang="en-GB" dirty="0"/>
              <a:t> </a:t>
            </a: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biết</a:t>
            </a:r>
            <a:r>
              <a:rPr lang="en-GB" dirty="0"/>
              <a:t> </a:t>
            </a:r>
            <a:r>
              <a:rPr lang="en-GB" dirty="0" err="1"/>
              <a:t>trước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.</a:t>
            </a:r>
          </a:p>
          <a:p>
            <a:pPr algn="just">
              <a:spcBef>
                <a:spcPts val="0"/>
              </a:spcBef>
            </a:pPr>
            <a:r>
              <a:rPr lang="en-GB" dirty="0" err="1"/>
              <a:t>Tất</a:t>
            </a:r>
            <a:r>
              <a:rPr lang="en-GB" dirty="0"/>
              <a:t> </a:t>
            </a:r>
            <a:r>
              <a:rPr lang="en-GB" dirty="0" err="1"/>
              <a:t>cả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đều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khả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vô</a:t>
            </a:r>
            <a:r>
              <a:rPr lang="en-GB" dirty="0"/>
              <a:t> </a:t>
            </a:r>
            <a:r>
              <a:rPr lang="en-GB" dirty="0" err="1"/>
              <a:t>tận</a:t>
            </a:r>
            <a:r>
              <a:rPr lang="en-GB" dirty="0"/>
              <a:t>.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GB" dirty="0"/>
              <a:t>,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xảy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nào</a:t>
            </a:r>
            <a:r>
              <a:rPr lang="en-GB" dirty="0"/>
              <a:t>;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do…while</a:t>
            </a:r>
            <a:r>
              <a:rPr lang="en-GB" dirty="0"/>
              <a:t> </a:t>
            </a:r>
            <a:r>
              <a:rPr lang="en-GB" dirty="0" err="1"/>
              <a:t>ít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1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.</a:t>
            </a:r>
          </a:p>
          <a:p>
            <a:pPr algn="just">
              <a:spcBef>
                <a:spcPts val="0"/>
              </a:spcBef>
            </a:pP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nên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đếm</a:t>
            </a:r>
            <a:r>
              <a:rPr lang="en-GB" dirty="0"/>
              <a:t> </a:t>
            </a:r>
            <a:r>
              <a:rPr lang="en-GB" dirty="0" err="1"/>
              <a:t>bên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câu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ở</a:t>
            </a:r>
            <a:r>
              <a:rPr lang="en-GB" dirty="0"/>
              <a:t> </a:t>
            </a:r>
            <a:r>
              <a:rPr lang="en-GB" dirty="0" err="1"/>
              <a:t>thân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GB" dirty="0"/>
              <a:t> (</a:t>
            </a:r>
            <a:r>
              <a:rPr lang="en-GB" dirty="0" err="1"/>
              <a:t>vì</a:t>
            </a:r>
            <a:r>
              <a:rPr lang="en-GB" dirty="0"/>
              <a:t> </a:t>
            </a:r>
            <a:r>
              <a:rPr lang="en-GB" dirty="0" err="1"/>
              <a:t>đã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biểu</a:t>
            </a:r>
            <a:r>
              <a:rPr lang="en-GB" dirty="0"/>
              <a:t> </a:t>
            </a:r>
            <a:r>
              <a:rPr lang="en-GB" dirty="0" err="1"/>
              <a:t>thức</a:t>
            </a:r>
            <a:r>
              <a:rPr lang="en-GB" dirty="0"/>
              <a:t> </a:t>
            </a:r>
            <a:r>
              <a:rPr lang="en-GB" dirty="0" err="1"/>
              <a:t>cập</a:t>
            </a:r>
            <a:r>
              <a:rPr lang="en-GB" dirty="0"/>
              <a:t> </a:t>
            </a:r>
            <a:r>
              <a:rPr lang="en-GB" dirty="0" err="1"/>
              <a:t>nhật</a:t>
            </a:r>
            <a:r>
              <a:rPr lang="en-GB" dirty="0"/>
              <a:t>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đếm</a:t>
            </a:r>
            <a:r>
              <a:rPr lang="en-GB" dirty="0"/>
              <a:t>).</a:t>
            </a:r>
          </a:p>
          <a:p>
            <a:pPr algn="just">
              <a:spcBef>
                <a:spcPts val="0"/>
              </a:spcBef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332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lưu ý - cấu trúc lặp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47244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do-while</a:t>
            </a:r>
            <a:r>
              <a:rPr lang="en-GB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 err="1"/>
              <a:t>thường</a:t>
            </a:r>
            <a:r>
              <a:rPr lang="en-GB" dirty="0"/>
              <a:t>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hợp</a:t>
            </a:r>
            <a:r>
              <a:rPr lang="en-GB" dirty="0"/>
              <a:t> </a:t>
            </a:r>
            <a:r>
              <a:rPr lang="en-GB" dirty="0" err="1"/>
              <a:t>lệ</a:t>
            </a:r>
            <a:r>
              <a:rPr lang="en-GB" dirty="0"/>
              <a:t>,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nếu</a:t>
            </a:r>
            <a:r>
              <a:rPr lang="en-GB" dirty="0"/>
              <a:t> </a:t>
            </a:r>
            <a:r>
              <a:rPr lang="en-GB" dirty="0" err="1"/>
              <a:t>sai</a:t>
            </a:r>
            <a:r>
              <a:rPr lang="en-GB" dirty="0"/>
              <a:t>.</a:t>
            </a:r>
          </a:p>
          <a:p>
            <a:pPr marL="82296" indent="0">
              <a:spcBef>
                <a:spcPts val="0"/>
              </a:spcBef>
              <a:buNone/>
            </a:pPr>
            <a:endParaRPr lang="en-US" dirty="0"/>
          </a:p>
          <a:p>
            <a:pPr marL="82296" indent="0" algn="just">
              <a:spcBef>
                <a:spcPts val="0"/>
              </a:spcBef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0 </a:t>
            </a:r>
            <a:r>
              <a:rPr lang="en-US" dirty="0" err="1"/>
              <a:t>đến</a:t>
            </a:r>
            <a:r>
              <a:rPr lang="en-US" dirty="0"/>
              <a:t> 10.</a:t>
            </a:r>
          </a:p>
          <a:p>
            <a:pPr marL="82296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diem; </a:t>
            </a:r>
          </a:p>
          <a:p>
            <a:pPr marL="82296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</a:p>
          <a:p>
            <a:pPr marL="82296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Nhap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diem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 den 10: ";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diem; 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 diem &lt; 0 || diem &gt; 10 )</a:t>
            </a:r>
          </a:p>
          <a:p>
            <a:pPr marL="1371600" indent="0">
              <a:spcBef>
                <a:spcPts val="0"/>
              </a:spcBef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Nhap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diem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Nhap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\n”;</a:t>
            </a:r>
          </a:p>
          <a:p>
            <a:pPr marL="82296" indent="0"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while (diem &lt; 0 || diem &gt; 10);</a:t>
            </a:r>
            <a:endParaRPr lang="en-GB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90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9099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Lệnh break và continue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3947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/>
              <a:t>Lệnh break</a:t>
            </a:r>
          </a:p>
          <a:p>
            <a:pPr>
              <a:spcBef>
                <a:spcPts val="0"/>
              </a:spcBef>
            </a:pPr>
            <a:r>
              <a:rPr lang="en-US"/>
              <a:t>Lệnh continue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91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962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GB" dirty="0" err="1"/>
              <a:t>Câu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break;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bỏ</a:t>
            </a:r>
            <a:r>
              <a:rPr lang="en-GB" dirty="0"/>
              <a:t> qua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còn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câu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GB" dirty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GB" dirty="0" err="1"/>
              <a:t>Câu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break;</a:t>
            </a:r>
            <a:r>
              <a:rPr lang="en-GB" dirty="0"/>
              <a:t>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bên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GB" dirty="0"/>
              <a:t>,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GB" dirty="0"/>
              <a:t>,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do-while </a:t>
            </a:r>
            <a:r>
              <a:rPr lang="en-GB" dirty="0" err="1"/>
              <a:t>sẽ</a:t>
            </a:r>
            <a:r>
              <a:rPr lang="en-GB" dirty="0"/>
              <a:t> </a:t>
            </a:r>
            <a:r>
              <a:rPr lang="en-GB" dirty="0" err="1"/>
              <a:t>thoát</a:t>
            </a:r>
            <a:r>
              <a:rPr lang="en-GB" dirty="0"/>
              <a:t> </a:t>
            </a:r>
            <a:r>
              <a:rPr lang="en-GB" dirty="0" err="1"/>
              <a:t>khỏi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:</a:t>
            </a:r>
          </a:p>
          <a:p>
            <a:pPr marL="465138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int tong = 0;</a:t>
            </a:r>
          </a:p>
          <a:p>
            <a:pPr marL="465138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= 1;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&lt;= 5;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465138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if (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== 3) </a:t>
            </a:r>
          </a:p>
          <a:p>
            <a:pPr marL="9144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 marL="9144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tong +=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65138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65138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&lt;&lt; “Tong la: “ &lt;&lt; tong &lt;&lt;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65138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FF0000"/>
                </a:solidFill>
              </a:rPr>
              <a:t>//tong la 3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92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33400" y="228600"/>
            <a:ext cx="8229600" cy="8382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latin typeface="+mj-lt"/>
              </a:rPr>
              <a:t>Lệnh break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29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3340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GB" dirty="0" err="1"/>
              <a:t>Câu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continue;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for, while, do-while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bỏ</a:t>
            </a:r>
            <a:r>
              <a:rPr lang="en-GB" dirty="0"/>
              <a:t> qua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còn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đó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bắt</a:t>
            </a:r>
            <a:r>
              <a:rPr lang="en-GB" dirty="0"/>
              <a:t> </a:t>
            </a:r>
            <a:r>
              <a:rPr lang="en-GB" dirty="0" err="1"/>
              <a:t>đầu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kế</a:t>
            </a:r>
            <a:r>
              <a:rPr lang="en-GB" dirty="0"/>
              <a:t> </a:t>
            </a:r>
            <a:r>
              <a:rPr lang="en-GB" dirty="0" err="1"/>
              <a:t>tiếp</a:t>
            </a:r>
            <a:r>
              <a:rPr lang="en-GB" dirty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: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int tong = 0;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= 1;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&lt;= 5;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if (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== 3) 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continue;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tong +=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&lt;&lt; “Tong la: “ &lt;&lt; tong &lt;&lt;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4572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FF0000"/>
                </a:solidFill>
              </a:rPr>
              <a:t>//tong la 12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93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33400" y="228600"/>
            <a:ext cx="8229600" cy="8382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z="3600">
                <a:latin typeface="+mj-lt"/>
              </a:rPr>
              <a:t>Lệnh continue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348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1524000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indent="0" algn="ctr">
              <a:buNone/>
            </a:pPr>
            <a:r>
              <a:rPr lang="en-US" sz="88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Q &amp;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94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909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S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LT" id="{F25689AE-B023-40E2-BAF5-5C60BF3646A7}" vid="{F81F4DB8-B595-49C1-BD86-1DE15E4AB5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7857</TotalTime>
  <Words>6987</Words>
  <Application>Microsoft Macintosh PowerPoint</Application>
  <PresentationFormat>On-screen Show (4:3)</PresentationFormat>
  <Paragraphs>1231</Paragraphs>
  <Slides>94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2" baseType="lpstr">
      <vt:lpstr>Arial</vt:lpstr>
      <vt:lpstr>Calibri</vt:lpstr>
      <vt:lpstr>Consolas</vt:lpstr>
      <vt:lpstr>Courier New</vt:lpstr>
      <vt:lpstr>Tahoma</vt:lpstr>
      <vt:lpstr>Wingdings</vt:lpstr>
      <vt:lpstr>Wingdings 3</vt:lpstr>
      <vt:lpstr>Theme1</vt:lpstr>
      <vt:lpstr>Câu lệnh điều khiển</vt:lpstr>
      <vt:lpstr>Mục tiêu</vt:lpstr>
      <vt:lpstr>Các bước giải quyết vấn đề lập trình</vt:lpstr>
      <vt:lpstr>Câu lệnh điều khiển</vt:lpstr>
      <vt:lpstr>Khái niệm câu lệnh</vt:lpstr>
      <vt:lpstr>Khái niệm câu lệnh</vt:lpstr>
      <vt:lpstr>Khối lệnh</vt:lpstr>
      <vt:lpstr>PowerPoint Presentation</vt:lpstr>
      <vt:lpstr>Câu lệnh điều khiển rẽ nhánh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if-else</vt:lpstr>
      <vt:lpstr>if-else</vt:lpstr>
      <vt:lpstr>if-else</vt:lpstr>
      <vt:lpstr>if-else</vt:lpstr>
      <vt:lpstr>if-else</vt:lpstr>
      <vt:lpstr>if-else</vt:lpstr>
      <vt:lpstr>if-else</vt:lpstr>
      <vt:lpstr>if-else</vt:lpstr>
      <vt:lpstr>if-else</vt:lpstr>
      <vt:lpstr>if-else</vt:lpstr>
      <vt:lpstr>if-else</vt:lpstr>
      <vt:lpstr>if-else</vt:lpstr>
      <vt:lpstr>if-else</vt:lpstr>
      <vt:lpstr>Cú pháp if-else lồng nhau</vt:lpstr>
      <vt:lpstr>Cú pháp if-else đa chiều</vt:lpstr>
      <vt:lpstr>Cú pháp if-else lồng nhau</vt:lpstr>
      <vt:lpstr>Cú pháp if-else lồng nhau</vt:lpstr>
      <vt:lpstr>Cú pháp if-else lồng nhau</vt:lpstr>
      <vt:lpstr>Cú pháp if-else lồng nhau</vt:lpstr>
      <vt:lpstr>Câu lệnh rẽ nhánh</vt:lpstr>
      <vt:lpstr>Câu lệnh rẽ nhánh</vt:lpstr>
      <vt:lpstr>Câu lệnh rẽ nhánh</vt:lpstr>
      <vt:lpstr>Câu lệnh rẽ nhánh</vt:lpstr>
      <vt:lpstr>Câu lệnh rẽ nhánh</vt:lpstr>
      <vt:lpstr>Toán tử điều kiện</vt:lpstr>
      <vt:lpstr>Toán tử điều kiện</vt:lpstr>
      <vt:lpstr>Câu lệnh lựa chọn 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Cấu trúc lặp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while</vt:lpstr>
      <vt:lpstr>Cấu trúc lặp</vt:lpstr>
      <vt:lpstr>do-while</vt:lpstr>
      <vt:lpstr>do-while</vt:lpstr>
      <vt:lpstr>do-while</vt:lpstr>
      <vt:lpstr>do-while</vt:lpstr>
      <vt:lpstr>Lưu ý khối lệnh trong while và do-while</vt:lpstr>
      <vt:lpstr>Cấu trúc lặp</vt:lpstr>
      <vt:lpstr>for</vt:lpstr>
      <vt:lpstr>for</vt:lpstr>
      <vt:lpstr>for</vt:lpstr>
      <vt:lpstr>for</vt:lpstr>
      <vt:lpstr>for</vt:lpstr>
      <vt:lpstr>for</vt:lpstr>
      <vt:lpstr>Cấu trúc lặp</vt:lpstr>
      <vt:lpstr>Một số lưu ý - cấu trúc lặp</vt:lpstr>
      <vt:lpstr>Một số lưu ý - cấu trúc lặp</vt:lpstr>
      <vt:lpstr>Lệnh break và continue</vt:lpstr>
      <vt:lpstr>PowerPoint Presentation</vt:lpstr>
      <vt:lpstr>PowerPoint Presentation</vt:lpstr>
      <vt:lpstr>PowerPoint Presentation</vt:lpstr>
    </vt:vector>
  </TitlesOfParts>
  <Company>CKK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tuyetvth1508@outlook.com</cp:lastModifiedBy>
  <cp:revision>1402</cp:revision>
  <dcterms:created xsi:type="dcterms:W3CDTF">2017-05-22T03:29:23Z</dcterms:created>
  <dcterms:modified xsi:type="dcterms:W3CDTF">2021-09-19T07:59:13Z</dcterms:modified>
</cp:coreProperties>
</file>