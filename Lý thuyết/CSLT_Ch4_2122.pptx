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46"/>
  </p:notesMasterIdLst>
  <p:sldIdLst>
    <p:sldId id="256" r:id="rId2"/>
    <p:sldId id="377" r:id="rId3"/>
    <p:sldId id="375" r:id="rId4"/>
    <p:sldId id="312" r:id="rId5"/>
    <p:sldId id="316" r:id="rId6"/>
    <p:sldId id="320" r:id="rId7"/>
    <p:sldId id="317" r:id="rId8"/>
    <p:sldId id="343" r:id="rId9"/>
    <p:sldId id="345" r:id="rId10"/>
    <p:sldId id="344" r:id="rId11"/>
    <p:sldId id="313" r:id="rId12"/>
    <p:sldId id="328" r:id="rId13"/>
    <p:sldId id="339" r:id="rId14"/>
    <p:sldId id="322" r:id="rId15"/>
    <p:sldId id="340" r:id="rId16"/>
    <p:sldId id="358" r:id="rId17"/>
    <p:sldId id="360" r:id="rId18"/>
    <p:sldId id="359" r:id="rId19"/>
    <p:sldId id="361" r:id="rId20"/>
    <p:sldId id="325" r:id="rId21"/>
    <p:sldId id="324" r:id="rId22"/>
    <p:sldId id="337" r:id="rId23"/>
    <p:sldId id="338" r:id="rId24"/>
    <p:sldId id="334" r:id="rId25"/>
    <p:sldId id="362" r:id="rId26"/>
    <p:sldId id="363" r:id="rId27"/>
    <p:sldId id="331" r:id="rId28"/>
    <p:sldId id="333" r:id="rId29"/>
    <p:sldId id="364" r:id="rId30"/>
    <p:sldId id="327" r:id="rId31"/>
    <p:sldId id="336" r:id="rId32"/>
    <p:sldId id="376" r:id="rId33"/>
    <p:sldId id="341" r:id="rId34"/>
    <p:sldId id="366" r:id="rId35"/>
    <p:sldId id="368" r:id="rId36"/>
    <p:sldId id="367" r:id="rId37"/>
    <p:sldId id="369" r:id="rId38"/>
    <p:sldId id="370" r:id="rId39"/>
    <p:sldId id="342" r:id="rId40"/>
    <p:sldId id="371" r:id="rId41"/>
    <p:sldId id="372" r:id="rId42"/>
    <p:sldId id="373" r:id="rId43"/>
    <p:sldId id="374" r:id="rId44"/>
    <p:sldId id="285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7" autoAdjust="0"/>
    <p:restoredTop sz="94766"/>
  </p:normalViewPr>
  <p:slideViewPr>
    <p:cSldViewPr>
      <p:cViewPr varScale="1">
        <p:scale>
          <a:sx n="115" d="100"/>
          <a:sy n="115" d="100"/>
        </p:scale>
        <p:origin x="1816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50C10-98D0-4211-B29A-C22CE70D1F50}" type="datetimeFigureOut">
              <a:rPr lang="en-US" smtClean="0"/>
              <a:t>9/19/21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5D555-5CDC-4FCC-91D5-FAC9575A2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19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AAE672-BAB4-45C1-8484-073A95FC0907}"/>
              </a:ext>
            </a:extLst>
          </p:cNvPr>
          <p:cNvSpPr/>
          <p:nvPr/>
        </p:nvSpPr>
        <p:spPr>
          <a:xfrm>
            <a:off x="0" y="6583680"/>
            <a:ext cx="9144001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A5591-6836-4B30-9C32-2830EE47BD88}"/>
              </a:ext>
            </a:extLst>
          </p:cNvPr>
          <p:cNvSpPr/>
          <p:nvPr/>
        </p:nvSpPr>
        <p:spPr>
          <a:xfrm>
            <a:off x="0" y="6511740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89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324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and Content Contin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8E4E56-495E-4C57-A868-CA39B7D62027}"/>
              </a:ext>
            </a:extLst>
          </p:cNvPr>
          <p:cNvSpPr/>
          <p:nvPr/>
        </p:nvSpPr>
        <p:spPr>
          <a:xfrm>
            <a:off x="0" y="6583680"/>
            <a:ext cx="9144001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2B4D49-B232-4DBE-B274-2FD859375DB6}"/>
              </a:ext>
            </a:extLst>
          </p:cNvPr>
          <p:cNvSpPr/>
          <p:nvPr/>
        </p:nvSpPr>
        <p:spPr>
          <a:xfrm>
            <a:off x="0" y="6511740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DA330C-AF70-41F6-98B3-C954C9248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130" y="339213"/>
            <a:ext cx="8686800" cy="612806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 marL="339725" indent="0">
              <a:defRPr/>
            </a:lvl4pPr>
            <a:lvl5pPr marL="339725" marR="0" indent="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50000"/>
              <a:buFont typeface="Courier New" panose="02070309020205020404" pitchFamily="49" charset="0"/>
              <a:buNone/>
              <a:tabLst/>
              <a:defRPr/>
            </a:lvl5pPr>
            <a:lvl6pPr marL="704712" indent="0">
              <a:buNone/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83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63550" indent="-354013">
              <a:buFont typeface="+mj-lt"/>
              <a:buAutoNum type="arabicPeriod"/>
              <a:defRPr/>
            </a:lvl1pPr>
            <a:lvl2pPr marL="682625" indent="-182563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193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E83F0D-D4CB-442C-8E99-49ACD7B7C7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040" y="1097280"/>
            <a:ext cx="8503920" cy="53949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latin typeface="Consolas" panose="020B060902020403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5365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de Contin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DD49FA1-CEA8-40A6-AC1C-457224027556}"/>
              </a:ext>
            </a:extLst>
          </p:cNvPr>
          <p:cNvSpPr/>
          <p:nvPr/>
        </p:nvSpPr>
        <p:spPr>
          <a:xfrm>
            <a:off x="0" y="6583680"/>
            <a:ext cx="9144001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DA0163-616C-4ECA-B06C-DB88D64CFCAB}"/>
              </a:ext>
            </a:extLst>
          </p:cNvPr>
          <p:cNvSpPr/>
          <p:nvPr/>
        </p:nvSpPr>
        <p:spPr>
          <a:xfrm>
            <a:off x="0" y="6511740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5645F34-6E0F-4748-9093-E1F6BBF3FA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040" y="341194"/>
            <a:ext cx="8503920" cy="615104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latin typeface="Consolas" panose="020B0609020204030204" pitchFamily="49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924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F6DF65-3E76-4AEB-9DAF-98EAC99554E2}"/>
              </a:ext>
            </a:extLst>
          </p:cNvPr>
          <p:cNvSpPr/>
          <p:nvPr/>
        </p:nvSpPr>
        <p:spPr>
          <a:xfrm>
            <a:off x="0" y="6583680"/>
            <a:ext cx="9144001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30575F-4C62-4C92-8BDC-F5B9E97A3D4D}"/>
              </a:ext>
            </a:extLst>
          </p:cNvPr>
          <p:cNvSpPr/>
          <p:nvPr/>
        </p:nvSpPr>
        <p:spPr>
          <a:xfrm>
            <a:off x="0" y="6511740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9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0040" y="1097280"/>
            <a:ext cx="4160520" cy="5394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097280"/>
            <a:ext cx="4160520" cy="5394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06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9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DD49FA1-CEA8-40A6-AC1C-457224027556}"/>
              </a:ext>
            </a:extLst>
          </p:cNvPr>
          <p:cNvSpPr/>
          <p:nvPr/>
        </p:nvSpPr>
        <p:spPr>
          <a:xfrm>
            <a:off x="0" y="6583680"/>
            <a:ext cx="9144001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DA0163-616C-4ECA-B06C-DB88D64CFCAB}"/>
              </a:ext>
            </a:extLst>
          </p:cNvPr>
          <p:cNvSpPr/>
          <p:nvPr/>
        </p:nvSpPr>
        <p:spPr>
          <a:xfrm>
            <a:off x="0" y="6511740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634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798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47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48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6DE08D-D735-4990-80B8-5CBF011DC467}"/>
              </a:ext>
            </a:extLst>
          </p:cNvPr>
          <p:cNvSpPr/>
          <p:nvPr/>
        </p:nvSpPr>
        <p:spPr>
          <a:xfrm>
            <a:off x="0" y="6583680"/>
            <a:ext cx="9144001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0AE3D1-A298-4B99-8DD0-636DD70C3D4C}"/>
              </a:ext>
            </a:extLst>
          </p:cNvPr>
          <p:cNvSpPr/>
          <p:nvPr/>
        </p:nvSpPr>
        <p:spPr>
          <a:xfrm>
            <a:off x="0" y="6511740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3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9144001" cy="2743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511740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094642"/>
            <a:ext cx="8503920" cy="53949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547" y="6525388"/>
            <a:ext cx="6095139" cy="313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525388"/>
            <a:ext cx="1418405" cy="313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76E646B-21D3-475D-A455-026BE1E73BF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411480" y="1028159"/>
            <a:ext cx="83210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160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 spc="-5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87338" indent="-177800" algn="l" defTabSz="914400" rtl="0" eaLnBrk="1" latinLnBrk="0" hangingPunct="1">
        <a:lnSpc>
          <a:spcPct val="90000"/>
        </a:lnSpc>
        <a:spcBef>
          <a:spcPts val="600"/>
        </a:spcBef>
        <a:spcAft>
          <a:spcPts val="0"/>
        </a:spcAft>
        <a:buClr>
          <a:schemeClr val="accent2">
            <a:lumMod val="75000"/>
          </a:schemeClr>
        </a:buClr>
        <a:buSzPct val="100000"/>
        <a:buFont typeface="Arial" panose="020B0604020202020204" pitchFamily="34" charset="0"/>
        <a:buChar char="•"/>
        <a:defRPr sz="26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519113" indent="-18256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>
            <a:lumMod val="75000"/>
          </a:schemeClr>
        </a:buClr>
        <a:buSzPct val="70000"/>
        <a:buFont typeface="Wingdings" panose="05000000000000000000" pitchFamily="2" charset="2"/>
        <a:buChar char="§"/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736600" indent="-18256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341313" indent="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None/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341313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accent1"/>
        </a:buClr>
        <a:buFont typeface="Calibri" pitchFamily="34" charset="0"/>
        <a:buNone/>
        <a:defRPr sz="2400" kern="1200">
          <a:solidFill>
            <a:schemeClr val="tx1">
              <a:lumMod val="95000"/>
              <a:lumOff val="5000"/>
            </a:schemeClr>
          </a:solidFill>
          <a:latin typeface="Consolas" panose="020B0609020204030204" pitchFamily="49" charset="0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/>
              <a:t>Hàm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5090652"/>
            <a:ext cx="6858000" cy="533400"/>
          </a:xfrm>
        </p:spPr>
        <p:txBody>
          <a:bodyPr>
            <a:noAutofit/>
          </a:bodyPr>
          <a:lstStyle/>
          <a:p>
            <a:pPr algn="r">
              <a:spcBef>
                <a:spcPts val="200"/>
              </a:spcBef>
            </a:pPr>
            <a:r>
              <a:rPr lang="en-US" sz="1800" b="1" i="1"/>
              <a:t>Khoa công nghệ thông tin </a:t>
            </a:r>
          </a:p>
          <a:p>
            <a:pPr algn="r">
              <a:spcBef>
                <a:spcPts val="200"/>
              </a:spcBef>
            </a:pPr>
            <a:r>
              <a:rPr lang="en-US" sz="1800" b="1" i="1"/>
              <a:t>Trường Đại học mở tphcm</a:t>
            </a:r>
          </a:p>
        </p:txBody>
      </p:sp>
    </p:spTree>
    <p:extLst>
      <p:ext uri="{BB962C8B-B14F-4D97-AF65-F5344CB8AC3E}">
        <p14:creationId xmlns:p14="http://schemas.microsoft.com/office/powerpoint/2010/main" val="184999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Mục tiêu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>
            <a:normAutofit/>
          </a:bodyPr>
          <a:lstStyle/>
          <a:p>
            <a:pPr algn="just"/>
            <a:r>
              <a:rPr lang="en-US">
                <a:latin typeface="+mj-lt"/>
                <a:ea typeface="Tahoma" pitchFamily="34" charset="0"/>
                <a:cs typeface="Tahoma" pitchFamily="34" charset="0"/>
              </a:rPr>
              <a:t>Hiểu hàm là gì và tại sao nên phân chia chương trình thành các hàm.</a:t>
            </a:r>
          </a:p>
          <a:p>
            <a:pPr algn="just"/>
            <a:r>
              <a:rPr lang="en-US">
                <a:latin typeface="+mj-lt"/>
                <a:ea typeface="Tahoma" pitchFamily="34" charset="0"/>
                <a:cs typeface="Tahoma" pitchFamily="34" charset="0"/>
              </a:rPr>
              <a:t>Biết cách sử dụng hàm có sẵn trong thư viện</a:t>
            </a:r>
          </a:p>
          <a:p>
            <a:pPr algn="just"/>
            <a:r>
              <a:rPr lang="en-US">
                <a:latin typeface="+mj-lt"/>
                <a:ea typeface="Tahoma" pitchFamily="34" charset="0"/>
                <a:cs typeface="Tahoma" pitchFamily="34" charset="0"/>
              </a:rPr>
              <a:t>Hiểu cách truyền dữ liệu cho hàm và cách trả về giá trị do hàm tính toán.</a:t>
            </a:r>
          </a:p>
          <a:p>
            <a:pPr algn="just"/>
            <a:r>
              <a:rPr lang="en-US">
                <a:latin typeface="+mj-lt"/>
                <a:ea typeface="Tahoma" pitchFamily="34" charset="0"/>
                <a:cs typeface="Tahoma" pitchFamily="34" charset="0"/>
              </a:rPr>
              <a:t>Biết cách cài đặt hàm trong C++ và  sử dụng hàm đã cài đặt.</a:t>
            </a:r>
          </a:p>
          <a:p>
            <a:pPr algn="just"/>
            <a:r>
              <a:rPr lang="en-US">
                <a:latin typeface="+mj-lt"/>
                <a:ea typeface="Tahoma" pitchFamily="34" charset="0"/>
                <a:cs typeface="Tahoma" pitchFamily="34" charset="0"/>
              </a:rPr>
              <a:t>Phân biệt cách truyền tham số bằng giá trị (pass-by-value) và truyền tham số bằng tham chiếu (pass-by-reference).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3546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Hàm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Khái niệm</a:t>
            </a:r>
          </a:p>
          <a:p>
            <a:r>
              <a:rPr lang="en-US"/>
              <a:t>Định nghĩa hàm</a:t>
            </a:r>
          </a:p>
          <a:p>
            <a:r>
              <a:rPr lang="en-US"/>
              <a:t>Truyền tham số cho hàm</a:t>
            </a:r>
          </a:p>
          <a:p>
            <a:r>
              <a:rPr lang="en-US"/>
              <a:t>Phạm vi/ tầm vực</a:t>
            </a:r>
          </a:p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773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Khái niệm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32816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GB"/>
              <a:t>Khái niệm hàm</a:t>
            </a:r>
          </a:p>
          <a:p>
            <a:pPr>
              <a:spcBef>
                <a:spcPts val="0"/>
              </a:spcBef>
            </a:pPr>
            <a:r>
              <a:rPr lang="en-GB"/>
              <a:t>Ý nghĩa của hàm</a:t>
            </a:r>
          </a:p>
          <a:p>
            <a:pPr>
              <a:spcBef>
                <a:spcPts val="0"/>
              </a:spcBef>
            </a:pPr>
            <a:r>
              <a:rPr lang="en-GB"/>
              <a:t>Cách thức hoạt động của hàm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4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03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Khái niệm hàm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24384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i="1"/>
              <a:t>Hàm </a:t>
            </a:r>
            <a:r>
              <a:rPr lang="en-US"/>
              <a:t>(</a:t>
            </a:r>
            <a:r>
              <a:rPr lang="en-US" i="1"/>
              <a:t>function</a:t>
            </a:r>
            <a:r>
              <a:rPr lang="en-US"/>
              <a:t>) là chuỗi các câu lệnh được đặt tên.</a:t>
            </a:r>
          </a:p>
          <a:p>
            <a:pPr algn="just">
              <a:spcBef>
                <a:spcPts val="0"/>
              </a:spcBef>
            </a:pPr>
            <a:r>
              <a:rPr lang="en-US"/>
              <a:t>Mỗi hàm thực hiện </a:t>
            </a:r>
            <a:r>
              <a:rPr lang="en-US" b="1">
                <a:solidFill>
                  <a:schemeClr val="accent2">
                    <a:lumMod val="75000"/>
                  </a:schemeClr>
                </a:solidFill>
              </a:rPr>
              <a:t>một công việc </a:t>
            </a:r>
            <a:r>
              <a:rPr lang="en-US"/>
              <a:t>nào đó, nhận vào dữ liệu, xử lý, và trả về kết quả.</a:t>
            </a:r>
          </a:p>
          <a:p>
            <a:pPr>
              <a:spcBef>
                <a:spcPts val="0"/>
              </a:spcBef>
            </a:pPr>
            <a:r>
              <a:rPr lang="en-US"/>
              <a:t>Hàm thường được xem là một </a:t>
            </a:r>
            <a:r>
              <a:rPr lang="en-US" i="1"/>
              <a:t>hộp đen </a:t>
            </a:r>
            <a:r>
              <a:rPr lang="en-US"/>
              <a:t>(</a:t>
            </a:r>
            <a:r>
              <a:rPr lang="en-US" i="1"/>
              <a:t>black box</a:t>
            </a:r>
            <a:r>
              <a:rPr lang="en-US"/>
              <a:t>).</a:t>
            </a:r>
          </a:p>
          <a:p>
            <a:pPr algn="just">
              <a:spcBef>
                <a:spcPts val="0"/>
              </a:spcBef>
            </a:pPr>
            <a:endParaRPr lang="en-US"/>
          </a:p>
          <a:p>
            <a:pPr algn="just">
              <a:spcBef>
                <a:spcPts val="0"/>
              </a:spcBef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5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352800" y="3276600"/>
            <a:ext cx="1981200" cy="8382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00">
                <a:latin typeface="+mj-lt"/>
                <a:ea typeface="Tahoma" pitchFamily="34" charset="0"/>
                <a:cs typeface="Tahoma" pitchFamily="34" charset="0"/>
              </a:rPr>
              <a:t>function</a:t>
            </a:r>
            <a:endParaRPr lang="en-US" sz="2600">
              <a:latin typeface="+mj-lt"/>
              <a:ea typeface="Tahoma" pitchFamily="34" charset="0"/>
              <a:cs typeface="Tahoma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52600" y="3443748"/>
            <a:ext cx="914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>
                <a:latin typeface="+mj-lt"/>
                <a:ea typeface="Tahoma" pitchFamily="34" charset="0"/>
                <a:cs typeface="Tahoma" pitchFamily="34" charset="0"/>
              </a:rPr>
              <a:t>input</a:t>
            </a:r>
            <a:endParaRPr lang="en-US" sz="2600">
              <a:latin typeface="+mj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0" y="3471410"/>
            <a:ext cx="1295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600">
                <a:latin typeface="+mj-lt"/>
                <a:ea typeface="Tahoma" pitchFamily="34" charset="0"/>
                <a:cs typeface="Tahoma" pitchFamily="34" charset="0"/>
              </a:rPr>
              <a:t>output</a:t>
            </a:r>
            <a:endParaRPr lang="en-US" sz="2600">
              <a:latin typeface="+mj-lt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12" name="Straight Arrow Connector 11"/>
          <p:cNvCxnSpPr>
            <a:stCxn id="9" idx="3"/>
            <a:endCxn id="8" idx="1"/>
          </p:cNvCxnSpPr>
          <p:nvPr/>
        </p:nvCxnSpPr>
        <p:spPr>
          <a:xfrm>
            <a:off x="2667000" y="3689970"/>
            <a:ext cx="685800" cy="573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5334000" y="3701534"/>
            <a:ext cx="609600" cy="583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5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animBg="1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Ý nghĩa hàm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32816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/>
              <a:t>Phân chia chương trình thành nhiều phần để thuận tiện kiểm soát, logic hơn.</a:t>
            </a:r>
          </a:p>
          <a:p>
            <a:pPr algn="just">
              <a:spcBef>
                <a:spcPts val="0"/>
              </a:spcBef>
            </a:pPr>
            <a:r>
              <a:rPr lang="en-GB"/>
              <a:t>Có thể sử dụng lại nhiều lần trong chương trình.</a:t>
            </a:r>
            <a:endParaRPr lang="en-US"/>
          </a:p>
          <a:p>
            <a:pPr algn="just">
              <a:spcBef>
                <a:spcPts val="0"/>
              </a:spcBef>
            </a:pPr>
            <a:r>
              <a:rPr lang="en-US"/>
              <a:t>Dễ kiểm thử, chỉnh sửa, cải tiến.</a:t>
            </a:r>
          </a:p>
          <a:p>
            <a:pPr algn="just">
              <a:spcBef>
                <a:spcPts val="0"/>
              </a:spcBef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6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8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Hàm 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46482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sz="2400" b="1">
                <a:solidFill>
                  <a:schemeClr val="tx1"/>
                </a:solidFill>
              </a:rPr>
              <a:t>Hàm có sẵn trong thư viện (</a:t>
            </a:r>
            <a:r>
              <a:rPr lang="en-US" sz="2400" b="1" i="1">
                <a:solidFill>
                  <a:schemeClr val="tx1"/>
                </a:solidFill>
              </a:rPr>
              <a:t>predefined function</a:t>
            </a:r>
            <a:r>
              <a:rPr lang="en-US" sz="2400" b="1">
                <a:solidFill>
                  <a:schemeClr val="tx1"/>
                </a:solidFill>
              </a:rPr>
              <a:t>)</a:t>
            </a:r>
          </a:p>
          <a:p>
            <a:pPr marL="236538" indent="0" algn="just">
              <a:spcBef>
                <a:spcPts val="0"/>
              </a:spcBef>
              <a:buNone/>
            </a:pPr>
            <a:r>
              <a:rPr lang="en-US" sz="2400"/>
              <a:t>Để sử dụng các hàm có sẵn trong thư viện, phải thêm header file vào đầu chương trình: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b="1">
                <a:latin typeface="Courier New" pitchFamily="49" charset="0"/>
                <a:cs typeface="Courier New" pitchFamily="49" charset="0"/>
              </a:rPr>
              <a:t>#include &lt;iostream&gt;  </a:t>
            </a:r>
            <a:r>
              <a:rPr lang="en-US"/>
              <a:t>(các hàm về nhập/xuất)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b="1">
                <a:latin typeface="Courier New" pitchFamily="49" charset="0"/>
                <a:cs typeface="Courier New" pitchFamily="49" charset="0"/>
              </a:rPr>
              <a:t>#include &lt;iomanip&gt;   </a:t>
            </a:r>
            <a:r>
              <a:rPr lang="en-US"/>
              <a:t>(các hàm về định dạng nhập/ xuất)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b="1">
                <a:latin typeface="Courier New" pitchFamily="49" charset="0"/>
                <a:cs typeface="Courier New" pitchFamily="49" charset="0"/>
              </a:rPr>
              <a:t>#include &lt;cmath&gt;     </a:t>
            </a:r>
            <a:r>
              <a:rPr lang="en-US"/>
              <a:t>(các hàm về toán)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b="1">
                <a:latin typeface="Courier New" pitchFamily="49" charset="0"/>
                <a:cs typeface="Courier New" pitchFamily="49" charset="0"/>
              </a:rPr>
              <a:t>#include &lt;cctype&gt;</a:t>
            </a:r>
            <a:r>
              <a:rPr lang="en-US"/>
              <a:t>	          (các hàm về ký tự)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b="1">
                <a:latin typeface="Courier New" pitchFamily="49" charset="0"/>
                <a:cs typeface="Courier New" pitchFamily="49" charset="0"/>
              </a:rPr>
              <a:t>#include &lt;ctime&gt;	    </a:t>
            </a:r>
            <a:r>
              <a:rPr lang="en-US"/>
              <a:t>(các hàm về ngày, giờ)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b="1">
                <a:latin typeface="Courier New" pitchFamily="49" charset="0"/>
                <a:cs typeface="Courier New" pitchFamily="49" charset="0"/>
              </a:rPr>
              <a:t>#include &lt;string&gt;    </a:t>
            </a:r>
            <a:r>
              <a:rPr lang="en-US"/>
              <a:t>(các hàm về chuỗi)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GB">
                <a:solidFill>
                  <a:schemeClr val="tx1"/>
                </a:solidFill>
              </a:rPr>
              <a:t>….</a:t>
            </a:r>
            <a:endParaRPr lang="en-US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en-US" sz="2400" b="1">
                <a:solidFill>
                  <a:schemeClr val="tx1"/>
                </a:solidFill>
              </a:rPr>
              <a:t>Hàm do người dùng định nghĩa (</a:t>
            </a:r>
            <a:r>
              <a:rPr lang="en-US" sz="2400" b="1" i="1">
                <a:solidFill>
                  <a:schemeClr val="tx1"/>
                </a:solidFill>
              </a:rPr>
              <a:t>user-defined function</a:t>
            </a:r>
            <a:r>
              <a:rPr lang="en-US" sz="2400" b="1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7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81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Cách thức hoạt động của hàm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292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/>
              <a:t>Một chương trình C++ gồm có một hàm main và các hàm khác.</a:t>
            </a:r>
          </a:p>
          <a:p>
            <a:pPr algn="just">
              <a:spcBef>
                <a:spcPts val="0"/>
              </a:spcBef>
            </a:pPr>
            <a:r>
              <a:rPr lang="en-US"/>
              <a:t>Chương trình bắt đầu thực hiện từ hàm main, hàm main gọi các hàm khác, các hàm khi được gọi, có thể gọi các hàm khác nữa...</a:t>
            </a:r>
          </a:p>
          <a:p>
            <a:pPr algn="just">
              <a:spcBef>
                <a:spcPts val="0"/>
              </a:spcBef>
              <a:buFont typeface="Wingdings" pitchFamily="2" charset="2"/>
              <a:buChar char="§"/>
            </a:pPr>
            <a:r>
              <a:rPr lang="en-GB" b="1">
                <a:solidFill>
                  <a:schemeClr val="accent2">
                    <a:lumMod val="75000"/>
                  </a:schemeClr>
                </a:solidFill>
              </a:rPr>
              <a:t>Khi sử dụng 1 hàm đã được xây dựng (gọi hàm) ta cần biết</a:t>
            </a:r>
            <a:r>
              <a:rPr lang="en-GB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GB" sz="2600">
                <a:solidFill>
                  <a:schemeClr val="tx1"/>
                </a:solidFill>
              </a:rPr>
              <a:t>Tên hàm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GB" sz="2600">
                <a:solidFill>
                  <a:schemeClr val="tx1"/>
                </a:solidFill>
              </a:rPr>
              <a:t>Chức năng của hàm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GB" sz="2600">
                <a:solidFill>
                  <a:schemeClr val="tx1"/>
                </a:solidFill>
              </a:rPr>
              <a:t>Danh sách tham số truyền vào hàm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GB" sz="2600">
                <a:solidFill>
                  <a:schemeClr val="tx1"/>
                </a:solidFill>
              </a:rPr>
              <a:t>Kết quả hàm trả về có kiểu dữ liệu gì?</a:t>
            </a:r>
          </a:p>
          <a:p>
            <a:pPr marL="0" indent="0" algn="just">
              <a:buNone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8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0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Cách thức hoạt động của hàm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50292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b="1"/>
              <a:t>Khi một hàm được gọi (call function):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2600">
                <a:solidFill>
                  <a:schemeClr val="tx1"/>
                </a:solidFill>
              </a:rPr>
              <a:t>chương trình chuyển điều khiển đến hàm (bắt đầu từ dòng lệnh đầu tiên);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2600">
                <a:solidFill>
                  <a:schemeClr val="tx1"/>
                </a:solidFill>
              </a:rPr>
              <a:t>thực hiện tất cả các lệnh bên trong hàm; 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2600">
                <a:solidFill>
                  <a:schemeClr val="tx1"/>
                </a:solidFill>
              </a:rPr>
              <a:t>trả về dữ liệu đã tính toán cho nơi gọi; 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2600">
                <a:solidFill>
                  <a:schemeClr val="tx1"/>
                </a:solidFill>
              </a:rPr>
              <a:t>chương trình tiếp tục thực hiện lệnh kế tiếp.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9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6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Cách thức hoạt động của hàm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18160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en-GB" sz="2600" b="1">
                <a:solidFill>
                  <a:schemeClr val="tx1"/>
                </a:solidFill>
                <a:latin typeface="+mj-lt"/>
              </a:rPr>
              <a:t>Ví dụ</a:t>
            </a:r>
            <a:r>
              <a:rPr lang="en-GB" sz="2600">
                <a:solidFill>
                  <a:schemeClr val="tx1"/>
                </a:solidFill>
                <a:latin typeface="+mj-lt"/>
              </a:rPr>
              <a:t>: Viết chương trình dùng hàm có sẵn trong thư viện &lt;cmath&gt; để tính x</a:t>
            </a:r>
            <a:r>
              <a:rPr lang="en-GB" sz="2600" baseline="30000">
                <a:solidFill>
                  <a:schemeClr val="tx1"/>
                </a:solidFill>
                <a:latin typeface="+mj-lt"/>
              </a:rPr>
              <a:t>y</a:t>
            </a:r>
            <a:r>
              <a:rPr lang="en-GB" sz="2600">
                <a:solidFill>
                  <a:schemeClr val="tx1"/>
                </a:solidFill>
                <a:latin typeface="+mj-lt"/>
              </a:rPr>
              <a:t> (x, y là 2 số nguyên dương).</a:t>
            </a:r>
          </a:p>
          <a:p>
            <a:pPr marL="109538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n-US" sz="2600">
              <a:solidFill>
                <a:schemeClr val="tx1"/>
              </a:solidFill>
              <a:latin typeface="+mj-lt"/>
            </a:endParaRPr>
          </a:p>
          <a:p>
            <a:pPr marL="28098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28098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&lt;cmath&gt;</a:t>
            </a:r>
          </a:p>
          <a:p>
            <a:pPr marL="28098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28098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28098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855663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x, y;</a:t>
            </a:r>
          </a:p>
          <a:p>
            <a:pPr marL="855663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double luyThua;</a:t>
            </a:r>
          </a:p>
          <a:p>
            <a:pPr marL="855663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cout &lt;&lt; "Nhap co so: ";</a:t>
            </a:r>
          </a:p>
          <a:p>
            <a:pPr marL="855663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cin &gt;&gt; x;</a:t>
            </a:r>
          </a:p>
          <a:p>
            <a:pPr marL="855663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cout &lt;&lt; "Nhap so mu: ";</a:t>
            </a:r>
          </a:p>
          <a:p>
            <a:pPr marL="855663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cin &gt;&gt; y;</a:t>
            </a:r>
          </a:p>
          <a:p>
            <a:pPr marL="855663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luyThua = pow(x*1.0, y); </a:t>
            </a:r>
          </a:p>
          <a:p>
            <a:pPr marL="855663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fr-FR" sz="2000" b="1">
                <a:latin typeface="Courier New" pitchFamily="49" charset="0"/>
                <a:cs typeface="Courier New" pitchFamily="49" charset="0"/>
              </a:rPr>
              <a:t>cout &lt;&lt; "Ket qua = " &lt;&lt; luyThua &lt;&lt; endl;</a:t>
            </a:r>
          </a:p>
          <a:p>
            <a:pPr marL="855663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280988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  <a:endParaRPr lang="en-GB" sz="2200" b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20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10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4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Định nghĩa hàm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328160"/>
          </a:xfrm>
        </p:spPr>
        <p:txBody>
          <a:bodyPr>
            <a:noAutofit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</a:pPr>
            <a:r>
              <a:rPr lang="en-US" sz="2600">
                <a:solidFill>
                  <a:schemeClr val="tx1"/>
                </a:solidFill>
              </a:rPr>
              <a:t>Các bước viết một hàm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</a:pPr>
            <a:r>
              <a:rPr lang="en-US" sz="2600">
                <a:solidFill>
                  <a:schemeClr val="tx1"/>
                </a:solidFill>
              </a:rPr>
              <a:t>Định nghĩa hàm (function definition)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</a:pPr>
            <a:r>
              <a:rPr lang="en-US" sz="2600">
                <a:solidFill>
                  <a:schemeClr val="tx1"/>
                </a:solidFill>
              </a:rPr>
              <a:t>function prototype (nguyên mẫu hàm )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</a:pPr>
            <a:r>
              <a:rPr lang="en-US" sz="2600">
                <a:solidFill>
                  <a:schemeClr val="tx1"/>
                </a:solidFill>
              </a:rPr>
              <a:t>Giá trị trả về (return value)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</a:pPr>
            <a:r>
              <a:rPr lang="en-US" sz="2600">
                <a:solidFill>
                  <a:schemeClr val="tx1"/>
                </a:solidFill>
              </a:rPr>
              <a:t>Hàm void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</a:pPr>
            <a:r>
              <a:rPr lang="en-GB" sz="2600">
                <a:solidFill>
                  <a:schemeClr val="tx1"/>
                </a:solidFill>
              </a:rPr>
              <a:t>Gọi hàm thực thi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</a:pPr>
            <a:r>
              <a:rPr lang="en-GB" sz="2600">
                <a:solidFill>
                  <a:schemeClr val="tx1"/>
                </a:solidFill>
              </a:rPr>
              <a:t>Cấu trúc chương trình đề xuất khi có nhiều hàm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</a:pPr>
            <a:r>
              <a:rPr lang="en-GB" sz="2600">
                <a:solidFill>
                  <a:schemeClr val="tx1"/>
                </a:solidFill>
              </a:rPr>
              <a:t>Ví dụ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11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57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Các bước viết một hàm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32816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Font typeface="Wingdings" pitchFamily="2" charset="2"/>
              <a:buChar char="§"/>
            </a:pPr>
            <a:r>
              <a:rPr lang="en-US" dirty="0" err="1"/>
              <a:t>Bước</a:t>
            </a:r>
            <a:r>
              <a:rPr lang="en-US" dirty="0"/>
              <a:t> 1: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/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.</a:t>
            </a:r>
          </a:p>
          <a:p>
            <a:pPr algn="just">
              <a:spcBef>
                <a:spcPts val="0"/>
              </a:spcBef>
              <a:buFont typeface="Wingdings" pitchFamily="2" charset="2"/>
              <a:buChar char="§"/>
            </a:pPr>
            <a:r>
              <a:rPr lang="en-US" dirty="0" err="1"/>
              <a:t>Bước</a:t>
            </a:r>
            <a:r>
              <a:rPr lang="en-US" dirty="0"/>
              <a:t> 2: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nơi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(</a:t>
            </a:r>
            <a:r>
              <a:rPr lang="en-US" i="1" dirty="0">
                <a:solidFill>
                  <a:srgbClr val="FF0000"/>
                </a:solidFill>
              </a:rPr>
              <a:t>parameters</a:t>
            </a:r>
            <a:r>
              <a:rPr lang="en-US" dirty="0"/>
              <a:t>).</a:t>
            </a:r>
          </a:p>
          <a:p>
            <a:pPr algn="just">
              <a:spcBef>
                <a:spcPts val="0"/>
              </a:spcBef>
              <a:buFont typeface="Wingdings" pitchFamily="2" charset="2"/>
              <a:buChar char="§"/>
            </a:pPr>
            <a:r>
              <a:rPr lang="en-US" dirty="0" err="1"/>
              <a:t>Bước</a:t>
            </a:r>
            <a:r>
              <a:rPr lang="en-US" dirty="0"/>
              <a:t> 3: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(</a:t>
            </a:r>
            <a:r>
              <a:rPr lang="en-US" i="1" dirty="0">
                <a:solidFill>
                  <a:srgbClr val="FF0000"/>
                </a:solidFill>
              </a:rPr>
              <a:t>return value</a:t>
            </a:r>
            <a:r>
              <a:rPr lang="en-US" dirty="0"/>
              <a:t>).</a:t>
            </a:r>
          </a:p>
          <a:p>
            <a:pPr algn="just">
              <a:spcBef>
                <a:spcPts val="0"/>
              </a:spcBef>
              <a:buFont typeface="Wingdings" pitchFamily="2" charset="2"/>
              <a:buChar char="§"/>
            </a:pPr>
            <a:r>
              <a:rPr lang="en-US" dirty="0" err="1"/>
              <a:t>Bước</a:t>
            </a:r>
            <a:r>
              <a:rPr lang="en-US" dirty="0"/>
              <a:t> 4: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(</a:t>
            </a:r>
            <a:r>
              <a:rPr lang="en-US" i="1" dirty="0"/>
              <a:t>algorithm</a:t>
            </a:r>
            <a:r>
              <a:rPr lang="en-US" dirty="0"/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12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Các bước viết một hàm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56388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Font typeface="Wingdings" pitchFamily="2" charset="2"/>
              <a:buChar char="§"/>
            </a:pPr>
            <a:r>
              <a:rPr lang="en-US" b="1"/>
              <a:t>Ví dụ 1: </a:t>
            </a:r>
            <a:r>
              <a:rPr lang="en-US"/>
              <a:t>Xây dựng hàm tính diện tích hình chữ nhật.</a:t>
            </a:r>
          </a:p>
          <a:p>
            <a:pPr marL="623888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/>
              <a:t>Xác định mục đích/mục tiêu của hàm: </a:t>
            </a:r>
            <a:r>
              <a:rPr lang="en-US">
                <a:solidFill>
                  <a:schemeClr val="tx2">
                    <a:lumMod val="75000"/>
                  </a:schemeClr>
                </a:solidFill>
              </a:rPr>
              <a:t>Tính diện tích hình chữ nhật</a:t>
            </a:r>
          </a:p>
          <a:p>
            <a:pPr marL="623888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/>
              <a:t>Định nghĩa dữ liệu hàm sẽ nhận từ nơi gọi (</a:t>
            </a:r>
            <a:r>
              <a:rPr lang="en-US" i="1"/>
              <a:t>paremeters</a:t>
            </a:r>
            <a:r>
              <a:rPr lang="en-US"/>
              <a:t>).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/>
              <a:t>	</a:t>
            </a:r>
            <a:r>
              <a:rPr lang="en-US">
                <a:solidFill>
                  <a:schemeClr val="tx2">
                    <a:lumMod val="75000"/>
                  </a:schemeClr>
                </a:solidFill>
              </a:rPr>
              <a:t>+ Chiều dài hình chữ nhật (số thực)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>
                <a:solidFill>
                  <a:schemeClr val="tx2">
                    <a:lumMod val="75000"/>
                  </a:schemeClr>
                </a:solidFill>
              </a:rPr>
              <a:t>	+ Chiều rộng hình chữ nhật (số thực)</a:t>
            </a:r>
          </a:p>
          <a:p>
            <a:pPr marL="623888" indent="-514350" algn="just">
              <a:spcBef>
                <a:spcPts val="0"/>
              </a:spcBef>
              <a:buFont typeface="+mj-lt"/>
              <a:buAutoNum type="arabicPeriod" startAt="3"/>
            </a:pPr>
            <a:r>
              <a:rPr lang="en-US"/>
              <a:t>Định nghĩa dữ liệu hàm sẽ tính toán và trả về (</a:t>
            </a:r>
            <a:r>
              <a:rPr lang="en-US" i="1"/>
              <a:t>return value</a:t>
            </a:r>
            <a:r>
              <a:rPr lang="en-US"/>
              <a:t>): </a:t>
            </a:r>
            <a:r>
              <a:rPr lang="en-US">
                <a:solidFill>
                  <a:schemeClr val="tx2">
                    <a:lumMod val="75000"/>
                  </a:schemeClr>
                </a:solidFill>
              </a:rPr>
              <a:t>diện tích hình chữ nhật (số thực)</a:t>
            </a:r>
          </a:p>
          <a:p>
            <a:pPr marL="623888" indent="-514350" algn="just">
              <a:spcBef>
                <a:spcPts val="0"/>
              </a:spcBef>
              <a:buFont typeface="+mj-lt"/>
              <a:buAutoNum type="arabicPeriod" startAt="4"/>
            </a:pPr>
            <a:r>
              <a:rPr lang="en-US"/>
              <a:t>Định nghĩa các bước được thực hiện để đạt được mục tiêu (</a:t>
            </a:r>
            <a:r>
              <a:rPr lang="en-US" i="1"/>
              <a:t>algorithm</a:t>
            </a:r>
            <a:r>
              <a:rPr lang="en-US"/>
              <a:t>)</a:t>
            </a:r>
          </a:p>
          <a:p>
            <a:pPr marL="274320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	+ Tính chiều dài * chiều rộng và gán kết quả cho dienTich;</a:t>
            </a:r>
          </a:p>
          <a:p>
            <a:pPr marL="274320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	+ Trả về giá trị của dienTich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13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9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35078" y="1066800"/>
            <a:ext cx="8229600" cy="685800"/>
          </a:xfrm>
        </p:spPr>
        <p:txBody>
          <a:bodyPr>
            <a:normAutofit/>
          </a:bodyPr>
          <a:lstStyle/>
          <a:p>
            <a:pPr marL="274320" lvl="1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</a:rPr>
              <a:t>Cú pháp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14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33400" y="1524000"/>
            <a:ext cx="8534400" cy="175432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61913"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>
                <a:latin typeface="Courier New" pitchFamily="49" charset="0"/>
                <a:cs typeface="Courier New" pitchFamily="49" charset="0"/>
              </a:rPr>
              <a:t>returnDataType</a:t>
            </a:r>
            <a:r>
              <a:rPr lang="en-US" sz="240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>
                <a:latin typeface="Courier New" pitchFamily="49" charset="0"/>
                <a:cs typeface="Courier New" pitchFamily="49" charset="0"/>
              </a:rPr>
              <a:t>functionName</a:t>
            </a:r>
            <a:r>
              <a:rPr lang="en-US" sz="240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>
                <a:latin typeface="Courier New" pitchFamily="49" charset="0"/>
                <a:cs typeface="Courier New" pitchFamily="49" charset="0"/>
              </a:rPr>
              <a:t>([parameterList])</a:t>
            </a:r>
          </a:p>
          <a:p>
            <a:pPr marL="120650"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>
                <a:latin typeface="Courier New" pitchFamily="49" charset="0"/>
                <a:cs typeface="Courier New" pitchFamily="49" charset="0"/>
              </a:rPr>
              <a:t>{ </a:t>
            </a:r>
          </a:p>
          <a:p>
            <a:pPr marL="962025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>
                <a:latin typeface="Courier New" pitchFamily="49" charset="0"/>
                <a:cs typeface="Courier New" pitchFamily="49" charset="0"/>
              </a:rPr>
              <a:t>statements;</a:t>
            </a:r>
          </a:p>
          <a:p>
            <a:pPr marL="962025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>
                <a:latin typeface="Courier New" pitchFamily="49" charset="0"/>
                <a:cs typeface="Courier New" pitchFamily="49" charset="0"/>
              </a:rPr>
              <a:t>[return expression;]</a:t>
            </a:r>
          </a:p>
          <a:p>
            <a:pPr marL="120650" lvl="1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1" name="Content Placeholder 5"/>
          <p:cNvSpPr txBox="1">
            <a:spLocks/>
          </p:cNvSpPr>
          <p:nvPr/>
        </p:nvSpPr>
        <p:spPr>
          <a:xfrm>
            <a:off x="452284" y="3352800"/>
            <a:ext cx="8539316" cy="289560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lvl="1" algn="just">
              <a:lnSpc>
                <a:spcPct val="90000"/>
              </a:lnSpc>
              <a:spcBef>
                <a:spcPts val="0"/>
              </a:spcBef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returnDataType</a:t>
            </a:r>
            <a:r>
              <a:rPr lang="en-US">
                <a:solidFill>
                  <a:schemeClr val="tx1"/>
                </a:solidFill>
                <a:latin typeface="+mj-lt"/>
              </a:rPr>
              <a:t>: kiểu dữ liệu của giá trị hàm trả về.</a:t>
            </a:r>
          </a:p>
          <a:p>
            <a:pPr marL="403225" lvl="1" algn="just">
              <a:lnSpc>
                <a:spcPct val="90000"/>
              </a:lnSpc>
              <a:spcBef>
                <a:spcPts val="0"/>
              </a:spcBef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functionName</a:t>
            </a:r>
            <a:r>
              <a:rPr lang="en-US">
                <a:solidFill>
                  <a:schemeClr val="tx1"/>
                </a:solidFill>
                <a:latin typeface="+mj-lt"/>
              </a:rPr>
              <a:t>: tên hàm, theo luật đặt tên biến.</a:t>
            </a:r>
          </a:p>
          <a:p>
            <a:pPr marL="403225" lvl="1" algn="just">
              <a:lnSpc>
                <a:spcPct val="90000"/>
              </a:lnSpc>
              <a:spcBef>
                <a:spcPts val="0"/>
              </a:spcBef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parameterList</a:t>
            </a:r>
            <a:r>
              <a:rPr lang="en-US">
                <a:solidFill>
                  <a:schemeClr val="tx1"/>
                </a:solidFill>
                <a:latin typeface="+mj-lt"/>
              </a:rPr>
              <a:t>: chứa </a:t>
            </a:r>
            <a:r>
              <a:rPr lang="en-US" i="1">
                <a:solidFill>
                  <a:schemeClr val="tx1"/>
                </a:solidFill>
                <a:latin typeface="+mj-lt"/>
              </a:rPr>
              <a:t>tham số hình thức</a:t>
            </a:r>
            <a:r>
              <a:rPr lang="en-US">
                <a:solidFill>
                  <a:schemeClr val="tx1"/>
                </a:solidFill>
                <a:latin typeface="+mj-lt"/>
              </a:rPr>
              <a:t> (formal parameters). Mỗi tham số hình thức gồm: kiểu dữ liệu và tên của tham số. Mỗi tham số cách nhau bằng dấu phẩy.</a:t>
            </a:r>
          </a:p>
          <a:p>
            <a:pPr marL="403225" lvl="1" algn="just">
              <a:lnSpc>
                <a:spcPct val="90000"/>
              </a:lnSpc>
              <a:spcBef>
                <a:spcPts val="0"/>
              </a:spcBef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statements</a:t>
            </a:r>
            <a:r>
              <a:rPr lang="en-US">
                <a:solidFill>
                  <a:schemeClr val="tx1"/>
                </a:solidFill>
                <a:latin typeface="+mj-lt"/>
              </a:rPr>
              <a:t>: các câu lệnh được thực hiện.</a:t>
            </a:r>
          </a:p>
          <a:p>
            <a:pPr marL="403225" lvl="1" algn="just">
              <a:lnSpc>
                <a:spcPct val="90000"/>
              </a:lnSpc>
              <a:spcBef>
                <a:spcPts val="0"/>
              </a:spcBef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return expression; </a:t>
            </a:r>
            <a:r>
              <a:rPr lang="en-US">
                <a:solidFill>
                  <a:schemeClr val="tx1"/>
                </a:solidFill>
                <a:latin typeface="+mj-lt"/>
              </a:rPr>
              <a:t>: trả về giá trị của </a:t>
            </a:r>
            <a:r>
              <a:rPr lang="en-US" i="1">
                <a:solidFill>
                  <a:schemeClr val="tx1"/>
                </a:solidFill>
                <a:latin typeface="+mj-lt"/>
              </a:rPr>
              <a:t>expression</a:t>
            </a:r>
            <a:r>
              <a:rPr lang="en-US">
                <a:solidFill>
                  <a:schemeClr val="tx1"/>
                </a:solidFill>
                <a:latin typeface="+mj-lt"/>
              </a:rPr>
              <a:t> do hàm tính, kiểu của expression giống với returnDataType.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8" name="Title 10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Định nghĩa hàm</a:t>
            </a:r>
            <a:r>
              <a:rPr lang="en-US">
                <a:solidFill>
                  <a:schemeClr val="tx1"/>
                </a:solidFill>
              </a:rPr>
              <a:t> (function definition)</a:t>
            </a:r>
          </a:p>
        </p:txBody>
      </p:sp>
    </p:spTree>
    <p:extLst>
      <p:ext uri="{BB962C8B-B14F-4D97-AF65-F5344CB8AC3E}">
        <p14:creationId xmlns:p14="http://schemas.microsoft.com/office/powerpoint/2010/main" val="100908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102942"/>
          </a:xfrm>
        </p:spPr>
        <p:txBody>
          <a:bodyPr>
            <a:normAutofit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</a:pPr>
            <a:r>
              <a:rPr lang="en-GB" sz="2600" b="1">
                <a:solidFill>
                  <a:schemeClr val="tx1"/>
                </a:solidFill>
              </a:rPr>
              <a:t>Ví dụ 1: </a:t>
            </a:r>
            <a:r>
              <a:rPr lang="en-US" sz="2600">
                <a:solidFill>
                  <a:schemeClr val="tx1"/>
                </a:solidFill>
              </a:rPr>
              <a:t>Xây dựng hàm tính diện tích hình chữ nhật.</a:t>
            </a:r>
            <a:endParaRPr lang="en-GB" sz="2600" b="1">
              <a:solidFill>
                <a:schemeClr val="tx1"/>
              </a:solidFill>
            </a:endParaRP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endParaRPr lang="en-GB" sz="2600" b="1">
              <a:solidFill>
                <a:schemeClr val="tx1"/>
              </a:solidFill>
            </a:endParaRP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endParaRPr lang="en-GB" sz="2600" b="1">
              <a:solidFill>
                <a:schemeClr val="tx1"/>
              </a:solidFill>
            </a:endParaRP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endParaRPr lang="en-GB" sz="2600" b="1">
              <a:solidFill>
                <a:schemeClr val="tx1"/>
              </a:solidFill>
            </a:endParaRP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endParaRPr lang="en-GB" sz="2600" b="1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fr-FR" sz="2000" b="1">
                <a:latin typeface="Courier New" pitchFamily="49" charset="0"/>
                <a:cs typeface="Courier New" pitchFamily="49" charset="0"/>
              </a:rPr>
              <a:t>double tinhDT_HCN (double chieuDai,  double chieuRong)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914400" indent="0"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double dienTich;</a:t>
            </a:r>
          </a:p>
          <a:p>
            <a:pPr marL="914400" indent="0"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dienTich = chieuDai * chieuRong;</a:t>
            </a:r>
          </a:p>
          <a:p>
            <a:pPr marL="914400" indent="0"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return dienTich;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15</a:t>
            </a:fld>
            <a:endParaRPr lang="en-US"/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4572000" y="2286000"/>
            <a:ext cx="12954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6248400" y="2286000"/>
            <a:ext cx="106680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0" y="1992868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parameterList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2438400" y="2514600"/>
            <a:ext cx="228600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057400" y="210133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functionName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2123145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returnDataType</a:t>
            </a:r>
          </a:p>
        </p:txBody>
      </p:sp>
      <p:cxnSp>
        <p:nvCxnSpPr>
          <p:cNvPr id="26" name="Straight Arrow Connector 25"/>
          <p:cNvCxnSpPr>
            <a:stCxn id="25" idx="2"/>
          </p:cNvCxnSpPr>
          <p:nvPr/>
        </p:nvCxnSpPr>
        <p:spPr>
          <a:xfrm>
            <a:off x="1066800" y="2492477"/>
            <a:ext cx="45474" cy="25072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Right Brace 29"/>
          <p:cNvSpPr/>
          <p:nvPr/>
        </p:nvSpPr>
        <p:spPr>
          <a:xfrm>
            <a:off x="6629400" y="3276600"/>
            <a:ext cx="304800" cy="1181100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7044813" y="36576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function body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8600" y="483870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return expression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H="1" flipV="1">
            <a:off x="2971800" y="4343400"/>
            <a:ext cx="1295400" cy="762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914400" y="3581400"/>
            <a:ext cx="457200" cy="1752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90500" y="5334000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Kiểu dữ liệu của returnDataType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23" name="Title 10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Định nghĩa hàm</a:t>
            </a:r>
            <a:r>
              <a:rPr lang="en-US">
                <a:solidFill>
                  <a:schemeClr val="tx1"/>
                </a:solidFill>
              </a:rPr>
              <a:t> (function definition)</a:t>
            </a:r>
          </a:p>
        </p:txBody>
      </p:sp>
    </p:spTree>
    <p:extLst>
      <p:ext uri="{BB962C8B-B14F-4D97-AF65-F5344CB8AC3E}">
        <p14:creationId xmlns:p14="http://schemas.microsoft.com/office/powerpoint/2010/main" val="1662381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4" grpId="0"/>
      <p:bldP spid="25" grpId="0"/>
      <p:bldP spid="30" grpId="0" animBg="1"/>
      <p:bldP spid="31" grpId="0"/>
      <p:bldP spid="32" grpId="0"/>
      <p:bldP spid="4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102942"/>
          </a:xfrm>
        </p:spPr>
        <p:txBody>
          <a:bodyPr>
            <a:noAutofit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</a:pPr>
            <a:r>
              <a:rPr lang="en-GB" sz="2600" b="1">
                <a:solidFill>
                  <a:schemeClr val="tx1"/>
                </a:solidFill>
              </a:rPr>
              <a:t>Ví dụ 2: </a:t>
            </a:r>
            <a:r>
              <a:rPr lang="en-US" sz="2600">
                <a:solidFill>
                  <a:schemeClr val="tx1"/>
                </a:solidFill>
              </a:rPr>
              <a:t>Xây dựng hàm tìm số lớn nhất của hai số nguyên.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>
                <a:solidFill>
                  <a:schemeClr val="tx1"/>
                </a:solidFill>
              </a:rPr>
              <a:t>Mục đích: tìm số lớn nhất của 2 số nguyên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>
                <a:solidFill>
                  <a:schemeClr val="tx1"/>
                </a:solidFill>
              </a:rPr>
              <a:t>Dữ liệu nhận vào: 2 số nguyên a và b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>
                <a:solidFill>
                  <a:schemeClr val="tx1"/>
                </a:solidFill>
              </a:rPr>
              <a:t>Dữ liệu hàm trả về: số lớn nhất (số nguyên)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2600">
                <a:solidFill>
                  <a:schemeClr val="tx1"/>
                </a:solidFill>
              </a:rPr>
              <a:t>Thuật giải:</a:t>
            </a:r>
          </a:p>
          <a:p>
            <a:pPr marL="1074420" lvl="2" indent="-342900">
              <a:spcBef>
                <a:spcPts val="0"/>
              </a:spcBef>
              <a:spcAft>
                <a:spcPts val="0"/>
              </a:spcAft>
            </a:pPr>
            <a:r>
              <a:rPr lang="en-GB" sz="2600"/>
              <a:t>Nếu a &gt;= b thì max = a;</a:t>
            </a:r>
          </a:p>
          <a:p>
            <a:pPr marL="1074420" lvl="2" indent="-342900">
              <a:spcBef>
                <a:spcPts val="0"/>
              </a:spcBef>
              <a:spcAft>
                <a:spcPts val="0"/>
              </a:spcAft>
            </a:pPr>
            <a:r>
              <a:rPr lang="en-GB" sz="2600">
                <a:solidFill>
                  <a:schemeClr val="tx1"/>
                </a:solidFill>
              </a:rPr>
              <a:t>Ngược lại thì max = b;</a:t>
            </a:r>
          </a:p>
          <a:p>
            <a:pPr marL="1074420" lvl="2" indent="-342900">
              <a:spcBef>
                <a:spcPts val="0"/>
              </a:spcBef>
              <a:spcAft>
                <a:spcPts val="0"/>
              </a:spcAft>
            </a:pPr>
            <a:r>
              <a:rPr lang="en-GB" sz="2600"/>
              <a:t>Trả về kết quả max</a:t>
            </a:r>
            <a:endParaRPr lang="en-GB" sz="2600">
              <a:solidFill>
                <a:schemeClr val="tx1"/>
              </a:solidFill>
            </a:endParaRP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endParaRPr lang="en-GB" sz="2600" b="1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16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7" name="Title 10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Định nghĩa hàm</a:t>
            </a:r>
            <a:r>
              <a:rPr lang="en-US">
                <a:solidFill>
                  <a:schemeClr val="tx1"/>
                </a:solidFill>
              </a:rPr>
              <a:t> (function definition)</a:t>
            </a:r>
          </a:p>
        </p:txBody>
      </p:sp>
    </p:spTree>
    <p:extLst>
      <p:ext uri="{BB962C8B-B14F-4D97-AF65-F5344CB8AC3E}">
        <p14:creationId xmlns:p14="http://schemas.microsoft.com/office/powerpoint/2010/main" val="7576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102942"/>
          </a:xfrm>
        </p:spPr>
        <p:txBody>
          <a:bodyPr>
            <a:noAutofit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</a:pPr>
            <a:r>
              <a:rPr lang="en-GB" sz="2600" b="1">
                <a:solidFill>
                  <a:schemeClr val="tx1"/>
                </a:solidFill>
              </a:rPr>
              <a:t>Ví dụ 2: </a:t>
            </a:r>
            <a:r>
              <a:rPr lang="en-US" sz="2600">
                <a:solidFill>
                  <a:schemeClr val="tx1"/>
                </a:solidFill>
              </a:rPr>
              <a:t>Xây dựng hàm tìm số lớn nhất của hai số nguyên.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endParaRPr lang="en-GB" sz="2600" b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 timSoLonNhat (int a, int b)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int max;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if (a &gt;= b)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	max = a;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else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	max = b;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return max;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17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7" name="Title 10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Định nghĩa hàm</a:t>
            </a:r>
            <a:r>
              <a:rPr lang="en-US">
                <a:solidFill>
                  <a:schemeClr val="tx1"/>
                </a:solidFill>
              </a:rPr>
              <a:t> (function definition)</a:t>
            </a:r>
          </a:p>
        </p:txBody>
      </p:sp>
    </p:spTree>
    <p:extLst>
      <p:ext uri="{BB962C8B-B14F-4D97-AF65-F5344CB8AC3E}">
        <p14:creationId xmlns:p14="http://schemas.microsoft.com/office/powerpoint/2010/main" val="82666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102942"/>
          </a:xfrm>
        </p:spPr>
        <p:txBody>
          <a:bodyPr>
            <a:noAutofit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</a:pPr>
            <a:r>
              <a:rPr lang="en-GB" sz="2600" b="1" dirty="0" err="1">
                <a:solidFill>
                  <a:schemeClr val="tx1"/>
                </a:solidFill>
              </a:rPr>
              <a:t>Ví</a:t>
            </a:r>
            <a:r>
              <a:rPr lang="en-GB" sz="2600" b="1" dirty="0">
                <a:solidFill>
                  <a:schemeClr val="tx1"/>
                </a:solidFill>
              </a:rPr>
              <a:t> </a:t>
            </a:r>
            <a:r>
              <a:rPr lang="en-GB" sz="2600" b="1" dirty="0" err="1">
                <a:solidFill>
                  <a:schemeClr val="tx1"/>
                </a:solidFill>
              </a:rPr>
              <a:t>dụ</a:t>
            </a:r>
            <a:r>
              <a:rPr lang="en-GB" sz="2600" b="1" dirty="0">
                <a:solidFill>
                  <a:schemeClr val="tx1"/>
                </a:solidFill>
              </a:rPr>
              <a:t> 3: </a:t>
            </a:r>
            <a:r>
              <a:rPr lang="en-US" sz="2600" dirty="0" err="1">
                <a:solidFill>
                  <a:schemeClr val="tx1"/>
                </a:solidFill>
              </a:rPr>
              <a:t>Xây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dựng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hàm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tính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x</a:t>
            </a:r>
            <a:r>
              <a:rPr lang="en-GB" sz="2600" baseline="30000" dirty="0" err="1">
                <a:solidFill>
                  <a:schemeClr val="tx1"/>
                </a:solidFill>
              </a:rPr>
              <a:t>y</a:t>
            </a:r>
            <a:r>
              <a:rPr lang="en-GB" sz="2600" dirty="0">
                <a:solidFill>
                  <a:schemeClr val="tx1"/>
                </a:solidFill>
              </a:rPr>
              <a:t> (x </a:t>
            </a:r>
            <a:r>
              <a:rPr lang="en-GB" sz="2600" dirty="0" err="1">
                <a:solidFill>
                  <a:schemeClr val="tx1"/>
                </a:solidFill>
              </a:rPr>
              <a:t>là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số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thực</a:t>
            </a:r>
            <a:r>
              <a:rPr lang="en-GB" sz="2600" dirty="0">
                <a:solidFill>
                  <a:schemeClr val="tx1"/>
                </a:solidFill>
              </a:rPr>
              <a:t>, y </a:t>
            </a:r>
            <a:r>
              <a:rPr lang="en-GB" sz="2600" dirty="0" err="1">
                <a:solidFill>
                  <a:schemeClr val="tx1"/>
                </a:solidFill>
              </a:rPr>
              <a:t>là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số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nguyên</a:t>
            </a:r>
            <a:r>
              <a:rPr lang="en-GB" sz="2600" dirty="0">
                <a:solidFill>
                  <a:schemeClr val="tx1"/>
                </a:solidFill>
              </a:rPr>
              <a:t>)</a:t>
            </a:r>
            <a:endParaRPr lang="en-GB" sz="2600" b="1" dirty="0">
              <a:solidFill>
                <a:schemeClr val="tx1"/>
              </a:solidFill>
            </a:endParaRP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dirty="0" err="1">
                <a:solidFill>
                  <a:schemeClr val="tx1"/>
                </a:solidFill>
              </a:rPr>
              <a:t>Mục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đích</a:t>
            </a:r>
            <a:r>
              <a:rPr lang="en-US" sz="2600" dirty="0">
                <a:solidFill>
                  <a:schemeClr val="tx1"/>
                </a:solidFill>
              </a:rPr>
              <a:t>: </a:t>
            </a:r>
            <a:r>
              <a:rPr lang="en-US" sz="2600" dirty="0" err="1">
                <a:solidFill>
                  <a:schemeClr val="tx1"/>
                </a:solidFill>
              </a:rPr>
              <a:t>tính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lũy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thừa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x</a:t>
            </a:r>
            <a:r>
              <a:rPr lang="en-GB" sz="2600" baseline="30000" dirty="0" err="1">
                <a:solidFill>
                  <a:schemeClr val="tx1"/>
                </a:solidFill>
              </a:rPr>
              <a:t>y</a:t>
            </a:r>
            <a:endParaRPr lang="en-US" sz="2600" dirty="0">
              <a:solidFill>
                <a:schemeClr val="tx1"/>
              </a:solidFill>
            </a:endParaRP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dirty="0" err="1">
                <a:solidFill>
                  <a:schemeClr val="tx1"/>
                </a:solidFill>
              </a:rPr>
              <a:t>Dữ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liệu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nhận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vào</a:t>
            </a:r>
            <a:r>
              <a:rPr lang="en-US" sz="2600" dirty="0">
                <a:solidFill>
                  <a:schemeClr val="tx1"/>
                </a:solidFill>
              </a:rPr>
              <a:t>: </a:t>
            </a:r>
            <a:r>
              <a:rPr lang="en-US" sz="2600" dirty="0" err="1">
                <a:solidFill>
                  <a:schemeClr val="tx1"/>
                </a:solidFill>
              </a:rPr>
              <a:t>số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thực</a:t>
            </a:r>
            <a:r>
              <a:rPr lang="en-US" sz="2600" dirty="0">
                <a:solidFill>
                  <a:schemeClr val="tx1"/>
                </a:solidFill>
              </a:rPr>
              <a:t> x, </a:t>
            </a:r>
            <a:r>
              <a:rPr lang="en-US" sz="2600" dirty="0" err="1">
                <a:solidFill>
                  <a:schemeClr val="tx1"/>
                </a:solidFill>
              </a:rPr>
              <a:t>số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nguyên</a:t>
            </a:r>
            <a:r>
              <a:rPr lang="en-US" sz="2600" dirty="0">
                <a:solidFill>
                  <a:schemeClr val="tx1"/>
                </a:solidFill>
              </a:rPr>
              <a:t> y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dirty="0" err="1">
                <a:solidFill>
                  <a:schemeClr val="tx1"/>
                </a:solidFill>
              </a:rPr>
              <a:t>Dữ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liệu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hàm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trả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về</a:t>
            </a:r>
            <a:r>
              <a:rPr lang="en-US" sz="2600" dirty="0">
                <a:solidFill>
                  <a:schemeClr val="tx1"/>
                </a:solidFill>
              </a:rPr>
              <a:t>: </a:t>
            </a:r>
            <a:r>
              <a:rPr lang="en-US" sz="2600" dirty="0" err="1">
                <a:solidFill>
                  <a:schemeClr val="tx1"/>
                </a:solidFill>
              </a:rPr>
              <a:t>kết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quả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lũy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thừa</a:t>
            </a:r>
            <a:r>
              <a:rPr lang="en-US" sz="2600" dirty="0">
                <a:solidFill>
                  <a:schemeClr val="tx1"/>
                </a:solidFill>
              </a:rPr>
              <a:t> (</a:t>
            </a:r>
            <a:r>
              <a:rPr lang="en-US" sz="2600" dirty="0" err="1">
                <a:solidFill>
                  <a:schemeClr val="tx1"/>
                </a:solidFill>
              </a:rPr>
              <a:t>số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thực</a:t>
            </a:r>
            <a:r>
              <a:rPr lang="en-US" sz="2600" dirty="0">
                <a:solidFill>
                  <a:schemeClr val="tx1"/>
                </a:solidFill>
              </a:rPr>
              <a:t>)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2600" dirty="0" err="1">
                <a:solidFill>
                  <a:schemeClr val="tx1"/>
                </a:solidFill>
              </a:rPr>
              <a:t>Thuật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giải</a:t>
            </a:r>
            <a:r>
              <a:rPr lang="en-GB" sz="2600" dirty="0">
                <a:solidFill>
                  <a:schemeClr val="tx1"/>
                </a:solidFill>
              </a:rPr>
              <a:t>:</a:t>
            </a:r>
          </a:p>
          <a:p>
            <a:pPr marL="862013" lvl="3">
              <a:spcBef>
                <a:spcPts val="0"/>
              </a:spcBef>
              <a:spcAft>
                <a:spcPts val="0"/>
              </a:spcAft>
            </a:pPr>
            <a:r>
              <a:rPr lang="en-GB" sz="2600" dirty="0" err="1">
                <a:solidFill>
                  <a:schemeClr val="tx1"/>
                </a:solidFill>
              </a:rPr>
              <a:t>Nếu</a:t>
            </a:r>
            <a:r>
              <a:rPr lang="en-GB" sz="2600" dirty="0">
                <a:solidFill>
                  <a:schemeClr val="tx1"/>
                </a:solidFill>
              </a:rPr>
              <a:t> y &gt;= 0 </a:t>
            </a:r>
            <a:r>
              <a:rPr lang="en-GB" sz="2600" dirty="0" err="1">
                <a:solidFill>
                  <a:schemeClr val="tx1"/>
                </a:solidFill>
              </a:rPr>
              <a:t>thì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luyThua</a:t>
            </a:r>
            <a:r>
              <a:rPr lang="en-GB" sz="2600" dirty="0">
                <a:solidFill>
                  <a:schemeClr val="tx1"/>
                </a:solidFill>
              </a:rPr>
              <a:t> = x * x * … * x (y </a:t>
            </a:r>
            <a:r>
              <a:rPr lang="en-GB" sz="2600" dirty="0" err="1">
                <a:solidFill>
                  <a:schemeClr val="tx1"/>
                </a:solidFill>
              </a:rPr>
              <a:t>lần</a:t>
            </a:r>
            <a:r>
              <a:rPr lang="en-GB" sz="2600" dirty="0">
                <a:solidFill>
                  <a:schemeClr val="tx1"/>
                </a:solidFill>
              </a:rPr>
              <a:t>)</a:t>
            </a:r>
          </a:p>
          <a:p>
            <a:pPr marL="862013" lvl="3">
              <a:spcBef>
                <a:spcPts val="0"/>
              </a:spcBef>
              <a:spcAft>
                <a:spcPts val="0"/>
              </a:spcAft>
            </a:pPr>
            <a:r>
              <a:rPr lang="en-GB" sz="2600" dirty="0" err="1">
                <a:solidFill>
                  <a:schemeClr val="tx1"/>
                </a:solidFill>
              </a:rPr>
              <a:t>Ngược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lại</a:t>
            </a:r>
            <a:r>
              <a:rPr lang="en-GB" sz="2600" dirty="0">
                <a:solidFill>
                  <a:schemeClr val="tx1"/>
                </a:solidFill>
              </a:rPr>
              <a:t> (</a:t>
            </a:r>
            <a:r>
              <a:rPr lang="en-GB" sz="2600" dirty="0" err="1">
                <a:solidFill>
                  <a:schemeClr val="tx1"/>
                </a:solidFill>
              </a:rPr>
              <a:t>tức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là</a:t>
            </a:r>
            <a:r>
              <a:rPr lang="en-GB" sz="2600" dirty="0">
                <a:solidFill>
                  <a:schemeClr val="tx1"/>
                </a:solidFill>
              </a:rPr>
              <a:t> y &lt; 0) </a:t>
            </a:r>
            <a:r>
              <a:rPr lang="en-GB" sz="2600" dirty="0" err="1">
                <a:solidFill>
                  <a:schemeClr val="tx1"/>
                </a:solidFill>
              </a:rPr>
              <a:t>thì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luyThua</a:t>
            </a:r>
            <a:r>
              <a:rPr lang="en-GB" sz="2600" dirty="0">
                <a:solidFill>
                  <a:schemeClr val="tx1"/>
                </a:solidFill>
              </a:rPr>
              <a:t> = x / x /… / x (-y </a:t>
            </a:r>
            <a:r>
              <a:rPr lang="en-GB" sz="2600" dirty="0" err="1">
                <a:solidFill>
                  <a:schemeClr val="tx1"/>
                </a:solidFill>
              </a:rPr>
              <a:t>lần</a:t>
            </a:r>
            <a:r>
              <a:rPr lang="en-GB" sz="2600" dirty="0">
                <a:solidFill>
                  <a:schemeClr val="tx1"/>
                </a:solidFill>
              </a:rPr>
              <a:t>)</a:t>
            </a:r>
          </a:p>
          <a:p>
            <a:pPr marL="862013" lvl="3">
              <a:spcBef>
                <a:spcPts val="0"/>
              </a:spcBef>
              <a:spcAft>
                <a:spcPts val="0"/>
              </a:spcAft>
            </a:pPr>
            <a:r>
              <a:rPr lang="en-GB" sz="2600" dirty="0" err="1">
                <a:solidFill>
                  <a:schemeClr val="tx1"/>
                </a:solidFill>
              </a:rPr>
              <a:t>Trả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về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kết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quả</a:t>
            </a:r>
            <a:r>
              <a:rPr lang="en-GB" sz="2600" dirty="0">
                <a:solidFill>
                  <a:schemeClr val="tx1"/>
                </a:solidFill>
              </a:rPr>
              <a:t> </a:t>
            </a:r>
            <a:r>
              <a:rPr lang="en-GB" sz="2600" dirty="0" err="1">
                <a:solidFill>
                  <a:schemeClr val="tx1"/>
                </a:solidFill>
              </a:rPr>
              <a:t>luyThua</a:t>
            </a:r>
            <a:endParaRPr lang="en-GB" sz="26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18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7" name="Title 10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Định nghĩa hàm</a:t>
            </a:r>
            <a:r>
              <a:rPr lang="en-US">
                <a:solidFill>
                  <a:schemeClr val="tx1"/>
                </a:solidFill>
              </a:rPr>
              <a:t> (function definition)</a:t>
            </a:r>
          </a:p>
        </p:txBody>
      </p:sp>
    </p:spTree>
    <p:extLst>
      <p:ext uri="{BB962C8B-B14F-4D97-AF65-F5344CB8AC3E}">
        <p14:creationId xmlns:p14="http://schemas.microsoft.com/office/powerpoint/2010/main" val="397778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331542"/>
          </a:xfrm>
        </p:spPr>
        <p:txBody>
          <a:bodyPr>
            <a:noAutofit/>
          </a:bodyPr>
          <a:lstStyle/>
          <a:p>
            <a:pPr lvl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</a:pPr>
            <a:r>
              <a:rPr lang="en-GB" sz="2600" b="1">
                <a:solidFill>
                  <a:schemeClr val="tx1"/>
                </a:solidFill>
              </a:rPr>
              <a:t>Ví dụ 3: </a:t>
            </a:r>
            <a:r>
              <a:rPr lang="en-US" sz="2600">
                <a:solidFill>
                  <a:schemeClr val="tx1"/>
                </a:solidFill>
              </a:rPr>
              <a:t>Xây dựng hàm tính </a:t>
            </a:r>
            <a:r>
              <a:rPr lang="en-GB" sz="2600">
                <a:solidFill>
                  <a:schemeClr val="tx1"/>
                </a:solidFill>
              </a:rPr>
              <a:t>x</a:t>
            </a:r>
            <a:r>
              <a:rPr lang="en-GB" sz="2600" baseline="30000">
                <a:solidFill>
                  <a:schemeClr val="tx1"/>
                </a:solidFill>
              </a:rPr>
              <a:t>y</a:t>
            </a:r>
            <a:r>
              <a:rPr lang="en-GB" sz="2600">
                <a:solidFill>
                  <a:schemeClr val="tx1"/>
                </a:solidFill>
              </a:rPr>
              <a:t> (x là số thực, y là số nguyên)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endParaRPr lang="en-GB" sz="2600" b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double tinhLuyThua(double x, int y)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double luyThua = 1.0;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if (y &gt;= 0)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	for (int i = 1; i &lt;= y; i++)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		luyThua *= x;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else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	for (int i = 1; i &lt;= -y; i++)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		luyThua /= x;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return luyThua;</a:t>
            </a:r>
          </a:p>
          <a:p>
            <a:pPr marL="27432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19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7" name="Title 10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Định nghĩa hàm</a:t>
            </a:r>
            <a:r>
              <a:rPr lang="en-US">
                <a:solidFill>
                  <a:schemeClr val="tx1"/>
                </a:solidFill>
              </a:rPr>
              <a:t> (function definition)</a:t>
            </a:r>
          </a:p>
        </p:txBody>
      </p:sp>
    </p:spTree>
    <p:extLst>
      <p:ext uri="{BB962C8B-B14F-4D97-AF65-F5344CB8AC3E}">
        <p14:creationId xmlns:p14="http://schemas.microsoft.com/office/powerpoint/2010/main" val="144677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495800"/>
          </a:xfrm>
        </p:spPr>
        <p:txBody>
          <a:bodyPr>
            <a:noAutofit/>
          </a:bodyPr>
          <a:lstStyle/>
          <a:p>
            <a:pPr algn="just">
              <a:lnSpc>
                <a:spcPct val="130000"/>
              </a:lnSpc>
            </a:pPr>
            <a:r>
              <a:rPr lang="en-US" sz="2200"/>
              <a:t>Hàm có thể được khai báo trước khi sử dụng hoặc định nghĩa bằng cách sử dụng nguyên mẫu hàm (</a:t>
            </a:r>
            <a:r>
              <a:rPr lang="en-US" sz="2200" i="1"/>
              <a:t>function prototype)</a:t>
            </a:r>
            <a:r>
              <a:rPr lang="en-US" sz="2200"/>
              <a:t>:</a:t>
            </a:r>
          </a:p>
          <a:p>
            <a:pPr marL="356616" lvl="1" indent="0" algn="ctr">
              <a:lnSpc>
                <a:spcPct val="130000"/>
              </a:lnSpc>
              <a:buNone/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returnDataType  functionName  ([parameterList])</a:t>
            </a:r>
            <a:r>
              <a:rPr lang="en-US" sz="2000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2200" i="1"/>
              <a:t>Ví dụ: </a:t>
            </a:r>
          </a:p>
          <a:p>
            <a:pPr marL="356616" lvl="1" indent="0" algn="ctr">
              <a:lnSpc>
                <a:spcPct val="130000"/>
              </a:lnSpc>
              <a:buNone/>
            </a:pPr>
            <a:r>
              <a:rPr lang="en-GB" sz="20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double tinhLuyThua(double x, int y)</a:t>
            </a:r>
            <a:r>
              <a:rPr lang="en-US" sz="20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356616" lvl="1" indent="0">
              <a:lnSpc>
                <a:spcPct val="130000"/>
              </a:lnSpc>
              <a:buNone/>
            </a:pPr>
            <a:r>
              <a:rPr lang="en-GB" sz="2200">
                <a:solidFill>
                  <a:schemeClr val="tx1"/>
                </a:solidFill>
              </a:rPr>
              <a:t>Hoặc </a:t>
            </a:r>
          </a:p>
          <a:p>
            <a:pPr marL="274320" lvl="1" indent="0" algn="ctr">
              <a:lnSpc>
                <a:spcPct val="130000"/>
              </a:lnSpc>
              <a:spcBef>
                <a:spcPts val="0"/>
              </a:spcBef>
              <a:buNone/>
            </a:pPr>
            <a:r>
              <a:rPr lang="en-GB" sz="20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double tinhLuyThua(double, int);</a:t>
            </a:r>
          </a:p>
          <a:p>
            <a:pPr algn="just">
              <a:lnSpc>
                <a:spcPct val="130000"/>
              </a:lnSpc>
            </a:pPr>
            <a:r>
              <a:rPr lang="en-US" sz="2200"/>
              <a:t>Khi </a:t>
            </a:r>
            <a:r>
              <a:rPr lang="en-US" sz="2200" i="1"/>
              <a:t>đặt function prototype của một hàm ở đầu </a:t>
            </a:r>
            <a:r>
              <a:rPr lang="en-US" sz="2200"/>
              <a:t>file chương trình nguồn (trước hàm main), trình biên dịch (compiler) có thể biên dịch chương trình, </a:t>
            </a:r>
            <a:r>
              <a:rPr lang="en-US" sz="2200" i="1"/>
              <a:t>bất kể </a:t>
            </a:r>
            <a:r>
              <a:rPr lang="en-US" sz="2200"/>
              <a:t>hàm đã được định nghĩa hay chưa.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20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7" name="Title 10"/>
          <p:cNvSpPr>
            <a:spLocks noGrp="1"/>
          </p:cNvSpPr>
          <p:nvPr>
            <p:ph type="title"/>
          </p:nvPr>
        </p:nvSpPr>
        <p:spPr>
          <a:xfrm>
            <a:off x="320040" y="286604"/>
            <a:ext cx="8503920" cy="731520"/>
          </a:xfrm>
        </p:spPr>
        <p:txBody>
          <a:bodyPr>
            <a:normAutofit/>
          </a:bodyPr>
          <a:lstStyle/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sz="3600">
                <a:solidFill>
                  <a:schemeClr val="tx1"/>
                </a:solidFill>
                <a:latin typeface="+mj-lt"/>
              </a:rPr>
              <a:t>function prototype (nguyên mẫu hàm)</a:t>
            </a:r>
          </a:p>
        </p:txBody>
      </p:sp>
    </p:spTree>
    <p:extLst>
      <p:ext uri="{BB962C8B-B14F-4D97-AF65-F5344CB8AC3E}">
        <p14:creationId xmlns:p14="http://schemas.microsoft.com/office/powerpoint/2010/main" val="166955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Giá trị trả về (return value)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4196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Font typeface="Wingdings" pitchFamily="2" charset="2"/>
              <a:buChar char="v"/>
            </a:pPr>
            <a:r>
              <a:rPr lang="en-US"/>
              <a:t>Hàm có khai báo kiểu trả về (</a:t>
            </a:r>
            <a:r>
              <a:rPr lang="en-US" i="1"/>
              <a:t>return data type</a:t>
            </a:r>
            <a:r>
              <a:rPr lang="en-US"/>
              <a:t>) không phải là </a:t>
            </a:r>
            <a:r>
              <a:rPr lang="en-US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/>
              <a:t>thì phải trả về giá trị có cùng kiểu đã khai báo trong tiêu đề hàm (</a:t>
            </a:r>
            <a:r>
              <a:rPr lang="en-US" i="1"/>
              <a:t>function header</a:t>
            </a:r>
            <a:r>
              <a:rPr lang="en-US"/>
              <a:t>).</a:t>
            </a:r>
          </a:p>
          <a:p>
            <a:pPr algn="just">
              <a:spcBef>
                <a:spcPts val="0"/>
              </a:spcBef>
              <a:buFont typeface="Wingdings" pitchFamily="2" charset="2"/>
              <a:buChar char="v"/>
            </a:pPr>
            <a:r>
              <a:rPr lang="en-US"/>
              <a:t>Giá trị trả về được tính bên trong thân hàm (</a:t>
            </a:r>
            <a:r>
              <a:rPr lang="en-US" i="1"/>
              <a:t>function body</a:t>
            </a:r>
            <a:r>
              <a:rPr lang="en-US"/>
              <a:t>).</a:t>
            </a:r>
          </a:p>
          <a:p>
            <a:pPr algn="just">
              <a:spcBef>
                <a:spcPts val="0"/>
              </a:spcBef>
              <a:buFont typeface="Wingdings" pitchFamily="2" charset="2"/>
              <a:buChar char="v"/>
            </a:pPr>
            <a:r>
              <a:rPr lang="en-US"/>
              <a:t>Câu lệnh return kết thúc hàm và trả về giá trị do hàm tính.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/>
              <a:t> </a:t>
            </a:r>
            <a:r>
              <a:rPr lang="en-US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return expression; 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</a:pPr>
            <a:r>
              <a:rPr lang="en-US" sz="2600">
                <a:solidFill>
                  <a:schemeClr val="tx1"/>
                </a:solidFill>
              </a:rPr>
              <a:t>expression: biến, giá trị hằng hoặc là biểu thức, phải có kiểu trùng với kiểu của hàm.</a:t>
            </a:r>
          </a:p>
          <a:p>
            <a:pPr algn="just">
              <a:spcBef>
                <a:spcPts val="0"/>
              </a:spcBef>
              <a:buFont typeface="Wingdings" pitchFamily="2" charset="2"/>
              <a:buChar char="v"/>
            </a:pPr>
            <a:r>
              <a:rPr lang="en-US"/>
              <a:t>Khi câu lệnh </a:t>
            </a:r>
            <a:r>
              <a:rPr lang="en-US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/>
              <a:t> được thực hiện, hàm kết thúc ngay lập tức và chuyển điều khiển về nơi gọi hàm.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21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Lưu ý về giá trị trả về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44196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/>
              <a:t>Hàm được khai báo trả về giá trị thì phải trả về giá trị. </a:t>
            </a:r>
          </a:p>
          <a:p>
            <a:pPr>
              <a:spcBef>
                <a:spcPts val="0"/>
              </a:spcBef>
            </a:pPr>
            <a:r>
              <a:rPr lang="en-US"/>
              <a:t>Lỗi xảy ra nếu hàm đã thực thi xong nhưng không trả về giá trị.</a:t>
            </a:r>
          </a:p>
          <a:p>
            <a:pPr marL="0" indent="0">
              <a:spcBef>
                <a:spcPts val="0"/>
              </a:spcBef>
              <a:buNone/>
            </a:pPr>
            <a:endParaRPr lang="en-US"/>
          </a:p>
          <a:p>
            <a:pPr marL="58738" indent="0">
              <a:spcBef>
                <a:spcPts val="0"/>
              </a:spcBef>
              <a:buNone/>
            </a:pPr>
            <a:r>
              <a:rPr lang="fr-FR" sz="2000" b="1">
                <a:latin typeface="Courier New" pitchFamily="49" charset="0"/>
                <a:cs typeface="Courier New" pitchFamily="49" charset="0"/>
              </a:rPr>
              <a:t>double tinhDT_HCN (double chieuDai,  double chieuRong)</a:t>
            </a:r>
          </a:p>
          <a:p>
            <a:pPr marL="61913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1323975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if (chieuDai &gt;= 0 &amp;&amp; chieuRong &gt;= 0) </a:t>
            </a:r>
          </a:p>
          <a:p>
            <a:pPr marL="20701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return chieuDai * chieuRong;</a:t>
            </a:r>
          </a:p>
          <a:p>
            <a:pPr marL="61913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	//loi</a:t>
            </a:r>
          </a:p>
          <a:p>
            <a:pPr marL="402336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sz="2600" b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61913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tx2">
                    <a:lumMod val="75000"/>
                  </a:schemeClr>
                </a:solidFill>
              </a:rPr>
              <a:t>→ chương trình dịch cảnh báo (warning): not all control paths return a value.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22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5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Lưu ý về giá trị trả về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292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/>
              <a:t>Nếu hàm trả về giá trị trong câu lệnh rẽ nhánh thì phải đảm bảo mỗi nhánh đều có giá trị trả về.</a:t>
            </a:r>
          </a:p>
          <a:p>
            <a:pPr marL="402336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sz="2600" b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40233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 tinhTriTuyetDoi(int x)	</a:t>
            </a:r>
          </a:p>
          <a:p>
            <a:pPr marL="40233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962025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if (x &lt; 0)</a:t>
            </a:r>
          </a:p>
          <a:p>
            <a:pPr marL="16129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return -x;</a:t>
            </a:r>
          </a:p>
          <a:p>
            <a:pPr marL="962025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else </a:t>
            </a:r>
          </a:p>
          <a:p>
            <a:pPr marL="16129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if (x &gt; 0) </a:t>
            </a:r>
          </a:p>
          <a:p>
            <a:pPr marL="2333625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return x;</a:t>
            </a:r>
          </a:p>
          <a:p>
            <a:pPr marL="40233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	//khong tra ve gia tri neu x bang 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23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58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4742" y="1082040"/>
            <a:ext cx="8229600" cy="432816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/>
              <a:t>Khi hàm thực hiện một chuỗi câu lệnh và không tạo ra giá trị thì khai báo kiểu trả về của hàm là </a:t>
            </a:r>
            <a:r>
              <a:rPr lang="en-US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/>
              <a:t>.</a:t>
            </a:r>
          </a:p>
          <a:p>
            <a:pPr algn="just">
              <a:spcBef>
                <a:spcPts val="0"/>
              </a:spcBef>
            </a:pPr>
            <a:r>
              <a:rPr lang="en-US"/>
              <a:t>Hàm </a:t>
            </a:r>
            <a:r>
              <a:rPr lang="en-US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/>
              <a:t> không trả về giá trị, vì vậy không được sử dụng trong biểu thức.</a:t>
            </a:r>
          </a:p>
          <a:p>
            <a:pPr algn="just">
              <a:spcBef>
                <a:spcPts val="0"/>
              </a:spcBef>
            </a:pPr>
            <a:r>
              <a:rPr lang="en-US"/>
              <a:t>Khi cần kết thúc hàm void, sử dụng câu lệnh:</a:t>
            </a:r>
          </a:p>
          <a:p>
            <a:pPr marL="356616" lvl="1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return;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24</a:t>
            </a:fld>
            <a:endParaRPr lang="en-US"/>
          </a:p>
        </p:txBody>
      </p:sp>
      <p:sp>
        <p:nvSpPr>
          <p:cNvPr id="8" name="Title 7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 sz="3600">
                <a:solidFill>
                  <a:schemeClr val="tx1"/>
                </a:solidFill>
                <a:latin typeface="+mj-lt"/>
              </a:rPr>
              <a:t>Hàm không trả về giá trị (void)</a:t>
            </a:r>
            <a:endParaRPr lang="en-US" sz="36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3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66852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b="1"/>
              <a:t>Ví dụ 4</a:t>
            </a:r>
            <a:r>
              <a:rPr lang="en-US"/>
              <a:t>: Viết hàm nhận vào số đo cạnh của hình vuông. Xuất hình vuông dưới dạng các dấu * ứng với số đo cạnh.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>
                <a:solidFill>
                  <a:schemeClr val="tx1"/>
                </a:solidFill>
              </a:rPr>
              <a:t>Mục đích: xuất hình vuông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>
                <a:solidFill>
                  <a:schemeClr val="tx1"/>
                </a:solidFill>
              </a:rPr>
              <a:t>Dữ liệu nhận vào: số đo cạnh hình vuông </a:t>
            </a:r>
            <a:r>
              <a:rPr lang="en-US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canh</a:t>
            </a:r>
            <a:r>
              <a:rPr lang="en-US" sz="2600">
                <a:solidFill>
                  <a:schemeClr val="tx1"/>
                </a:solidFill>
              </a:rPr>
              <a:t> (số nguyên)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>
                <a:solidFill>
                  <a:schemeClr val="tx1"/>
                </a:solidFill>
              </a:rPr>
              <a:t>Dữ liệu hàm trả về: không có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GB" sz="2600">
                <a:solidFill>
                  <a:schemeClr val="tx1"/>
                </a:solidFill>
              </a:rPr>
              <a:t>Thuật giải:</a:t>
            </a:r>
          </a:p>
          <a:p>
            <a:pPr marL="1074420" lvl="2" indent="-342900">
              <a:spcBef>
                <a:spcPts val="0"/>
              </a:spcBef>
              <a:spcAft>
                <a:spcPts val="0"/>
              </a:spcAft>
            </a:pPr>
            <a:r>
              <a:rPr lang="en-GB" sz="2600">
                <a:solidFill>
                  <a:schemeClr val="tx1"/>
                </a:solidFill>
              </a:rPr>
              <a:t>Duyệt </a:t>
            </a:r>
            <a:r>
              <a:rPr lang="en-US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canh</a:t>
            </a:r>
            <a:r>
              <a:rPr lang="en-US" sz="2600">
                <a:solidFill>
                  <a:schemeClr val="tx1"/>
                </a:solidFill>
              </a:rPr>
              <a:t> lần, mỗi lần duyệt:</a:t>
            </a:r>
          </a:p>
          <a:p>
            <a:pPr marL="1737360" lvl="4" indent="-457200">
              <a:buFont typeface="Arial" pitchFamily="34" charset="0"/>
              <a:buChar char="•"/>
            </a:pPr>
            <a:r>
              <a:rPr lang="en-US" sz="2600">
                <a:solidFill>
                  <a:schemeClr val="tx1"/>
                </a:solidFill>
              </a:rPr>
              <a:t>Duyệt </a:t>
            </a:r>
            <a:r>
              <a:rPr lang="en-US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canh</a:t>
            </a:r>
            <a:r>
              <a:rPr lang="en-US" sz="2600">
                <a:solidFill>
                  <a:schemeClr val="tx1"/>
                </a:solidFill>
              </a:rPr>
              <a:t> lần, mỗi lần xuất “</a:t>
            </a:r>
            <a:r>
              <a:rPr lang="en-US" sz="26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sz="2600">
                <a:solidFill>
                  <a:schemeClr val="tx1"/>
                </a:solidFill>
              </a:rPr>
              <a:t>”</a:t>
            </a:r>
          </a:p>
          <a:p>
            <a:pPr marL="1737360" lvl="4" indent="-457200">
              <a:buFont typeface="Arial" pitchFamily="34" charset="0"/>
              <a:buChar char="•"/>
            </a:pPr>
            <a:r>
              <a:rPr lang="en-US" sz="2600">
                <a:solidFill>
                  <a:schemeClr val="tx1"/>
                </a:solidFill>
              </a:rPr>
              <a:t>Xuống dòng</a:t>
            </a:r>
            <a:endParaRPr lang="en-GB" sz="260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25</a:t>
            </a:fld>
            <a:endParaRPr lang="en-US"/>
          </a:p>
        </p:txBody>
      </p:sp>
      <p:sp>
        <p:nvSpPr>
          <p:cNvPr id="8" name="Title 7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 sz="3600">
                <a:solidFill>
                  <a:schemeClr val="tx1"/>
                </a:solidFill>
                <a:latin typeface="+mj-lt"/>
              </a:rPr>
              <a:t>Hàm không trả về giá trị (void)</a:t>
            </a:r>
            <a:endParaRPr lang="en-US" sz="36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98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47852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b="1"/>
              <a:t>Ví dụ 4</a:t>
            </a:r>
            <a:r>
              <a:rPr lang="en-US"/>
              <a:t>: Viết hàm nhận vào số đo cạnh của hình vuông. Xuất hình vuông dưới dạng các dấu * ứng với số đo cạnh.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/>
          </a:p>
          <a:p>
            <a:pPr marL="0" indent="0" algn="just">
              <a:spcBef>
                <a:spcPts val="0"/>
              </a:spcBef>
              <a:buNone/>
            </a:pPr>
            <a:r>
              <a:rPr lang="en-US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 xuatHinhVuong(int canh)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	for (int i = 1; i &lt;= canh; i++)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		for (int j = 1; j &lt;= canh; j++)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			cout &lt;&lt; “*”;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		cout &lt;&lt; endl;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26</a:t>
            </a:fld>
            <a:endParaRPr lang="en-US"/>
          </a:p>
        </p:txBody>
      </p:sp>
      <p:sp>
        <p:nvSpPr>
          <p:cNvPr id="8" name="Title 7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 sz="3600">
                <a:solidFill>
                  <a:schemeClr val="tx1"/>
                </a:solidFill>
                <a:latin typeface="+mj-lt"/>
              </a:rPr>
              <a:t>Hàm không trả về giá trị (void)</a:t>
            </a:r>
            <a:endParaRPr lang="en-US" sz="36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49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4958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GB"/>
              <a:t>Gọi hàm cần phải: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GB" sz="2600">
                <a:solidFill>
                  <a:schemeClr val="tx1"/>
                </a:solidFill>
              </a:rPr>
              <a:t>Gọi đúng tên hàm.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GB" sz="2600">
                <a:solidFill>
                  <a:schemeClr val="tx1"/>
                </a:solidFill>
              </a:rPr>
              <a:t>Truyền đủ tham số.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GB" sz="2600">
                <a:solidFill>
                  <a:schemeClr val="tx2">
                    <a:lumMod val="75000"/>
                  </a:schemeClr>
                </a:solidFill>
              </a:rPr>
              <a:t>Nếu hàm có kiểu trả về thì</a:t>
            </a:r>
            <a:r>
              <a:rPr lang="en-GB" sz="2600">
                <a:solidFill>
                  <a:schemeClr val="tx1"/>
                </a:solidFill>
              </a:rPr>
              <a:t>:</a:t>
            </a:r>
          </a:p>
          <a:p>
            <a:pPr lvl="2" algn="just">
              <a:spcBef>
                <a:spcPts val="0"/>
              </a:spcBef>
              <a:spcAft>
                <a:spcPts val="0"/>
              </a:spcAft>
            </a:pPr>
            <a:r>
              <a:rPr lang="en-GB" sz="2600">
                <a:solidFill>
                  <a:schemeClr val="tx2">
                    <a:lumMod val="75000"/>
                  </a:schemeClr>
                </a:solidFill>
              </a:rPr>
              <a:t>Lời gọi hàm phải được gán kết quả cho một biến khác (biến này phải cùng kiểu với kiểu trả về của hàm); hoặc</a:t>
            </a:r>
          </a:p>
          <a:p>
            <a:pPr lvl="2" algn="just">
              <a:spcBef>
                <a:spcPts val="0"/>
              </a:spcBef>
              <a:spcAft>
                <a:spcPts val="0"/>
              </a:spcAft>
            </a:pPr>
            <a:r>
              <a:rPr lang="en-GB" sz="2600">
                <a:solidFill>
                  <a:schemeClr val="tx2">
                    <a:lumMod val="75000"/>
                  </a:schemeClr>
                </a:solidFill>
              </a:rPr>
              <a:t>Kết quả của hàm khi gọi sẽ tiếp tục được đem đi tính toán trong biểu thức tính toán; hoặc</a:t>
            </a:r>
          </a:p>
          <a:p>
            <a:pPr lvl="2" algn="just">
              <a:spcBef>
                <a:spcPts val="0"/>
              </a:spcBef>
              <a:spcAft>
                <a:spcPts val="0"/>
              </a:spcAft>
            </a:pPr>
            <a:r>
              <a:rPr lang="en-GB" sz="2600">
                <a:solidFill>
                  <a:schemeClr val="tx2">
                    <a:lumMod val="75000"/>
                  </a:schemeClr>
                </a:solidFill>
              </a:rPr>
              <a:t>Kết quả của hàm khi gọi sẽ được trả về trong câu lệnh xuất (cout) để xuất kết quả ra màn hình.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GB" sz="2600">
                <a:solidFill>
                  <a:schemeClr val="tx1"/>
                </a:solidFill>
              </a:rPr>
              <a:t>Nếu hàm không có kiểu trả về thì: chỉ gọi đúng tên và truyền đủ tham số kèm dấu ; (</a:t>
            </a:r>
            <a:r>
              <a:rPr lang="en-GB" sz="2600" i="1">
                <a:solidFill>
                  <a:schemeClr val="tx1"/>
                </a:solidFill>
              </a:rPr>
              <a:t>như một câu lệnh</a:t>
            </a:r>
            <a:r>
              <a:rPr lang="en-GB" sz="2600">
                <a:solidFill>
                  <a:schemeClr val="tx1"/>
                </a:solidFill>
              </a:rPr>
              <a:t>).</a:t>
            </a:r>
            <a:endParaRPr lang="en-US" sz="2600">
              <a:solidFill>
                <a:schemeClr val="tx1"/>
              </a:solidFill>
            </a:endParaRPr>
          </a:p>
          <a:p>
            <a:pPr lvl="1">
              <a:spcBef>
                <a:spcPts val="0"/>
              </a:spcBef>
              <a:spcAft>
                <a:spcPts val="0"/>
              </a:spcAft>
              <a:buFont typeface="Courier New" pitchFamily="49" charset="0"/>
              <a:buChar char="o"/>
            </a:pPr>
            <a:endParaRPr lang="en-US" sz="260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27</a:t>
            </a:fld>
            <a:endParaRPr lang="en-US"/>
          </a:p>
        </p:txBody>
      </p:sp>
      <p:sp>
        <p:nvSpPr>
          <p:cNvPr id="8" name="Title 7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 sz="3600">
                <a:solidFill>
                  <a:schemeClr val="tx1"/>
                </a:solidFill>
                <a:latin typeface="+mj-lt"/>
              </a:rPr>
              <a:t>Gọi hàm thực thi</a:t>
            </a:r>
            <a:endParaRPr lang="en-US" sz="36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75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37535" y="1066800"/>
            <a:ext cx="8229600" cy="4495800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/>
              <a:t>Ví dụ về gọi hàm thực thi:</a:t>
            </a:r>
            <a:endParaRPr lang="en-US"/>
          </a:p>
          <a:p>
            <a:pPr lvl="1">
              <a:lnSpc>
                <a:spcPct val="120000"/>
              </a:lnSpc>
              <a:spcBef>
                <a:spcPts val="0"/>
              </a:spcBef>
              <a:buFont typeface="Courier New" pitchFamily="49" charset="0"/>
              <a:buChar char="o"/>
            </a:pPr>
            <a:endParaRPr lang="en-US" sz="26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28</a:t>
            </a:fld>
            <a:endParaRPr lang="en-US"/>
          </a:p>
        </p:txBody>
      </p:sp>
      <p:sp>
        <p:nvSpPr>
          <p:cNvPr id="9" name="Title 7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 sz="3600">
                <a:solidFill>
                  <a:schemeClr val="tx1"/>
                </a:solidFill>
                <a:latin typeface="+mj-lt"/>
              </a:rPr>
              <a:t>Gọi hàm thực thi</a:t>
            </a:r>
            <a:endParaRPr lang="en-US" sz="360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339267"/>
              </p:ext>
            </p:extLst>
          </p:nvPr>
        </p:nvGraphicFramePr>
        <p:xfrm>
          <a:off x="152400" y="1676400"/>
          <a:ext cx="8807245" cy="451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4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860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2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Nguyên</a:t>
                      </a:r>
                      <a:r>
                        <a:rPr lang="en-US" sz="2200" b="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mẫu hàm</a:t>
                      </a:r>
                      <a:endParaRPr lang="en-US" sz="2200" b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2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Lời gọi</a:t>
                      </a:r>
                      <a:r>
                        <a:rPr lang="en-US" sz="2200" b="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hàm thực thi</a:t>
                      </a:r>
                      <a:endParaRPr lang="en-US" sz="2200" b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5653">
                <a:tc rowSpan="2">
                  <a:txBody>
                    <a:bodyPr/>
                    <a:lstStyle/>
                    <a:p>
                      <a:pPr marL="6350" lvl="1" indent="0">
                        <a:lnSpc>
                          <a:spcPct val="8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GB" sz="1800" b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double tinhLuyThua(double x, int y);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double m;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8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int n;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8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cout &lt;&lt; “Nhap co so: “;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8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cin &gt;&gt; m;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8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cout &lt;&lt; “Nhap so mu: “;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8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cin &gt;&gt; n;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8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cout &lt;&lt; m &lt;&lt; “^” &lt;&lt; n &lt;&lt; “ = “ &lt;&lt; </a:t>
                      </a:r>
                      <a:r>
                        <a:rPr lang="en-US" sz="1800" b="1" baseline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tinhLuyThua(m, n) </a:t>
                      </a:r>
                      <a:r>
                        <a:rPr lang="en-US" sz="18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&lt;&lt; endl;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5887">
                <a:tc vMerge="1"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double m;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8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int n;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8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cout &lt;&lt; “Nhap co so: “;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8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cin &gt;&gt; m;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8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cout &lt;&lt; “Nhap so mu: “;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8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cin &gt;&gt; n;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800" b="1" baseline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double ketQua = tinhLuyThua(m, n);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8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cout &lt;&lt; m &lt;&lt; “^” &lt;&lt; n &lt;&lt; “ = “ &lt;&lt; </a:t>
                      </a:r>
                      <a:r>
                        <a:rPr lang="en-US" sz="1800" b="1" baseline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ketQua </a:t>
                      </a:r>
                      <a:r>
                        <a:rPr lang="en-US" sz="18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&lt;&lt; endl;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endParaRPr lang="en-US" sz="180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046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37535" y="1066800"/>
            <a:ext cx="8229600" cy="4495800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GB"/>
              <a:t>Ví dụ về gọi hàm thực thi:</a:t>
            </a:r>
            <a:endParaRPr lang="en-US"/>
          </a:p>
          <a:p>
            <a:pPr lvl="1">
              <a:lnSpc>
                <a:spcPct val="120000"/>
              </a:lnSpc>
              <a:spcBef>
                <a:spcPts val="0"/>
              </a:spcBef>
              <a:buFont typeface="Courier New" pitchFamily="49" charset="0"/>
              <a:buChar char="o"/>
            </a:pPr>
            <a:endParaRPr lang="en-US" sz="26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29</a:t>
            </a:fld>
            <a:endParaRPr lang="en-US"/>
          </a:p>
        </p:txBody>
      </p:sp>
      <p:sp>
        <p:nvSpPr>
          <p:cNvPr id="9" name="Title 7"/>
          <p:cNvSpPr txBox="1">
            <a:spLocks/>
          </p:cNvSpPr>
          <p:nvPr/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 sz="3600">
                <a:solidFill>
                  <a:schemeClr val="tx1"/>
                </a:solidFill>
                <a:latin typeface="+mj-lt"/>
              </a:rPr>
              <a:t>Gọi hàm thực thi</a:t>
            </a:r>
            <a:endParaRPr lang="en-US" sz="360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772458"/>
              </p:ext>
            </p:extLst>
          </p:nvPr>
        </p:nvGraphicFramePr>
        <p:xfrm>
          <a:off x="152400" y="1676400"/>
          <a:ext cx="8807245" cy="4578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4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671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2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Nguyên</a:t>
                      </a:r>
                      <a:r>
                        <a:rPr lang="en-US" sz="2200" b="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mẫu hàm</a:t>
                      </a:r>
                      <a:endParaRPr lang="en-US" sz="2200" b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200" b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Lời gọi</a:t>
                      </a:r>
                      <a:r>
                        <a:rPr lang="en-US" sz="2200" b="0" baseline="0">
                          <a:solidFill>
                            <a:schemeClr val="tx1"/>
                          </a:solidFill>
                          <a:latin typeface="+mj-lt"/>
                          <a:ea typeface="Tahoma" pitchFamily="34" charset="0"/>
                          <a:cs typeface="Tahoma" pitchFamily="34" charset="0"/>
                        </a:rPr>
                        <a:t> hàm thực thi</a:t>
                      </a:r>
                      <a:endParaRPr lang="en-US" sz="2200" b="0">
                        <a:solidFill>
                          <a:schemeClr val="tx1"/>
                        </a:solidFill>
                        <a:latin typeface="+mj-lt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381">
                <a:tc>
                  <a:txBody>
                    <a:bodyPr/>
                    <a:lstStyle/>
                    <a:p>
                      <a:pPr marL="6350" lvl="1" indent="0">
                        <a:lnSpc>
                          <a:spcPct val="8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GB" sz="1700" b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double tinhLuyThua(double x, int y);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//tinh </a:t>
                      </a:r>
                      <a:r>
                        <a:rPr lang="en-GB" sz="1700" b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en-GB" sz="1700" b="1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 </a:t>
                      </a:r>
                      <a:r>
                        <a:rPr lang="en-GB" sz="1700" b="1" baseline="-25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700" b="1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+ b</a:t>
                      </a:r>
                      <a:r>
                        <a:rPr lang="en-GB" sz="1700" b="1" baseline="30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en-GB" sz="1700" b="1" baseline="-250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GB" sz="1700" b="1" baseline="3000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700" b="1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double a,</a:t>
                      </a:r>
                      <a:r>
                        <a:rPr lang="en-US" sz="17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 b;</a:t>
                      </a:r>
                      <a:endParaRPr lang="en-US" sz="1700" b="1">
                        <a:solidFill>
                          <a:schemeClr val="tx1"/>
                        </a:solidFill>
                        <a:latin typeface="Courier New" pitchFamily="49" charset="0"/>
                        <a:ea typeface="Tahoma" pitchFamily="34" charset="0"/>
                        <a:cs typeface="Courier New" pitchFamily="49" charset="0"/>
                      </a:endParaRP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7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int m, n;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7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cout &lt;&lt; “Nhap co so: “;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7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cin &gt;&gt; a;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7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cout &lt;&lt; “Nhap so mu: “;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7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cin &gt;&gt; m;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7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cout &lt;&lt; “Nhap co so: “;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7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cin &gt;&gt; b;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7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cout &lt;&lt; “Nhap so mu: “;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7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cin &gt;&gt; n;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700" b="1" baseline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double ketQua = tinhLuyThua(a, m)+ tinhLuyThua(b, n);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7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cout &lt;&lt; “Tong luy thua = “ &lt;&lt; </a:t>
                      </a:r>
                      <a:r>
                        <a:rPr lang="en-US" sz="1700" b="1" baseline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ketQua </a:t>
                      </a:r>
                      <a:r>
                        <a:rPr lang="en-US" sz="17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&lt;&lt; endl;</a:t>
                      </a:r>
                      <a:endParaRPr lang="en-US" sz="1700">
                        <a:solidFill>
                          <a:schemeClr val="tx1"/>
                        </a:solidFill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1014">
                <a:tc>
                  <a:txBody>
                    <a:bodyPr/>
                    <a:lstStyle/>
                    <a:p>
                      <a:pPr marL="6350" marR="0" lvl="1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b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void xuatHinhVuong(int canh)</a:t>
                      </a:r>
                      <a:r>
                        <a:rPr lang="en-GB" sz="1700" b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;</a:t>
                      </a:r>
                      <a:endParaRPr lang="en-US" sz="1700" b="1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7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int n;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7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cout &lt;&lt; “Nhap so do canh: “;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700" b="1" baseline="0">
                          <a:solidFill>
                            <a:schemeClr val="tx1"/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cin &gt;&gt; n;</a:t>
                      </a:r>
                    </a:p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1700" b="1" baseline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ourier New" pitchFamily="49" charset="0"/>
                          <a:ea typeface="Tahoma" pitchFamily="34" charset="0"/>
                          <a:cs typeface="Courier New" pitchFamily="49" charset="0"/>
                        </a:rPr>
                        <a:t>xuatHinhVuong(n);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694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4337756" cy="4525963"/>
          </a:xfr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//Tên chương trình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//Các chỉ thị tiền xử lý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//namespace</a:t>
            </a:r>
          </a:p>
          <a:p>
            <a:pPr marL="0" indent="0">
              <a:spcBef>
                <a:spcPts val="0"/>
              </a:spcBef>
              <a:buNone/>
            </a:pPr>
            <a:endParaRPr lang="en-US" sz="2200" b="1">
              <a:solidFill>
                <a:schemeClr val="tx1"/>
              </a:solidFill>
              <a:latin typeface="Courier New" pitchFamily="49" charset="0"/>
              <a:ea typeface="Tahoma" pitchFamily="34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//Định nghĩa các hàm</a:t>
            </a:r>
          </a:p>
          <a:p>
            <a:pPr marL="0" indent="0">
              <a:spcBef>
                <a:spcPts val="0"/>
              </a:spcBef>
              <a:buNone/>
            </a:pPr>
            <a:endParaRPr lang="en-US" sz="2200" b="1">
              <a:solidFill>
                <a:schemeClr val="tx1"/>
              </a:solidFill>
              <a:latin typeface="Courier New" pitchFamily="49" charset="0"/>
              <a:ea typeface="Tahoma" pitchFamily="34" charset="0"/>
              <a:cs typeface="Courier New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ea typeface="Tahoma" pitchFamily="34" charset="0"/>
                <a:cs typeface="Courier New" pitchFamily="49" charset="0"/>
              </a:rPr>
              <a:t>//Hàm  main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30</a:t>
            </a:fld>
            <a:endParaRPr lang="en-US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572000" y="1447800"/>
            <a:ext cx="4419600" cy="4525963"/>
          </a:xfrm>
          <a:prstGeom prst="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//Tên chương trình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//Các chỉ thị tiền xử lý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//namespace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200" b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//Các function prototype (nguyên mẫu hàm): có kết thúc bằng dấu 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200" b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//Hàm  main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2200" b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2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//Định nghĩa các hàm</a:t>
            </a:r>
          </a:p>
        </p:txBody>
      </p:sp>
      <p:sp>
        <p:nvSpPr>
          <p:cNvPr id="10" name="Title 7"/>
          <p:cNvSpPr txBox="1">
            <a:spLocks/>
          </p:cNvSpPr>
          <p:nvPr/>
        </p:nvSpPr>
        <p:spPr>
          <a:xfrm>
            <a:off x="457200" y="0"/>
            <a:ext cx="8686800" cy="990600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 sz="3400">
                <a:solidFill>
                  <a:schemeClr val="tx1"/>
                </a:solidFill>
                <a:latin typeface="+mj-lt"/>
              </a:rPr>
              <a:t>Cấu trúc chương trình đề xuất khi có nhiều hàm</a:t>
            </a:r>
            <a:endParaRPr lang="en-US" sz="34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4419600" y="1447800"/>
            <a:ext cx="0" cy="4038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468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79206" y="1996440"/>
            <a:ext cx="8212394" cy="4099560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tinhTong(int x)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39725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tong = 0;</a:t>
            </a:r>
          </a:p>
          <a:p>
            <a:pPr marL="339725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nn-NO" sz="2000" b="1">
                <a:latin typeface="Courier New" pitchFamily="49" charset="0"/>
                <a:cs typeface="Courier New" pitchFamily="49" charset="0"/>
              </a:rPr>
              <a:t>for (int i = 1; i &lt;= x; i++)</a:t>
            </a:r>
          </a:p>
          <a:p>
            <a:pPr marL="855663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tong += i;</a:t>
            </a:r>
          </a:p>
          <a:p>
            <a:pPr marL="339725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return tong;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 </a:t>
            </a: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//het ham tinhTong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98463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n;</a:t>
            </a:r>
          </a:p>
          <a:p>
            <a:pPr marL="398463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cout &lt;&lt; "Nhap so: ";</a:t>
            </a:r>
          </a:p>
          <a:p>
            <a:pPr marL="398463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cin &gt;&gt; n;</a:t>
            </a:r>
          </a:p>
          <a:p>
            <a:pPr marL="398463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fr-FR" sz="2000" b="1">
                <a:latin typeface="Courier New" pitchFamily="49" charset="0"/>
                <a:cs typeface="Courier New" pitchFamily="49" charset="0"/>
              </a:rPr>
              <a:t>cout &lt;&lt; "Tong tu 1 den " &lt;&lt; n &lt;&lt; " la " &lt;&lt; </a:t>
            </a:r>
            <a:r>
              <a:rPr lang="fr-FR" sz="20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tinhTong(n) </a:t>
            </a:r>
            <a:r>
              <a:rPr lang="fr-FR" sz="2000" b="1">
                <a:latin typeface="Courier New" pitchFamily="49" charset="0"/>
                <a:cs typeface="Courier New" pitchFamily="49" charset="0"/>
              </a:rPr>
              <a:t>&lt;&lt; endl;</a:t>
            </a:r>
          </a:p>
          <a:p>
            <a:pPr marL="398463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endParaRPr lang="en-US" sz="2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31</a:t>
            </a:fld>
            <a:endParaRPr lang="en-US"/>
          </a:p>
        </p:txBody>
      </p:sp>
      <p:sp>
        <p:nvSpPr>
          <p:cNvPr id="7" name="Content Placeholder 5"/>
          <p:cNvSpPr txBox="1">
            <a:spLocks/>
          </p:cNvSpPr>
          <p:nvPr/>
        </p:nvSpPr>
        <p:spPr>
          <a:xfrm>
            <a:off x="457200" y="1066800"/>
            <a:ext cx="8229600" cy="6019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600" b="1">
                <a:latin typeface="+mj-lt"/>
              </a:rPr>
              <a:t>Ví dụ 5: </a:t>
            </a:r>
            <a:r>
              <a:rPr lang="en-US" sz="2600">
                <a:latin typeface="+mj-lt"/>
              </a:rPr>
              <a:t>Viết chương trình tính tổng các số từ 1 đến n (n là số nguyên dương)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10" name="Title 7"/>
          <p:cNvSpPr txBox="1">
            <a:spLocks/>
          </p:cNvSpPr>
          <p:nvPr/>
        </p:nvSpPr>
        <p:spPr>
          <a:xfrm>
            <a:off x="457200" y="0"/>
            <a:ext cx="8686800" cy="990600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 sz="3400">
                <a:solidFill>
                  <a:schemeClr val="tx1"/>
                </a:solidFill>
                <a:latin typeface="+mj-lt"/>
              </a:rPr>
              <a:t>Cấu trúc chương trình đề xuất khi có nhiều hàm</a:t>
            </a:r>
            <a:endParaRPr lang="en-US" sz="34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609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03006" y="1858296"/>
            <a:ext cx="8364794" cy="4099560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&lt;iostream&gt;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using namespace std;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 tinhTong(int x);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98463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n;</a:t>
            </a:r>
          </a:p>
          <a:p>
            <a:pPr marL="398463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cout &lt;&lt; "Nhap so: ";</a:t>
            </a:r>
          </a:p>
          <a:p>
            <a:pPr marL="398463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cin &gt;&gt; n;</a:t>
            </a:r>
          </a:p>
          <a:p>
            <a:pPr marL="398463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fr-FR" sz="2000" b="1">
                <a:latin typeface="Courier New" pitchFamily="49" charset="0"/>
                <a:cs typeface="Courier New" pitchFamily="49" charset="0"/>
              </a:rPr>
              <a:t>cout &lt;&lt; "Tong tu 1 den " &lt;&lt; n &lt;&lt; " la " &lt;&lt; </a:t>
            </a:r>
            <a:r>
              <a:rPr lang="fr-FR" sz="20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tinhTong(n) </a:t>
            </a:r>
            <a:r>
              <a:rPr lang="fr-FR" sz="2000" b="1">
                <a:latin typeface="Courier New" pitchFamily="49" charset="0"/>
                <a:cs typeface="Courier New" pitchFamily="49" charset="0"/>
              </a:rPr>
              <a:t>&lt;&lt; endl;</a:t>
            </a:r>
          </a:p>
          <a:p>
            <a:pPr marL="398463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tinhTong(int x)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39725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tong = 0;</a:t>
            </a:r>
          </a:p>
          <a:p>
            <a:pPr marL="339725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nn-NO" sz="2000" b="1">
                <a:latin typeface="Courier New" pitchFamily="49" charset="0"/>
                <a:cs typeface="Courier New" pitchFamily="49" charset="0"/>
              </a:rPr>
              <a:t>for (int i = 1; i &lt;= x; i++)</a:t>
            </a:r>
          </a:p>
          <a:p>
            <a:pPr marL="855663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tong += i;</a:t>
            </a:r>
          </a:p>
          <a:p>
            <a:pPr marL="339725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return tong;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 </a:t>
            </a: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//dinh nghia ham tinhTong</a:t>
            </a: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endParaRPr lang="en-US" sz="2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32</a:t>
            </a:fld>
            <a:endParaRPr lang="en-US"/>
          </a:p>
        </p:txBody>
      </p:sp>
      <p:sp>
        <p:nvSpPr>
          <p:cNvPr id="7" name="Content Placeholder 5"/>
          <p:cNvSpPr txBox="1">
            <a:spLocks/>
          </p:cNvSpPr>
          <p:nvPr/>
        </p:nvSpPr>
        <p:spPr>
          <a:xfrm>
            <a:off x="457200" y="1066800"/>
            <a:ext cx="8229600" cy="6019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2400" kern="120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600" b="1">
                <a:latin typeface="+mj-lt"/>
              </a:rPr>
              <a:t>Ví dụ 5: </a:t>
            </a:r>
            <a:r>
              <a:rPr lang="en-US" sz="2600">
                <a:latin typeface="+mj-lt"/>
              </a:rPr>
              <a:t>Viết chương trình tính tổng các số từ 1 đến n (n là số nguyên dương)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10" name="Title 7"/>
          <p:cNvSpPr txBox="1">
            <a:spLocks/>
          </p:cNvSpPr>
          <p:nvPr/>
        </p:nvSpPr>
        <p:spPr>
          <a:xfrm>
            <a:off x="457200" y="0"/>
            <a:ext cx="8686800" cy="990600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 sz="3400">
                <a:solidFill>
                  <a:schemeClr val="tx1"/>
                </a:solidFill>
                <a:latin typeface="+mj-lt"/>
              </a:rPr>
              <a:t>Cấu trúc chương trình đề xuất khi có nhiều hàm</a:t>
            </a:r>
            <a:endParaRPr lang="en-US" sz="34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17606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32816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/>
              <a:t>Khi gọi hàm phải truyền các đối số cho hàm.</a:t>
            </a:r>
          </a:p>
          <a:p>
            <a:pPr algn="just">
              <a:spcBef>
                <a:spcPts val="0"/>
              </a:spcBef>
            </a:pPr>
            <a:r>
              <a:rPr lang="en-US"/>
              <a:t>Các đối số được truyền cho hàm phải tương ứng với danh sách tham số trong định nghĩa hàm.</a:t>
            </a:r>
          </a:p>
          <a:p>
            <a:pPr algn="just">
              <a:spcBef>
                <a:spcPts val="0"/>
              </a:spcBef>
            </a:pPr>
            <a:r>
              <a:rPr lang="en-US"/>
              <a:t>Có 2 cơ chế truyền đối số cho hàm: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2600" i="1"/>
              <a:t>truyền bằng giá trị </a:t>
            </a:r>
            <a:r>
              <a:rPr lang="en-US" sz="2600"/>
              <a:t>(</a:t>
            </a:r>
            <a:r>
              <a:rPr lang="en-US" sz="2600" i="1"/>
              <a:t>pass-by-value</a:t>
            </a:r>
            <a:r>
              <a:rPr lang="en-US" sz="2600"/>
              <a:t>) 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2600" i="1"/>
              <a:t>truyền bằng tham chiếu </a:t>
            </a:r>
            <a:r>
              <a:rPr lang="en-US" sz="2600"/>
              <a:t>(</a:t>
            </a:r>
            <a:r>
              <a:rPr lang="en-US" sz="2600" i="1"/>
              <a:t>pass-by-reference</a:t>
            </a:r>
            <a:r>
              <a:rPr lang="en-US" sz="2600"/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33</a:t>
            </a:fld>
            <a:endParaRPr lang="en-US"/>
          </a:p>
        </p:txBody>
      </p:sp>
      <p:sp>
        <p:nvSpPr>
          <p:cNvPr id="8" name="Title 7"/>
          <p:cNvSpPr txBox="1">
            <a:spLocks/>
          </p:cNvSpPr>
          <p:nvPr/>
        </p:nvSpPr>
        <p:spPr>
          <a:xfrm>
            <a:off x="457200" y="76200"/>
            <a:ext cx="8686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GB" sz="3600">
                <a:solidFill>
                  <a:schemeClr val="tx1"/>
                </a:solidFill>
                <a:latin typeface="+mj-lt"/>
              </a:rPr>
              <a:t>Truyền tham số cho hàm </a:t>
            </a:r>
            <a:endParaRPr lang="en-US" sz="36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011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292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>
                <a:solidFill>
                  <a:schemeClr val="tx2">
                    <a:lumMod val="75000"/>
                  </a:schemeClr>
                </a:solidFill>
              </a:rPr>
              <a:t>Giá trị </a:t>
            </a:r>
            <a:r>
              <a:rPr lang="en-US"/>
              <a:t>của đối số được </a:t>
            </a:r>
            <a:r>
              <a:rPr lang="en-US">
                <a:solidFill>
                  <a:schemeClr val="tx2">
                    <a:lumMod val="75000"/>
                  </a:schemeClr>
                </a:solidFill>
              </a:rPr>
              <a:t>sao chép </a:t>
            </a:r>
            <a:r>
              <a:rPr lang="en-US"/>
              <a:t>và truyền cho hàm.</a:t>
            </a:r>
          </a:p>
          <a:p>
            <a:pPr algn="just">
              <a:spcBef>
                <a:spcPts val="0"/>
              </a:spcBef>
            </a:pPr>
            <a:r>
              <a:rPr lang="en-US"/>
              <a:t>Các thay đổi tham số bên trong hàm không ảnh hưởng đến đối số ban đầu do nơi gọi truyền đến.</a:t>
            </a:r>
          </a:p>
          <a:p>
            <a:pPr algn="just">
              <a:spcBef>
                <a:spcPts val="0"/>
              </a:spcBef>
            </a:pPr>
            <a:r>
              <a:rPr lang="en-US"/>
              <a:t>Với hàm tính tổng từ 1 đến n (n là số nguyên dương): n được truyền bằng giá trị.</a:t>
            </a:r>
          </a:p>
          <a:p>
            <a:pPr marL="515938" indent="0">
              <a:spcBef>
                <a:spcPts val="0"/>
              </a:spcBef>
              <a:buNone/>
            </a:pPr>
            <a:endParaRPr lang="en-US" b="1">
              <a:latin typeface="Courier New" pitchFamily="49" charset="0"/>
              <a:cs typeface="Courier New" pitchFamily="49" charset="0"/>
            </a:endParaRPr>
          </a:p>
          <a:p>
            <a:pPr marL="515938" indent="0"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int tinhTong(int n)</a:t>
            </a:r>
          </a:p>
          <a:p>
            <a:pPr marL="515938" indent="0"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914400" indent="0"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int tong = 0;</a:t>
            </a:r>
          </a:p>
          <a:p>
            <a:pPr marL="914400" indent="0">
              <a:spcBef>
                <a:spcPts val="0"/>
              </a:spcBef>
              <a:buNone/>
            </a:pPr>
            <a:r>
              <a:rPr lang="nn-NO" b="1">
                <a:latin typeface="Courier New" pitchFamily="49" charset="0"/>
                <a:cs typeface="Courier New" pitchFamily="49" charset="0"/>
              </a:rPr>
              <a:t>for (int i = 1;i &lt;= n;i++)</a:t>
            </a:r>
          </a:p>
          <a:p>
            <a:pPr marL="1430338" indent="0"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tong += i;</a:t>
            </a:r>
          </a:p>
          <a:p>
            <a:pPr marL="914400" indent="0"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return tong;</a:t>
            </a:r>
          </a:p>
          <a:p>
            <a:pPr marL="515938" indent="0"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34</a:t>
            </a:fld>
            <a:endParaRPr lang="en-US"/>
          </a:p>
        </p:txBody>
      </p:sp>
      <p:sp>
        <p:nvSpPr>
          <p:cNvPr id="8" name="Title 7"/>
          <p:cNvSpPr txBox="1">
            <a:spLocks/>
          </p:cNvSpPr>
          <p:nvPr/>
        </p:nvSpPr>
        <p:spPr>
          <a:xfrm>
            <a:off x="457200" y="76200"/>
            <a:ext cx="8686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0" lvl="1" algn="just">
              <a:lnSpc>
                <a:spcPct val="150000"/>
              </a:lnSpc>
            </a:pPr>
            <a:r>
              <a:rPr lang="en-US" sz="3600">
                <a:latin typeface="+mj-lt"/>
                <a:ea typeface="Tahoma" pitchFamily="34" charset="0"/>
                <a:cs typeface="Tahoma" pitchFamily="34" charset="0"/>
              </a:rPr>
              <a:t>Truyền bằng giá trị (pass-by-value)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13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02920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98463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int n;</a:t>
            </a:r>
          </a:p>
          <a:p>
            <a:pPr marL="398463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cout &lt;&lt; "Nhap so: ";</a:t>
            </a:r>
          </a:p>
          <a:p>
            <a:pPr marL="398463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cin &gt;&gt; n;</a:t>
            </a:r>
          </a:p>
          <a:p>
            <a:pPr marL="398463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fr-FR" b="1">
                <a:latin typeface="Courier New" pitchFamily="49" charset="0"/>
                <a:cs typeface="Courier New" pitchFamily="49" charset="0"/>
              </a:rPr>
              <a:t>cout &lt;&lt; "Tong tu 1 den " &lt;&lt; n &lt;&lt; " la " &lt;&lt; </a:t>
            </a:r>
            <a:r>
              <a:rPr lang="fr-FR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tinhTong(n) </a:t>
            </a:r>
            <a:r>
              <a:rPr lang="fr-FR" b="1">
                <a:latin typeface="Courier New" pitchFamily="49" charset="0"/>
                <a:cs typeface="Courier New" pitchFamily="49" charset="0"/>
              </a:rPr>
              <a:t>&lt;&lt; endl;</a:t>
            </a:r>
          </a:p>
          <a:p>
            <a:pPr marL="398463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return 0;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35</a:t>
            </a:fld>
            <a:endParaRPr lang="en-US"/>
          </a:p>
        </p:txBody>
      </p:sp>
      <p:sp>
        <p:nvSpPr>
          <p:cNvPr id="8" name="Title 7"/>
          <p:cNvSpPr txBox="1">
            <a:spLocks/>
          </p:cNvSpPr>
          <p:nvPr/>
        </p:nvSpPr>
        <p:spPr>
          <a:xfrm>
            <a:off x="457200" y="76200"/>
            <a:ext cx="8686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0" lvl="1" algn="just">
              <a:lnSpc>
                <a:spcPct val="150000"/>
              </a:lnSpc>
            </a:pPr>
            <a:r>
              <a:rPr lang="en-US" sz="3600">
                <a:latin typeface="+mj-lt"/>
                <a:ea typeface="Tahoma" pitchFamily="34" charset="0"/>
                <a:cs typeface="Tahoma" pitchFamily="34" charset="0"/>
              </a:rPr>
              <a:t>Truyền bằng giá trị (pass-by-value)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4724400"/>
            <a:ext cx="4343400" cy="930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886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219200"/>
            <a:ext cx="7010400" cy="432816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i="1"/>
              <a:t>Tham chiếu </a:t>
            </a:r>
            <a:r>
              <a:rPr lang="en-US"/>
              <a:t>(</a:t>
            </a:r>
            <a:r>
              <a:rPr lang="en-US" i="1"/>
              <a:t>reference</a:t>
            </a:r>
            <a:r>
              <a:rPr lang="en-US"/>
              <a:t>): tên khác (alias) của biến.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sz="2600" b="1">
              <a:latin typeface="Courier New" pitchFamily="49" charset="0"/>
              <a:cs typeface="Courier New" pitchFamily="49" charset="0"/>
            </a:endParaRP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Courier New" pitchFamily="49" charset="0"/>
                <a:cs typeface="Courier New" pitchFamily="49" charset="0"/>
              </a:rPr>
              <a:t>int i = 7;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Courier New" pitchFamily="49" charset="0"/>
                <a:cs typeface="Courier New" pitchFamily="49" charset="0"/>
              </a:rPr>
              <a:t>int&amp; r = i; 	</a:t>
            </a:r>
            <a:r>
              <a:rPr lang="en-US" sz="2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//r tham chieu den i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Courier New" pitchFamily="49" charset="0"/>
                <a:cs typeface="Courier New" pitchFamily="49" charset="0"/>
              </a:rPr>
              <a:t>r = 9;		</a:t>
            </a:r>
            <a:r>
              <a:rPr lang="en-US" sz="2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//i = 9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Courier New" pitchFamily="49" charset="0"/>
                <a:cs typeface="Courier New" pitchFamily="49" charset="0"/>
              </a:rPr>
              <a:t>i = 10;		</a:t>
            </a:r>
            <a:r>
              <a:rPr lang="en-US" sz="2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//r = 10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latin typeface="Courier New" pitchFamily="49" charset="0"/>
                <a:cs typeface="Courier New" pitchFamily="49" charset="0"/>
              </a:rPr>
              <a:t>cout &lt;&lt; r &lt;&lt; </a:t>
            </a:r>
            <a:r>
              <a:rPr lang="en-US" sz="2600" b="1" baseline="30000">
                <a:latin typeface="Courier New" pitchFamily="49" charset="0"/>
                <a:cs typeface="Courier New" pitchFamily="49" charset="0"/>
              </a:rPr>
              <a:t>’ ’ </a:t>
            </a:r>
            <a:r>
              <a:rPr lang="en-US" sz="2600" b="1">
                <a:latin typeface="Courier New" pitchFamily="49" charset="0"/>
                <a:cs typeface="Courier New" pitchFamily="49" charset="0"/>
              </a:rPr>
              <a:t>&lt;&lt; i &lt;&lt; </a:t>
            </a:r>
            <a:r>
              <a:rPr lang="en-US" sz="2600" b="1" baseline="30000">
                <a:latin typeface="Courier New" pitchFamily="49" charset="0"/>
                <a:cs typeface="Courier New" pitchFamily="49" charset="0"/>
              </a:rPr>
              <a:t>’</a:t>
            </a:r>
            <a:r>
              <a:rPr lang="en-US" sz="2600" b="1">
                <a:latin typeface="Courier New" pitchFamily="49" charset="0"/>
                <a:cs typeface="Courier New" pitchFamily="49" charset="0"/>
              </a:rPr>
              <a:t>\n</a:t>
            </a:r>
            <a:r>
              <a:rPr lang="en-US" sz="2600" b="1" baseline="30000">
                <a:latin typeface="Courier New" pitchFamily="49" charset="0"/>
                <a:cs typeface="Courier New" pitchFamily="49" charset="0"/>
              </a:rPr>
              <a:t>’</a:t>
            </a:r>
            <a:r>
              <a:rPr lang="en-US" sz="2600" b="1">
                <a:latin typeface="Courier New" pitchFamily="49" charset="0"/>
                <a:cs typeface="Courier New" pitchFamily="49" charset="0"/>
              </a:rPr>
              <a:t>;  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//in ra 10 10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36</a:t>
            </a:fld>
            <a:endParaRPr lang="en-US"/>
          </a:p>
        </p:txBody>
      </p:sp>
      <p:sp>
        <p:nvSpPr>
          <p:cNvPr id="8" name="Title 7"/>
          <p:cNvSpPr txBox="1">
            <a:spLocks/>
          </p:cNvSpPr>
          <p:nvPr/>
        </p:nvSpPr>
        <p:spPr>
          <a:xfrm>
            <a:off x="457200" y="76200"/>
            <a:ext cx="8686800" cy="990600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0" lvl="1" algn="just">
              <a:lnSpc>
                <a:spcPct val="150000"/>
              </a:lnSpc>
            </a:pPr>
            <a:r>
              <a:rPr lang="en-US" sz="3600">
                <a:latin typeface="+mj-lt"/>
                <a:ea typeface="Tahoma" pitchFamily="34" charset="0"/>
                <a:cs typeface="Tahoma" pitchFamily="34" charset="0"/>
              </a:rPr>
              <a:t>Truyền bằng tham chiếu (pass-by-reference)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162800" y="1492984"/>
            <a:ext cx="1676400" cy="2545616"/>
            <a:chOff x="0" y="0"/>
            <a:chExt cx="906588" cy="1442451"/>
          </a:xfrm>
        </p:grpSpPr>
        <p:pic>
          <p:nvPicPr>
            <p:cNvPr id="9" name="Picture 8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8764" y="0"/>
              <a:ext cx="877824" cy="351130"/>
            </a:xfrm>
            <a:prstGeom prst="rect">
              <a:avLst/>
            </a:prstGeom>
          </p:spPr>
        </p:pic>
        <p:pic>
          <p:nvPicPr>
            <p:cNvPr id="10" name="Picture 9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363766"/>
              <a:ext cx="904647" cy="356006"/>
            </a:xfrm>
            <a:prstGeom prst="rect">
              <a:avLst/>
            </a:prstGeom>
          </p:spPr>
        </p:pic>
        <p:pic>
          <p:nvPicPr>
            <p:cNvPr id="11" name="Picture 10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0" y="732421"/>
              <a:ext cx="904647" cy="348691"/>
            </a:xfrm>
            <a:prstGeom prst="rect">
              <a:avLst/>
            </a:prstGeom>
          </p:spPr>
        </p:pic>
        <p:pic>
          <p:nvPicPr>
            <p:cNvPr id="12" name="Picture 11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0" y="1093760"/>
              <a:ext cx="904647" cy="348691"/>
            </a:xfrm>
            <a:prstGeom prst="rect">
              <a:avLst/>
            </a:prstGeom>
          </p:spPr>
        </p:pic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7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219200"/>
            <a:ext cx="8153400" cy="432816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>
                <a:solidFill>
                  <a:schemeClr val="tx2">
                    <a:lumMod val="75000"/>
                  </a:schemeClr>
                </a:solidFill>
              </a:rPr>
              <a:t>Không sao chép </a:t>
            </a:r>
            <a:r>
              <a:rPr lang="en-US"/>
              <a:t>giá trị của đối số mà tham chiếu đến đối số.</a:t>
            </a:r>
          </a:p>
          <a:p>
            <a:pPr algn="just">
              <a:spcBef>
                <a:spcPts val="0"/>
              </a:spcBef>
            </a:pPr>
            <a:r>
              <a:rPr lang="en-US"/>
              <a:t>Tham số của hàm là tên khác (alias) của đối số, các thay đổi với tham số bên trong hàm sẽ </a:t>
            </a:r>
            <a:r>
              <a:rPr lang="en-US">
                <a:solidFill>
                  <a:schemeClr val="tx2">
                    <a:lumMod val="75000"/>
                  </a:schemeClr>
                </a:solidFill>
              </a:rPr>
              <a:t>ảnh hưởng trực tiếp đến đối số nơi gọi</a:t>
            </a:r>
            <a:r>
              <a:rPr lang="en-US"/>
              <a:t>.</a:t>
            </a:r>
          </a:p>
          <a:p>
            <a:pPr>
              <a:spcBef>
                <a:spcPts val="0"/>
              </a:spcBef>
            </a:pPr>
            <a:endParaRPr lang="en-US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37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7" name="Title 7"/>
          <p:cNvSpPr txBox="1">
            <a:spLocks/>
          </p:cNvSpPr>
          <p:nvPr/>
        </p:nvSpPr>
        <p:spPr>
          <a:xfrm>
            <a:off x="457200" y="76200"/>
            <a:ext cx="8686800" cy="990600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0" lvl="1" algn="just">
              <a:lnSpc>
                <a:spcPct val="150000"/>
              </a:lnSpc>
            </a:pPr>
            <a:r>
              <a:rPr lang="en-US" sz="3600">
                <a:latin typeface="+mj-lt"/>
                <a:ea typeface="Tahoma" pitchFamily="34" charset="0"/>
                <a:cs typeface="Tahoma" pitchFamily="34" charset="0"/>
              </a:rPr>
              <a:t>Truyền bằng tham chiếu (pass-by-reference)</a:t>
            </a:r>
          </a:p>
        </p:txBody>
      </p:sp>
    </p:spTree>
    <p:extLst>
      <p:ext uri="{BB962C8B-B14F-4D97-AF65-F5344CB8AC3E}">
        <p14:creationId xmlns:p14="http://schemas.microsoft.com/office/powerpoint/2010/main" val="4287405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5257800"/>
          </a:xfrm>
        </p:spPr>
        <p:txBody>
          <a:bodyPr>
            <a:noAutofit/>
          </a:bodyPr>
          <a:lstStyle/>
          <a:p>
            <a:pPr algn="just">
              <a:lnSpc>
                <a:spcPct val="80000"/>
              </a:lnSpc>
              <a:spcBef>
                <a:spcPts val="0"/>
              </a:spcBef>
            </a:pPr>
            <a:r>
              <a:rPr lang="en-US" b="1"/>
              <a:t>Ví dụ 6</a:t>
            </a:r>
            <a:r>
              <a:rPr lang="en-US"/>
              <a:t>: Hàm hoán đổi 2 giá trị số nguyên cho nhau.</a:t>
            </a:r>
          </a:p>
          <a:p>
            <a:pPr marL="0" indent="0" algn="just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void hoanDoi(int  &amp;d1, int  &amp;d2)</a:t>
            </a:r>
          </a:p>
          <a:p>
            <a:pPr marL="0" indent="0" algn="just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457200" indent="0" algn="just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temp;</a:t>
            </a:r>
          </a:p>
          <a:p>
            <a:pPr marL="457200" indent="0" algn="just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temp = d1;</a:t>
            </a:r>
          </a:p>
          <a:p>
            <a:pPr marL="457200" indent="0" algn="just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d1 = d2;</a:t>
            </a:r>
          </a:p>
          <a:p>
            <a:pPr marL="457200" indent="0" algn="just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d2 = temp;</a:t>
            </a:r>
          </a:p>
          <a:p>
            <a:pPr marL="0" indent="0" algn="just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 algn="just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main()</a:t>
            </a:r>
          </a:p>
          <a:p>
            <a:pPr marL="0" indent="0" algn="just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98463" indent="0" algn="just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int x, y;</a:t>
            </a:r>
          </a:p>
          <a:p>
            <a:pPr marL="398463" indent="0" algn="just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cout &lt;&lt; “Nhap so nguyen: “;</a:t>
            </a:r>
          </a:p>
          <a:p>
            <a:pPr marL="398463" indent="0" algn="just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cin &gt;&gt; x;</a:t>
            </a:r>
          </a:p>
          <a:p>
            <a:pPr marL="398463" indent="0" algn="just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cout &lt;&lt; “Nhap so nguyen: “;</a:t>
            </a:r>
          </a:p>
          <a:p>
            <a:pPr marL="398463" indent="0" algn="just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cin &gt;&gt; y;</a:t>
            </a:r>
          </a:p>
          <a:p>
            <a:pPr marL="398463" indent="0" algn="just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cout &lt;&lt; “Truoc khi goi ham x = “ &lt;&lt; x &lt;&lt; “ va y = “ &lt;&lt; y &lt;&lt; endl;</a:t>
            </a:r>
          </a:p>
          <a:p>
            <a:pPr marL="398463" indent="0" algn="just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solidFill>
                  <a:schemeClr val="tx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hoanDoi(x, y);</a:t>
            </a:r>
          </a:p>
          <a:p>
            <a:pPr marL="398463" indent="0" algn="just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cout &lt;&lt; “Sau khi goi ham x = “ &lt;&lt; x &lt;&lt; “ va y = “ &lt;&lt; y &lt;&lt; endl;</a:t>
            </a:r>
          </a:p>
          <a:p>
            <a:pPr marL="0" indent="0" algn="just">
              <a:lnSpc>
                <a:spcPct val="80000"/>
              </a:lnSpc>
              <a:spcBef>
                <a:spcPts val="0"/>
              </a:spcBef>
              <a:buNone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 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endParaRPr lang="en-US" sz="2000" b="1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38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096000" y="1324897"/>
            <a:ext cx="2971800" cy="3323303"/>
            <a:chOff x="0" y="0"/>
            <a:chExt cx="1826362" cy="2219352"/>
          </a:xfrm>
        </p:grpSpPr>
        <p:pic>
          <p:nvPicPr>
            <p:cNvPr id="9" name="Picture 8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672998" cy="697382"/>
            </a:xfrm>
            <a:prstGeom prst="rect">
              <a:avLst/>
            </a:prstGeom>
          </p:spPr>
        </p:pic>
        <p:pic>
          <p:nvPicPr>
            <p:cNvPr id="10" name="Picture 9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718477"/>
              <a:ext cx="1826362" cy="875386"/>
            </a:xfrm>
            <a:prstGeom prst="rect">
              <a:avLst/>
            </a:prstGeom>
          </p:spPr>
        </p:pic>
        <p:pic>
          <p:nvPicPr>
            <p:cNvPr id="11" name="Picture 10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0" y="1539038"/>
              <a:ext cx="672998" cy="680314"/>
            </a:xfrm>
            <a:prstGeom prst="rect">
              <a:avLst/>
            </a:prstGeom>
          </p:spPr>
        </p:pic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  <p:sp>
        <p:nvSpPr>
          <p:cNvPr id="12" name="Title 7"/>
          <p:cNvSpPr txBox="1">
            <a:spLocks/>
          </p:cNvSpPr>
          <p:nvPr/>
        </p:nvSpPr>
        <p:spPr>
          <a:xfrm>
            <a:off x="457200" y="76200"/>
            <a:ext cx="8686800" cy="990600"/>
          </a:xfrm>
          <a:prstGeom prst="rect">
            <a:avLst/>
          </a:prstGeom>
        </p:spPr>
        <p:txBody>
          <a:bodyPr vert="horz" anchor="b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b="0" kern="1200">
                <a:solidFill>
                  <a:schemeClr val="tx2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marL="0" lvl="1" algn="just">
              <a:lnSpc>
                <a:spcPct val="150000"/>
              </a:lnSpc>
            </a:pPr>
            <a:r>
              <a:rPr lang="en-US" sz="3600">
                <a:latin typeface="+mj-lt"/>
                <a:ea typeface="Tahoma" pitchFamily="34" charset="0"/>
                <a:cs typeface="Tahoma" pitchFamily="34" charset="0"/>
              </a:rPr>
              <a:t>Truyền bằng tham chiếu (pass-by-reference)</a:t>
            </a:r>
          </a:p>
        </p:txBody>
      </p:sp>
    </p:spTree>
    <p:extLst>
      <p:ext uri="{BB962C8B-B14F-4D97-AF65-F5344CB8AC3E}">
        <p14:creationId xmlns:p14="http://schemas.microsoft.com/office/powerpoint/2010/main" val="280397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Phạm vi/ tầm vực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i="1"/>
              <a:t>Phạm vi/Tầm vực </a:t>
            </a:r>
            <a:r>
              <a:rPr lang="en-US"/>
              <a:t>(</a:t>
            </a:r>
            <a:r>
              <a:rPr lang="en-US" i="1"/>
              <a:t>scope</a:t>
            </a:r>
            <a:r>
              <a:rPr lang="en-US"/>
              <a:t>) là một vùng của chương trình.</a:t>
            </a:r>
          </a:p>
          <a:p>
            <a:pPr algn="just">
              <a:spcBef>
                <a:spcPts val="0"/>
              </a:spcBef>
            </a:pPr>
            <a:r>
              <a:rPr lang="en-US"/>
              <a:t>Tên được khai báo trong một phạm vi và có hiệu lực kể từ điểm khai báo cho đến hết phạm vi được khai báo.</a:t>
            </a:r>
          </a:p>
          <a:p>
            <a:pPr algn="just">
              <a:spcBef>
                <a:spcPts val="0"/>
              </a:spcBef>
            </a:pPr>
            <a:r>
              <a:rPr lang="en-US" b="1"/>
              <a:t>Các loại phạm vi: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2600">
                <a:solidFill>
                  <a:schemeClr val="tx1"/>
                </a:solidFill>
              </a:rPr>
              <a:t>phạm vi toàn cục (global scope) 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2600">
                <a:solidFill>
                  <a:schemeClr val="tx1"/>
                </a:solidFill>
              </a:rPr>
              <a:t>phạm vi cục bộ (local scope): giữa </a:t>
            </a:r>
            <a:r>
              <a:rPr lang="en-US" sz="2600" b="1">
                <a:solidFill>
                  <a:schemeClr val="tx1"/>
                </a:solidFill>
              </a:rPr>
              <a:t>{</a:t>
            </a:r>
            <a:r>
              <a:rPr lang="en-US" sz="2600">
                <a:solidFill>
                  <a:schemeClr val="tx1"/>
                </a:solidFill>
              </a:rPr>
              <a:t> và </a:t>
            </a:r>
            <a:r>
              <a:rPr lang="en-US" sz="2600" b="1">
                <a:solidFill>
                  <a:schemeClr val="tx1"/>
                </a:solidFill>
              </a:rPr>
              <a:t>}</a:t>
            </a:r>
            <a:r>
              <a:rPr lang="en-US" sz="2600">
                <a:solidFill>
                  <a:schemeClr val="tx1"/>
                </a:solidFill>
              </a:rPr>
              <a:t> 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sz="2600">
                <a:solidFill>
                  <a:schemeClr val="tx1"/>
                </a:solidFill>
              </a:rPr>
              <a:t>phạm vi phát biểu (statement scope): bên trong câu lệnh for.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39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20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Phạm vi/ tầm vực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066800"/>
            <a:ext cx="8610600" cy="5181600"/>
          </a:xfrm>
        </p:spPr>
        <p:txBody>
          <a:bodyPr>
            <a:noAutofit/>
          </a:bodyPr>
          <a:lstStyle/>
          <a:p>
            <a:pPr marL="119063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tx1"/>
                </a:solidFill>
              </a:rPr>
              <a:t>Ví dụ: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void f()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{	</a:t>
            </a:r>
          </a:p>
          <a:p>
            <a:pPr marL="803275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g(); 	</a:t>
            </a:r>
            <a:r>
              <a:rPr lang="en-US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//loi: g() khong thuoc pham vi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} 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void g()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{	</a:t>
            </a:r>
          </a:p>
          <a:p>
            <a:pPr marL="803275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f(); 	</a:t>
            </a:r>
            <a:r>
              <a:rPr lang="en-US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//OK: f() trong pham vi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void h()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{	</a:t>
            </a:r>
          </a:p>
          <a:p>
            <a:pPr marL="9144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int x = y;</a:t>
            </a:r>
            <a:r>
              <a:rPr lang="en-US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//loi: y khong thuoc pham vi</a:t>
            </a:r>
          </a:p>
          <a:p>
            <a:pPr marL="9144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int y = x;	</a:t>
            </a:r>
            <a:r>
              <a:rPr lang="en-US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//OK</a:t>
            </a:r>
          </a:p>
          <a:p>
            <a:pPr marL="9144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g(); 		</a:t>
            </a:r>
            <a:r>
              <a:rPr lang="en-US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//OK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ourier New" pitchFamily="49" charset="0"/>
                <a:cs typeface="Courier New" pitchFamily="49" charset="0"/>
              </a:rPr>
              <a:t>}</a:t>
            </a:r>
            <a:r>
              <a:rPr lang="en-US" sz="2600" b="1">
                <a:latin typeface="Courier New" pitchFamily="49" charset="0"/>
                <a:cs typeface="Courier New" pitchFamily="49" charset="0"/>
              </a:rPr>
              <a:t>	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40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585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Phạm vi/ tầm vực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US"/>
              <a:t>Phạm vi cục bộ: chỉ t</a:t>
            </a:r>
            <a:r>
              <a:rPr lang="en-US">
                <a:solidFill>
                  <a:schemeClr val="tx1"/>
                </a:solidFill>
              </a:rPr>
              <a:t>ồn tại trong phạm vi nhất định</a:t>
            </a:r>
          </a:p>
          <a:p>
            <a:pPr marL="457200" lvl="1" indent="0">
              <a:buNone/>
            </a:pPr>
            <a:endParaRPr lang="en-US">
              <a:solidFill>
                <a:schemeClr val="tx1"/>
              </a:solidFill>
            </a:endParaRPr>
          </a:p>
          <a:p>
            <a:pPr marL="40233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void f(int x)</a:t>
            </a:r>
          </a:p>
          <a:p>
            <a:pPr marL="40233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969963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 z = x + 7;</a:t>
            </a:r>
          </a:p>
          <a:p>
            <a:pPr marL="40233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 </a:t>
            </a:r>
          </a:p>
          <a:p>
            <a:pPr marL="40233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 g(int x)</a:t>
            </a:r>
          </a:p>
          <a:p>
            <a:pPr marL="40233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969963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 f = x + 2; </a:t>
            </a:r>
          </a:p>
          <a:p>
            <a:pPr marL="969963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return 2 * f;</a:t>
            </a:r>
          </a:p>
          <a:p>
            <a:pPr marL="40233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41</a:t>
            </a:fld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5410200" y="2057400"/>
            <a:ext cx="2971800" cy="259080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604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Phạm vi/ tầm vực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066800"/>
            <a:ext cx="8305800" cy="5181600"/>
          </a:xfrm>
        </p:spPr>
        <p:txBody>
          <a:bodyPr>
            <a:noAutofit/>
          </a:bodyPr>
          <a:lstStyle/>
          <a:p>
            <a:pPr marL="382588" lvl="1" indent="-382588">
              <a:spcBef>
                <a:spcPts val="0"/>
              </a:spcBef>
              <a:spcAft>
                <a:spcPts val="0"/>
              </a:spcAft>
            </a:pPr>
            <a:r>
              <a:rPr lang="en-US" sz="2600">
                <a:solidFill>
                  <a:schemeClr val="tx1"/>
                </a:solidFill>
              </a:rPr>
              <a:t>Các tham biến của hàm có phạm vi cục bộ</a:t>
            </a:r>
          </a:p>
          <a:p>
            <a:pPr marL="382588" lvl="1" indent="-382588">
              <a:spcBef>
                <a:spcPts val="0"/>
              </a:spcBef>
              <a:spcAft>
                <a:spcPts val="0"/>
              </a:spcAft>
            </a:pPr>
            <a:r>
              <a:rPr lang="en-US" sz="2600">
                <a:solidFill>
                  <a:schemeClr val="tx1"/>
                </a:solidFill>
              </a:rPr>
              <a:t>Nên tránh việc khai báo trùng tên giữa biến toàn cục và cục bộ.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sz="2600">
              <a:solidFill>
                <a:schemeClr val="tx1"/>
              </a:solidFill>
            </a:endParaRP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 lonNhat(int a, int b) </a:t>
            </a:r>
            <a:r>
              <a:rPr lang="en-US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//a, b: cuc bo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9144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return (a &gt;= b) ? a : b;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int tinhTriTuyetDoi(int a)  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9144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return (a &lt; 0) ? -a : a;</a:t>
            </a:r>
          </a:p>
          <a:p>
            <a:pPr marL="914400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//khong phai a cua main, a la cuc bo cua ham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42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0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Phạm vi/ tầm vực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5181600"/>
          </a:xfrm>
        </p:spPr>
        <p:txBody>
          <a:bodyPr>
            <a:normAutofit/>
          </a:bodyPr>
          <a:lstStyle/>
          <a:p>
            <a:pPr marL="382588" lvl="1" indent="-382588">
              <a:spcBef>
                <a:spcPts val="0"/>
              </a:spcBef>
              <a:spcAft>
                <a:spcPts val="0"/>
              </a:spcAft>
            </a:pPr>
            <a:r>
              <a:rPr lang="en-US" sz="2600">
                <a:solidFill>
                  <a:schemeClr val="tx1"/>
                </a:solidFill>
              </a:rPr>
              <a:t>Phạm vi cục bộ câu lệnh: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sz="2600">
              <a:solidFill>
                <a:schemeClr val="tx1"/>
              </a:solidFill>
            </a:endParaRP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for (int i = 1; i &lt;= 10; i++)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	cout &lt;&lt; i &lt;&lt; endl;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cout &lt;&lt; “Ket thuc vong lap i = “ &lt;&lt; i &lt;&lt; endl;</a:t>
            </a: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sz="2600" b="1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marL="356616" lvl="1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50"/>
                </a:solidFill>
              </a:rPr>
              <a:t>//lỗi vì i chỉ là biến cục bộ câu lệnh for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43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2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2819400"/>
            <a:ext cx="8229600" cy="1524000"/>
          </a:xfrm>
        </p:spPr>
        <p:txBody>
          <a:bodyPr>
            <a:norm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indent="0" algn="ctr">
              <a:buNone/>
            </a:pPr>
            <a:r>
              <a:rPr lang="en-US" sz="88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Q &amp; 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E646B-21D3-475D-A455-026BE1E73BFE}" type="slidenum">
              <a:rPr lang="en-US" smtClean="0"/>
              <a:t>44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Cơ sở lập trình - ĐH Mở TpHCM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9099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S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LT" id="{F25689AE-B023-40E2-BAF5-5C60BF3646A7}" vid="{F81F4DB8-B595-49C1-BD86-1DE15E4AB5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9310</TotalTime>
  <Words>3959</Words>
  <Application>Microsoft Macintosh PowerPoint</Application>
  <PresentationFormat>On-screen Show (4:3)</PresentationFormat>
  <Paragraphs>543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Arial</vt:lpstr>
      <vt:lpstr>Calibri</vt:lpstr>
      <vt:lpstr>Consolas</vt:lpstr>
      <vt:lpstr>Courier New</vt:lpstr>
      <vt:lpstr>Tahoma</vt:lpstr>
      <vt:lpstr>Wingdings</vt:lpstr>
      <vt:lpstr>Wingdings 3</vt:lpstr>
      <vt:lpstr>Theme1</vt:lpstr>
      <vt:lpstr>Hàm</vt:lpstr>
      <vt:lpstr>Mục tiêu</vt:lpstr>
      <vt:lpstr>Hàm</vt:lpstr>
      <vt:lpstr>Khái niệm</vt:lpstr>
      <vt:lpstr>Khái niệm hàm</vt:lpstr>
      <vt:lpstr>Ý nghĩa hàm</vt:lpstr>
      <vt:lpstr>Hàm </vt:lpstr>
      <vt:lpstr>Cách thức hoạt động của hàm</vt:lpstr>
      <vt:lpstr>Cách thức hoạt động của hàm</vt:lpstr>
      <vt:lpstr>Cách thức hoạt động của hàm</vt:lpstr>
      <vt:lpstr>Định nghĩa hàm</vt:lpstr>
      <vt:lpstr>Các bước viết một hàm</vt:lpstr>
      <vt:lpstr>Các bước viết một hàm</vt:lpstr>
      <vt:lpstr>Định nghĩa hàm (function definition)</vt:lpstr>
      <vt:lpstr>Định nghĩa hàm (function definition)</vt:lpstr>
      <vt:lpstr>Định nghĩa hàm (function definition)</vt:lpstr>
      <vt:lpstr>Định nghĩa hàm (function definition)</vt:lpstr>
      <vt:lpstr>Định nghĩa hàm (function definition)</vt:lpstr>
      <vt:lpstr>Định nghĩa hàm (function definition)</vt:lpstr>
      <vt:lpstr>function prototype (nguyên mẫu hàm)</vt:lpstr>
      <vt:lpstr>Giá trị trả về (return value)</vt:lpstr>
      <vt:lpstr>Lưu ý về giá trị trả về</vt:lpstr>
      <vt:lpstr>Lưu ý về giá trị trả về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Phạm vi/ tầm vực</vt:lpstr>
      <vt:lpstr>Phạm vi/ tầm vực</vt:lpstr>
      <vt:lpstr>Phạm vi/ tầm vực</vt:lpstr>
      <vt:lpstr>Phạm vi/ tầm vực</vt:lpstr>
      <vt:lpstr>Phạm vi/ tầm vực</vt:lpstr>
      <vt:lpstr>PowerPoint Presentation</vt:lpstr>
    </vt:vector>
  </TitlesOfParts>
  <Company>CKK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tuyetvth1508@outlook.com</cp:lastModifiedBy>
  <cp:revision>1304</cp:revision>
  <dcterms:created xsi:type="dcterms:W3CDTF">2017-05-22T03:29:23Z</dcterms:created>
  <dcterms:modified xsi:type="dcterms:W3CDTF">2021-09-19T08:00:13Z</dcterms:modified>
</cp:coreProperties>
</file>