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9" r:id="rId3"/>
    <p:sldId id="264" r:id="rId4"/>
    <p:sldId id="257" r:id="rId5"/>
    <p:sldId id="258" r:id="rId6"/>
    <p:sldId id="260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9214"/>
  </p:normalViewPr>
  <p:slideViewPr>
    <p:cSldViewPr>
      <p:cViewPr varScale="1">
        <p:scale>
          <a:sx n="112" d="100"/>
          <a:sy n="112" d="100"/>
        </p:scale>
        <p:origin x="20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Đánh giá môn học</c:v>
                </c:pt>
              </c:strCache>
            </c:strRef>
          </c:tx>
          <c:explosion val="25"/>
          <c:dLbls>
            <c:dLbl>
              <c:idx val="0"/>
              <c:layout>
                <c:manualLayout>
                  <c:x val="8.8334270716160485E-2"/>
                  <c:y val="1.17187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89-4349-8FFF-5349EA02EAF6}"/>
                </c:ext>
              </c:extLst>
            </c:dLbl>
            <c:dLbl>
              <c:idx val="1"/>
              <c:layout>
                <c:manualLayout>
                  <c:x val="0.12848018997625296"/>
                  <c:y val="0.2773937007874015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89-4349-8FFF-5349EA02EAF6}"/>
                </c:ext>
              </c:extLst>
            </c:dLbl>
            <c:dLbl>
              <c:idx val="2"/>
              <c:layout>
                <c:manualLayout>
                  <c:x val="4.5422947131608549E-2"/>
                  <c:y val="7.9157480314960629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489-4349-8FFF-5349EA02EAF6}"/>
                </c:ext>
              </c:extLst>
            </c:dLbl>
            <c:dLbl>
              <c:idx val="3"/>
              <c:layout>
                <c:manualLayout>
                  <c:x val="-5.8771278590176231E-2"/>
                  <c:y val="2.9379183070866143E-2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Thi cuối kỳ
60%</a:t>
                    </a:r>
                    <a:endParaRPr lang="en-US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489-4349-8FFF-5349EA02EAF6}"/>
                </c:ext>
              </c:extLst>
            </c:dLbl>
            <c:spPr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txPr>
              <a:bodyPr/>
              <a:lstStyle/>
              <a:p>
                <a:pPr>
                  <a:defRPr>
                    <a:latin typeface="Tahoma" pitchFamily="34" charset="0"/>
                    <a:ea typeface="Tahoma" pitchFamily="34" charset="0"/>
                    <a:cs typeface="Tahoma" pitchFamily="34" charset="0"/>
                  </a:defRPr>
                </a:pPr>
                <a:endParaRPr lang="en-V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2">
                  <c:v>Thi giữa kỳ</c:v>
                </c:pt>
                <c:pt idx="3">
                  <c:v>Thi cuối kỳ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2" formatCode="0%">
                  <c:v>0.4</c:v>
                </c:pt>
                <c:pt idx="3" formatCode="0%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89-4349-8FFF-5349EA02EAF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V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50C10-98D0-4211-B29A-C22CE70D1F50}" type="datetimeFigureOut">
              <a:rPr lang="en-US" smtClean="0"/>
              <a:t>10/10/21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D555-5CDC-4FCC-91D5-FAC9575A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 dirty="0"/>
              <a:t>Ghi chú: các mã trong [ ] ở các tài liệu là mã số tài liệu ở thư viện Trường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5D555-5CDC-4FCC-91D5-FAC9575A2C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75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>
            <a:normAutofit/>
          </a:bodyPr>
          <a:lstStyle>
            <a:lvl1pPr algn="r">
              <a:defRPr sz="3400" b="1">
                <a:solidFill>
                  <a:srgbClr val="FF0000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9A790111-8FF4-4247-9717-08684B794854}" type="datetime1">
              <a:rPr lang="en-US" smtClean="0"/>
              <a:t>10/10/21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286000" y="6355080"/>
            <a:ext cx="4087368" cy="365760"/>
          </a:xfrm>
        </p:spPr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A9554-7E60-CB45-B1CE-5A58B2594069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56350"/>
            <a:ext cx="4498848" cy="365760"/>
          </a:xfrm>
        </p:spPr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A0550D0-CE32-9144-A9F7-2E6D2A97C9CC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355080"/>
            <a:ext cx="4087368" cy="365760"/>
          </a:xfrm>
        </p:spPr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BA572-31A5-7342-9BD5-120F8A58E97B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2714-0BA3-214C-994E-756C766EA5AF}" type="datetime1">
              <a:rPr lang="en-US" smtClean="0"/>
              <a:t>10/10/21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DFF4-A74B-F348-884F-551138066F8E}" type="datetime1">
              <a:rPr lang="en-US" smtClean="0"/>
              <a:t>10/10/21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515-4F3F-8B4B-8F89-8FBE93751658}" type="datetime1">
              <a:rPr lang="en-US" smtClean="0"/>
              <a:t>10/10/21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5C73-303F-8A46-A751-FE0F0859A222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6DA24-FFFC-C644-A4C4-5F90B917D185}" type="datetime1">
              <a:rPr lang="en-US" smtClean="0"/>
              <a:t>10/10/21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DFA78-04EF-EC4B-953F-F3E81BE9ABAD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A0DF-F44F-544B-8F86-6A495E1B949F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03647C63-EAFB-714D-A95B-4AA8D5E0F11C}" type="datetime1">
              <a:rPr lang="en-US" smtClean="0"/>
              <a:t>10/10/21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81200" y="6356350"/>
            <a:ext cx="4422648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292352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b="0" kern="1200">
          <a:solidFill>
            <a:schemeClr val="tx2"/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400" kern="1200">
          <a:solidFill>
            <a:schemeClr val="tx2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2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2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800"/>
              <a:t>Cơ sở lập trình</a:t>
            </a:r>
          </a:p>
        </p:txBody>
      </p:sp>
      <p:sp>
        <p:nvSpPr>
          <p:cNvPr id="8" name="Rectangle 7"/>
          <p:cNvSpPr/>
          <p:nvPr/>
        </p:nvSpPr>
        <p:spPr>
          <a:xfrm>
            <a:off x="-4916" y="-9832"/>
            <a:ext cx="9144000" cy="95078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87007" cy="9335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1260157"/>
            <a:ext cx="54361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KHOA CÔNG  NGHỆ THÔNG 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723" y="2362200"/>
            <a:ext cx="296587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Giới thiệu môn học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308445-3BFF-DF47-A665-6B24E68A6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999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chung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/>
              <a:t>Số tín chỉ: 4 TC</a:t>
            </a:r>
          </a:p>
          <a:p>
            <a:pPr lvl="1">
              <a:lnSpc>
                <a:spcPct val="150000"/>
              </a:lnSpc>
              <a:buFont typeface="Courier New" pitchFamily="49" charset="0"/>
              <a:buChar char="o"/>
            </a:pPr>
            <a:r>
              <a:rPr lang="en-US"/>
              <a:t>Lý thuyết: 3 TC x 15 = 45 tiết</a:t>
            </a:r>
          </a:p>
          <a:p>
            <a:pPr lvl="1">
              <a:lnSpc>
                <a:spcPct val="150000"/>
              </a:lnSpc>
              <a:buFont typeface="Courier New" pitchFamily="49" charset="0"/>
              <a:buChar char="o"/>
            </a:pPr>
            <a:r>
              <a:rPr lang="en-US"/>
              <a:t>Thực hành: 1 TC x 2 x 15 = 30 tiết</a:t>
            </a:r>
          </a:p>
          <a:p>
            <a:pPr>
              <a:lnSpc>
                <a:spcPct val="150000"/>
              </a:lnSpc>
            </a:pPr>
            <a:r>
              <a:rPr lang="en-US"/>
              <a:t>Công cụ phục vụ môn học:</a:t>
            </a:r>
          </a:p>
          <a:p>
            <a:pPr lvl="1">
              <a:lnSpc>
                <a:spcPct val="150000"/>
              </a:lnSpc>
              <a:buFont typeface="Courier New" pitchFamily="49" charset="0"/>
              <a:buChar char="o"/>
            </a:pPr>
            <a:r>
              <a:rPr lang="en-US"/>
              <a:t>MS Visual Studio C++ 2010 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938" y="3733800"/>
            <a:ext cx="875210" cy="457200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0EEEA-EF25-E745-A210-0DC861C6EC7A}" type="datetime1">
              <a:rPr lang="en-US" smtClean="0"/>
              <a:t>10/10/21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8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Thời lượng phân bố môn học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1911E-A9F5-CF44-9ECA-215B3574ED1C}" type="datetime1">
              <a:rPr lang="en-US" smtClean="0"/>
              <a:t>10/10/21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FF0000"/>
                </a:solidFill>
              </a:rPr>
              <a:t>10 buổi lý thuyết </a:t>
            </a:r>
            <a:r>
              <a:rPr lang="en-US"/>
              <a:t>(4.5 tiết x 10 buổi)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FF0000"/>
                </a:solidFill>
              </a:rPr>
              <a:t>10 buổi thực hành </a:t>
            </a:r>
            <a:r>
              <a:rPr lang="en-US"/>
              <a:t>(3 tiết x 10 buổi) </a:t>
            </a:r>
            <a:r>
              <a:rPr lang="en-US">
                <a:solidFill>
                  <a:srgbClr val="FF0000"/>
                </a:solidFill>
              </a:rPr>
              <a:t>/ nhóm</a:t>
            </a:r>
          </a:p>
        </p:txBody>
      </p:sp>
    </p:spTree>
    <p:extLst>
      <p:ext uri="{BB962C8B-B14F-4D97-AF65-F5344CB8AC3E}">
        <p14:creationId xmlns:p14="http://schemas.microsoft.com/office/powerpoint/2010/main" val="362656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 môn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/>
              <a:t>Sinh viên học xong môn học này có khả năng: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Biết và hiểu </a:t>
            </a:r>
            <a:r>
              <a:rPr lang="en-US">
                <a:solidFill>
                  <a:schemeClr val="tx1"/>
                </a:solidFill>
              </a:rPr>
              <a:t>các kiến thức lập trình cơ bản.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Biết và hiểu </a:t>
            </a:r>
            <a:r>
              <a:rPr lang="en-US">
                <a:solidFill>
                  <a:schemeClr val="tx1"/>
                </a:solidFill>
              </a:rPr>
              <a:t>cách xây dựng các thuật giải cơ bản.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>
                <a:solidFill>
                  <a:srgbClr val="FF0000"/>
                </a:solidFill>
              </a:rPr>
              <a:t>Vận dụng </a:t>
            </a:r>
            <a:r>
              <a:rPr lang="en-US">
                <a:solidFill>
                  <a:schemeClr val="tx1"/>
                </a:solidFill>
              </a:rPr>
              <a:t>được các kiến thức: </a:t>
            </a:r>
            <a:r>
              <a:rPr lang="en-US">
                <a:solidFill>
                  <a:srgbClr val="0070C0"/>
                </a:solidFill>
              </a:rPr>
              <a:t>lập trình cơ bản, cấu trúc điều khiển, hàm, mảng 1 chiều.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>
                <a:solidFill>
                  <a:schemeClr val="tx1"/>
                </a:solidFill>
              </a:rPr>
              <a:t>Giải quyết được một số bài toán </a:t>
            </a:r>
            <a:r>
              <a:rPr lang="en-US">
                <a:solidFill>
                  <a:srgbClr val="FF0000"/>
                </a:solidFill>
              </a:rPr>
              <a:t>lập trình cấu trúc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A280D-43E3-504B-83A1-9EF50DF97B5E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045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7" name="Oval 6"/>
          <p:cNvSpPr/>
          <p:nvPr/>
        </p:nvSpPr>
        <p:spPr>
          <a:xfrm>
            <a:off x="-152400" y="2514600"/>
            <a:ext cx="2895600" cy="2636520"/>
          </a:xfrm>
          <a:prstGeom prst="ellipse">
            <a:avLst/>
          </a:prstGeom>
          <a:solidFill>
            <a:srgbClr val="7030A0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isometricOffAxis1Righ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600" b="1">
                <a:ln w="50800"/>
                <a:solidFill>
                  <a:schemeClr val="bg1">
                    <a:shade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Cơ sở lập trình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524000" y="1676892"/>
            <a:ext cx="5852159" cy="640080"/>
            <a:chOff x="2895600" y="1447800"/>
            <a:chExt cx="5714999" cy="533400"/>
          </a:xfrm>
        </p:grpSpPr>
        <p:sp>
          <p:nvSpPr>
            <p:cNvPr id="14" name="Rounded Rectangle 13"/>
            <p:cNvSpPr/>
            <p:nvPr/>
          </p:nvSpPr>
          <p:spPr>
            <a:xfrm>
              <a:off x="3505199" y="1447800"/>
              <a:ext cx="5105400" cy="533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Giới thiệu về lập trình 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895600" y="1447800"/>
              <a:ext cx="585019" cy="533400"/>
            </a:xfrm>
            <a:prstGeom prst="ellipse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1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710395" y="2520698"/>
            <a:ext cx="5852160" cy="643128"/>
            <a:chOff x="3657601" y="2286000"/>
            <a:chExt cx="4989869" cy="574221"/>
          </a:xfrm>
        </p:grpSpPr>
        <p:sp>
          <p:nvSpPr>
            <p:cNvPr id="15" name="Rounded Rectangle 14"/>
            <p:cNvSpPr/>
            <p:nvPr/>
          </p:nvSpPr>
          <p:spPr>
            <a:xfrm>
              <a:off x="4267200" y="2326821"/>
              <a:ext cx="4380270" cy="533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Kiểu dữ liệu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3657601" y="2286000"/>
              <a:ext cx="585019" cy="533400"/>
            </a:xfrm>
            <a:prstGeom prst="ellipse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2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857657" y="3594674"/>
            <a:ext cx="5852160" cy="640080"/>
            <a:chOff x="4444181" y="3124200"/>
            <a:chExt cx="4203289" cy="533400"/>
          </a:xfrm>
        </p:grpSpPr>
        <p:sp>
          <p:nvSpPr>
            <p:cNvPr id="16" name="Rounded Rectangle 15"/>
            <p:cNvSpPr/>
            <p:nvPr/>
          </p:nvSpPr>
          <p:spPr>
            <a:xfrm>
              <a:off x="5029200" y="3124200"/>
              <a:ext cx="3618270" cy="533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Câu lệnh điều khiển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4444181" y="3124200"/>
              <a:ext cx="585019" cy="533400"/>
            </a:xfrm>
            <a:prstGeom prst="ellipse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3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362200" y="4479085"/>
            <a:ext cx="5852160" cy="640080"/>
            <a:chOff x="4444181" y="3962400"/>
            <a:chExt cx="4203289" cy="533400"/>
          </a:xfrm>
        </p:grpSpPr>
        <p:sp>
          <p:nvSpPr>
            <p:cNvPr id="22" name="Rounded Rectangle 21"/>
            <p:cNvSpPr/>
            <p:nvPr/>
          </p:nvSpPr>
          <p:spPr>
            <a:xfrm>
              <a:off x="5029200" y="3962400"/>
              <a:ext cx="3618270" cy="533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Hàm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4444181" y="3962400"/>
              <a:ext cx="585019" cy="533400"/>
            </a:xfrm>
            <a:prstGeom prst="ellipse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4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371598" y="5389061"/>
            <a:ext cx="5852160" cy="640080"/>
            <a:chOff x="3657600" y="4763729"/>
            <a:chExt cx="4965290" cy="533400"/>
          </a:xfrm>
        </p:grpSpPr>
        <p:sp>
          <p:nvSpPr>
            <p:cNvPr id="17" name="Rounded Rectangle 16"/>
            <p:cNvSpPr/>
            <p:nvPr/>
          </p:nvSpPr>
          <p:spPr>
            <a:xfrm>
              <a:off x="4242620" y="4763729"/>
              <a:ext cx="4380270" cy="5334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Mảng 1 chiều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3657600" y="4763729"/>
              <a:ext cx="585019" cy="533400"/>
            </a:xfrm>
            <a:prstGeom prst="ellipse">
              <a:avLst/>
            </a:prstGeom>
            <a:solidFill>
              <a:srgbClr val="7030A0">
                <a:alpha val="38000"/>
              </a:srgb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5</a:t>
              </a:r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2341A-3B28-D645-9F6E-D259B5D680CD}" type="datetime1">
              <a:rPr lang="en-US" smtClean="0"/>
              <a:t>10/10/21</a:t>
            </a:fld>
            <a:endParaRPr lang="en-US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4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686800" cy="5181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Slide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hành</a:t>
            </a:r>
            <a:r>
              <a:rPr lang="en-US" b="1" dirty="0"/>
              <a:t> </a:t>
            </a:r>
            <a:r>
              <a:rPr lang="en-US" dirty="0"/>
              <a:t>do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</a:t>
            </a:r>
          </a:p>
          <a:p>
            <a:pPr algn="just"/>
            <a:r>
              <a:rPr lang="nb-NO" dirty="0"/>
              <a:t>Stephen Prata. C++ Primer Plus. </a:t>
            </a:r>
            <a:r>
              <a:rPr lang="nb-NO" dirty="0" err="1"/>
              <a:t>Addison-Wesley</a:t>
            </a:r>
            <a:r>
              <a:rPr lang="nb-NO" dirty="0"/>
              <a:t>, 2012.  [</a:t>
            </a:r>
            <a:r>
              <a:rPr lang="en-US" dirty="0"/>
              <a:t>48999</a:t>
            </a:r>
            <a:r>
              <a:rPr lang="nb-NO" dirty="0"/>
              <a:t>]</a:t>
            </a:r>
            <a:endParaRPr lang="en-VN" dirty="0"/>
          </a:p>
          <a:p>
            <a:pPr algn="just"/>
            <a:r>
              <a:rPr lang="nb-NO" dirty="0"/>
              <a:t>Paul </a:t>
            </a:r>
            <a:r>
              <a:rPr lang="nb-NO" dirty="0" err="1"/>
              <a:t>Deitel</a:t>
            </a:r>
            <a:r>
              <a:rPr lang="nb-NO" dirty="0"/>
              <a:t>, Harvey </a:t>
            </a:r>
            <a:r>
              <a:rPr lang="nb-NO" dirty="0" err="1"/>
              <a:t>Deitel</a:t>
            </a:r>
            <a:r>
              <a:rPr lang="nb-NO" dirty="0"/>
              <a:t>. C++ How To Program. Pearson, 2017. [</a:t>
            </a:r>
            <a:r>
              <a:rPr lang="en-US" dirty="0"/>
              <a:t>49216</a:t>
            </a:r>
            <a:r>
              <a:rPr lang="nb-NO" dirty="0"/>
              <a:t>]</a:t>
            </a:r>
            <a:endParaRPr lang="en-VN" dirty="0"/>
          </a:p>
          <a:p>
            <a:pPr algn="just"/>
            <a:r>
              <a:rPr lang="nb-NO" dirty="0"/>
              <a:t>Bjarne </a:t>
            </a:r>
            <a:r>
              <a:rPr lang="nb-NO" dirty="0" err="1"/>
              <a:t>Stroustrup</a:t>
            </a:r>
            <a:r>
              <a:rPr lang="nb-NO" dirty="0"/>
              <a:t>. The C++ Programming Language. Pearson, 2013 [</a:t>
            </a:r>
            <a:r>
              <a:rPr lang="en-US" dirty="0"/>
              <a:t>44400</a:t>
            </a:r>
            <a:r>
              <a:rPr lang="nb-NO" dirty="0"/>
              <a:t>]</a:t>
            </a:r>
            <a:endParaRPr lang="en-VN" dirty="0"/>
          </a:p>
          <a:p>
            <a:pPr algn="just"/>
            <a:r>
              <a:rPr lang="nb-NO" dirty="0"/>
              <a:t>Bjarne </a:t>
            </a:r>
            <a:r>
              <a:rPr lang="nb-NO" dirty="0" err="1"/>
              <a:t>Stroustrup</a:t>
            </a:r>
            <a:r>
              <a:rPr lang="nb-NO" dirty="0"/>
              <a:t>. Programming: </a:t>
            </a:r>
            <a:r>
              <a:rPr lang="nb-NO" dirty="0" err="1"/>
              <a:t>Principles</a:t>
            </a:r>
            <a:r>
              <a:rPr lang="nb-NO" dirty="0"/>
              <a:t> and </a:t>
            </a:r>
            <a:r>
              <a:rPr lang="nb-NO" dirty="0" err="1"/>
              <a:t>Practice</a:t>
            </a:r>
            <a:r>
              <a:rPr lang="nb-NO" dirty="0"/>
              <a:t> Using C. </a:t>
            </a:r>
            <a:r>
              <a:rPr lang="nb-NO" dirty="0" err="1"/>
              <a:t>Addison-Wesley</a:t>
            </a:r>
            <a:r>
              <a:rPr lang="nb-NO" dirty="0"/>
              <a:t>, 2014 [</a:t>
            </a:r>
            <a:r>
              <a:rPr lang="en-US" dirty="0"/>
              <a:t>49121</a:t>
            </a:r>
            <a:r>
              <a:rPr lang="nb-NO" dirty="0"/>
              <a:t>]</a:t>
            </a:r>
            <a:endParaRPr lang="en-VN" dirty="0"/>
          </a:p>
          <a:p>
            <a:pPr algn="just">
              <a:lnSpc>
                <a:spcPct val="13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436D-5703-3748-A4F2-5A5D45DFD05D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5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Đánh giá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1A094-9645-4249-85E0-06D082FAE67D}" type="datetime1">
              <a:rPr lang="en-US" smtClean="0"/>
              <a:t>10/10/21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639636675"/>
              </p:ext>
            </p:extLst>
          </p:nvPr>
        </p:nvGraphicFramePr>
        <p:xfrm>
          <a:off x="533400" y="1676400"/>
          <a:ext cx="8001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124993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1032-C785-EF44-9F52-EB4A3EB11F85}" type="datetime1">
              <a:rPr lang="en-US" smtClean="0"/>
              <a:t>10/10/21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Tp.HCM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2819400"/>
            <a:ext cx="8229600" cy="1524000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indent="0" algn="ctr">
              <a:buNone/>
            </a:pPr>
            <a:r>
              <a:rPr lang="en-US" sz="88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043145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1556</TotalTime>
  <Words>391</Words>
  <Application>Microsoft Macintosh PowerPoint</Application>
  <PresentationFormat>On-screen Show (4:3)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Courier New</vt:lpstr>
      <vt:lpstr>Gill Sans MT</vt:lpstr>
      <vt:lpstr>Tahoma</vt:lpstr>
      <vt:lpstr>Wingdings</vt:lpstr>
      <vt:lpstr>Wingdings 3</vt:lpstr>
      <vt:lpstr>Origin</vt:lpstr>
      <vt:lpstr>Cơ sở lập trình</vt:lpstr>
      <vt:lpstr>Giới thiệu chung</vt:lpstr>
      <vt:lpstr>Thời lượng phân bố môn học</vt:lpstr>
      <vt:lpstr>Mục tiêu môn học</vt:lpstr>
      <vt:lpstr>Nội dung</vt:lpstr>
      <vt:lpstr>Tài liệu tham khảo</vt:lpstr>
      <vt:lpstr>Đánh giá</vt:lpstr>
      <vt:lpstr>PowerPoint Presentation</vt:lpstr>
    </vt:vector>
  </TitlesOfParts>
  <Company>CKK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tuyetvth1508@outlook.com</cp:lastModifiedBy>
  <cp:revision>96</cp:revision>
  <dcterms:created xsi:type="dcterms:W3CDTF">2017-05-22T03:29:23Z</dcterms:created>
  <dcterms:modified xsi:type="dcterms:W3CDTF">2021-10-10T07:50:34Z</dcterms:modified>
</cp:coreProperties>
</file>